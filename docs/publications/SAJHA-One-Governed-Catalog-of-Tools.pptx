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problem SAJHA states in README.md (one governed catalog of tools that every client and agent shares). No figures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failure modes SAJHA's design answers: docs/security/Security Model.md (tool access, audit logging), docs/architecture/Policy and Audit.md. The 10,000 threshold is the shipped example policy config/policies/example-business-hours.yaml.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structure of this deck (tools/deck/sajha_deck.py, PARTS). No figures.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Tool and group counts: the tools registry loaded from config/tools when the deck was built (sajha.tools.tools_registry.ToolsRegistry; counted by sajha.web.help_catalog.live_tool_groups, the function the landing page and /help/tools use): 507 tools in 40 groups, 0 load errors. Protocol versions: sajha.core.mcp_modern MODERN_PROTOCOL_VERSIONS (2026-07-28) and HANDSHAKE_PROTOCOL_VERSIONS (2025-11-25, 2025-06-18, 2025-03-26 and 2024-11-05). Tests: pytest --collect-only over tests and clientsdk/tests, run by tools/deck/evidence.py while building.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GLOSSARY.md §6 (Tool, Input Schema, Tool group, Tool configuration). Tool and group counts: the tools registry loaded from config/tools when the deck was built (sajha.tools.tools_registry.ToolsRegistry; counted by sajha.web.help_catalog.live_tool_groups, the function the landing page and /help/tools use): 507 tools in 40 groups, 0 load errors. Validation: BaseMCPTool.execute_with_tracking (sajha/tools/base_mcp_tool.py).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GLOSSARY.md §2 (MCP, Tool, Era detection) and §4 (Streamable HTTP, stdio transport). Era versions: sajha.core.mcp_modern MODERN_PROTOCOL_VERSIONS and HANDSHAKE_PROTOCOL_VERSIONS.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GLOSSARY.md §5 (Policy engine), §7 (Composite tool, EntropyGuard, Confidence score), §9. Confidences: sajha.core.composition.get_tool_confidence('calc_…') and ('web_…') evaluated at build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sajha/tools/base_mcp_tool.py (execute_with_tracking); the list of paths is the CHANGELOG entry 'Policy engine, tamper-evident audit and SIEM export' and docs/architecture/Policy and Audit.md.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sajha/ai/intelligence.py (stream_ask and its event schema); the constellation is sajha/web/templates (Ask SAJHA page) fed by live_tool_groups(with_names=True). A real run captured while the deck was built (tools/deck/evidence.py, ask_run): IntelligenceService.stream_ask over the full registry (507 tools) on the offline mock provider (mock/mock-planner), planner react, question 'What is the percentage change from 80 to 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 real run captured while the deck was built (tools/deck/evidence.py, ask_run): IntelligenceService.stream_ask over the full registry (507 tools) on the offline mock provider (mock/mock-planner), planner react, question 'What is the percentage change from 80 to 100?'. Shortlist size: AskSettings().shortlist. Ranking: sajha/ai/tool_resolver.py and sajha/ai/lexical.py (BM25 when no embedder).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 real run captured while the deck was built (tools/deck/evidence.py, ask_run): IntelligenceService.stream_ask over the full registry (507 tools) on the offline mock provider (mock/mock-planner), planner react, question 'What is the percentage change from 80 to 100?'. The safeguards: IntelligenceService._run_call and SYSTEM_PROMPT (sajha/ai/intelligence.py); BaseMCPTool.execute_with_tracking; config/policies/00-default.yaml (no rules).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 real run captured while the deck was built (tools/deck/evidence.py, ask_run): IntelligenceService.stream_ask over the full registry (507 tools) on the offline mock provider (mock/mock-planner), planner react, question 'What is the percentage change from 80 to 100?'. Confidence rules: IntelligenceService._confidence and UNVERIFIED_CONFIDENCE (sajha/ai/intelligence.py), get_tool_confidence (sajha/core/composition.py), read at build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Eval runs: sajha.quality.evals.run_set over config/evals/calculators.yaml on mock/mock-planner with planners react and plan_execute, run by tools/deck/evidence.py (react: pass rate 1.0, tool-selection accuracy 1.0; plan_execute: pass rate 1.0). Mock provider: sajha/ai/llm/mock.py.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sajha/core/mcp_modern.py (MODERN_PROTOCOL_VERSIONS, HANDSHAKE_PROTOCOL_VERSIONS, read at build time), sajha/core/mcp_2025_11_25.py; GLOSSARY.md 'Era detection', 'Client SDK'.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sajha/routes/mcp_routes.py, sajha/routes/ws_routes.py, sajha/cli/stdio.py; the SAJHA column of sajha/web/competitive.py (remote_transports, stdio, client_sdk).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Results: the table in section 5 of docs/protocol/MCP 2026-07-28 Compliance.md, parsed at build time (32/32 scenarios on the 2025-11-25 path agree with docs/protocol/MCP 2025-11-25 Compliance.md). Matrix and branches: .github/workflows/mcp-conformance.yml, parsed at build time.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GLOSSARY.md §3 (MRTR, Tasks extension, MCP Apps, Mcp-Param-{Name}) and mcp_tool_context; sajha/core/mcp_mrtr.py, mcp_tasks.py, mcp_apps.py, mcp_tool_context.py; docs/protocol/MCP 2026-07-28 Compliance.md §4.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docs/security/Security Model.md §1 (Identities and credentials, Tool access); GLOSSARY.md 'Tool access', 'Tool access mode', 'mcp.auth.mode'; sajha/auth/access.py.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docs/protocol/OAuth Guide.md; sajha/auth/oauth/resource_server.py and authorization_server.py; the authorization row of the conformance table in docs/protocol/MCP 2026-07-28 Compliance.md §5, parsed at build time.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rules shown are read verbatim from config/policies/example-guardrails.yaml at build time (disabled in the shipped configuration). Rule language: docs/architecture/Policy and Audit.md §3; sajha/policy/model.py and engine.py.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Evaluated while the deck was built (tools/deck/evidence.py, policy_example): sajha.policy.engine.PolicyEngine.evaluate over the shipped files in config/policies, disabled examples included (include_disabled=True, as the Policies page's test bench offers); nothing was run.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Run while the deck was built (tools/deck/evidence.py, audit_example): sajha.audit.chain.ChainWriter on a temporary SQLite file with a throwaway RSA key, then sajha.audit.verify.verify before and after one UPDATE. SIEM sinks and formats: sajha/audit/sinks.py TYPES and FLAVORS, sajha/audit/formats.py FORMATS.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Sandbox backends: sajha/sandbox/backends.py BACKENDS; limits: docs/architecture/Sandbox.md and Security Model §8 'Sandboxing'. Account templates: sajha/accounts/providers.py TEMPLATES; vault: docs/architecture/Connected Accounts.md, sajha/accounts/vault.py.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docs/security/Security Model.md, the 'Fixes since …' table and the 'Known limitations' section, both parsed at build time (tools/deck/evidence.py security_fixes, limitations). The rows shown are the nine shortest, chosen mechanically.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tools registry loaded from config/tools at build time, grouped by live_tool_groups (sajha/web/help_catalog.py); 'for example' is each group's first tool by name.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Studio creators: sajha/studio/*_tool_generator.py, listed at build time; docs/studio/MCP Studio User Guide.md; docs/architecture/Tool Generation.md, API Import.md, Data Connectors.md, Federation.md, Composition Framework.md, Workflows.md.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docs/architecture/Tool Generation.md; sajha/studio/describe.py; sajha/ai/llm/mock_toolsmith.py; CHANGELOG 'Describe a tool'. The example sentence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Connector kinds: sajha/connectors/model.py KINDS, read at build time. docs/architecture/API Import.md and Data Connectors.md; CHANGELOG 'Data connectors' and 'API Import'.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docs/architecture/Federation.md; sajha/federation/; GLOSSARY.md 'Federation', 'Tool poisoning'; the federation and isolation cells of sajha/web/competitive.py.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sajha.core.composition.EntropyGuard and get_tool_confidence, run at build time on three tool names (tools/deck/evidence.py, composition_example). GLOSSARY.md 'EntropyGuard'.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sajha/workflows/model.py STEP_KINDS and TRIGGER_TYPES, read at build time; docs/architecture/Workflows.md; CHANGELOG 'Workflows'.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sajha.ai.llm.registry.registered_providers() after ensure_builtins(), read at build time; planners: sajha.ai.planners.registered_planners(). Gateway: docs/architecture/Intelligence Layer.md §5; extension: Extending the Intelligence Layer.md.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Planner names: sajha.ai.planners.registered_planners() at build time; descriptions: docs/architecture/Intelligence Layer.md §6 'Planners'.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docs/architecture/Intelligence Layer.md §6 'Conversation memory', 'Document search (RAG)' and §9 'Not built yet'; sajha/ai/memory.py, sajha/ai/rag/.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Eval runs at build time (tools/deck/evidence.py, eval_runs) with sajha.quality.evals over config/evals/calculators.yaml. Not built yet: docs/architecture/Intelligence Layer.md §9; docs/architecture/Tool Quality.md §5.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Storage backends: StorageBackend subclasses in sajha/core/storage.py; state backends: sajha.core.state.BACKENDS; schema dialects: db/scripts/*/schema.sql; recipes: deployment/*/, all listed at build time.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docs/architecture/Scaling and State.md §2–§5; sajha/core/state/; CLAUDE.md 'Code facts'.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charts/sajha/templates/*.yaml, listed at build time; docs/getting-started/Kubernetes Deployment.md.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docs/architecture/Observability.md §2–§5; sajha/observability/metrics.py, tracing.py, usage.py, alerts.py.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docs/getting-started/Database Setup.md; tests/test_db_schema.py; db/scripts/*/schema.sql; docs/architecture/Tool Quality.md; sajha/quality/.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sajha/web/competitive.py (the data behind /comparison), read at build time; competitor verdicts are from each vendor's own public pages as of 2026-10-06, each with a source URL; tests/test_competitive.py checks the data.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sajha/web/competitive.py (the data behind /comparison), read at build time; competitor verdicts are from each vendor's own public pages as of 2026-10-06, each with a source URL; tests/test_competitive.py checks the data. The ten columns are chosen to show differences; the full table is at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sajha/web/competitive.py (the data behind /comparison), read at build time; competitor verdicts are from each vendor's own public pages as of 2026-10-06, each with a source URL; tests/test_competitive.py checks the data. Groupings are computed from each competitor's 'kind' and its isolation, managed and open_source verdicts; the wording follows SHORT_VERSION in the same file.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Left: the last sentence of each SAJHA cell of sajha/web/competitive.py whose verdict is not Yes (4). Right: the bold heads of 'Known limitations' in docs/security/Security Model.md, parsed at build time.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'Quick start'; docs/README.md reading order; guide names as in docs/.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9319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12191695" cy="54864"/>
          </a:xfrm>
          <a:prstGeom prst="rect">
            <a:avLst/>
          </a:prstGeom>
          <a:solidFill>
            <a:srgbClr val="2933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2880" cy="3931920"/>
          </a:xfrm>
          <a:prstGeom prst="rect">
            <a:avLst/>
          </a:prstGeom>
          <a:solidFill>
            <a:srgbClr val="5C0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822960"/>
            <a:ext cx="10637215" cy="310896"/>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F3C6CF"/>
                </a:solidFill>
                <a:latin typeface="Calibri"/>
              </a:rPr>
              <a:t>साझा  ·  SHARED</a:t>
            </a:r>
          </a:p>
        </p:txBody>
      </p:sp>
      <p:sp>
        <p:nvSpPr>
          <p:cNvPr id="7" name="TextBox 6"/>
          <p:cNvSpPr txBox="1"/>
          <p:nvPr/>
        </p:nvSpPr>
        <p:spPr>
          <a:xfrm>
            <a:off x="1051560" y="1280160"/>
            <a:ext cx="9573493" cy="1600200"/>
          </a:xfrm>
          <a:prstGeom prst="rect">
            <a:avLst/>
          </a:prstGeom>
          <a:noFill/>
        </p:spPr>
        <p:txBody>
          <a:bodyPr wrap="square" lIns="0" rIns="0" tIns="0" bIns="0" anchor="t">
            <a:spAutoFit/>
          </a:bodyPr>
          <a:lstStyle/>
          <a:p>
            <a:pPr algn="l">
              <a:lnSpc>
                <a:spcPct val="110000"/>
              </a:lnSpc>
              <a:spcBef>
                <a:spcPts val="0"/>
              </a:spcBef>
              <a:spcAft>
                <a:spcPts val="0"/>
              </a:spcAft>
            </a:pPr>
            <a:r>
              <a:rPr sz="3800" b="0" i="0">
                <a:solidFill>
                  <a:srgbClr val="FFFFFF"/>
                </a:solidFill>
                <a:latin typeface="Georgia"/>
              </a:rPr>
              <a:t>SAJHA: one governed catalog</a:t>
            </a:r>
          </a:p>
          <a:p>
            <a:pPr>
              <a:lnSpc>
                <a:spcPct val="110000"/>
              </a:lnSpc>
              <a:spcBef>
                <a:spcPts val="0"/>
              </a:spcBef>
              <a:spcAft>
                <a:spcPts val="0"/>
              </a:spcAft>
            </a:pPr>
            <a:r>
              <a:rPr sz="3800" b="0" i="0">
                <a:solidFill>
                  <a:srgbClr val="FFFFFF"/>
                </a:solidFill>
                <a:latin typeface="Georgia"/>
              </a:rPr>
              <a:t>of tools for every agent</a:t>
            </a:r>
          </a:p>
        </p:txBody>
      </p:sp>
      <p:sp>
        <p:nvSpPr>
          <p:cNvPr id="8" name="Rectangle 7"/>
          <p:cNvSpPr/>
          <p:nvPr/>
        </p:nvSpPr>
        <p:spPr>
          <a:xfrm>
            <a:off x="1051560" y="2971800"/>
            <a:ext cx="155448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127248"/>
            <a:ext cx="9041632" cy="731520"/>
          </a:xfrm>
          <a:prstGeom prst="rect">
            <a:avLst/>
          </a:prstGeom>
          <a:noFill/>
        </p:spPr>
        <p:txBody>
          <a:bodyPr wrap="square" lIns="0" rIns="0" tIns="0" bIns="0" anchor="t">
            <a:spAutoFit/>
          </a:bodyPr>
          <a:lstStyle/>
          <a:p>
            <a:pPr algn="l">
              <a:lnSpc>
                <a:spcPct val="120000"/>
              </a:lnSpc>
              <a:spcBef>
                <a:spcPts val="0"/>
              </a:spcBef>
              <a:spcAft>
                <a:spcPts val="0"/>
              </a:spcAft>
            </a:pPr>
            <a:r>
              <a:rPr sz="2500" b="0" i="1">
                <a:solidFill>
                  <a:srgbClr val="FFFFFF"/>
                </a:solidFill>
                <a:latin typeface="Georgia"/>
              </a:rPr>
              <a:t>Shared tools, shared rules, one record.</a:t>
            </a:r>
          </a:p>
        </p:txBody>
      </p:sp>
      <p:sp>
        <p:nvSpPr>
          <p:cNvPr id="10" name="TextBox 9"/>
          <p:cNvSpPr txBox="1"/>
          <p:nvPr/>
        </p:nvSpPr>
        <p:spPr>
          <a:xfrm>
            <a:off x="1051560" y="4343400"/>
            <a:ext cx="5318607" cy="1097280"/>
          </a:xfrm>
          <a:prstGeom prst="rect">
            <a:avLst/>
          </a:prstGeom>
          <a:noFill/>
        </p:spPr>
        <p:txBody>
          <a:bodyPr wrap="square" lIns="0" rIns="0" tIns="0" bIns="0" anchor="t">
            <a:spAutoFit/>
          </a:bodyPr>
          <a:lstStyle/>
          <a:p>
            <a:pPr algn="l">
              <a:lnSpc>
                <a:spcPct val="120000"/>
              </a:lnSpc>
              <a:spcBef>
                <a:spcPts val="0"/>
              </a:spcBef>
              <a:spcAft>
                <a:spcPts val="300"/>
              </a:spcAft>
            </a:pPr>
            <a:r>
              <a:rPr sz="2000" b="1" i="0">
                <a:solidFill>
                  <a:srgbClr val="1A1A1A"/>
                </a:solidFill>
                <a:latin typeface="Georgia"/>
              </a:rPr>
              <a:t>Ashutosh Sinha</a:t>
            </a:r>
          </a:p>
          <a:p>
            <a:pPr>
              <a:lnSpc>
                <a:spcPct val="120000"/>
              </a:lnSpc>
              <a:spcBef>
                <a:spcPts val="0"/>
              </a:spcBef>
              <a:spcAft>
                <a:spcPts val="100"/>
              </a:spcAft>
            </a:pPr>
            <a:r>
              <a:rPr sz="1200" b="0" i="0">
                <a:solidFill>
                  <a:srgbClr val="A51C30"/>
                </a:solidFill>
                <a:latin typeface="Calibri"/>
              </a:rPr>
              <a:t>October 2026</a:t>
            </a:r>
          </a:p>
          <a:p>
            <a:pPr>
              <a:lnSpc>
                <a:spcPct val="120000"/>
              </a:lnSpc>
              <a:spcBef>
                <a:spcPts val="0"/>
              </a:spcBef>
              <a:spcAft>
                <a:spcPts val="0"/>
              </a:spcAft>
            </a:pPr>
            <a:r>
              <a:rPr sz="1100" b="0" i="0">
                <a:solidFill>
                  <a:srgbClr val="6B7480"/>
                </a:solidFill>
                <a:latin typeface="Calibri"/>
              </a:rPr>
              <a:t>SAJHA 6.0.0 (app.version)</a:t>
            </a:r>
          </a:p>
        </p:txBody>
      </p:sp>
      <p:sp>
        <p:nvSpPr>
          <p:cNvPr id="11" name="TextBox 10"/>
          <p:cNvSpPr txBox="1"/>
          <p:nvPr/>
        </p:nvSpPr>
        <p:spPr>
          <a:xfrm>
            <a:off x="6734080" y="4224528"/>
            <a:ext cx="4680374" cy="1938528"/>
          </a:xfrm>
          <a:prstGeom prst="rect">
            <a:avLst/>
          </a:prstGeom>
          <a:noFill/>
        </p:spPr>
        <p:txBody>
          <a:bodyPr wrap="square" lIns="0" rIns="0" tIns="0" bIns="0" anchor="t">
            <a:spAutoFit/>
          </a:bodyPr>
          <a:lstStyle/>
          <a:p>
            <a:pPr algn="l">
              <a:lnSpc>
                <a:spcPct val="120000"/>
              </a:lnSpc>
              <a:spcBef>
                <a:spcPts val="0"/>
              </a:spcBef>
              <a:spcAft>
                <a:spcPts val="600"/>
              </a:spcAft>
            </a:pPr>
            <a:r>
              <a:rPr sz="950" b="1" i="0">
                <a:solidFill>
                  <a:srgbClr val="A51C30"/>
                </a:solidFill>
                <a:latin typeface="Calibri"/>
              </a:rPr>
              <a:t>IN THIS DECK</a:t>
            </a:r>
          </a:p>
          <a:p>
            <a:pPr>
              <a:lnSpc>
                <a:spcPct val="120000"/>
              </a:lnSpc>
              <a:spcBef>
                <a:spcPts val="0"/>
              </a:spcBef>
              <a:spcAft>
                <a:spcPts val="300"/>
              </a:spcAft>
            </a:pPr>
            <a:r>
              <a:rPr sz="900" b="1">
                <a:solidFill>
                  <a:srgbClr val="A51C30"/>
                </a:solidFill>
                <a:latin typeface="Calibri"/>
              </a:rPr>
              <a:t>1   </a:t>
            </a:r>
            <a:r>
              <a:rPr sz="900" b="0">
                <a:solidFill>
                  <a:srgbClr val="6B7480"/>
                </a:solidFill>
                <a:latin typeface="Calibri"/>
              </a:rPr>
              <a:t>Why agents stall at the tools layer</a:t>
            </a:r>
          </a:p>
          <a:p>
            <a:pPr>
              <a:lnSpc>
                <a:spcPct val="120000"/>
              </a:lnSpc>
              <a:spcBef>
                <a:spcPts val="0"/>
              </a:spcBef>
              <a:spcAft>
                <a:spcPts val="300"/>
              </a:spcAft>
            </a:pPr>
            <a:r>
              <a:rPr sz="900" b="1">
                <a:solidFill>
                  <a:srgbClr val="A51C30"/>
                </a:solidFill>
                <a:latin typeface="Calibri"/>
              </a:rPr>
              <a:t>2   </a:t>
            </a:r>
            <a:r>
              <a:rPr sz="900" b="0">
                <a:solidFill>
                  <a:srgbClr val="6B7480"/>
                </a:solidFill>
                <a:latin typeface="Calibri"/>
              </a:rPr>
              <a:t>The vocabulary, from nothing</a:t>
            </a:r>
          </a:p>
          <a:p>
            <a:pPr>
              <a:lnSpc>
                <a:spcPct val="120000"/>
              </a:lnSpc>
              <a:spcBef>
                <a:spcPts val="0"/>
              </a:spcBef>
              <a:spcAft>
                <a:spcPts val="300"/>
              </a:spcAft>
            </a:pPr>
            <a:r>
              <a:rPr sz="900" b="1">
                <a:solidFill>
                  <a:srgbClr val="A51C30"/>
                </a:solidFill>
                <a:latin typeface="Calibri"/>
              </a:rPr>
              <a:t>3   </a:t>
            </a:r>
            <a:r>
              <a:rPr sz="900" b="0">
                <a:solidFill>
                  <a:srgbClr val="6B7480"/>
                </a:solidFill>
                <a:latin typeface="Calibri"/>
              </a:rPr>
              <a:t>One question, end to end</a:t>
            </a:r>
          </a:p>
          <a:p>
            <a:pPr>
              <a:lnSpc>
                <a:spcPct val="120000"/>
              </a:lnSpc>
              <a:spcBef>
                <a:spcPts val="0"/>
              </a:spcBef>
              <a:spcAft>
                <a:spcPts val="300"/>
              </a:spcAft>
            </a:pPr>
            <a:r>
              <a:rPr sz="900" b="1">
                <a:solidFill>
                  <a:srgbClr val="A51C30"/>
                </a:solidFill>
                <a:latin typeface="Calibri"/>
              </a:rPr>
              <a:t>4   </a:t>
            </a:r>
            <a:r>
              <a:rPr sz="900" b="0">
                <a:solidFill>
                  <a:srgbClr val="6B7480"/>
                </a:solidFill>
                <a:latin typeface="Calibri"/>
              </a:rPr>
              <a:t>Speaking every client's language</a:t>
            </a:r>
          </a:p>
          <a:p>
            <a:pPr>
              <a:lnSpc>
                <a:spcPct val="120000"/>
              </a:lnSpc>
              <a:spcBef>
                <a:spcPts val="0"/>
              </a:spcBef>
              <a:spcAft>
                <a:spcPts val="300"/>
              </a:spcAft>
            </a:pPr>
            <a:r>
              <a:rPr sz="900" b="1">
                <a:solidFill>
                  <a:srgbClr val="A51C30"/>
                </a:solidFill>
                <a:latin typeface="Calibri"/>
              </a:rPr>
              <a:t>5   </a:t>
            </a:r>
            <a:r>
              <a:rPr sz="900" b="0">
                <a:solidFill>
                  <a:srgbClr val="6B7480"/>
                </a:solidFill>
                <a:latin typeface="Calibri"/>
              </a:rPr>
              <a:t>Governance an enterprise can sign off</a:t>
            </a:r>
          </a:p>
          <a:p>
            <a:pPr>
              <a:lnSpc>
                <a:spcPct val="120000"/>
              </a:lnSpc>
              <a:spcBef>
                <a:spcPts val="0"/>
              </a:spcBef>
              <a:spcAft>
                <a:spcPts val="300"/>
              </a:spcAft>
            </a:pPr>
            <a:r>
              <a:rPr sz="900" b="1">
                <a:solidFill>
                  <a:srgbClr val="A51C30"/>
                </a:solidFill>
                <a:latin typeface="Calibri"/>
              </a:rPr>
              <a:t>6   </a:t>
            </a:r>
            <a:r>
              <a:rPr sz="900" b="0">
                <a:solidFill>
                  <a:srgbClr val="6B7480"/>
                </a:solidFill>
                <a:latin typeface="Calibri"/>
              </a:rPr>
              <a:t>Every tool you have</a:t>
            </a:r>
          </a:p>
          <a:p>
            <a:pPr>
              <a:lnSpc>
                <a:spcPct val="120000"/>
              </a:lnSpc>
              <a:spcBef>
                <a:spcPts val="0"/>
              </a:spcBef>
              <a:spcAft>
                <a:spcPts val="300"/>
              </a:spcAft>
            </a:pPr>
            <a:r>
              <a:rPr sz="900" b="1">
                <a:solidFill>
                  <a:srgbClr val="A51C30"/>
                </a:solidFill>
                <a:latin typeface="Calibri"/>
              </a:rPr>
              <a:t>7   </a:t>
            </a:r>
            <a:r>
              <a:rPr sz="900" b="0">
                <a:solidFill>
                  <a:srgbClr val="6B7480"/>
                </a:solidFill>
                <a:latin typeface="Calibri"/>
              </a:rPr>
              <a:t>The intelligence layer</a:t>
            </a:r>
          </a:p>
          <a:p>
            <a:pPr>
              <a:lnSpc>
                <a:spcPct val="120000"/>
              </a:lnSpc>
              <a:spcBef>
                <a:spcPts val="0"/>
              </a:spcBef>
              <a:spcAft>
                <a:spcPts val="300"/>
              </a:spcAft>
            </a:pPr>
            <a:r>
              <a:rPr sz="900" b="1">
                <a:solidFill>
                  <a:srgbClr val="A51C30"/>
                </a:solidFill>
                <a:latin typeface="Calibri"/>
              </a:rPr>
              <a:t>8   </a:t>
            </a:r>
            <a:r>
              <a:rPr sz="900" b="0">
                <a:solidFill>
                  <a:srgbClr val="6B7480"/>
                </a:solidFill>
                <a:latin typeface="Calibri"/>
              </a:rPr>
              <a:t>How it runs</a:t>
            </a:r>
          </a:p>
          <a:p>
            <a:pPr>
              <a:lnSpc>
                <a:spcPct val="120000"/>
              </a:lnSpc>
              <a:spcBef>
                <a:spcPts val="0"/>
              </a:spcBef>
              <a:spcAft>
                <a:spcPts val="300"/>
              </a:spcAft>
            </a:pPr>
            <a:r>
              <a:rPr sz="900" b="1">
                <a:solidFill>
                  <a:srgbClr val="A51C30"/>
                </a:solidFill>
                <a:latin typeface="Calibri"/>
              </a:rPr>
              <a:t>9   </a:t>
            </a:r>
            <a:r>
              <a:rPr sz="900" b="0">
                <a:solidFill>
                  <a:srgbClr val="6B7480"/>
                </a:solidFill>
                <a:latin typeface="Calibri"/>
              </a:rPr>
              <a:t>How it compares, honestly</a:t>
            </a:r>
          </a:p>
        </p:txBody>
      </p:sp>
      <p:sp>
        <p:nvSpPr>
          <p:cNvPr id="12" name="Rectangle 11"/>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SAJHA · One governed catalog of tools</a:t>
            </a:r>
          </a:p>
        </p:txBody>
      </p:sp>
      <p:sp>
        <p:nvSpPr>
          <p:cNvPr id="14" name="TextBox 13"/>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F3C6CF"/>
                </a:solidFill>
                <a:latin typeface="Calibri"/>
              </a:rPr>
              <a:t>PART 1</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2600" b="0" i="0">
                <a:solidFill>
                  <a:srgbClr val="FFFFFF"/>
                </a:solidFill>
                <a:latin typeface="Georgia"/>
              </a:rPr>
              <a:t>Why agents stall at the tools layer</a:t>
            </a:r>
          </a:p>
        </p:txBody>
      </p:sp>
      <p:sp>
        <p:nvSpPr>
          <p:cNvPr id="6" name="Rectangle 5"/>
          <p:cNvSpPr/>
          <p:nvPr/>
        </p:nvSpPr>
        <p:spPr>
          <a:xfrm>
            <a:off x="1005840" y="3383280"/>
            <a:ext cx="137160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BEEF0"/>
                </a:solidFill>
                <a:latin typeface="Calibri"/>
              </a:rPr>
              <a:t>An agent can reason about anything and act on nothing until somebody connects it to the systems that hold the data. This part says where that connection breaks in most organisations, and what SAJHA is in one sentence: one shared, governed catalog of tools that every agent uses.</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F3C6CF"/>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BEEF0"/>
                </a:solidFill>
                <a:latin typeface="Calibri"/>
              </a:rPr>
              <a:t>An agent is only as useful as its tools</a:t>
            </a:r>
          </a:p>
          <a:p>
            <a:pPr>
              <a:lnSpc>
                <a:spcPct val="115000"/>
              </a:lnSpc>
              <a:spcBef>
                <a:spcPts val="0"/>
              </a:spcBef>
              <a:spcAft>
                <a:spcPts val="600"/>
              </a:spcAft>
            </a:pPr>
            <a:r>
              <a:rPr sz="1200" b="0" i="0">
                <a:solidFill>
                  <a:srgbClr val="FBEEF0"/>
                </a:solidFill>
                <a:latin typeface="Calibri"/>
              </a:rPr>
              <a:t>Four failures that appear in production</a:t>
            </a:r>
          </a:p>
          <a:p>
            <a:pPr>
              <a:lnSpc>
                <a:spcPct val="115000"/>
              </a:lnSpc>
              <a:spcBef>
                <a:spcPts val="0"/>
              </a:spcBef>
              <a:spcAft>
                <a:spcPts val="600"/>
              </a:spcAft>
            </a:pPr>
            <a:r>
              <a:rPr sz="1200" b="0" i="0">
                <a:solidFill>
                  <a:srgbClr val="FBEEF0"/>
                </a:solidFill>
                <a:latin typeface="Calibri"/>
              </a:rPr>
              <a:t>The questions this deck answers</a:t>
            </a:r>
          </a:p>
          <a:p>
            <a:pPr>
              <a:lnSpc>
                <a:spcPct val="115000"/>
              </a:lnSpc>
              <a:spcBef>
                <a:spcPts val="0"/>
              </a:spcBef>
              <a:spcAft>
                <a:spcPts val="600"/>
              </a:spcAft>
            </a:pPr>
            <a:r>
              <a:rPr sz="1200" b="0" i="0">
                <a:solidFill>
                  <a:srgbClr val="FBEEF0"/>
                </a:solidFill>
                <a:latin typeface="Calibri"/>
              </a:rPr>
              <a:t>SAJHA, in one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SITUATION</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An agent is only as useful as the tools it can reach</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1 · Why agents stall at the tools layer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Here a tool means one thing an agent can do outside itself: fetch a price, read a filing, query a table, compute a net present value. Three teams in one firm want agents that do these things this quarter.</a:t>
            </a:r>
          </a:p>
        </p:txBody>
      </p:sp>
      <p:sp>
        <p:nvSpPr>
          <p:cNvPr id="11" name="Rectangle 10"/>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The difficulty is not intelligence. It is plumbing nobody owns, and plumbing nobody owns is plumbing nobody governs.</a:t>
            </a:r>
          </a:p>
        </p:txBody>
      </p:sp>
      <p:sp>
        <p:nvSpPr>
          <p:cNvPr id="13" name="TextBox 12"/>
          <p:cNvSpPr txBox="1"/>
          <p:nvPr/>
        </p:nvSpPr>
        <p:spPr>
          <a:xfrm>
            <a:off x="777240" y="2040509"/>
            <a:ext cx="10637215" cy="3839083"/>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A1A1A"/>
                </a:solidFill>
                <a:latin typeface="Calibri"/>
              </a:rPr>
              <a:t>Each team wires its own tools</a:t>
            </a:r>
          </a:p>
          <a:p>
            <a:pPr lvl="1">
              <a:lnSpc>
                <a:spcPct val="120000"/>
              </a:lnSpc>
              <a:spcBef>
                <a:spcPts val="0"/>
              </a:spcBef>
              <a:spcAft>
                <a:spcPts val="0"/>
              </a:spcAft>
            </a:pPr>
            <a:r>
              <a:rPr sz="1550" b="0">
                <a:solidFill>
                  <a:srgbClr val="6B7480"/>
                </a:solidFill>
                <a:latin typeface="Calibri"/>
              </a:rPr>
              <a:t>The research desk writes a market-data wrapper, risk writes another, operations a third: each with its own error handling, its own cache and its own idea of a ticker.</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Each wrapper holds its own credentials</a:t>
            </a:r>
          </a:p>
          <a:p>
            <a:pPr lvl="1">
              <a:lnSpc>
                <a:spcPct val="120000"/>
              </a:lnSpc>
              <a:spcBef>
                <a:spcPts val="0"/>
              </a:spcBef>
              <a:spcAft>
                <a:spcPts val="0"/>
              </a:spcAft>
            </a:pPr>
            <a:r>
              <a:rPr sz="1550" b="0">
                <a:solidFill>
                  <a:srgbClr val="6B7480"/>
                </a:solidFill>
                <a:latin typeface="Calibri"/>
              </a:rPr>
              <a:t>API keys sit in notebooks, environment files and agent settings. Revoking one key means finding every copy of it.</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Nobody can say who called what</a:t>
            </a:r>
          </a:p>
          <a:p>
            <a:pPr lvl="1">
              <a:lnSpc>
                <a:spcPct val="120000"/>
              </a:lnSpc>
              <a:spcBef>
                <a:spcPts val="0"/>
              </a:spcBef>
              <a:spcAft>
                <a:spcPts val="0"/>
              </a:spcAft>
            </a:pPr>
            <a:r>
              <a:rPr sz="1550" b="0">
                <a:solidFill>
                  <a:srgbClr val="6B7480"/>
                </a:solidFill>
                <a:latin typeface="Calibri"/>
              </a:rPr>
              <a:t>When a number in a report is questioned, there is no record of which agent called which tool, with which arguments, on whose behalf.</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Every new agent framework starts again</a:t>
            </a:r>
          </a:p>
          <a:p>
            <a:pPr lvl="1">
              <a:lnSpc>
                <a:spcPct val="120000"/>
              </a:lnSpc>
              <a:spcBef>
                <a:spcPts val="0"/>
              </a:spcBef>
              <a:spcAft>
                <a:spcPts val="0"/>
              </a:spcAft>
            </a:pPr>
            <a:r>
              <a:rPr sz="1550" b="0">
                <a:solidFill>
                  <a:srgbClr val="6B7480"/>
                </a:solidFill>
                <a:latin typeface="Calibri"/>
              </a:rPr>
              <a:t>The wrappers were written for one framework; the next one the firm adopts cannot use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IT BREAKS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Four failures that appear only once agents are in production</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1 · Why agents stall at the tools layer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a:t>
            </a:r>
          </a:p>
        </p:txBody>
      </p:sp>
      <p:sp>
        <p:nvSpPr>
          <p:cNvPr id="10" name="Rectangle 9"/>
          <p:cNvSpPr/>
          <p:nvPr/>
        </p:nvSpPr>
        <p:spPr>
          <a:xfrm>
            <a:off x="777240" y="1354836"/>
            <a:ext cx="5236311" cy="23629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54836"/>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19428"/>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DUPLICATION</a:t>
            </a:r>
          </a:p>
        </p:txBody>
      </p:sp>
      <p:sp>
        <p:nvSpPr>
          <p:cNvPr id="13" name="TextBox 12"/>
          <p:cNvSpPr txBox="1"/>
          <p:nvPr/>
        </p:nvSpPr>
        <p:spPr>
          <a:xfrm>
            <a:off x="960120" y="1775460"/>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The same tool, built five times</a:t>
            </a:r>
          </a:p>
        </p:txBody>
      </p:sp>
      <p:sp>
        <p:nvSpPr>
          <p:cNvPr id="14" name="TextBox 13"/>
          <p:cNvSpPr txBox="1"/>
          <p:nvPr/>
        </p:nvSpPr>
        <p:spPr>
          <a:xfrm>
            <a:off x="960120" y="2123948"/>
            <a:ext cx="4870551" cy="146583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Five wrappers around one data vendor drift apart: different defaults, different retries, different bugs. Fixing one fixes one.</a:t>
            </a:r>
          </a:p>
        </p:txBody>
      </p:sp>
      <p:sp>
        <p:nvSpPr>
          <p:cNvPr id="15" name="Rectangle 14"/>
          <p:cNvSpPr/>
          <p:nvPr/>
        </p:nvSpPr>
        <p:spPr>
          <a:xfrm>
            <a:off x="6178143" y="1354836"/>
            <a:ext cx="5236311" cy="23629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8143" y="1354836"/>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1023" y="1519428"/>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CREDENTIALS</a:t>
            </a:r>
          </a:p>
        </p:txBody>
      </p:sp>
      <p:sp>
        <p:nvSpPr>
          <p:cNvPr id="18" name="TextBox 17"/>
          <p:cNvSpPr txBox="1"/>
          <p:nvPr/>
        </p:nvSpPr>
        <p:spPr>
          <a:xfrm>
            <a:off x="6361023" y="1775460"/>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Secrets spread to every agent</a:t>
            </a:r>
          </a:p>
        </p:txBody>
      </p:sp>
      <p:sp>
        <p:nvSpPr>
          <p:cNvPr id="19" name="TextBox 18"/>
          <p:cNvSpPr txBox="1"/>
          <p:nvPr/>
        </p:nvSpPr>
        <p:spPr>
          <a:xfrm>
            <a:off x="6361023" y="2123948"/>
            <a:ext cx="4870551" cy="146583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Every agent that calls a vendor carries the vendor's key. An agent that is compromised, or merely misconfigured, leaks it.</a:t>
            </a:r>
          </a:p>
        </p:txBody>
      </p:sp>
      <p:sp>
        <p:nvSpPr>
          <p:cNvPr id="20" name="Rectangle 19"/>
          <p:cNvSpPr/>
          <p:nvPr/>
        </p:nvSpPr>
        <p:spPr>
          <a:xfrm>
            <a:off x="777240" y="3882390"/>
            <a:ext cx="5236311" cy="23629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2390"/>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046982"/>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ACCOUNTABILITY</a:t>
            </a:r>
          </a:p>
        </p:txBody>
      </p:sp>
      <p:sp>
        <p:nvSpPr>
          <p:cNvPr id="23" name="TextBox 22"/>
          <p:cNvSpPr txBox="1"/>
          <p:nvPr/>
        </p:nvSpPr>
        <p:spPr>
          <a:xfrm>
            <a:off x="960120" y="4303014"/>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No record that survives a question</a:t>
            </a:r>
          </a:p>
        </p:txBody>
      </p:sp>
      <p:sp>
        <p:nvSpPr>
          <p:cNvPr id="24" name="TextBox 23"/>
          <p:cNvSpPr txBox="1"/>
          <p:nvPr/>
        </p:nvSpPr>
        <p:spPr>
          <a:xfrm>
            <a:off x="960120" y="4651502"/>
            <a:ext cx="4870551" cy="146583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Logs live in each agent's process, if anywhere. They can be edited, and they do not say whom the agent was acting for.</a:t>
            </a:r>
          </a:p>
        </p:txBody>
      </p:sp>
      <p:sp>
        <p:nvSpPr>
          <p:cNvPr id="25" name="Rectangle 24"/>
          <p:cNvSpPr/>
          <p:nvPr/>
        </p:nvSpPr>
        <p:spPr>
          <a:xfrm>
            <a:off x="6178143" y="3882390"/>
            <a:ext cx="5236311" cy="23629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8143" y="3882390"/>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1023" y="4046982"/>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CONTROL</a:t>
            </a:r>
          </a:p>
        </p:txBody>
      </p:sp>
      <p:sp>
        <p:nvSpPr>
          <p:cNvPr id="28" name="TextBox 27"/>
          <p:cNvSpPr txBox="1"/>
          <p:nvPr/>
        </p:nvSpPr>
        <p:spPr>
          <a:xfrm>
            <a:off x="6361023" y="4303014"/>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No single place to say no</a:t>
            </a:r>
          </a:p>
        </p:txBody>
      </p:sp>
      <p:sp>
        <p:nvSpPr>
          <p:cNvPr id="29" name="TextBox 28"/>
          <p:cNvSpPr txBox="1"/>
          <p:nvPr/>
        </p:nvSpPr>
        <p:spPr>
          <a:xfrm>
            <a:off x="6361023" y="4651502"/>
            <a:ext cx="4870551" cy="146583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There is no point at which a rule such as “no anonymous writes” or “approval above 10,000” can be enforced before the call runs.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READER'S QUESTIONS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The questions this deck answers, in the order they are asked</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1 · Why agents stall at the tools layer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a:t>
            </a:r>
          </a:p>
        </p:txBody>
      </p:sp>
      <p:graphicFrame>
        <p:nvGraphicFramePr>
          <p:cNvPr id="10" name="Table 9"/>
          <p:cNvGraphicFramePr>
            <a:graphicFrameLocks noGrp="1"/>
          </p:cNvGraphicFramePr>
          <p:nvPr/>
        </p:nvGraphicFramePr>
        <p:xfrm>
          <a:off x="777240" y="1354836"/>
          <a:ext cx="10637213" cy="2995739"/>
        </p:xfrm>
        <a:graphic>
          <a:graphicData uri="http://schemas.openxmlformats.org/drawingml/2006/table">
            <a:tbl>
              <a:tblPr firstRow="1">
                <a:tableStyleId>{5C22544A-7EE6-4342-B048-85BDC9FD1C3A}</a:tableStyleId>
              </a:tblPr>
              <a:tblGrid>
                <a:gridCol w="6303534"/>
                <a:gridCol w="3151767"/>
                <a:gridCol w="1181912"/>
              </a:tblGrid>
              <a:tr h="318579">
                <a:tc>
                  <a:txBody>
                    <a:bodyPr wrap="square"/>
                    <a:lstStyle/>
                    <a:p>
                      <a:r>
                        <a:rPr sz="1300" b="1">
                          <a:solidFill>
                            <a:srgbClr val="FFFFFF"/>
                          </a:solidFill>
                          <a:latin typeface="Calibri"/>
                        </a:rPr>
                        <a:t>Question</a:t>
                      </a:r>
                    </a:p>
                  </a:txBody>
                  <a:tcPr marL="82296" marR="64008" marT="32004" marB="32004" anchor="ctr">
                    <a:solidFill>
                      <a:srgbClr val="A51C30"/>
                    </a:solidFill>
                  </a:tcPr>
                </a:tc>
                <a:tc>
                  <a:txBody>
                    <a:bodyPr wrap="square"/>
                    <a:lstStyle/>
                    <a:p>
                      <a:r>
                        <a:rPr sz="1300" b="1">
                          <a:solidFill>
                            <a:srgbClr val="FFFFFF"/>
                          </a:solidFill>
                          <a:latin typeface="Calibri"/>
                        </a:rPr>
                        <a:t>Usually asked by</a:t>
                      </a:r>
                    </a:p>
                  </a:txBody>
                  <a:tcPr marL="82296" marR="64008" marT="32004" marB="32004" anchor="ctr">
                    <a:solidFill>
                      <a:srgbClr val="A51C30"/>
                    </a:solidFill>
                  </a:tcPr>
                </a:tc>
                <a:tc>
                  <a:txBody>
                    <a:bodyPr wrap="square"/>
                    <a:lstStyle/>
                    <a:p>
                      <a:r>
                        <a:rPr sz="1300" b="1">
                          <a:solidFill>
                            <a:srgbClr val="FFFFFF"/>
                          </a:solidFill>
                          <a:latin typeface="Calibri"/>
                        </a:rPr>
                        <a:t>Part</a:t>
                      </a:r>
                    </a:p>
                  </a:txBody>
                  <a:tcPr marL="82296" marR="64008" marT="32004" marB="32004" anchor="ctr">
                    <a:solidFill>
                      <a:srgbClr val="A51C30"/>
                    </a:solidFill>
                  </a:tcPr>
                </a:tc>
              </a:tr>
              <a:tr h="334645">
                <a:tc>
                  <a:txBody>
                    <a:bodyPr wrap="square"/>
                    <a:lstStyle/>
                    <a:p>
                      <a:r>
                        <a:rPr sz="1400" b="1">
                          <a:solidFill>
                            <a:srgbClr val="6E1120"/>
                          </a:solidFill>
                          <a:latin typeface="Calibri"/>
                        </a:rPr>
                        <a:t>What is SAJHA, and which words do I need to discuss it?</a:t>
                      </a:r>
                    </a:p>
                  </a:txBody>
                  <a:tcPr marL="82296" marR="64008" marT="32004" marB="32004" anchor="ctr">
                    <a:solidFill>
                      <a:srgbClr val="FFFFFF"/>
                    </a:solidFill>
                  </a:tcPr>
                </a:tc>
                <a:tc>
                  <a:txBody>
                    <a:bodyPr wrap="square"/>
                    <a:lstStyle/>
                    <a:p>
                      <a:r>
                        <a:rPr sz="1400" b="0">
                          <a:solidFill>
                            <a:srgbClr val="1A1A1A"/>
                          </a:solidFill>
                          <a:latin typeface="Calibri"/>
                        </a:rPr>
                        <a:t>Everyone</a:t>
                      </a:r>
                    </a:p>
                  </a:txBody>
                  <a:tcPr marL="82296" marR="64008" marT="32004" marB="32004" anchor="ctr">
                    <a:solidFill>
                      <a:srgbClr val="FFFFFF"/>
                    </a:solidFill>
                  </a:tcPr>
                </a:tc>
                <a:tc>
                  <a:txBody>
                    <a:bodyPr wrap="square"/>
                    <a:lstStyle/>
                    <a:p>
                      <a:r>
                        <a:rPr sz="1400" b="0">
                          <a:solidFill>
                            <a:srgbClr val="1A1A1A"/>
                          </a:solidFill>
                          <a:latin typeface="Calibri"/>
                        </a:rPr>
                        <a:t>1–2</a:t>
                      </a:r>
                    </a:p>
                  </a:txBody>
                  <a:tcPr marL="82296" marR="64008" marT="32004" marB="32004" anchor="ctr">
                    <a:solidFill>
                      <a:srgbClr val="FFFFFF"/>
                    </a:solidFill>
                  </a:tcPr>
                </a:tc>
              </a:tr>
              <a:tr h="334645">
                <a:tc>
                  <a:txBody>
                    <a:bodyPr wrap="square"/>
                    <a:lstStyle/>
                    <a:p>
                      <a:r>
                        <a:rPr sz="1400" b="1">
                          <a:solidFill>
                            <a:srgbClr val="6E1120"/>
                          </a:solidFill>
                          <a:latin typeface="Calibri"/>
                        </a:rPr>
                        <a:t>Show me one question answered, with its sources</a:t>
                      </a:r>
                    </a:p>
                  </a:txBody>
                  <a:tcPr marL="82296" marR="64008" marT="32004" marB="32004" anchor="ctr">
                    <a:solidFill>
                      <a:srgbClr val="F7F5F2"/>
                    </a:solidFill>
                  </a:tcPr>
                </a:tc>
                <a:tc>
                  <a:txBody>
                    <a:bodyPr wrap="square"/>
                    <a:lstStyle/>
                    <a:p>
                      <a:r>
                        <a:rPr sz="1400" b="0">
                          <a:solidFill>
                            <a:srgbClr val="1A1A1A"/>
                          </a:solidFill>
                          <a:latin typeface="Calibri"/>
                        </a:rPr>
                        <a:t>A desk head, an analyst</a:t>
                      </a:r>
                    </a:p>
                  </a:txBody>
                  <a:tcPr marL="82296" marR="64008" marT="32004" marB="32004" anchor="ctr">
                    <a:solidFill>
                      <a:srgbClr val="F7F5F2"/>
                    </a:solidFill>
                  </a:tcPr>
                </a:tc>
                <a:tc>
                  <a:txBody>
                    <a:bodyPr wrap="square"/>
                    <a:lstStyle/>
                    <a:p>
                      <a:r>
                        <a:rPr sz="1400" b="0">
                          <a:solidFill>
                            <a:srgbClr val="1A1A1A"/>
                          </a:solidFill>
                          <a:latin typeface="Calibri"/>
                        </a:rPr>
                        <a:t>3</a:t>
                      </a:r>
                    </a:p>
                  </a:txBody>
                  <a:tcPr marL="82296" marR="64008" marT="32004" marB="32004" anchor="ctr">
                    <a:solidFill>
                      <a:srgbClr val="F7F5F2"/>
                    </a:solidFill>
                  </a:tcPr>
                </a:tc>
              </a:tr>
              <a:tr h="334645">
                <a:tc>
                  <a:txBody>
                    <a:bodyPr wrap="square"/>
                    <a:lstStyle/>
                    <a:p>
                      <a:r>
                        <a:rPr sz="1400" b="1">
                          <a:solidFill>
                            <a:srgbClr val="6E1120"/>
                          </a:solidFill>
                          <a:latin typeface="Calibri"/>
                        </a:rPr>
                        <a:t>Will it work with the clients we already use?</a:t>
                      </a:r>
                    </a:p>
                  </a:txBody>
                  <a:tcPr marL="82296" marR="64008" marT="32004" marB="32004" anchor="ctr">
                    <a:solidFill>
                      <a:srgbClr val="FFFFFF"/>
                    </a:solidFill>
                  </a:tcPr>
                </a:tc>
                <a:tc>
                  <a:txBody>
                    <a:bodyPr wrap="square"/>
                    <a:lstStyle/>
                    <a:p>
                      <a:r>
                        <a:rPr sz="1400" b="0">
                          <a:solidFill>
                            <a:srgbClr val="1A1A1A"/>
                          </a:solidFill>
                          <a:latin typeface="Calibri"/>
                        </a:rPr>
                        <a:t>An engineer</a:t>
                      </a:r>
                    </a:p>
                  </a:txBody>
                  <a:tcPr marL="82296" marR="64008" marT="32004" marB="32004" anchor="ctr">
                    <a:solidFill>
                      <a:srgbClr val="FFFFFF"/>
                    </a:solidFill>
                  </a:tcPr>
                </a:tc>
                <a:tc>
                  <a:txBody>
                    <a:bodyPr wrap="square"/>
                    <a:lstStyle/>
                    <a:p>
                      <a:r>
                        <a:rPr sz="1400" b="0">
                          <a:solidFill>
                            <a:srgbClr val="1A1A1A"/>
                          </a:solidFill>
                          <a:latin typeface="Calibri"/>
                        </a:rPr>
                        <a:t>4</a:t>
                      </a:r>
                    </a:p>
                  </a:txBody>
                  <a:tcPr marL="82296" marR="64008" marT="32004" marB="32004" anchor="ctr">
                    <a:solidFill>
                      <a:srgbClr val="FFFFFF"/>
                    </a:solidFill>
                  </a:tcPr>
                </a:tc>
              </a:tr>
              <a:tr h="334645">
                <a:tc>
                  <a:txBody>
                    <a:bodyPr wrap="square"/>
                    <a:lstStyle/>
                    <a:p>
                      <a:r>
                        <a:rPr sz="1400" b="1">
                          <a:solidFill>
                            <a:srgbClr val="6E1120"/>
                          </a:solidFill>
                          <a:latin typeface="Calibri"/>
                        </a:rPr>
                        <a:t>Can my security team sign it off?</a:t>
                      </a:r>
                    </a:p>
                  </a:txBody>
                  <a:tcPr marL="82296" marR="64008" marT="32004" marB="32004" anchor="ctr">
                    <a:solidFill>
                      <a:srgbClr val="F7F5F2"/>
                    </a:solidFill>
                  </a:tcPr>
                </a:tc>
                <a:tc>
                  <a:txBody>
                    <a:bodyPr wrap="square"/>
                    <a:lstStyle/>
                    <a:p>
                      <a:r>
                        <a:rPr sz="1400" b="0">
                          <a:solidFill>
                            <a:srgbClr val="1A1A1A"/>
                          </a:solidFill>
                          <a:latin typeface="Calibri"/>
                        </a:rPr>
                        <a:t>A CISO, an auditor</a:t>
                      </a:r>
                    </a:p>
                  </a:txBody>
                  <a:tcPr marL="82296" marR="64008" marT="32004" marB="32004" anchor="ctr">
                    <a:solidFill>
                      <a:srgbClr val="F7F5F2"/>
                    </a:solidFill>
                  </a:tcPr>
                </a:tc>
                <a:tc>
                  <a:txBody>
                    <a:bodyPr wrap="square"/>
                    <a:lstStyle/>
                    <a:p>
                      <a:r>
                        <a:rPr sz="1400" b="0">
                          <a:solidFill>
                            <a:srgbClr val="1A1A1A"/>
                          </a:solidFill>
                          <a:latin typeface="Calibri"/>
                        </a:rPr>
                        <a:t>5</a:t>
                      </a:r>
                    </a:p>
                  </a:txBody>
                  <a:tcPr marL="82296" marR="64008" marT="32004" marB="32004" anchor="ctr">
                    <a:solidFill>
                      <a:srgbClr val="F7F5F2"/>
                    </a:solidFill>
                  </a:tcPr>
                </a:tc>
              </a:tr>
              <a:tr h="334645">
                <a:tc>
                  <a:txBody>
                    <a:bodyPr wrap="square"/>
                    <a:lstStyle/>
                    <a:p>
                      <a:r>
                        <a:rPr sz="1400" b="1">
                          <a:solidFill>
                            <a:srgbClr val="6E1120"/>
                          </a:solidFill>
                          <a:latin typeface="Calibri"/>
                        </a:rPr>
                        <a:t>Which tools does it have, and how do I add mine?</a:t>
                      </a:r>
                    </a:p>
                  </a:txBody>
                  <a:tcPr marL="82296" marR="64008" marT="32004" marB="32004" anchor="ctr">
                    <a:solidFill>
                      <a:srgbClr val="FFFFFF"/>
                    </a:solidFill>
                  </a:tcPr>
                </a:tc>
                <a:tc>
                  <a:txBody>
                    <a:bodyPr wrap="square"/>
                    <a:lstStyle/>
                    <a:p>
                      <a:r>
                        <a:rPr sz="1400" b="0">
                          <a:solidFill>
                            <a:srgbClr val="1A1A1A"/>
                          </a:solidFill>
                          <a:latin typeface="Calibri"/>
                        </a:rPr>
                        <a:t>A platform owner</a:t>
                      </a:r>
                    </a:p>
                  </a:txBody>
                  <a:tcPr marL="82296" marR="64008" marT="32004" marB="32004" anchor="ctr">
                    <a:solidFill>
                      <a:srgbClr val="FFFFFF"/>
                    </a:solidFill>
                  </a:tcPr>
                </a:tc>
                <a:tc>
                  <a:txBody>
                    <a:bodyPr wrap="square"/>
                    <a:lstStyle/>
                    <a:p>
                      <a:r>
                        <a:rPr sz="1400" b="0">
                          <a:solidFill>
                            <a:srgbClr val="1A1A1A"/>
                          </a:solidFill>
                          <a:latin typeface="Calibri"/>
                        </a:rPr>
                        <a:t>6</a:t>
                      </a:r>
                    </a:p>
                  </a:txBody>
                  <a:tcPr marL="82296" marR="64008" marT="32004" marB="32004" anchor="ctr">
                    <a:solidFill>
                      <a:srgbClr val="FFFFFF"/>
                    </a:solidFill>
                  </a:tcPr>
                </a:tc>
              </a:tr>
              <a:tr h="334645">
                <a:tc>
                  <a:txBody>
                    <a:bodyPr wrap="square"/>
                    <a:lstStyle/>
                    <a:p>
                      <a:r>
                        <a:rPr sz="1400" b="1">
                          <a:solidFill>
                            <a:srgbClr val="6E1120"/>
                          </a:solidFill>
                          <a:latin typeface="Calibri"/>
                        </a:rPr>
                        <a:t>Does it need a language model, and whose?</a:t>
                      </a:r>
                    </a:p>
                  </a:txBody>
                  <a:tcPr marL="82296" marR="64008" marT="32004" marB="32004" anchor="ctr">
                    <a:solidFill>
                      <a:srgbClr val="F7F5F2"/>
                    </a:solidFill>
                  </a:tcPr>
                </a:tc>
                <a:tc>
                  <a:txBody>
                    <a:bodyPr wrap="square"/>
                    <a:lstStyle/>
                    <a:p>
                      <a:r>
                        <a:rPr sz="1400" b="0">
                          <a:solidFill>
                            <a:srgbClr val="1A1A1A"/>
                          </a:solidFill>
                          <a:latin typeface="Calibri"/>
                        </a:rPr>
                        <a:t>An architect</a:t>
                      </a:r>
                    </a:p>
                  </a:txBody>
                  <a:tcPr marL="82296" marR="64008" marT="32004" marB="32004" anchor="ctr">
                    <a:solidFill>
                      <a:srgbClr val="F7F5F2"/>
                    </a:solidFill>
                  </a:tcPr>
                </a:tc>
                <a:tc>
                  <a:txBody>
                    <a:bodyPr wrap="square"/>
                    <a:lstStyle/>
                    <a:p>
                      <a:r>
                        <a:rPr sz="1400" b="0">
                          <a:solidFill>
                            <a:srgbClr val="1A1A1A"/>
                          </a:solidFill>
                          <a:latin typeface="Calibri"/>
                        </a:rPr>
                        <a:t>7</a:t>
                      </a:r>
                    </a:p>
                  </a:txBody>
                  <a:tcPr marL="82296" marR="64008" marT="32004" marB="32004" anchor="ctr">
                    <a:solidFill>
                      <a:srgbClr val="F7F5F2"/>
                    </a:solidFill>
                  </a:tcPr>
                </a:tc>
              </a:tr>
              <a:tr h="334645">
                <a:tc>
                  <a:txBody>
                    <a:bodyPr wrap="square"/>
                    <a:lstStyle/>
                    <a:p>
                      <a:r>
                        <a:rPr sz="1400" b="1">
                          <a:solidFill>
                            <a:srgbClr val="6E1120"/>
                          </a:solidFill>
                          <a:latin typeface="Calibri"/>
                        </a:rPr>
                        <a:t>How do we run it, at what scale?</a:t>
                      </a:r>
                    </a:p>
                  </a:txBody>
                  <a:tcPr marL="82296" marR="64008" marT="32004" marB="32004" anchor="ctr">
                    <a:solidFill>
                      <a:srgbClr val="FFFFFF"/>
                    </a:solidFill>
                  </a:tcPr>
                </a:tc>
                <a:tc>
                  <a:txBody>
                    <a:bodyPr wrap="square"/>
                    <a:lstStyle/>
                    <a:p>
                      <a:r>
                        <a:rPr sz="1400" b="0">
                          <a:solidFill>
                            <a:srgbClr val="1A1A1A"/>
                          </a:solidFill>
                          <a:latin typeface="Calibri"/>
                        </a:rPr>
                        <a:t>Operations</a:t>
                      </a:r>
                    </a:p>
                  </a:txBody>
                  <a:tcPr marL="82296" marR="64008" marT="32004" marB="32004" anchor="ctr">
                    <a:solidFill>
                      <a:srgbClr val="FFFFFF"/>
                    </a:solidFill>
                  </a:tcPr>
                </a:tc>
                <a:tc>
                  <a:txBody>
                    <a:bodyPr wrap="square"/>
                    <a:lstStyle/>
                    <a:p>
                      <a:r>
                        <a:rPr sz="1400" b="0">
                          <a:solidFill>
                            <a:srgbClr val="1A1A1A"/>
                          </a:solidFill>
                          <a:latin typeface="Calibri"/>
                        </a:rPr>
                        <a:t>8</a:t>
                      </a:r>
                    </a:p>
                  </a:txBody>
                  <a:tcPr marL="82296" marR="64008" marT="32004" marB="32004" anchor="ctr">
                    <a:solidFill>
                      <a:srgbClr val="FFFFFF"/>
                    </a:solidFill>
                  </a:tcPr>
                </a:tc>
              </a:tr>
              <a:tr h="334645">
                <a:tc>
                  <a:txBody>
                    <a:bodyPr wrap="square"/>
                    <a:lstStyle/>
                    <a:p>
                      <a:r>
                        <a:rPr sz="1400" b="1">
                          <a:solidFill>
                            <a:srgbClr val="6E1120"/>
                          </a:solidFill>
                          <a:latin typeface="Calibri"/>
                        </a:rPr>
                        <a:t>Why this, rather than a gateway or a hosted platform?</a:t>
                      </a:r>
                    </a:p>
                  </a:txBody>
                  <a:tcPr marL="82296" marR="64008" marT="32004" marB="32004" anchor="ctr">
                    <a:solidFill>
                      <a:srgbClr val="F7F5F2"/>
                    </a:solidFill>
                  </a:tcPr>
                </a:tc>
                <a:tc>
                  <a:txBody>
                    <a:bodyPr wrap="square"/>
                    <a:lstStyle/>
                    <a:p>
                      <a:r>
                        <a:rPr sz="1400" b="0">
                          <a:solidFill>
                            <a:srgbClr val="1A1A1A"/>
                          </a:solidFill>
                          <a:latin typeface="Calibri"/>
                        </a:rPr>
                        <a:t>A buyer</a:t>
                      </a:r>
                    </a:p>
                  </a:txBody>
                  <a:tcPr marL="82296" marR="64008" marT="32004" marB="32004" anchor="ctr">
                    <a:solidFill>
                      <a:srgbClr val="F7F5F2"/>
                    </a:solidFill>
                  </a:tcPr>
                </a:tc>
                <a:tc>
                  <a:txBody>
                    <a:bodyPr wrap="square"/>
                    <a:lstStyle/>
                    <a:p>
                      <a:r>
                        <a:rPr sz="1400" b="0">
                          <a:solidFill>
                            <a:srgbClr val="1A1A1A"/>
                          </a:solidFill>
                          <a:latin typeface="Calibri"/>
                        </a:rPr>
                        <a:t>9</a:t>
                      </a:r>
                    </a:p>
                  </a:txBody>
                  <a:tcPr marL="82296" marR="64008" marT="32004" marB="32004" anchor="ctr">
                    <a:solidFill>
                      <a:srgbClr val="F7F5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SAJHA IN ONE SLIDE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One catalog of tools, one address, one set of rules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1 · Why agents stall at the tools layer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SAJHA (साझा, Hindi for “shared”) is a server that holds the tools an organisation's agents use, serves them to any agent through one address, and applies one set of identities, permissions, rules and records to every call, whoever makes it.</a:t>
            </a:r>
          </a:p>
        </p:txBody>
      </p:sp>
      <p:sp>
        <p:nvSpPr>
          <p:cNvPr id="11" name="Rectangle 10"/>
          <p:cNvSpPr/>
          <p:nvPr/>
        </p:nvSpPr>
        <p:spPr>
          <a:xfrm>
            <a:off x="777240" y="2284984"/>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84984"/>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413000"/>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507</a:t>
            </a:r>
          </a:p>
        </p:txBody>
      </p:sp>
      <p:sp>
        <p:nvSpPr>
          <p:cNvPr id="14" name="TextBox 13"/>
          <p:cNvSpPr txBox="1"/>
          <p:nvPr/>
        </p:nvSpPr>
        <p:spPr>
          <a:xfrm>
            <a:off x="978408" y="2888488"/>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tools in the catalog when this deck was built</a:t>
            </a:r>
          </a:p>
        </p:txBody>
      </p:sp>
      <p:sp>
        <p:nvSpPr>
          <p:cNvPr id="15" name="Rectangle 14"/>
          <p:cNvSpPr/>
          <p:nvPr/>
        </p:nvSpPr>
        <p:spPr>
          <a:xfrm>
            <a:off x="3486835" y="2284984"/>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86835" y="2284984"/>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88003" y="2413000"/>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40</a:t>
            </a:r>
          </a:p>
        </p:txBody>
      </p:sp>
      <p:sp>
        <p:nvSpPr>
          <p:cNvPr id="18" name="TextBox 17"/>
          <p:cNvSpPr txBox="1"/>
          <p:nvPr/>
        </p:nvSpPr>
        <p:spPr>
          <a:xfrm>
            <a:off x="3688003" y="2888488"/>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tool groups, the largest fmp (100 tools)</a:t>
            </a:r>
          </a:p>
        </p:txBody>
      </p:sp>
      <p:sp>
        <p:nvSpPr>
          <p:cNvPr id="19" name="Rectangle 18"/>
          <p:cNvSpPr/>
          <p:nvPr/>
        </p:nvSpPr>
        <p:spPr>
          <a:xfrm>
            <a:off x="6196431" y="2284984"/>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6431" y="2284984"/>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7599" y="2413000"/>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5</a:t>
            </a:r>
          </a:p>
        </p:txBody>
      </p:sp>
      <p:sp>
        <p:nvSpPr>
          <p:cNvPr id="22" name="TextBox 21"/>
          <p:cNvSpPr txBox="1"/>
          <p:nvPr/>
        </p:nvSpPr>
        <p:spPr>
          <a:xfrm>
            <a:off x="6397599" y="2888488"/>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6B7480"/>
                </a:solidFill>
                <a:latin typeface="Calibri"/>
              </a:rPr>
              <a:t>versions of the tool-calling protocol served on one address (Part 4)</a:t>
            </a:r>
          </a:p>
        </p:txBody>
      </p:sp>
      <p:sp>
        <p:nvSpPr>
          <p:cNvPr id="23" name="Rectangle 22"/>
          <p:cNvSpPr/>
          <p:nvPr/>
        </p:nvSpPr>
        <p:spPr>
          <a:xfrm>
            <a:off x="8906027" y="2284984"/>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06027" y="2284984"/>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07195" y="2413000"/>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2928</a:t>
            </a:r>
          </a:p>
        </p:txBody>
      </p:sp>
      <p:sp>
        <p:nvSpPr>
          <p:cNvPr id="26" name="TextBox 25"/>
          <p:cNvSpPr txBox="1"/>
          <p:nvPr/>
        </p:nvSpPr>
        <p:spPr>
          <a:xfrm>
            <a:off x="9107195" y="2888488"/>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automated tests in the suite</a:t>
            </a:r>
          </a:p>
        </p:txBody>
      </p:sp>
      <p:sp>
        <p:nvSpPr>
          <p:cNvPr id="27" name="TextBox 26"/>
          <p:cNvSpPr txBox="1"/>
          <p:nvPr/>
        </p:nvSpPr>
        <p:spPr>
          <a:xfrm>
            <a:off x="777240" y="3638296"/>
            <a:ext cx="10637215" cy="2607056"/>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A1A1A"/>
                </a:solidFill>
                <a:latin typeface="Calibri"/>
              </a:rPr>
              <a:t>Shared</a:t>
            </a:r>
          </a:p>
          <a:p>
            <a:pPr lvl="1">
              <a:lnSpc>
                <a:spcPct val="120000"/>
              </a:lnSpc>
              <a:spcBef>
                <a:spcPts val="0"/>
              </a:spcBef>
              <a:spcAft>
                <a:spcPts val="0"/>
              </a:spcAft>
            </a:pPr>
            <a:r>
              <a:rPr sz="1450" b="0">
                <a:solidFill>
                  <a:srgbClr val="6B7480"/>
                </a:solidFill>
                <a:latin typeface="Calibri"/>
              </a:rPr>
              <a:t>One catalog for every team and every agent framework: a tool is built once, governed once and recorded once.</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Governed</a:t>
            </a:r>
          </a:p>
          <a:p>
            <a:pPr lvl="1">
              <a:lnSpc>
                <a:spcPct val="120000"/>
              </a:lnSpc>
              <a:spcBef>
                <a:spcPts val="0"/>
              </a:spcBef>
              <a:spcAft>
                <a:spcPts val="0"/>
              </a:spcAft>
            </a:pPr>
            <a:r>
              <a:rPr sz="1450" b="0">
                <a:solidFill>
                  <a:srgbClr val="6B7480"/>
                </a:solidFill>
                <a:latin typeface="Calibri"/>
              </a:rPr>
              <a:t>Every call, from any client or from SAJHA's own assistant, passes the same access check, the same rules and the same tamper-evident record.</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Self-hosted</a:t>
            </a:r>
          </a:p>
          <a:p>
            <a:pPr lvl="1">
              <a:lnSpc>
                <a:spcPct val="120000"/>
              </a:lnSpc>
              <a:spcBef>
                <a:spcPts val="0"/>
              </a:spcBef>
              <a:spcAft>
                <a:spcPts val="0"/>
              </a:spcAft>
            </a:pPr>
            <a:r>
              <a:rPr sz="1450" b="0">
                <a:solidFill>
                  <a:srgbClr val="6B7480"/>
                </a:solidFill>
                <a:latin typeface="Calibri"/>
              </a:rPr>
              <a:t>One Python process on a laptop or several workers on Kubernetes; data leaves your infrastructure only when a tool sends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F3C6CF"/>
                </a:solidFill>
                <a:latin typeface="Calibri"/>
              </a:rPr>
              <a:t>PART 2</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2800" b="0" i="0">
                <a:solidFill>
                  <a:srgbClr val="FFFFFF"/>
                </a:solidFill>
                <a:latin typeface="Georgia"/>
              </a:rPr>
              <a:t>The vocabulary, from nothing</a:t>
            </a:r>
          </a:p>
        </p:txBody>
      </p:sp>
      <p:sp>
        <p:nvSpPr>
          <p:cNvPr id="6" name="Rectangle 5"/>
          <p:cNvSpPr/>
          <p:nvPr/>
        </p:nvSpPr>
        <p:spPr>
          <a:xfrm>
            <a:off x="1005840" y="3383280"/>
            <a:ext cx="137160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BEEF0"/>
                </a:solidFill>
                <a:latin typeface="Calibri"/>
              </a:rPr>
              <a:t>Fourteen words carry the rest of the deck. Each is defined here before it is used, in plain terms first and then as SAJHA implements it. The definitions are the glossary's (GLOSSARY.md), shortened.</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F3C6CF"/>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BEEF0"/>
                </a:solidFill>
                <a:latin typeface="Calibri"/>
              </a:rPr>
              <a:t>Tool, schema, tool group, catalog</a:t>
            </a:r>
          </a:p>
          <a:p>
            <a:pPr>
              <a:lnSpc>
                <a:spcPct val="115000"/>
              </a:lnSpc>
              <a:spcBef>
                <a:spcPts val="0"/>
              </a:spcBef>
              <a:spcAft>
                <a:spcPts val="600"/>
              </a:spcAft>
            </a:pPr>
            <a:r>
              <a:rPr sz="1200" b="0" i="0">
                <a:solidFill>
                  <a:srgbClr val="FBEEF0"/>
                </a:solidFill>
                <a:latin typeface="Calibri"/>
              </a:rPr>
              <a:t>MCP, client, server, transport, era</a:t>
            </a:r>
          </a:p>
          <a:p>
            <a:pPr>
              <a:lnSpc>
                <a:spcPct val="115000"/>
              </a:lnSpc>
              <a:spcBef>
                <a:spcPts val="0"/>
              </a:spcBef>
              <a:spcAft>
                <a:spcPts val="600"/>
              </a:spcAft>
            </a:pPr>
            <a:r>
              <a:rPr sz="1200" b="0" i="0">
                <a:solidFill>
                  <a:srgbClr val="FBEEF0"/>
                </a:solidFill>
                <a:latin typeface="Calibri"/>
              </a:rPr>
              <a:t>Composition, confidence, policy, audit chain</a:t>
            </a:r>
          </a:p>
          <a:p>
            <a:pPr>
              <a:lnSpc>
                <a:spcPct val="115000"/>
              </a:lnSpc>
              <a:spcBef>
                <a:spcPts val="0"/>
              </a:spcBef>
              <a:spcAft>
                <a:spcPts val="600"/>
              </a:spcAft>
            </a:pPr>
            <a:r>
              <a:rPr sz="1200" b="0" i="0">
                <a:solidFill>
                  <a:srgbClr val="FBEEF0"/>
                </a:solidFill>
                <a:latin typeface="Calibri"/>
              </a:rPr>
              <a:t>The path every call follows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WORDS 1–4</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A tool is a named function with a contract; the schema is the contract</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a:t>
            </a:r>
          </a:p>
        </p:txBody>
      </p:sp>
      <p:graphicFrame>
        <p:nvGraphicFramePr>
          <p:cNvPr id="10" name="Table 9"/>
          <p:cNvGraphicFramePr>
            <a:graphicFrameLocks noGrp="1"/>
          </p:cNvGraphicFramePr>
          <p:nvPr/>
        </p:nvGraphicFramePr>
        <p:xfrm>
          <a:off x="777240" y="1290574"/>
          <a:ext cx="10637214" cy="3006661"/>
        </p:xfrm>
        <a:graphic>
          <a:graphicData uri="http://schemas.openxmlformats.org/drawingml/2006/table">
            <a:tbl>
              <a:tblPr firstRow="1">
                <a:tableStyleId>{5C22544A-7EE6-4342-B048-85BDC9FD1C3A}</a:tableStyleId>
              </a:tblPr>
              <a:tblGrid>
                <a:gridCol w="1671562"/>
                <a:gridCol w="5014687"/>
                <a:gridCol w="3950965"/>
              </a:tblGrid>
              <a:tr h="318579">
                <a:tc>
                  <a:txBody>
                    <a:bodyPr wrap="square"/>
                    <a:lstStyle/>
                    <a:p>
                      <a:r>
                        <a:rPr sz="1300" b="1">
                          <a:solidFill>
                            <a:srgbClr val="FFFFFF"/>
                          </a:solidFill>
                          <a:latin typeface="Calibri"/>
                        </a:rPr>
                        <a:t>Word</a:t>
                      </a:r>
                    </a:p>
                  </a:txBody>
                  <a:tcPr marL="82296" marR="64008" marT="32004" marB="32004" anchor="ctr">
                    <a:solidFill>
                      <a:srgbClr val="A51C30"/>
                    </a:solidFill>
                  </a:tcPr>
                </a:tc>
                <a:tc>
                  <a:txBody>
                    <a:bodyPr wrap="square"/>
                    <a:lstStyle/>
                    <a:p>
                      <a:r>
                        <a:rPr sz="1300" b="1">
                          <a:solidFill>
                            <a:srgbClr val="FFFFFF"/>
                          </a:solidFill>
                          <a:latin typeface="Calibri"/>
                        </a:rPr>
                        <a:t>What it means</a:t>
                      </a:r>
                    </a:p>
                  </a:txBody>
                  <a:tcPr marL="82296" marR="64008" marT="32004" marB="32004" anchor="ctr">
                    <a:solidFill>
                      <a:srgbClr val="A51C30"/>
                    </a:solidFill>
                  </a:tcPr>
                </a:tc>
                <a:tc>
                  <a:txBody>
                    <a:bodyPr wrap="square"/>
                    <a:lstStyle/>
                    <a:p>
                      <a:r>
                        <a:rPr sz="1300" b="1">
                          <a:solidFill>
                            <a:srgbClr val="FFFFFF"/>
                          </a:solidFill>
                          <a:latin typeface="Calibri"/>
                        </a:rPr>
                        <a:t>In SAJHA</a:t>
                      </a:r>
                    </a:p>
                  </a:txBody>
                  <a:tcPr marL="82296" marR="64008" marT="32004" marB="32004" anchor="ctr">
                    <a:solidFill>
                      <a:srgbClr val="A51C30"/>
                    </a:solidFill>
                  </a:tcPr>
                </a:tc>
              </a:tr>
              <a:tr h="784479">
                <a:tc>
                  <a:txBody>
                    <a:bodyPr wrap="square"/>
                    <a:lstStyle/>
                    <a:p>
                      <a:r>
                        <a:rPr sz="1400" b="1">
                          <a:solidFill>
                            <a:srgbClr val="6E1120"/>
                          </a:solidFill>
                          <a:latin typeface="Calibri"/>
                        </a:rPr>
                        <a:t>Tool</a:t>
                      </a:r>
                    </a:p>
                  </a:txBody>
                  <a:tcPr marL="82296" marR="64008" marT="32004" marB="32004" anchor="ctr">
                    <a:solidFill>
                      <a:srgbClr val="FFFFFF"/>
                    </a:solidFill>
                  </a:tcPr>
                </a:tc>
                <a:tc>
                  <a:txBody>
                    <a:bodyPr wrap="square"/>
                    <a:lstStyle/>
                    <a:p>
                      <a:r>
                        <a:rPr sz="1400" b="0">
                          <a:solidFill>
                            <a:srgbClr val="1A1A1A"/>
                          </a:solidFill>
                          <a:latin typeface="Calibri"/>
                        </a:rPr>
                        <a:t>A function an agent can call: a name, a description a model reads to decide when to use it, and the arguments it takes.</a:t>
                      </a:r>
                    </a:p>
                  </a:txBody>
                  <a:tcPr marL="82296" marR="64008" marT="32004" marB="32004" anchor="ctr">
                    <a:solidFill>
                      <a:srgbClr val="FFFFFF"/>
                    </a:solidFill>
                  </a:tcPr>
                </a:tc>
                <a:tc>
                  <a:txBody>
                    <a:bodyPr wrap="square"/>
                    <a:lstStyle/>
                    <a:p>
                      <a:r>
                        <a:rPr sz="1400" b="0">
                          <a:solidFill>
                            <a:srgbClr val="1A1A1A"/>
                          </a:solidFill>
                          <a:latin typeface="Calibri"/>
                        </a:rPr>
                        <a:t>One JSON file per tool in config/tools; 507 load at start-up.</a:t>
                      </a:r>
                    </a:p>
                  </a:txBody>
                  <a:tcPr marL="82296" marR="64008" marT="32004" marB="32004" anchor="ctr">
                    <a:solidFill>
                      <a:srgbClr val="FFFFFF"/>
                    </a:solidFill>
                  </a:tcPr>
                </a:tc>
              </a:tr>
              <a:tr h="784479">
                <a:tc>
                  <a:txBody>
                    <a:bodyPr wrap="square"/>
                    <a:lstStyle/>
                    <a:p>
                      <a:r>
                        <a:rPr sz="1400" b="1">
                          <a:solidFill>
                            <a:srgbClr val="6E1120"/>
                          </a:solidFill>
                          <a:latin typeface="Calibri"/>
                        </a:rPr>
                        <a:t>Schema</a:t>
                      </a:r>
                    </a:p>
                  </a:txBody>
                  <a:tcPr marL="82296" marR="64008" marT="32004" marB="32004" anchor="ctr">
                    <a:solidFill>
                      <a:srgbClr val="F7F5F2"/>
                    </a:solidFill>
                  </a:tcPr>
                </a:tc>
                <a:tc>
                  <a:txBody>
                    <a:bodyPr wrap="square"/>
                    <a:lstStyle/>
                    <a:p>
                      <a:r>
                        <a:rPr sz="1400" b="0">
                          <a:solidFill>
                            <a:srgbClr val="1A1A1A"/>
                          </a:solidFill>
                          <a:latin typeface="Calibri"/>
                        </a:rPr>
                        <a:t>The contract for a tool's arguments and its result, in JSON Schema: types, required fields, allowed values and ranges.</a:t>
                      </a:r>
                    </a:p>
                  </a:txBody>
                  <a:tcPr marL="82296" marR="64008" marT="32004" marB="32004" anchor="ctr">
                    <a:solidFill>
                      <a:srgbClr val="F7F5F2"/>
                    </a:solidFill>
                  </a:tcPr>
                </a:tc>
                <a:tc>
                  <a:txBody>
                    <a:bodyPr wrap="square"/>
                    <a:lstStyle/>
                    <a:p>
                      <a:r>
                        <a:rPr sz="1400" b="0">
                          <a:solidFill>
                            <a:srgbClr val="1A1A1A"/>
                          </a:solidFill>
                          <a:latin typeface="Calibri"/>
                        </a:rPr>
                        <a:t>Arguments are validated against it before the tool runs; a mismatch is refused, not passed on.</a:t>
                      </a:r>
                    </a:p>
                  </a:txBody>
                  <a:tcPr marL="82296" marR="64008" marT="32004" marB="32004" anchor="ctr">
                    <a:solidFill>
                      <a:srgbClr val="F7F5F2"/>
                    </a:solidFill>
                  </a:tcPr>
                </a:tc>
              </a:tr>
              <a:tr h="559562">
                <a:tc>
                  <a:txBody>
                    <a:bodyPr wrap="square"/>
                    <a:lstStyle/>
                    <a:p>
                      <a:r>
                        <a:rPr sz="1400" b="1">
                          <a:solidFill>
                            <a:srgbClr val="6E1120"/>
                          </a:solidFill>
                          <a:latin typeface="Calibri"/>
                        </a:rPr>
                        <a:t>Tool group</a:t>
                      </a:r>
                    </a:p>
                  </a:txBody>
                  <a:tcPr marL="82296" marR="64008" marT="32004" marB="32004" anchor="ctr">
                    <a:solidFill>
                      <a:srgbClr val="FFFFFF"/>
                    </a:solidFill>
                  </a:tcPr>
                </a:tc>
                <a:tc>
                  <a:txBody>
                    <a:bodyPr wrap="square"/>
                    <a:lstStyle/>
                    <a:p>
                      <a:r>
                        <a:rPr sz="1400" b="0">
                          <a:solidFill>
                            <a:srgbClr val="1A1A1A"/>
                          </a:solidFill>
                          <a:latin typeface="Calibri"/>
                        </a:rPr>
                        <a:t>Tools that share a name prefix and usually a data provider: fred_*, edgar_*, calc_*.</a:t>
                      </a:r>
                    </a:p>
                  </a:txBody>
                  <a:tcPr marL="82296" marR="64008" marT="32004" marB="32004" anchor="ctr">
                    <a:solidFill>
                      <a:srgbClr val="FFFFFF"/>
                    </a:solidFill>
                  </a:tcPr>
                </a:tc>
                <a:tc>
                  <a:txBody>
                    <a:bodyPr wrap="square"/>
                    <a:lstStyle/>
                    <a:p>
                      <a:r>
                        <a:rPr sz="1400" b="0">
                          <a:solidFill>
                            <a:srgbClr val="1A1A1A"/>
                          </a:solidFill>
                          <a:latin typeface="Calibri"/>
                        </a:rPr>
                        <a:t>40 groups; the largest are fmp (100), openbb (70) and fred (55).</a:t>
                      </a:r>
                    </a:p>
                  </a:txBody>
                  <a:tcPr marL="82296" marR="64008" marT="32004" marB="32004" anchor="ctr">
                    <a:solidFill>
                      <a:srgbClr val="FFFFFF"/>
                    </a:solidFill>
                  </a:tcPr>
                </a:tc>
              </a:tr>
              <a:tr h="559562">
                <a:tc>
                  <a:txBody>
                    <a:bodyPr wrap="square"/>
                    <a:lstStyle/>
                    <a:p>
                      <a:r>
                        <a:rPr sz="1400" b="1">
                          <a:solidFill>
                            <a:srgbClr val="6E1120"/>
                          </a:solidFill>
                          <a:latin typeface="Calibri"/>
                        </a:rPr>
                        <a:t>Catalog</a:t>
                      </a:r>
                    </a:p>
                  </a:txBody>
                  <a:tcPr marL="82296" marR="64008" marT="32004" marB="32004" anchor="ctr">
                    <a:solidFill>
                      <a:srgbClr val="F7F5F2"/>
                    </a:solidFill>
                  </a:tcPr>
                </a:tc>
                <a:tc>
                  <a:txBody>
                    <a:bodyPr wrap="square"/>
                    <a:lstStyle/>
                    <a:p>
                      <a:r>
                        <a:rPr sz="1400" b="0">
                          <a:solidFill>
                            <a:srgbClr val="1A1A1A"/>
                          </a:solidFill>
                          <a:latin typeface="Calibri"/>
                        </a:rPr>
                        <a:t>Every tool a server has loaded, with its schema, for a caller to discover.</a:t>
                      </a:r>
                    </a:p>
                  </a:txBody>
                  <a:tcPr marL="82296" marR="64008" marT="32004" marB="32004" anchor="ctr">
                    <a:solidFill>
                      <a:srgbClr val="F7F5F2"/>
                    </a:solidFill>
                  </a:tcPr>
                </a:tc>
                <a:tc>
                  <a:txBody>
                    <a:bodyPr wrap="square"/>
                    <a:lstStyle/>
                    <a:p>
                      <a:r>
                        <a:rPr sz="1400" b="0">
                          <a:solidFill>
                            <a:srgbClr val="1A1A1A"/>
                          </a:solidFill>
                          <a:latin typeface="Calibri"/>
                        </a:rPr>
                        <a:t>Each caller sees only the tools it may use (Part 5).</a:t>
                      </a:r>
                    </a:p>
                  </a:txBody>
                  <a:tcPr marL="82296" marR="64008" marT="32004" marB="32004" anchor="ctr">
                    <a:solidFill>
                      <a:srgbClr val="F7F5F2"/>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WORDS 5–9</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MCP is how agents find and call tools; a client is what speaks it</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a:t>
            </a:r>
          </a:p>
        </p:txBody>
      </p:sp>
      <p:graphicFrame>
        <p:nvGraphicFramePr>
          <p:cNvPr id="10" name="Table 9"/>
          <p:cNvGraphicFramePr>
            <a:graphicFrameLocks noGrp="1"/>
          </p:cNvGraphicFramePr>
          <p:nvPr/>
        </p:nvGraphicFramePr>
        <p:xfrm>
          <a:off x="777240" y="1322705"/>
          <a:ext cx="10637213" cy="4240974"/>
        </p:xfrm>
        <a:graphic>
          <a:graphicData uri="http://schemas.openxmlformats.org/drawingml/2006/table">
            <a:tbl>
              <a:tblPr firstRow="1">
                <a:tableStyleId>{5C22544A-7EE6-4342-B048-85BDC9FD1C3A}</a:tableStyleId>
              </a:tblPr>
              <a:tblGrid>
                <a:gridCol w="1671562"/>
                <a:gridCol w="5470567"/>
                <a:gridCol w="3495084"/>
              </a:tblGrid>
              <a:tr h="318579">
                <a:tc>
                  <a:txBody>
                    <a:bodyPr wrap="square"/>
                    <a:lstStyle/>
                    <a:p>
                      <a:r>
                        <a:rPr sz="1300" b="1">
                          <a:solidFill>
                            <a:srgbClr val="FFFFFF"/>
                          </a:solidFill>
                          <a:latin typeface="Calibri"/>
                        </a:rPr>
                        <a:t>Word</a:t>
                      </a:r>
                    </a:p>
                  </a:txBody>
                  <a:tcPr marL="82296" marR="64008" marT="32004" marB="32004" anchor="ctr">
                    <a:solidFill>
                      <a:srgbClr val="A51C30"/>
                    </a:solidFill>
                  </a:tcPr>
                </a:tc>
                <a:tc>
                  <a:txBody>
                    <a:bodyPr wrap="square"/>
                    <a:lstStyle/>
                    <a:p>
                      <a:r>
                        <a:rPr sz="1300" b="1">
                          <a:solidFill>
                            <a:srgbClr val="FFFFFF"/>
                          </a:solidFill>
                          <a:latin typeface="Calibri"/>
                        </a:rPr>
                        <a:t>What it means</a:t>
                      </a:r>
                    </a:p>
                  </a:txBody>
                  <a:tcPr marL="82296" marR="64008" marT="32004" marB="32004" anchor="ctr">
                    <a:solidFill>
                      <a:srgbClr val="A51C30"/>
                    </a:solidFill>
                  </a:tcPr>
                </a:tc>
                <a:tc>
                  <a:txBody>
                    <a:bodyPr wrap="square"/>
                    <a:lstStyle/>
                    <a:p>
                      <a:r>
                        <a:rPr sz="1300" b="1">
                          <a:solidFill>
                            <a:srgbClr val="FFFFFF"/>
                          </a:solidFill>
                          <a:latin typeface="Calibri"/>
                        </a:rPr>
                        <a:t>In SAJHA</a:t>
                      </a:r>
                    </a:p>
                  </a:txBody>
                  <a:tcPr marL="82296" marR="64008" marT="32004" marB="32004" anchor="ctr">
                    <a:solidFill>
                      <a:srgbClr val="A51C30"/>
                    </a:solidFill>
                  </a:tcPr>
                </a:tc>
              </a:tr>
              <a:tr h="784479">
                <a:tc>
                  <a:txBody>
                    <a:bodyPr wrap="square"/>
                    <a:lstStyle/>
                    <a:p>
                      <a:r>
                        <a:rPr sz="1400" b="1">
                          <a:solidFill>
                            <a:srgbClr val="6E1120"/>
                          </a:solidFill>
                          <a:latin typeface="Calibri"/>
                        </a:rPr>
                        <a:t>MCP</a:t>
                      </a:r>
                    </a:p>
                  </a:txBody>
                  <a:tcPr marL="82296" marR="64008" marT="32004" marB="32004" anchor="ctr">
                    <a:solidFill>
                      <a:srgbClr val="FFFFFF"/>
                    </a:solidFill>
                  </a:tcPr>
                </a:tc>
                <a:tc>
                  <a:txBody>
                    <a:bodyPr wrap="square"/>
                    <a:lstStyle/>
                    <a:p>
                      <a:r>
                        <a:rPr sz="1400" b="0">
                          <a:solidFill>
                            <a:srgbClr val="1A1A1A"/>
                          </a:solidFill>
                          <a:latin typeface="Calibri"/>
                        </a:rPr>
                        <a:t>Model Context Protocol: the open standard by which an application lists a server's tools (tools/list) and calls one (tools/call), as JSON messages.</a:t>
                      </a:r>
                    </a:p>
                  </a:txBody>
                  <a:tcPr marL="82296" marR="64008" marT="32004" marB="32004" anchor="ctr">
                    <a:solidFill>
                      <a:srgbClr val="FFFFFF"/>
                    </a:solidFill>
                  </a:tcPr>
                </a:tc>
                <a:tc>
                  <a:txBody>
                    <a:bodyPr wrap="square"/>
                    <a:lstStyle/>
                    <a:p>
                      <a:r>
                        <a:rPr sz="1400" b="0">
                          <a:solidFill>
                            <a:srgbClr val="1A1A1A"/>
                          </a:solidFill>
                          <a:latin typeface="Calibri"/>
                        </a:rPr>
                        <a:t>SAJHA is an MCP server; every tool in its catalog is an MCP tool.</a:t>
                      </a:r>
                    </a:p>
                  </a:txBody>
                  <a:tcPr marL="82296" marR="64008" marT="32004" marB="32004" anchor="ctr">
                    <a:solidFill>
                      <a:srgbClr val="FFFFFF"/>
                    </a:solidFill>
                  </a:tcPr>
                </a:tc>
              </a:tr>
              <a:tr h="784479">
                <a:tc>
                  <a:txBody>
                    <a:bodyPr wrap="square"/>
                    <a:lstStyle/>
                    <a:p>
                      <a:r>
                        <a:rPr sz="1400" b="1">
                          <a:solidFill>
                            <a:srgbClr val="6E1120"/>
                          </a:solidFill>
                          <a:latin typeface="Calibri"/>
                        </a:rPr>
                        <a:t>Client</a:t>
                      </a:r>
                    </a:p>
                  </a:txBody>
                  <a:tcPr marL="82296" marR="64008" marT="32004" marB="32004" anchor="ctr">
                    <a:solidFill>
                      <a:srgbClr val="F7F5F2"/>
                    </a:solidFill>
                  </a:tcPr>
                </a:tc>
                <a:tc>
                  <a:txBody>
                    <a:bodyPr wrap="square"/>
                    <a:lstStyle/>
                    <a:p>
                      <a:r>
                        <a:rPr sz="1400" b="0">
                          <a:solidFill>
                            <a:srgbClr val="1A1A1A"/>
                          </a:solidFill>
                          <a:latin typeface="Calibri"/>
                        </a:rPr>
                        <a:t>The program that speaks MCP for an agent or a person: a desktop assistant, an IDE, an agent framework, a script.</a:t>
                      </a:r>
                    </a:p>
                  </a:txBody>
                  <a:tcPr marL="82296" marR="64008" marT="32004" marB="32004" anchor="ctr">
                    <a:solidFill>
                      <a:srgbClr val="F7F5F2"/>
                    </a:solidFill>
                  </a:tcPr>
                </a:tc>
                <a:tc>
                  <a:txBody>
                    <a:bodyPr wrap="square"/>
                    <a:lstStyle/>
                    <a:p>
                      <a:r>
                        <a:rPr sz="1400" b="0">
                          <a:solidFill>
                            <a:srgbClr val="1A1A1A"/>
                          </a:solidFill>
                          <a:latin typeface="Calibri"/>
                        </a:rPr>
                        <a:t>Any MCP client; SAJHA also ships a Python client and a command line.</a:t>
                      </a:r>
                    </a:p>
                  </a:txBody>
                  <a:tcPr marL="82296" marR="64008" marT="32004" marB="32004" anchor="ctr">
                    <a:solidFill>
                      <a:srgbClr val="F7F5F2"/>
                    </a:solidFill>
                  </a:tcPr>
                </a:tc>
              </a:tr>
              <a:tr h="559562">
                <a:tc>
                  <a:txBody>
                    <a:bodyPr wrap="square"/>
                    <a:lstStyle/>
                    <a:p>
                      <a:r>
                        <a:rPr sz="1400" b="1">
                          <a:solidFill>
                            <a:srgbClr val="6E1120"/>
                          </a:solidFill>
                          <a:latin typeface="Calibri"/>
                        </a:rPr>
                        <a:t>Server</a:t>
                      </a:r>
                    </a:p>
                  </a:txBody>
                  <a:tcPr marL="82296" marR="64008" marT="32004" marB="32004" anchor="ctr">
                    <a:solidFill>
                      <a:srgbClr val="FFFFFF"/>
                    </a:solidFill>
                  </a:tcPr>
                </a:tc>
                <a:tc>
                  <a:txBody>
                    <a:bodyPr wrap="square"/>
                    <a:lstStyle/>
                    <a:p>
                      <a:r>
                        <a:rPr sz="1400" b="0">
                          <a:solidFill>
                            <a:srgbClr val="1A1A1A"/>
                          </a:solidFill>
                          <a:latin typeface="Calibri"/>
                        </a:rPr>
                        <a:t>The program that answers: it holds the tools and runs them.</a:t>
                      </a:r>
                    </a:p>
                  </a:txBody>
                  <a:tcPr marL="82296" marR="64008" marT="32004" marB="32004" anchor="ctr">
                    <a:solidFill>
                      <a:srgbClr val="FFFFFF"/>
                    </a:solidFill>
                  </a:tcPr>
                </a:tc>
                <a:tc>
                  <a:txBody>
                    <a:bodyPr wrap="square"/>
                    <a:lstStyle/>
                    <a:p>
                      <a:r>
                        <a:rPr sz="1400" b="0">
                          <a:solidFill>
                            <a:srgbClr val="1A1A1A"/>
                          </a:solidFill>
                          <a:latin typeface="Calibri"/>
                        </a:rPr>
                        <a:t>SAJHA, at /mcp.</a:t>
                      </a:r>
                    </a:p>
                  </a:txBody>
                  <a:tcPr marL="82296" marR="64008" marT="32004" marB="32004" anchor="ctr">
                    <a:solidFill>
                      <a:srgbClr val="FFFFFF"/>
                    </a:solidFill>
                  </a:tcPr>
                </a:tc>
              </a:tr>
              <a:tr h="784479">
                <a:tc>
                  <a:txBody>
                    <a:bodyPr wrap="square"/>
                    <a:lstStyle/>
                    <a:p>
                      <a:r>
                        <a:rPr sz="1400" b="1">
                          <a:solidFill>
                            <a:srgbClr val="6E1120"/>
                          </a:solidFill>
                          <a:latin typeface="Calibri"/>
                        </a:rPr>
                        <a:t>Transport</a:t>
                      </a:r>
                    </a:p>
                  </a:txBody>
                  <a:tcPr marL="82296" marR="64008" marT="32004" marB="32004" anchor="ctr">
                    <a:solidFill>
                      <a:srgbClr val="F7F5F2"/>
                    </a:solidFill>
                  </a:tcPr>
                </a:tc>
                <a:tc>
                  <a:txBody>
                    <a:bodyPr wrap="square"/>
                    <a:lstStyle/>
                    <a:p>
                      <a:r>
                        <a:rPr sz="1400" b="0">
                          <a:solidFill>
                            <a:srgbClr val="1A1A1A"/>
                          </a:solidFill>
                          <a:latin typeface="Calibri"/>
                        </a:rPr>
                        <a:t>How the messages travel: HTTP request and response, a long-lived stream (SSE or WebSocket), or a local pipe between two processes (stdio).</a:t>
                      </a:r>
                    </a:p>
                  </a:txBody>
                  <a:tcPr marL="82296" marR="64008" marT="32004" marB="32004" anchor="ctr">
                    <a:solidFill>
                      <a:srgbClr val="F7F5F2"/>
                    </a:solidFill>
                  </a:tcPr>
                </a:tc>
                <a:tc>
                  <a:txBody>
                    <a:bodyPr wrap="square"/>
                    <a:lstStyle/>
                    <a:p>
                      <a:r>
                        <a:rPr sz="1400" b="0">
                          <a:solidFill>
                            <a:srgbClr val="1A1A1A"/>
                          </a:solidFill>
                          <a:latin typeface="Calibri"/>
                        </a:rPr>
                        <a:t>Four transports (Part 4).</a:t>
                      </a:r>
                    </a:p>
                  </a:txBody>
                  <a:tcPr marL="82296" marR="64008" marT="32004" marB="32004" anchor="ctr">
                    <a:solidFill>
                      <a:srgbClr val="F7F5F2"/>
                    </a:solidFill>
                  </a:tcPr>
                </a:tc>
              </a:tr>
              <a:tr h="1009396">
                <a:tc>
                  <a:txBody>
                    <a:bodyPr wrap="square"/>
                    <a:lstStyle/>
                    <a:p>
                      <a:r>
                        <a:rPr sz="1400" b="1">
                          <a:solidFill>
                            <a:srgbClr val="6E1120"/>
                          </a:solidFill>
                          <a:latin typeface="Calibri"/>
                        </a:rPr>
                        <a:t>Era</a:t>
                      </a:r>
                    </a:p>
                  </a:txBody>
                  <a:tcPr marL="82296" marR="64008" marT="32004" marB="32004" anchor="ctr">
                    <a:solidFill>
                      <a:srgbClr val="FFFFFF"/>
                    </a:solidFill>
                  </a:tcPr>
                </a:tc>
                <a:tc>
                  <a:txBody>
                    <a:bodyPr wrap="square"/>
                    <a:lstStyle/>
                    <a:p>
                      <a:r>
                        <a:rPr sz="1400" b="0">
                          <a:solidFill>
                            <a:srgbClr val="1A1A1A"/>
                          </a:solidFill>
                          <a:latin typeface="Calibri"/>
                        </a:rPr>
                        <a:t>MCP has two generations in use: revisions up to 2025-11-25, where a client first opens a session, and the stateless 2026-07-28, where every request stands alone.</a:t>
                      </a:r>
                    </a:p>
                  </a:txBody>
                  <a:tcPr marL="82296" marR="64008" marT="32004" marB="32004" anchor="ctr">
                    <a:solidFill>
                      <a:srgbClr val="FFFFFF"/>
                    </a:solidFill>
                  </a:tcPr>
                </a:tc>
                <a:tc>
                  <a:txBody>
                    <a:bodyPr wrap="square"/>
                    <a:lstStyle/>
                    <a:p>
                      <a:r>
                        <a:rPr sz="1400" b="0">
                          <a:solidFill>
                            <a:srgbClr val="1A1A1A"/>
                          </a:solidFill>
                          <a:latin typeface="Calibri"/>
                        </a:rPr>
                        <a:t>Both, on the same address, recognised request by request.</a:t>
                      </a:r>
                    </a:p>
                  </a:txBody>
                  <a:tcPr marL="82296" marR="64008" marT="32004" marB="32004"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WORDS 10–14</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A1A1A"/>
                </a:solidFill>
                <a:latin typeface="Georgia"/>
              </a:rPr>
              <a:t>Composition, confidence and policy make a catalog fit to trust</a:t>
            </a:r>
          </a:p>
        </p:txBody>
      </p:sp>
      <p:sp>
        <p:nvSpPr>
          <p:cNvPr id="6" name="Rectangle 5"/>
          <p:cNvSpPr/>
          <p:nvPr/>
        </p:nvSpPr>
        <p:spPr>
          <a:xfrm>
            <a:off x="777240" y="1210754"/>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10</a:t>
            </a:r>
          </a:p>
        </p:txBody>
      </p:sp>
      <p:graphicFrame>
        <p:nvGraphicFramePr>
          <p:cNvPr id="10" name="Table 9"/>
          <p:cNvGraphicFramePr>
            <a:graphicFrameLocks noGrp="1"/>
          </p:cNvGraphicFramePr>
          <p:nvPr/>
        </p:nvGraphicFramePr>
        <p:xfrm>
          <a:off x="777240" y="1338770"/>
          <a:ext cx="10637213" cy="4240974"/>
        </p:xfrm>
        <a:graphic>
          <a:graphicData uri="http://schemas.openxmlformats.org/drawingml/2006/table">
            <a:tbl>
              <a:tblPr firstRow="1">
                <a:tableStyleId>{5C22544A-7EE6-4342-B048-85BDC9FD1C3A}</a:tableStyleId>
              </a:tblPr>
              <a:tblGrid>
                <a:gridCol w="1899502"/>
                <a:gridCol w="5318607"/>
                <a:gridCol w="3419104"/>
              </a:tblGrid>
              <a:tr h="318579">
                <a:tc>
                  <a:txBody>
                    <a:bodyPr wrap="square"/>
                    <a:lstStyle/>
                    <a:p>
                      <a:r>
                        <a:rPr sz="1300" b="1">
                          <a:solidFill>
                            <a:srgbClr val="FFFFFF"/>
                          </a:solidFill>
                          <a:latin typeface="Calibri"/>
                        </a:rPr>
                        <a:t>Word</a:t>
                      </a:r>
                    </a:p>
                  </a:txBody>
                  <a:tcPr marL="82296" marR="64008" marT="32004" marB="32004" anchor="ctr">
                    <a:solidFill>
                      <a:srgbClr val="A51C30"/>
                    </a:solidFill>
                  </a:tcPr>
                </a:tc>
                <a:tc>
                  <a:txBody>
                    <a:bodyPr wrap="square"/>
                    <a:lstStyle/>
                    <a:p>
                      <a:r>
                        <a:rPr sz="1300" b="1">
                          <a:solidFill>
                            <a:srgbClr val="FFFFFF"/>
                          </a:solidFill>
                          <a:latin typeface="Calibri"/>
                        </a:rPr>
                        <a:t>What it means</a:t>
                      </a:r>
                    </a:p>
                  </a:txBody>
                  <a:tcPr marL="82296" marR="64008" marT="32004" marB="32004" anchor="ctr">
                    <a:solidFill>
                      <a:srgbClr val="A51C30"/>
                    </a:solidFill>
                  </a:tcPr>
                </a:tc>
                <a:tc>
                  <a:txBody>
                    <a:bodyPr wrap="square"/>
                    <a:lstStyle/>
                    <a:p>
                      <a:r>
                        <a:rPr sz="1300" b="1">
                          <a:solidFill>
                            <a:srgbClr val="FFFFFF"/>
                          </a:solidFill>
                          <a:latin typeface="Calibri"/>
                        </a:rPr>
                        <a:t>In SAJHA</a:t>
                      </a:r>
                    </a:p>
                  </a:txBody>
                  <a:tcPr marL="82296" marR="64008" marT="32004" marB="32004" anchor="ctr">
                    <a:solidFill>
                      <a:srgbClr val="A51C30"/>
                    </a:solidFill>
                  </a:tcPr>
                </a:tc>
              </a:tr>
              <a:tr h="784479">
                <a:tc>
                  <a:txBody>
                    <a:bodyPr wrap="square"/>
                    <a:lstStyle/>
                    <a:p>
                      <a:r>
                        <a:rPr sz="1400" b="1">
                          <a:solidFill>
                            <a:srgbClr val="6E1120"/>
                          </a:solidFill>
                          <a:latin typeface="Calibri"/>
                        </a:rPr>
                        <a:t>Composition</a:t>
                      </a:r>
                    </a:p>
                  </a:txBody>
                  <a:tcPr marL="82296" marR="64008" marT="32004" marB="32004" anchor="ctr">
                    <a:solidFill>
                      <a:srgbClr val="FFFFFF"/>
                    </a:solidFill>
                  </a:tcPr>
                </a:tc>
                <a:tc>
                  <a:txBody>
                    <a:bodyPr wrap="square"/>
                    <a:lstStyle/>
                    <a:p>
                      <a:r>
                        <a:rPr sz="1400" b="0">
                          <a:solidFill>
                            <a:srgbClr val="1A1A1A"/>
                          </a:solidFill>
                          <a:latin typeface="Calibri"/>
                        </a:rPr>
                        <a:t>Calling tools in sequence or in parallel, the output of one feeding the next, to make a larger tool or one answer.</a:t>
                      </a:r>
                    </a:p>
                  </a:txBody>
                  <a:tcPr marL="82296" marR="64008" marT="32004" marB="32004" anchor="ctr">
                    <a:solidFill>
                      <a:srgbClr val="FFFFFF"/>
                    </a:solidFill>
                  </a:tcPr>
                </a:tc>
                <a:tc>
                  <a:txBody>
                    <a:bodyPr wrap="square"/>
                    <a:lstStyle/>
                    <a:p>
                      <a:r>
                        <a:rPr sz="1400" b="0">
                          <a:solidFill>
                            <a:srgbClr val="1A1A1A"/>
                          </a:solidFill>
                          <a:latin typeface="Calibri"/>
                        </a:rPr>
                        <a:t>Composite tools, workflows, and Ask SAJHA's tool-use loop.</a:t>
                      </a:r>
                    </a:p>
                  </a:txBody>
                  <a:tcPr marL="82296" marR="64008" marT="32004" marB="32004" anchor="ctr">
                    <a:solidFill>
                      <a:srgbClr val="FFFFFF"/>
                    </a:solidFill>
                  </a:tcPr>
                </a:tc>
              </a:tr>
              <a:tr h="784479">
                <a:tc>
                  <a:txBody>
                    <a:bodyPr wrap="square"/>
                    <a:lstStyle/>
                    <a:p>
                      <a:r>
                        <a:rPr sz="1400" b="1">
                          <a:solidFill>
                            <a:srgbClr val="6E1120"/>
                          </a:solidFill>
                          <a:latin typeface="Calibri"/>
                        </a:rPr>
                        <a:t>Confidence</a:t>
                      </a:r>
                    </a:p>
                  </a:txBody>
                  <a:tcPr marL="82296" marR="64008" marT="32004" marB="32004" anchor="ctr">
                    <a:solidFill>
                      <a:srgbClr val="F7F5F2"/>
                    </a:solidFill>
                  </a:tcPr>
                </a:tc>
                <a:tc>
                  <a:txBody>
                    <a:bodyPr wrap="square"/>
                    <a:lstStyle/>
                    <a:p>
                      <a:r>
                        <a:rPr sz="1400" b="0">
                          <a:solidFill>
                            <a:srgbClr val="1A1A1A"/>
                          </a:solidFill>
                          <a:latin typeface="Calibri"/>
                        </a:rPr>
                        <a:t>How far a result can be relied on, from 0 to 1: 1.00 for a calculator, 0.80 for a web fetch. It falls as steps chain.</a:t>
                      </a:r>
                    </a:p>
                  </a:txBody>
                  <a:tcPr marL="82296" marR="64008" marT="32004" marB="32004" anchor="ctr">
                    <a:solidFill>
                      <a:srgbClr val="F7F5F2"/>
                    </a:solidFill>
                  </a:tcPr>
                </a:tc>
                <a:tc>
                  <a:txBody>
                    <a:bodyPr wrap="square"/>
                    <a:lstStyle/>
                    <a:p>
                      <a:r>
                        <a:rPr sz="1400" b="0">
                          <a:solidFill>
                            <a:srgbClr val="1A1A1A"/>
                          </a:solidFill>
                          <a:latin typeface="Calibri"/>
                        </a:rPr>
                        <a:t>Set per tool group in code and chained by an entropy guard; never chosen by a model.</a:t>
                      </a:r>
                    </a:p>
                  </a:txBody>
                  <a:tcPr marL="82296" marR="64008" marT="32004" marB="32004" anchor="ctr">
                    <a:solidFill>
                      <a:srgbClr val="F7F5F2"/>
                    </a:solidFill>
                  </a:tcPr>
                </a:tc>
              </a:tr>
              <a:tr h="784479">
                <a:tc>
                  <a:txBody>
                    <a:bodyPr wrap="square"/>
                    <a:lstStyle/>
                    <a:p>
                      <a:r>
                        <a:rPr sz="1400" b="1">
                          <a:solidFill>
                            <a:srgbClr val="6E1120"/>
                          </a:solidFill>
                          <a:latin typeface="Calibri"/>
                        </a:rPr>
                        <a:t>Policy</a:t>
                      </a:r>
                    </a:p>
                  </a:txBody>
                  <a:tcPr marL="82296" marR="64008" marT="32004" marB="32004" anchor="ctr">
                    <a:solidFill>
                      <a:srgbClr val="FFFFFF"/>
                    </a:solidFill>
                  </a:tcPr>
                </a:tc>
                <a:tc>
                  <a:txBody>
                    <a:bodyPr wrap="square"/>
                    <a:lstStyle/>
                    <a:p>
                      <a:r>
                        <a:rPr sz="1400" b="0">
                          <a:solidFill>
                            <a:srgbClr val="1A1A1A"/>
                          </a:solidFill>
                          <a:latin typeface="Calibri"/>
                        </a:rPr>
                        <a:t>Declarative rules evaluated before a call runs: allow, deny, require approval, constrain arguments, limit the rate, redact the output.</a:t>
                      </a:r>
                    </a:p>
                  </a:txBody>
                  <a:tcPr marL="82296" marR="64008" marT="32004" marB="32004" anchor="ctr">
                    <a:solidFill>
                      <a:srgbClr val="FFFFFF"/>
                    </a:solidFill>
                  </a:tcPr>
                </a:tc>
                <a:tc>
                  <a:txBody>
                    <a:bodyPr wrap="square"/>
                    <a:lstStyle/>
                    <a:p>
                      <a:r>
                        <a:rPr sz="1400" b="0">
                          <a:solidFill>
                            <a:srgbClr val="1A1A1A"/>
                          </a:solidFill>
                          <a:latin typeface="Calibri"/>
                        </a:rPr>
                        <a:t>YAML files in config/policies, applied on every path a tool runs through.</a:t>
                      </a:r>
                    </a:p>
                  </a:txBody>
                  <a:tcPr marL="82296" marR="64008" marT="32004" marB="32004" anchor="ctr">
                    <a:solidFill>
                      <a:srgbClr val="FFFFFF"/>
                    </a:solidFill>
                  </a:tcPr>
                </a:tc>
              </a:tr>
              <a:tr h="784479">
                <a:tc>
                  <a:txBody>
                    <a:bodyPr wrap="square"/>
                    <a:lstStyle/>
                    <a:p>
                      <a:r>
                        <a:rPr sz="1400" b="1">
                          <a:solidFill>
                            <a:srgbClr val="6E1120"/>
                          </a:solidFill>
                          <a:latin typeface="Calibri"/>
                        </a:rPr>
                        <a:t>Audit chain</a:t>
                      </a:r>
                    </a:p>
                  </a:txBody>
                  <a:tcPr marL="82296" marR="64008" marT="32004" marB="32004" anchor="ctr">
                    <a:solidFill>
                      <a:srgbClr val="F7F5F2"/>
                    </a:solidFill>
                  </a:tcPr>
                </a:tc>
                <a:tc>
                  <a:txBody>
                    <a:bodyPr wrap="square"/>
                    <a:lstStyle/>
                    <a:p>
                      <a:r>
                        <a:rPr sz="1400" b="0">
                          <a:solidFill>
                            <a:srgbClr val="1A1A1A"/>
                          </a:solidFill>
                          <a:latin typeface="Calibri"/>
                        </a:rPr>
                        <a:t>A log in which each record carries the hash of the one before, with signed checkpoints, so an edit, deletion or insertion is detectable.</a:t>
                      </a:r>
                    </a:p>
                  </a:txBody>
                  <a:tcPr marL="82296" marR="64008" marT="32004" marB="32004" anchor="ctr">
                    <a:solidFill>
                      <a:srgbClr val="F7F5F2"/>
                    </a:solidFill>
                  </a:tcPr>
                </a:tc>
                <a:tc>
                  <a:txBody>
                    <a:bodyPr wrap="square"/>
                    <a:lstStyle/>
                    <a:p>
                      <a:r>
                        <a:rPr sz="1400" b="0">
                          <a:solidFill>
                            <a:srgbClr val="1A1A1A"/>
                          </a:solidFill>
                          <a:latin typeface="Calibri"/>
                        </a:rPr>
                        <a:t>Every audit record and every policy decision.</a:t>
                      </a:r>
                    </a:p>
                  </a:txBody>
                  <a:tcPr marL="82296" marR="64008" marT="32004" marB="32004" anchor="ctr">
                    <a:solidFill>
                      <a:srgbClr val="F7F5F2"/>
                    </a:solidFill>
                  </a:tcPr>
                </a:tc>
              </a:tr>
              <a:tr h="784479">
                <a:tc>
                  <a:txBody>
                    <a:bodyPr wrap="square"/>
                    <a:lstStyle/>
                    <a:p>
                      <a:r>
                        <a:rPr sz="1400" b="1">
                          <a:solidFill>
                            <a:srgbClr val="6E1120"/>
                          </a:solidFill>
                          <a:latin typeface="Calibri"/>
                        </a:rPr>
                        <a:t>Ask SAJHA</a:t>
                      </a:r>
                    </a:p>
                  </a:txBody>
                  <a:tcPr marL="82296" marR="64008" marT="32004" marB="32004" anchor="ctr">
                    <a:solidFill>
                      <a:srgbClr val="FFFFFF"/>
                    </a:solidFill>
                  </a:tcPr>
                </a:tc>
                <a:tc>
                  <a:txBody>
                    <a:bodyPr wrap="square"/>
                    <a:lstStyle/>
                    <a:p>
                      <a:r>
                        <a:rPr sz="1400" b="0">
                          <a:solidFill>
                            <a:srgbClr val="1A1A1A"/>
                          </a:solidFill>
                          <a:latin typeface="Calibri"/>
                        </a:rPr>
                        <a:t>SAJHA's own assistant: a question in; an answer, its sources and a confidence out.</a:t>
                      </a:r>
                    </a:p>
                  </a:txBody>
                  <a:tcPr marL="82296" marR="64008" marT="32004" marB="32004" anchor="ctr">
                    <a:solidFill>
                      <a:srgbClr val="FFFFFF"/>
                    </a:solidFill>
                  </a:tcPr>
                </a:tc>
                <a:tc>
                  <a:txBody>
                    <a:bodyPr wrap="square"/>
                    <a:lstStyle/>
                    <a:p>
                      <a:r>
                        <a:rPr sz="1400" b="0">
                          <a:solidFill>
                            <a:srgbClr val="1A1A1A"/>
                          </a:solidFill>
                          <a:latin typeface="Calibri"/>
                        </a:rPr>
                        <a:t>/ask in the browser, POST /api/ai/ask, or the sajha_ask tool.</a:t>
                      </a:r>
                    </a:p>
                  </a:txBody>
                  <a:tcPr marL="82296" marR="64008" marT="32004" marB="32004"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ONE SENTENCE THAT USES EVERY WORD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Every call follows the same path, whoever makes it</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11</a:t>
            </a:r>
          </a:p>
        </p:txBody>
      </p:sp>
      <p:sp>
        <p:nvSpPr>
          <p:cNvPr id="10" name="Rectangle 9"/>
          <p:cNvSpPr/>
          <p:nvPr/>
        </p:nvSpPr>
        <p:spPr>
          <a:xfrm>
            <a:off x="777240" y="1386967"/>
            <a:ext cx="1559509" cy="233172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Client</a:t>
            </a:r>
          </a:p>
        </p:txBody>
      </p:sp>
      <p:sp>
        <p:nvSpPr>
          <p:cNvPr id="13" name="TextBox 12"/>
          <p:cNvSpPr txBox="1"/>
          <p:nvPr/>
        </p:nvSpPr>
        <p:spPr>
          <a:xfrm>
            <a:off x="960120" y="1900047"/>
            <a:ext cx="1193749" cy="169062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Any MCP client, the Python client, the browser, a workflow or Ask SAJHA</a:t>
            </a:r>
          </a:p>
        </p:txBody>
      </p:sp>
      <p:sp>
        <p:nvSpPr>
          <p:cNvPr id="14" name="Rectangle 13"/>
          <p:cNvSpPr/>
          <p:nvPr/>
        </p:nvSpPr>
        <p:spPr>
          <a:xfrm>
            <a:off x="2592781" y="1386967"/>
            <a:ext cx="1559509" cy="233172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2781"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75661"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Transport and era</a:t>
            </a:r>
          </a:p>
        </p:txBody>
      </p:sp>
      <p:sp>
        <p:nvSpPr>
          <p:cNvPr id="17" name="TextBox 16"/>
          <p:cNvSpPr txBox="1"/>
          <p:nvPr/>
        </p:nvSpPr>
        <p:spPr>
          <a:xfrm>
            <a:off x="2775661" y="2157095"/>
            <a:ext cx="1193749" cy="1433576"/>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HTTP, SSE, WebSocket or stdio; either era, recognised per request</a:t>
            </a:r>
          </a:p>
        </p:txBody>
      </p:sp>
      <p:cxnSp>
        <p:nvCxnSpPr>
          <p:cNvPr id="18" name="Connector 17"/>
          <p:cNvCxnSpPr/>
          <p:nvPr/>
        </p:nvCxnSpPr>
        <p:spPr>
          <a:xfrm>
            <a:off x="2364181" y="255282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408322" y="1386967"/>
            <a:ext cx="1559509" cy="233172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08322"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1202"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550" b="1" i="0">
                <a:solidFill>
                  <a:srgbClr val="1A1A1A"/>
                </a:solidFill>
                <a:latin typeface="Georgia"/>
              </a:rPr>
              <a:t>Identity and access</a:t>
            </a:r>
          </a:p>
        </p:txBody>
      </p:sp>
      <p:sp>
        <p:nvSpPr>
          <p:cNvPr id="22" name="TextBox 21"/>
          <p:cNvSpPr txBox="1"/>
          <p:nvPr/>
        </p:nvSpPr>
        <p:spPr>
          <a:xfrm>
            <a:off x="4591202" y="2141029"/>
            <a:ext cx="1193749" cy="144964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Who is calling, and may they see and run this tool?</a:t>
            </a:r>
          </a:p>
        </p:txBody>
      </p:sp>
      <p:cxnSp>
        <p:nvCxnSpPr>
          <p:cNvPr id="23" name="Connector 22"/>
          <p:cNvCxnSpPr/>
          <p:nvPr/>
        </p:nvCxnSpPr>
        <p:spPr>
          <a:xfrm>
            <a:off x="4179722" y="255282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23863" y="1386967"/>
            <a:ext cx="1559509" cy="233172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23863"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6743"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Policy</a:t>
            </a:r>
          </a:p>
        </p:txBody>
      </p:sp>
      <p:sp>
        <p:nvSpPr>
          <p:cNvPr id="27" name="TextBox 26"/>
          <p:cNvSpPr txBox="1"/>
          <p:nvPr/>
        </p:nvSpPr>
        <p:spPr>
          <a:xfrm>
            <a:off x="6406743" y="1900047"/>
            <a:ext cx="1193749" cy="169062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Deny, approve, constrain, rate-limit or redact</a:t>
            </a:r>
          </a:p>
        </p:txBody>
      </p:sp>
      <p:cxnSp>
        <p:nvCxnSpPr>
          <p:cNvPr id="28" name="Connector 27"/>
          <p:cNvCxnSpPr/>
          <p:nvPr/>
        </p:nvCxnSpPr>
        <p:spPr>
          <a:xfrm>
            <a:off x="5995263" y="255282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8039404" y="1386967"/>
            <a:ext cx="1559509" cy="233172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39404"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2284"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Tool</a:t>
            </a:r>
          </a:p>
        </p:txBody>
      </p:sp>
      <p:sp>
        <p:nvSpPr>
          <p:cNvPr id="32" name="TextBox 31"/>
          <p:cNvSpPr txBox="1"/>
          <p:nvPr/>
        </p:nvSpPr>
        <p:spPr>
          <a:xfrm>
            <a:off x="8222284" y="1900047"/>
            <a:ext cx="1193749" cy="1690624"/>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6B7480"/>
                </a:solidFill>
                <a:latin typeface="Calibri"/>
              </a:rPr>
              <a:t>Arguments checked against the schema; cache, circuit breaker, metrics</a:t>
            </a:r>
          </a:p>
        </p:txBody>
      </p:sp>
      <p:cxnSp>
        <p:nvCxnSpPr>
          <p:cNvPr id="33" name="Connector 32"/>
          <p:cNvCxnSpPr/>
          <p:nvPr/>
        </p:nvCxnSpPr>
        <p:spPr>
          <a:xfrm>
            <a:off x="7810804" y="255282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854946" y="1386967"/>
            <a:ext cx="1559509" cy="233172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854946"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37826"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Audit</a:t>
            </a:r>
          </a:p>
        </p:txBody>
      </p:sp>
      <p:sp>
        <p:nvSpPr>
          <p:cNvPr id="37" name="TextBox 36"/>
          <p:cNvSpPr txBox="1"/>
          <p:nvPr/>
        </p:nvSpPr>
        <p:spPr>
          <a:xfrm>
            <a:off x="10037826" y="1900047"/>
            <a:ext cx="1193749" cy="169062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One hash-chained record, exportable to a SIEM</a:t>
            </a:r>
          </a:p>
        </p:txBody>
      </p:sp>
      <p:cxnSp>
        <p:nvCxnSpPr>
          <p:cNvPr id="38" name="Connector 37"/>
          <p:cNvCxnSpPr/>
          <p:nvPr/>
        </p:nvCxnSpPr>
        <p:spPr>
          <a:xfrm>
            <a:off x="9626346" y="255282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77240" y="3928999"/>
            <a:ext cx="10637215" cy="2316353"/>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A1A1A"/>
                </a:solidFill>
                <a:latin typeface="Calibri"/>
              </a:rPr>
              <a:t>The single place is BaseMCPTool.execute_with_tracking: MCP in both eras, stdio, WebSocket, REST, agent-to-agent (A2A) calls, the browser playground, Ask SAJHA, asynchronous tasks and tools fronted from other MCP servers all run a tool through it, so a rule written once applies to all of them.</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A SIEM is the security team's log platform (Splunk, Datadog, a syslog collector); Part 5 shows the export.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F3C6CF"/>
                </a:solidFill>
                <a:latin typeface="Calibri"/>
              </a:rPr>
              <a:t>PART 3</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400" b="0" i="0">
                <a:solidFill>
                  <a:srgbClr val="FFFFFF"/>
                </a:solidFill>
                <a:latin typeface="Georgia"/>
              </a:rPr>
              <a:t>One question, end to end</a:t>
            </a:r>
          </a:p>
        </p:txBody>
      </p:sp>
      <p:sp>
        <p:nvSpPr>
          <p:cNvPr id="6" name="Rectangle 5"/>
          <p:cNvSpPr/>
          <p:nvPr/>
        </p:nvSpPr>
        <p:spPr>
          <a:xfrm>
            <a:off x="1005840" y="3383280"/>
            <a:ext cx="137160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BEEF0"/>
                </a:solidFill>
                <a:latin typeface="Calibri"/>
              </a:rPr>
              <a:t>Before any architecture, one question carried through SAJHA, captured from a real run when this deck was built: on the offline mock model, over the whole catalog, with nothing staged.</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F3C6CF"/>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BEEF0"/>
                </a:solidFill>
                <a:latin typeface="Calibri"/>
              </a:rPr>
              <a:t>Four moves: shortlist, plan, call, answer</a:t>
            </a:r>
          </a:p>
          <a:p>
            <a:pPr>
              <a:lnSpc>
                <a:spcPct val="115000"/>
              </a:lnSpc>
              <a:spcBef>
                <a:spcPts val="0"/>
              </a:spcBef>
              <a:spcAft>
                <a:spcPts val="600"/>
              </a:spcAft>
            </a:pPr>
            <a:r>
              <a:rPr sz="1200" b="0" i="0">
                <a:solidFill>
                  <a:srgbClr val="FBEEF0"/>
                </a:solidFill>
                <a:latin typeface="Calibri"/>
              </a:rPr>
              <a:t>The shortlist</a:t>
            </a:r>
          </a:p>
          <a:p>
            <a:pPr>
              <a:lnSpc>
                <a:spcPct val="115000"/>
              </a:lnSpc>
              <a:spcBef>
                <a:spcPts val="0"/>
              </a:spcBef>
              <a:spcAft>
                <a:spcPts val="600"/>
              </a:spcAft>
            </a:pPr>
            <a:r>
              <a:rPr sz="1200" b="0" i="0">
                <a:solidFill>
                  <a:srgbClr val="FBEEF0"/>
                </a:solidFill>
                <a:latin typeface="Calibri"/>
              </a:rPr>
              <a:t>The governed call</a:t>
            </a:r>
          </a:p>
          <a:p>
            <a:pPr>
              <a:lnSpc>
                <a:spcPct val="115000"/>
              </a:lnSpc>
              <a:spcBef>
                <a:spcPts val="0"/>
              </a:spcBef>
              <a:spcAft>
                <a:spcPts val="600"/>
              </a:spcAft>
            </a:pPr>
            <a:r>
              <a:rPr sz="1200" b="0" i="0">
                <a:solidFill>
                  <a:srgbClr val="FBEEF0"/>
                </a:solidFill>
                <a:latin typeface="Calibri"/>
              </a:rPr>
              <a:t>The answer, its source and its confidence</a:t>
            </a:r>
          </a:p>
          <a:p>
            <a:pPr>
              <a:lnSpc>
                <a:spcPct val="115000"/>
              </a:lnSpc>
              <a:spcBef>
                <a:spcPts val="0"/>
              </a:spcBef>
              <a:spcAft>
                <a:spcPts val="600"/>
              </a:spcAft>
            </a:pPr>
            <a:r>
              <a:rPr sz="1200" b="0" i="0">
                <a:solidFill>
                  <a:srgbClr val="FBEEF0"/>
                </a:solidFill>
                <a:latin typeface="Calibri"/>
              </a:rPr>
              <a:t>What the run does not show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ASK SAJHA</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Ask SAJHA answers in four moves, and the browser draws each one</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3 · One question,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13</a:t>
            </a:r>
          </a:p>
        </p:txBody>
      </p:sp>
      <p:sp>
        <p:nvSpPr>
          <p:cNvPr id="10" name="TextBox 9"/>
          <p:cNvSpPr txBox="1"/>
          <p:nvPr/>
        </p:nvSpPr>
        <p:spPr>
          <a:xfrm>
            <a:off x="777240" y="1322705"/>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Open /ask and the catalog is drawn as a night sky, the constellation: one star per tool, clustered by group. As a question is answered, the stars it shortlists light up and a line is drawn to each tool it calls, with the result beside it.</a:t>
            </a:r>
          </a:p>
        </p:txBody>
      </p:sp>
      <p:sp>
        <p:nvSpPr>
          <p:cNvPr id="11" name="Rectangle 10"/>
          <p:cNvSpPr/>
          <p:nvPr/>
        </p:nvSpPr>
        <p:spPr>
          <a:xfrm>
            <a:off x="777240" y="2220722"/>
            <a:ext cx="2467279" cy="20574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20722"/>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385314"/>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1  Shortlist</a:t>
            </a:r>
          </a:p>
        </p:txBody>
      </p:sp>
      <p:sp>
        <p:nvSpPr>
          <p:cNvPr id="14" name="TextBox 13"/>
          <p:cNvSpPr txBox="1"/>
          <p:nvPr/>
        </p:nvSpPr>
        <p:spPr>
          <a:xfrm>
            <a:off x="960120" y="2733802"/>
            <a:ext cx="2101519" cy="1416304"/>
          </a:xfrm>
          <a:prstGeom prst="rect">
            <a:avLst/>
          </a:prstGeom>
          <a:noFill/>
        </p:spPr>
        <p:txBody>
          <a:bodyPr wrap="square" lIns="0" rIns="0" tIns="0" bIns="0" anchor="t">
            <a:spAutoFit/>
          </a:bodyPr>
          <a:lstStyle/>
          <a:p>
            <a:pPr algn="l">
              <a:lnSpc>
                <a:spcPct val="120000"/>
              </a:lnSpc>
              <a:spcBef>
                <a:spcPts val="0"/>
              </a:spcBef>
              <a:spcAft>
                <a:spcPts val="0"/>
              </a:spcAft>
            </a:pPr>
            <a:r>
              <a:rPr sz="1200" b="0" i="0">
                <a:solidFill>
                  <a:srgbClr val="6B7480"/>
                </a:solidFill>
                <a:latin typeface="Calibri"/>
              </a:rPr>
              <a:t>A search over every tool's name and description ranks the catalog; tools the caller may not run are dropped before any model sees them.</a:t>
            </a:r>
          </a:p>
        </p:txBody>
      </p:sp>
      <p:sp>
        <p:nvSpPr>
          <p:cNvPr id="15" name="Rectangle 14"/>
          <p:cNvSpPr/>
          <p:nvPr/>
        </p:nvSpPr>
        <p:spPr>
          <a:xfrm>
            <a:off x="3500551" y="2220722"/>
            <a:ext cx="2467279" cy="20574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0551" y="2220722"/>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83431" y="2385314"/>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2  Plan</a:t>
            </a:r>
          </a:p>
        </p:txBody>
      </p:sp>
      <p:sp>
        <p:nvSpPr>
          <p:cNvPr id="18" name="TextBox 17"/>
          <p:cNvSpPr txBox="1"/>
          <p:nvPr/>
        </p:nvSpPr>
        <p:spPr>
          <a:xfrm>
            <a:off x="3683431" y="2733802"/>
            <a:ext cx="2101519" cy="14163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 planner asks the model what to do next: answer, or call which shortlisted tools with which arguments.</a:t>
            </a:r>
          </a:p>
        </p:txBody>
      </p:sp>
      <p:cxnSp>
        <p:nvCxnSpPr>
          <p:cNvPr id="19" name="Connector 18"/>
          <p:cNvCxnSpPr/>
          <p:nvPr/>
        </p:nvCxnSpPr>
        <p:spPr>
          <a:xfrm>
            <a:off x="3271951" y="3249422"/>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223863" y="2220722"/>
            <a:ext cx="2467279" cy="20574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23863" y="2220722"/>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6743" y="2385314"/>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3  Governed call</a:t>
            </a:r>
          </a:p>
        </p:txBody>
      </p:sp>
      <p:sp>
        <p:nvSpPr>
          <p:cNvPr id="23" name="TextBox 22"/>
          <p:cNvSpPr txBox="1"/>
          <p:nvPr/>
        </p:nvSpPr>
        <p:spPr>
          <a:xfrm>
            <a:off x="6406743" y="2733802"/>
            <a:ext cx="2101519" cy="14163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Each call takes the path every client's call takes: schema, access, policy, cache, circuit breaker, audit.</a:t>
            </a:r>
          </a:p>
        </p:txBody>
      </p:sp>
      <p:cxnSp>
        <p:nvCxnSpPr>
          <p:cNvPr id="24" name="Connector 23"/>
          <p:cNvCxnSpPr/>
          <p:nvPr/>
        </p:nvCxnSpPr>
        <p:spPr>
          <a:xfrm>
            <a:off x="5995263" y="3249422"/>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8947175" y="2220722"/>
            <a:ext cx="2467279" cy="20574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7175" y="2220722"/>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30055" y="2385314"/>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4  Answer</a:t>
            </a:r>
          </a:p>
        </p:txBody>
      </p:sp>
      <p:sp>
        <p:nvSpPr>
          <p:cNvPr id="28" name="TextBox 27"/>
          <p:cNvSpPr txBox="1"/>
          <p:nvPr/>
        </p:nvSpPr>
        <p:spPr>
          <a:xfrm>
            <a:off x="9130055" y="2733802"/>
            <a:ext cx="2101519" cy="14163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 final call writes the answer and cites the calls it rests on; SAJHA attaches a confidence it computed itself.</a:t>
            </a:r>
          </a:p>
        </p:txBody>
      </p:sp>
      <p:cxnSp>
        <p:nvCxnSpPr>
          <p:cNvPr id="29" name="Connector 28"/>
          <p:cNvCxnSpPr/>
          <p:nvPr/>
        </p:nvCxnSpPr>
        <p:spPr>
          <a:xfrm>
            <a:off x="8718575" y="3249422"/>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77240" y="4488434"/>
            <a:ext cx="10637215" cy="1756918"/>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A1A1A"/>
                </a:solidFill>
                <a:latin typeface="Calibri"/>
              </a:rPr>
              <a:t>The page animates a stream of events, here in the order the run emitted them: shortlist → model → tool_call → tool_result → model → answer → confidence → done.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MOVE 1, CAPTURED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507 tools in, 12 offered to the model</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3 · One question,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14</a:t>
            </a:r>
          </a:p>
        </p:txBody>
      </p:sp>
      <p:sp>
        <p:nvSpPr>
          <p:cNvPr id="10" name="Rectangle 9"/>
          <p:cNvSpPr/>
          <p:nvPr/>
        </p:nvSpPr>
        <p:spPr>
          <a:xfrm>
            <a:off x="777240" y="1386967"/>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The shortlist event</a:t>
            </a:r>
          </a:p>
        </p:txBody>
      </p:sp>
      <p:sp>
        <p:nvSpPr>
          <p:cNvPr id="13" name="Rectangle 12"/>
          <p:cNvSpPr/>
          <p:nvPr/>
        </p:nvSpPr>
        <p:spPr>
          <a:xfrm>
            <a:off x="777240" y="1899031"/>
            <a:ext cx="5135727" cy="4346321"/>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1899031"/>
            <a:ext cx="41148" cy="434632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045335"/>
            <a:ext cx="4751679" cy="4072001"/>
          </a:xfrm>
          <a:prstGeom prst="rect">
            <a:avLst/>
          </a:prstGeom>
          <a:noFill/>
        </p:spPr>
        <p:txBody>
          <a:bodyPr wrap="square" lIns="0" rIns="0" tIns="0" bIns="0" anchor="t">
            <a:spAutoFit/>
          </a:bodyPr>
          <a:lstStyle/>
          <a:p>
            <a:pPr algn="l">
              <a:lnSpc>
                <a:spcPct val="110000"/>
              </a:lnSpc>
              <a:spcBef>
                <a:spcPts val="0"/>
              </a:spcBef>
              <a:spcAft>
                <a:spcPts val="200"/>
              </a:spcAft>
            </a:pPr>
            <a:r>
              <a:rPr sz="1250" b="0" i="0">
                <a:solidFill>
                  <a:srgbClr val="6B7480"/>
                </a:solidFill>
                <a:latin typeface="Consolas"/>
              </a:rPr>
              <a:t># question: What is the percentage change from 80 to 100?</a:t>
            </a:r>
          </a:p>
          <a:p>
            <a:pPr>
              <a:lnSpc>
                <a:spcPct val="110000"/>
              </a:lnSpc>
              <a:spcBef>
                <a:spcPts val="0"/>
              </a:spcBef>
              <a:spcAft>
                <a:spcPts val="200"/>
              </a:spcAft>
            </a:pPr>
            <a:r>
              <a:rPr sz="1250" b="0" i="0">
                <a:solidFill>
                  <a:srgbClr val="6B7480"/>
                </a:solidFill>
                <a:latin typeface="Consolas"/>
              </a:rPr>
              <a:t># score  tool</a:t>
            </a:r>
          </a:p>
          <a:p>
            <a:pPr>
              <a:lnSpc>
                <a:spcPct val="110000"/>
              </a:lnSpc>
              <a:spcBef>
                <a:spcPts val="0"/>
              </a:spcBef>
              <a:spcAft>
                <a:spcPts val="200"/>
              </a:spcAft>
            </a:pPr>
            <a:r>
              <a:rPr sz="1250" b="0" i="0">
                <a:solidFill>
                  <a:srgbClr val="1A1A1A"/>
                </a:solidFill>
                <a:latin typeface="Consolas"/>
              </a:rPr>
              <a:t>0.738  calc_percentage_change</a:t>
            </a:r>
          </a:p>
          <a:p>
            <a:pPr>
              <a:lnSpc>
                <a:spcPct val="110000"/>
              </a:lnSpc>
              <a:spcBef>
                <a:spcPts val="0"/>
              </a:spcBef>
              <a:spcAft>
                <a:spcPts val="200"/>
              </a:spcAft>
            </a:pPr>
            <a:r>
              <a:rPr sz="1250" b="0" i="0">
                <a:solidFill>
                  <a:srgbClr val="1A1A1A"/>
                </a:solidFill>
                <a:latin typeface="Consolas"/>
              </a:rPr>
              <a:t>0.647  fmp_sector_performance</a:t>
            </a:r>
          </a:p>
          <a:p>
            <a:pPr>
              <a:lnSpc>
                <a:spcPct val="110000"/>
              </a:lnSpc>
              <a:spcBef>
                <a:spcPts val="0"/>
              </a:spcBef>
              <a:spcAft>
                <a:spcPts val="200"/>
              </a:spcAft>
            </a:pPr>
            <a:r>
              <a:rPr sz="1250" b="0" i="0">
                <a:solidFill>
                  <a:srgbClr val="1A1A1A"/>
                </a:solidFill>
                <a:latin typeface="Consolas"/>
              </a:rPr>
              <a:t>0.637  fmp_market_gainers</a:t>
            </a:r>
          </a:p>
          <a:p>
            <a:pPr>
              <a:lnSpc>
                <a:spcPct val="110000"/>
              </a:lnSpc>
              <a:spcBef>
                <a:spcPts val="0"/>
              </a:spcBef>
              <a:spcAft>
                <a:spcPts val="200"/>
              </a:spcAft>
            </a:pPr>
            <a:r>
              <a:rPr sz="1250" b="0" i="0">
                <a:solidFill>
                  <a:srgbClr val="1A1A1A"/>
                </a:solidFill>
                <a:latin typeface="Consolas"/>
              </a:rPr>
              <a:t>0.637  fmp_market_losers</a:t>
            </a:r>
          </a:p>
          <a:p>
            <a:pPr>
              <a:lnSpc>
                <a:spcPct val="110000"/>
              </a:lnSpc>
              <a:spcBef>
                <a:spcPts val="0"/>
              </a:spcBef>
              <a:spcAft>
                <a:spcPts val="200"/>
              </a:spcAft>
            </a:pPr>
            <a:r>
              <a:rPr sz="1250" b="0" i="0">
                <a:solidFill>
                  <a:srgbClr val="1A1A1A"/>
                </a:solidFill>
                <a:latin typeface="Consolas"/>
              </a:rPr>
              <a:t>0.537  fmp_nasdaq_constituents</a:t>
            </a:r>
          </a:p>
          <a:p>
            <a:pPr>
              <a:lnSpc>
                <a:spcPct val="110000"/>
              </a:lnSpc>
              <a:spcBef>
                <a:spcPts val="0"/>
              </a:spcBef>
              <a:spcAft>
                <a:spcPts val="200"/>
              </a:spcAft>
            </a:pPr>
            <a:r>
              <a:rPr sz="1250" b="0" i="0">
                <a:solidFill>
                  <a:srgbClr val="1A1A1A"/>
                </a:solidFill>
                <a:latin typeface="Consolas"/>
              </a:rPr>
              <a:t>0.492  duckdb_sql</a:t>
            </a:r>
          </a:p>
          <a:p>
            <a:pPr>
              <a:lnSpc>
                <a:spcPct val="110000"/>
              </a:lnSpc>
              <a:spcBef>
                <a:spcPts val="0"/>
              </a:spcBef>
              <a:spcAft>
                <a:spcPts val="200"/>
              </a:spcAft>
            </a:pPr>
            <a:r>
              <a:rPr sz="1250" b="0" i="0">
                <a:solidFill>
                  <a:srgbClr val="1A1A1A"/>
                </a:solidFill>
                <a:latin typeface="Consolas"/>
              </a:rPr>
              <a:t>0.457  openbb_index_constituents</a:t>
            </a:r>
          </a:p>
          <a:p>
            <a:pPr>
              <a:lnSpc>
                <a:spcPct val="110000"/>
              </a:lnSpc>
              <a:spcBef>
                <a:spcPts val="0"/>
              </a:spcBef>
              <a:spcAft>
                <a:spcPts val="200"/>
              </a:spcAft>
            </a:pPr>
            <a:r>
              <a:rPr sz="1250" b="0" i="0">
                <a:solidFill>
                  <a:srgbClr val="1A1A1A"/>
                </a:solidFill>
                <a:latin typeface="Consolas"/>
              </a:rPr>
              <a:t>0.455  av_stock_quote</a:t>
            </a:r>
          </a:p>
          <a:p>
            <a:pPr>
              <a:lnSpc>
                <a:spcPct val="110000"/>
              </a:lnSpc>
              <a:spcBef>
                <a:spcPts val="0"/>
              </a:spcBef>
              <a:spcAft>
                <a:spcPts val="200"/>
              </a:spcAft>
            </a:pPr>
            <a:r>
              <a:rPr sz="1250" b="0" i="0">
                <a:solidFill>
                  <a:srgbClr val="1A1A1A"/>
                </a:solidFill>
                <a:latin typeface="Consolas"/>
              </a:rPr>
              <a:t>0.444  cg_coin_categories_market</a:t>
            </a:r>
          </a:p>
          <a:p>
            <a:pPr>
              <a:lnSpc>
                <a:spcPct val="110000"/>
              </a:lnSpc>
              <a:spcBef>
                <a:spcPts val="0"/>
              </a:spcBef>
              <a:spcAft>
                <a:spcPts val="200"/>
              </a:spcAft>
            </a:pPr>
            <a:r>
              <a:rPr sz="1250" b="0" i="0">
                <a:solidFill>
                  <a:srgbClr val="1A1A1A"/>
                </a:solidFill>
                <a:latin typeface="Consolas"/>
              </a:rPr>
              <a:t>0.438  cg_coin_markets</a:t>
            </a:r>
          </a:p>
          <a:p>
            <a:pPr>
              <a:lnSpc>
                <a:spcPct val="110000"/>
              </a:lnSpc>
              <a:spcBef>
                <a:spcPts val="0"/>
              </a:spcBef>
              <a:spcAft>
                <a:spcPts val="200"/>
              </a:spcAft>
            </a:pPr>
            <a:r>
              <a:rPr sz="1250" b="0" i="0">
                <a:solidFill>
                  <a:srgbClr val="1A1A1A"/>
                </a:solidFill>
                <a:latin typeface="Consolas"/>
              </a:rPr>
              <a:t>0.438  cg_coin_price</a:t>
            </a:r>
          </a:p>
          <a:p>
            <a:pPr>
              <a:lnSpc>
                <a:spcPct val="110000"/>
              </a:lnSpc>
              <a:spcBef>
                <a:spcPts val="0"/>
              </a:spcBef>
              <a:spcAft>
                <a:spcPts val="200"/>
              </a:spcAft>
            </a:pPr>
            <a:r>
              <a:rPr sz="1250" b="0" i="0">
                <a:solidFill>
                  <a:srgbClr val="1A1A1A"/>
                </a:solidFill>
                <a:latin typeface="Consolas"/>
              </a:rPr>
              <a:t>0.438  fbi_get_agency_statistics</a:t>
            </a:r>
          </a:p>
        </p:txBody>
      </p:sp>
      <p:sp>
        <p:nvSpPr>
          <p:cNvPr id="16" name="Rectangle 15"/>
          <p:cNvSpPr/>
          <p:nvPr/>
        </p:nvSpPr>
        <p:spPr>
          <a:xfrm>
            <a:off x="6278727" y="1386967"/>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What happened</a:t>
            </a:r>
          </a:p>
        </p:txBody>
      </p:sp>
      <p:sp>
        <p:nvSpPr>
          <p:cNvPr id="19" name="TextBox 18"/>
          <p:cNvSpPr txBox="1"/>
          <p:nvPr/>
        </p:nvSpPr>
        <p:spPr>
          <a:xfrm>
            <a:off x="6278727" y="1899031"/>
            <a:ext cx="5135727" cy="4346321"/>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A1A1A"/>
                </a:solidFill>
                <a:latin typeface="Calibri"/>
              </a:rPr>
              <a:t>No model chose these. The resolver ranked all 507 tool descriptions against the question by word overlap (BM25), because no embedding model is configured.</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The calculator ranks first; market-data tools that mention “percentage change” follow. The model, not the shortlist, makes the final choice.</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Tools the caller may not run are removed first, by the same check the REST API applies: a model cannot be talked into a tool its user cannot call.</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Only the top 12 (ai.ask.shortlist) reach the model, so a large catalog does not become a large prompt.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MOVES 2 AND 3, CAPTURED</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The model asked for one call, and SAJHA ran it as it runs any client's</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3 · One question,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15</a:t>
            </a:r>
          </a:p>
        </p:txBody>
      </p:sp>
      <p:sp>
        <p:nvSpPr>
          <p:cNvPr id="10" name="Rectangle 9"/>
          <p:cNvSpPr/>
          <p:nvPr/>
        </p:nvSpPr>
        <p:spPr>
          <a:xfrm>
            <a:off x="777240" y="129057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29057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36372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The plan and the call</a:t>
            </a:r>
          </a:p>
        </p:txBody>
      </p:sp>
      <p:sp>
        <p:nvSpPr>
          <p:cNvPr id="13" name="Rectangle 12"/>
          <p:cNvSpPr/>
          <p:nvPr/>
        </p:nvSpPr>
        <p:spPr>
          <a:xfrm>
            <a:off x="777240" y="1802638"/>
            <a:ext cx="5135727" cy="4442714"/>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1802638"/>
            <a:ext cx="41148" cy="444271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1948942"/>
            <a:ext cx="4751679" cy="4168394"/>
          </a:xfrm>
          <a:prstGeom prst="rect">
            <a:avLst/>
          </a:prstGeom>
          <a:noFill/>
        </p:spPr>
        <p:txBody>
          <a:bodyPr wrap="square" lIns="0" rIns="0" tIns="0" bIns="0" anchor="t">
            <a:spAutoFit/>
          </a:bodyPr>
          <a:lstStyle/>
          <a:p>
            <a:pPr algn="l">
              <a:lnSpc>
                <a:spcPct val="110000"/>
              </a:lnSpc>
              <a:spcBef>
                <a:spcPts val="0"/>
              </a:spcBef>
              <a:spcAft>
                <a:spcPts val="200"/>
              </a:spcAft>
            </a:pPr>
            <a:r>
              <a:rPr sz="1250" b="0" i="0">
                <a:solidFill>
                  <a:srgbClr val="6B7480"/>
                </a:solidFill>
                <a:latin typeface="Consolas"/>
              </a:rPr>
              <a:t># model mock/mock-planner, planner react</a:t>
            </a:r>
          </a:p>
          <a:p>
            <a:pPr>
              <a:lnSpc>
                <a:spcPct val="110000"/>
              </a:lnSpc>
              <a:spcBef>
                <a:spcPts val="0"/>
              </a:spcBef>
              <a:spcAft>
                <a:spcPts val="200"/>
              </a:spcAft>
            </a:pPr>
            <a:r>
              <a:rPr sz="1250" b="1" i="0">
                <a:solidFill>
                  <a:srgbClr val="6E1120"/>
                </a:solidFill>
                <a:latin typeface="Consolas"/>
              </a:rPr>
              <a:t>→ tool_call calc_percentage_change</a:t>
            </a:r>
          </a:p>
          <a:p>
            <a:pPr>
              <a:lnSpc>
                <a:spcPct val="110000"/>
              </a:lnSpc>
              <a:spcBef>
                <a:spcPts val="0"/>
              </a:spcBef>
              <a:spcAft>
                <a:spcPts val="200"/>
              </a:spcAft>
            </a:pPr>
            <a:r>
              <a:rPr sz="1250" b="0" i="0">
                <a:solidFill>
                  <a:srgbClr val="1A1A1A"/>
                </a:solidFill>
                <a:latin typeface="Consolas"/>
              </a:rPr>
              <a:t>arguments {"new_value": 100, "old_value": 80}</a:t>
            </a:r>
          </a:p>
          <a:p>
            <a:pPr>
              <a:lnSpc>
                <a:spcPct val="110000"/>
              </a:lnSpc>
              <a:spcBef>
                <a:spcPts val="0"/>
              </a:spcBef>
              <a:spcAft>
                <a:spcPts val="200"/>
              </a:spcAft>
            </a:pPr>
            <a:r>
              <a:rPr sz="1250" b="0" i="0">
                <a:solidFill>
                  <a:srgbClr val="1A1A1A"/>
                </a:solidFill>
                <a:latin typeface="Consolas"/>
              </a:rPr>
              <a:t/>
            </a:r>
          </a:p>
          <a:p>
            <a:pPr>
              <a:lnSpc>
                <a:spcPct val="110000"/>
              </a:lnSpc>
              <a:spcBef>
                <a:spcPts val="0"/>
              </a:spcBef>
              <a:spcAft>
                <a:spcPts val="200"/>
              </a:spcAft>
            </a:pPr>
            <a:r>
              <a:rPr sz="1250" b="1" i="0">
                <a:solidFill>
                  <a:srgbClr val="6E1120"/>
                </a:solidFill>
                <a:latin typeface="Consolas"/>
              </a:rPr>
              <a:t>→ tool_result ok, 23 ms</a:t>
            </a:r>
          </a:p>
          <a:p>
            <a:pPr>
              <a:lnSpc>
                <a:spcPct val="110000"/>
              </a:lnSpc>
              <a:spcBef>
                <a:spcPts val="0"/>
              </a:spcBef>
              <a:spcAft>
                <a:spcPts val="200"/>
              </a:spcAft>
            </a:pPr>
            <a:r>
              <a:rPr sz="1250" b="0" i="0">
                <a:solidFill>
                  <a:srgbClr val="1A1A1A"/>
                </a:solidFill>
                <a:latin typeface="Consolas"/>
              </a:rPr>
              <a:t>{"old_value": 80, "new_value": 100,</a:t>
            </a:r>
          </a:p>
          <a:p>
            <a:pPr>
              <a:lnSpc>
                <a:spcPct val="110000"/>
              </a:lnSpc>
              <a:spcBef>
                <a:spcPts val="0"/>
              </a:spcBef>
              <a:spcAft>
                <a:spcPts val="200"/>
              </a:spcAft>
            </a:pPr>
            <a:r>
              <a:rPr sz="1250" b="0" i="0">
                <a:solidFill>
                  <a:srgbClr val="1A1A1A"/>
                </a:solidFill>
                <a:latin typeface="Consolas"/>
              </a:rPr>
              <a:t>  "percentage_change": 25.0}</a:t>
            </a:r>
          </a:p>
        </p:txBody>
      </p:sp>
      <p:sp>
        <p:nvSpPr>
          <p:cNvPr id="16" name="Rectangle 15"/>
          <p:cNvSpPr/>
          <p:nvPr/>
        </p:nvSpPr>
        <p:spPr>
          <a:xfrm>
            <a:off x="6278727" y="129057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29057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36372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On the way, SAJHA</a:t>
            </a:r>
          </a:p>
        </p:txBody>
      </p:sp>
      <p:sp>
        <p:nvSpPr>
          <p:cNvPr id="19" name="TextBox 18"/>
          <p:cNvSpPr txBox="1"/>
          <p:nvPr/>
        </p:nvSpPr>
        <p:spPr>
          <a:xfrm>
            <a:off x="6278727" y="1802638"/>
            <a:ext cx="5135727" cy="4442714"/>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A1A1A"/>
                </a:solidFill>
                <a:latin typeface="Calibri"/>
              </a:rPr>
              <a:t>Checked</a:t>
            </a:r>
          </a:p>
          <a:p>
            <a:pPr lvl="1">
              <a:lnSpc>
                <a:spcPct val="120000"/>
              </a:lnSpc>
              <a:spcBef>
                <a:spcPts val="0"/>
              </a:spcBef>
              <a:spcAft>
                <a:spcPts val="0"/>
              </a:spcAft>
            </a:pPr>
            <a:r>
              <a:rPr sz="1450" b="0">
                <a:solidFill>
                  <a:srgbClr val="6B7480"/>
                </a:solidFill>
                <a:latin typeface="Calibri"/>
              </a:rPr>
              <a:t>The arguments against the schema, the caller's access, and the policy rules in force (none, in the shipped default).</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Ran</a:t>
            </a:r>
          </a:p>
          <a:p>
            <a:pPr lvl="1">
              <a:lnSpc>
                <a:spcPct val="120000"/>
              </a:lnSpc>
              <a:spcBef>
                <a:spcPts val="0"/>
              </a:spcBef>
              <a:spcAft>
                <a:spcPts val="0"/>
              </a:spcAft>
            </a:pPr>
            <a:r>
              <a:rPr sz="1450" b="0">
                <a:solidFill>
                  <a:srgbClr val="6B7480"/>
                </a:solidFill>
                <a:latin typeface="Calibri"/>
              </a:rPr>
              <a:t>Through the tool's cache and its provider's circuit breaker, counted in the metrics.</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Refused what was not offered</a:t>
            </a:r>
          </a:p>
          <a:p>
            <a:pPr lvl="1">
              <a:lnSpc>
                <a:spcPct val="120000"/>
              </a:lnSpc>
              <a:spcBef>
                <a:spcPts val="0"/>
              </a:spcBef>
              <a:spcAft>
                <a:spcPts val="0"/>
              </a:spcAft>
            </a:pPr>
            <a:r>
              <a:rPr sz="1450" b="0">
                <a:solidFill>
                  <a:srgbClr val="6B7480"/>
                </a:solidFill>
                <a:latin typeface="Calibri"/>
              </a:rPr>
              <a:t>A call to a tool outside the shortlist is refused; a tool marked destructive waits for the user's confirmation.</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Treated the result as data</a:t>
            </a:r>
          </a:p>
          <a:p>
            <a:pPr lvl="1">
              <a:lnSpc>
                <a:spcPct val="120000"/>
              </a:lnSpc>
              <a:spcBef>
                <a:spcPts val="0"/>
              </a:spcBef>
              <a:spcAft>
                <a:spcPts val="0"/>
              </a:spcAft>
            </a:pPr>
            <a:r>
              <a:rPr sz="1450" b="0">
                <a:solidFill>
                  <a:srgbClr val="6B7480"/>
                </a:solidFill>
                <a:latin typeface="Calibri"/>
              </a:rPr>
              <a:t>It returns to the model as data; the system prompt says tool output is never an instruction.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MOVE 4, CAPTURED</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The answer cites its source, and SAJHA sets the confidence</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3 · One question,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16</a:t>
            </a:r>
          </a:p>
        </p:txBody>
      </p:sp>
      <p:sp>
        <p:nvSpPr>
          <p:cNvPr id="10" name="Rectangle 9"/>
          <p:cNvSpPr/>
          <p:nvPr/>
        </p:nvSpPr>
        <p:spPr>
          <a:xfrm>
            <a:off x="777240" y="135483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5483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2798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The answer</a:t>
            </a:r>
          </a:p>
        </p:txBody>
      </p:sp>
      <p:sp>
        <p:nvSpPr>
          <p:cNvPr id="13" name="Rectangle 12"/>
          <p:cNvSpPr/>
          <p:nvPr/>
        </p:nvSpPr>
        <p:spPr>
          <a:xfrm>
            <a:off x="777240" y="1866899"/>
            <a:ext cx="5135727" cy="4378452"/>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1866899"/>
            <a:ext cx="41148" cy="437845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013204"/>
            <a:ext cx="4751679" cy="4104132"/>
          </a:xfrm>
          <a:prstGeom prst="rect">
            <a:avLst/>
          </a:prstGeom>
          <a:noFill/>
        </p:spPr>
        <p:txBody>
          <a:bodyPr wrap="square" lIns="0" rIns="0" tIns="0" bIns="0" anchor="t">
            <a:spAutoFit/>
          </a:bodyPr>
          <a:lstStyle/>
          <a:p>
            <a:pPr algn="l">
              <a:lnSpc>
                <a:spcPct val="110000"/>
              </a:lnSpc>
              <a:spcBef>
                <a:spcPts val="0"/>
              </a:spcBef>
              <a:spcAft>
                <a:spcPts val="200"/>
              </a:spcAft>
            </a:pPr>
            <a:r>
              <a:rPr sz="1250" b="1" i="0">
                <a:solidFill>
                  <a:srgbClr val="6E1120"/>
                </a:solidFill>
                <a:latin typeface="Consolas"/>
              </a:rPr>
              <a:t>→ answer</a:t>
            </a:r>
          </a:p>
          <a:p>
            <a:pPr>
              <a:lnSpc>
                <a:spcPct val="110000"/>
              </a:lnSpc>
              <a:spcBef>
                <a:spcPts val="0"/>
              </a:spcBef>
              <a:spcAft>
                <a:spcPts val="200"/>
              </a:spcAft>
            </a:pPr>
            <a:r>
              <a:rPr sz="1250" b="0" i="0">
                <a:solidFill>
                  <a:srgbClr val="1A1A1A"/>
                </a:solidFill>
                <a:latin typeface="Consolas"/>
              </a:rPr>
              <a:t>percentage change = 25.0 (from</a:t>
            </a:r>
          </a:p>
          <a:p>
            <a:pPr>
              <a:lnSpc>
                <a:spcPct val="110000"/>
              </a:lnSpc>
              <a:spcBef>
                <a:spcPts val="0"/>
              </a:spcBef>
              <a:spcAft>
                <a:spcPts val="200"/>
              </a:spcAft>
            </a:pPr>
            <a:r>
              <a:rPr sz="1250" b="0" i="0">
                <a:solidFill>
                  <a:srgbClr val="1A1A1A"/>
                </a:solidFill>
                <a:latin typeface="Consolas"/>
              </a:rPr>
              <a:t>  calc_percentage_change with old_value=80,</a:t>
            </a:r>
          </a:p>
          <a:p>
            <a:pPr>
              <a:lnSpc>
                <a:spcPct val="110000"/>
              </a:lnSpc>
              <a:spcBef>
                <a:spcPts val="0"/>
              </a:spcBef>
              <a:spcAft>
                <a:spcPts val="200"/>
              </a:spcAft>
            </a:pPr>
            <a:r>
              <a:rPr sz="1250" b="0" i="0">
                <a:solidFill>
                  <a:srgbClr val="1A1A1A"/>
                </a:solidFill>
                <a:latin typeface="Consolas"/>
              </a:rPr>
              <a:t>  new_value=100).</a:t>
            </a:r>
          </a:p>
          <a:p>
            <a:pPr>
              <a:lnSpc>
                <a:spcPct val="110000"/>
              </a:lnSpc>
              <a:spcBef>
                <a:spcPts val="0"/>
              </a:spcBef>
              <a:spcAft>
                <a:spcPts val="200"/>
              </a:spcAft>
            </a:pPr>
            <a:r>
              <a:rPr sz="1250" b="0" i="0">
                <a:solidFill>
                  <a:srgbClr val="1A1A1A"/>
                </a:solidFill>
                <a:latin typeface="Consolas"/>
              </a:rPr>
              <a:t/>
            </a:r>
          </a:p>
          <a:p>
            <a:pPr>
              <a:lnSpc>
                <a:spcPct val="110000"/>
              </a:lnSpc>
              <a:spcBef>
                <a:spcPts val="0"/>
              </a:spcBef>
              <a:spcAft>
                <a:spcPts val="200"/>
              </a:spcAft>
            </a:pPr>
            <a:r>
              <a:rPr sz="1250" b="1" i="0">
                <a:solidFill>
                  <a:srgbClr val="6E1120"/>
                </a:solidFill>
                <a:latin typeface="Consolas"/>
              </a:rPr>
              <a:t>→ citations call_1_cd51247c</a:t>
            </a:r>
          </a:p>
          <a:p>
            <a:pPr>
              <a:lnSpc>
                <a:spcPct val="110000"/>
              </a:lnSpc>
              <a:spcBef>
                <a:spcPts val="0"/>
              </a:spcBef>
              <a:spcAft>
                <a:spcPts val="200"/>
              </a:spcAft>
            </a:pPr>
            <a:r>
              <a:rPr sz="1250" b="1" i="0">
                <a:solidFill>
                  <a:srgbClr val="6E1120"/>
                </a:solidFill>
                <a:latin typeface="Consolas"/>
              </a:rPr>
              <a:t>→ confidence 1.00</a:t>
            </a:r>
          </a:p>
          <a:p>
            <a:pPr>
              <a:lnSpc>
                <a:spcPct val="110000"/>
              </a:lnSpc>
              <a:spcBef>
                <a:spcPts val="0"/>
              </a:spcBef>
              <a:spcAft>
                <a:spcPts val="200"/>
              </a:spcAft>
            </a:pPr>
            <a:r>
              <a:rPr sz="1250" b="0" i="0">
                <a:solidFill>
                  <a:srgbClr val="1A1A1A"/>
                </a:solidFill>
                <a:latin typeface="Consolas"/>
              </a:rPr>
              <a:t>  basis: calc_percentage_change 1.00, 0.0 bits of entropy</a:t>
            </a:r>
          </a:p>
          <a:p>
            <a:pPr>
              <a:lnSpc>
                <a:spcPct val="110000"/>
              </a:lnSpc>
              <a:spcBef>
                <a:spcPts val="0"/>
              </a:spcBef>
              <a:spcAft>
                <a:spcPts val="200"/>
              </a:spcAft>
            </a:pPr>
            <a:r>
              <a:rPr sz="1250" b="0" i="0">
                <a:solidFill>
                  <a:srgbClr val="1A1A1A"/>
                </a:solidFill>
                <a:latin typeface="Consolas"/>
              </a:rPr>
              <a:t/>
            </a:r>
          </a:p>
          <a:p>
            <a:pPr>
              <a:lnSpc>
                <a:spcPct val="110000"/>
              </a:lnSpc>
              <a:spcBef>
                <a:spcPts val="0"/>
              </a:spcBef>
              <a:spcAft>
                <a:spcPts val="200"/>
              </a:spcAft>
            </a:pPr>
            <a:r>
              <a:rPr sz="1250" b="0" i="0">
                <a:solidFill>
                  <a:srgbClr val="6B7480"/>
                </a:solidFill>
                <a:latin typeface="Consolas"/>
              </a:rPr>
              <a:t># 2288 tokens, 31 ms end to end</a:t>
            </a:r>
          </a:p>
        </p:txBody>
      </p:sp>
      <p:sp>
        <p:nvSpPr>
          <p:cNvPr id="16" name="Rectangle 15"/>
          <p:cNvSpPr/>
          <p:nvPr/>
        </p:nvSpPr>
        <p:spPr>
          <a:xfrm>
            <a:off x="6278727" y="135483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5483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2798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How the number is made</a:t>
            </a:r>
          </a:p>
        </p:txBody>
      </p:sp>
      <p:sp>
        <p:nvSpPr>
          <p:cNvPr id="19" name="TextBox 18"/>
          <p:cNvSpPr txBox="1"/>
          <p:nvPr/>
        </p:nvSpPr>
        <p:spPr>
          <a:xfrm>
            <a:off x="6278727" y="1866899"/>
            <a:ext cx="5135727" cy="437845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A1A1A"/>
                </a:solidFill>
                <a:latin typeface="Calibri"/>
              </a:rPr>
              <a:t>Sources</a:t>
            </a:r>
          </a:p>
          <a:p>
            <a:pPr lvl="1">
              <a:lnSpc>
                <a:spcPct val="120000"/>
              </a:lnSpc>
              <a:spcBef>
                <a:spcPts val="0"/>
              </a:spcBef>
              <a:spcAft>
                <a:spcPts val="0"/>
              </a:spcAft>
            </a:pPr>
            <a:r>
              <a:rPr sz="1450" b="0">
                <a:solidFill>
                  <a:srgbClr val="6B7480"/>
                </a:solidFill>
                <a:latin typeface="Calibri"/>
              </a:rPr>
              <a:t>Citations name the tool calls the answer rests on; a citation to a failed call is dropped.</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Confidence</a:t>
            </a:r>
          </a:p>
          <a:p>
            <a:pPr lvl="1">
              <a:lnSpc>
                <a:spcPct val="120000"/>
              </a:lnSpc>
              <a:spcBef>
                <a:spcPts val="0"/>
              </a:spcBef>
              <a:spcAft>
                <a:spcPts val="0"/>
              </a:spcAft>
            </a:pPr>
            <a:r>
              <a:rPr sz="1450" b="0">
                <a:solidFill>
                  <a:srgbClr val="6B7480"/>
                </a:solidFill>
                <a:latin typeface="Calibri"/>
              </a:rPr>
              <a:t>Each cited step contributes its tool's confidence (1.00 for a calculator, 0.95 for a FRED series, 0.80 for a web fetch), chained through the entropy guard (Part 6).</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Not an opinion</a:t>
            </a:r>
          </a:p>
          <a:p>
            <a:pPr lvl="1">
              <a:lnSpc>
                <a:spcPct val="120000"/>
              </a:lnSpc>
              <a:spcBef>
                <a:spcPts val="0"/>
              </a:spcBef>
              <a:spcAft>
                <a:spcPts val="0"/>
              </a:spcAft>
            </a:pPr>
            <a:r>
              <a:rPr sz="1450" b="0">
                <a:solidFill>
                  <a:srgbClr val="6B7480"/>
                </a:solidFill>
                <a:latin typeface="Calibri"/>
              </a:rPr>
              <a:t>A failed call contributes 0.9, an incomplete loop 0.8, an answer resting on no tool 0.5. The model is never asked how sure it 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HONESTY ABOUT THE RUN</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What this run shows, and what it does not</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3 · One question,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17</a:t>
            </a:r>
          </a:p>
        </p:txBody>
      </p:sp>
      <p:sp>
        <p:nvSpPr>
          <p:cNvPr id="10" name="TextBox 9"/>
          <p:cNvSpPr txBox="1"/>
          <p:nvPr/>
        </p:nvSpPr>
        <p:spPr>
          <a:xfrm>
            <a:off x="777240" y="1386967"/>
            <a:ext cx="10637215" cy="4858385"/>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A1A1A"/>
                </a:solidFill>
                <a:latin typeface="Calibri"/>
              </a:rPr>
              <a:t>It shows the mechanism</a:t>
            </a:r>
          </a:p>
          <a:p>
            <a:pPr lvl="1">
              <a:lnSpc>
                <a:spcPct val="120000"/>
              </a:lnSpc>
              <a:spcBef>
                <a:spcPts val="0"/>
              </a:spcBef>
              <a:spcAft>
                <a:spcPts val="0"/>
              </a:spcAft>
            </a:pPr>
            <a:r>
              <a:rPr sz="1550" b="0">
                <a:solidFill>
                  <a:srgbClr val="6B7480"/>
                </a:solidFill>
                <a:latin typeface="Calibri"/>
              </a:rPr>
              <a:t>Shortlisting, access checks, the governed call, citations and confidence are SAJHA's code, and they behave the same whichever model plans.</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It does not show reasoning</a:t>
            </a:r>
          </a:p>
          <a:p>
            <a:pPr lvl="1">
              <a:lnSpc>
                <a:spcPct val="120000"/>
              </a:lnSpc>
              <a:spcBef>
                <a:spcPts val="0"/>
              </a:spcBef>
              <a:spcAft>
                <a:spcPts val="0"/>
              </a:spcAft>
            </a:pPr>
            <a:r>
              <a:rPr sz="1550" b="0">
                <a:solidFill>
                  <a:srgbClr val="6B7480"/>
                </a:solidFill>
                <a:latin typeface="Calibri"/>
              </a:rPr>
              <a:t>The mock model is a deterministic pattern-matcher, shipped so that everything works offline with no keys. Planning a multi-part question well needs a real model (Part 7).</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It is measured, not asserted</a:t>
            </a:r>
          </a:p>
          <a:p>
            <a:pPr lvl="1">
              <a:lnSpc>
                <a:spcPct val="120000"/>
              </a:lnSpc>
              <a:spcBef>
                <a:spcPts val="0"/>
              </a:spcBef>
              <a:spcAft>
                <a:spcPts val="0"/>
              </a:spcAft>
            </a:pPr>
            <a:r>
              <a:rPr sz="1550" b="0">
                <a:solidFill>
                  <a:srgbClr val="6B7480"/>
                </a:solidFill>
                <a:latin typeface="Calibri"/>
              </a:rPr>
              <a:t>The shipped eval set “calculators” (3 golden questions) passed 3/3 with the react planner and 3/3 with plan_execute on the mock, when this deck was built. The same set measures a real model before anyone trusts it.</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It is reproducible</a:t>
            </a:r>
          </a:p>
          <a:p>
            <a:pPr lvl="1">
              <a:lnSpc>
                <a:spcPct val="120000"/>
              </a:lnSpc>
              <a:spcBef>
                <a:spcPts val="0"/>
              </a:spcBef>
              <a:spcAft>
                <a:spcPts val="0"/>
              </a:spcAft>
            </a:pPr>
            <a:r>
              <a:rPr sz="1550" b="0">
                <a:solidFill>
                  <a:srgbClr val="6B7480"/>
                </a:solidFill>
                <a:latin typeface="Calibri"/>
              </a:rPr>
              <a:t>Rebuilding the deck asks the question again; if the run stops answering, the build fails.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F3C6CF"/>
                </a:solidFill>
                <a:latin typeface="Calibri"/>
              </a:rPr>
              <a:t>PART 4</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2600" b="0" i="0">
                <a:solidFill>
                  <a:srgbClr val="FFFFFF"/>
                </a:solidFill>
                <a:latin typeface="Georgia"/>
              </a:rPr>
              <a:t>Speaking every client's language</a:t>
            </a:r>
          </a:p>
        </p:txBody>
      </p:sp>
      <p:sp>
        <p:nvSpPr>
          <p:cNvPr id="6" name="Rectangle 5"/>
          <p:cNvSpPr/>
          <p:nvPr/>
        </p:nvSpPr>
        <p:spPr>
          <a:xfrm>
            <a:off x="1005840" y="3383280"/>
            <a:ext cx="137160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BEEF0"/>
                </a:solidFill>
                <a:latin typeface="Calibri"/>
              </a:rPr>
              <a:t>A catalog is only shared if every client can reach it. The clients in use today speak two eras of MCP over four transports; SAJHA serves all of them on one address, and runs the official conformance suite against itself on every push.</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F3C6CF"/>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BEEF0"/>
                </a:solidFill>
                <a:latin typeface="Calibri"/>
              </a:rPr>
              <a:t>Two eras on one endpoint</a:t>
            </a:r>
          </a:p>
          <a:p>
            <a:pPr>
              <a:lnSpc>
                <a:spcPct val="115000"/>
              </a:lnSpc>
              <a:spcBef>
                <a:spcPts val="0"/>
              </a:spcBef>
              <a:spcAft>
                <a:spcPts val="600"/>
              </a:spcAft>
            </a:pPr>
            <a:r>
              <a:rPr sz="1200" b="0" i="0">
                <a:solidFill>
                  <a:srgbClr val="FBEEF0"/>
                </a:solidFill>
                <a:latin typeface="Calibri"/>
              </a:rPr>
              <a:t>Four transports</a:t>
            </a:r>
          </a:p>
          <a:p>
            <a:pPr>
              <a:lnSpc>
                <a:spcPct val="115000"/>
              </a:lnSpc>
              <a:spcBef>
                <a:spcPts val="0"/>
              </a:spcBef>
              <a:spcAft>
                <a:spcPts val="600"/>
              </a:spcAft>
            </a:pPr>
            <a:r>
              <a:rPr sz="1200" b="0" i="0">
                <a:solidFill>
                  <a:srgbClr val="FBEEF0"/>
                </a:solidFill>
                <a:latin typeface="Calibri"/>
              </a:rPr>
              <a:t>The conformance suite, in CI</a:t>
            </a:r>
          </a:p>
          <a:p>
            <a:pPr>
              <a:lnSpc>
                <a:spcPct val="115000"/>
              </a:lnSpc>
              <a:spcBef>
                <a:spcPts val="0"/>
              </a:spcBef>
              <a:spcAft>
                <a:spcPts val="600"/>
              </a:spcAft>
            </a:pPr>
            <a:r>
              <a:rPr sz="1200" b="0" i="0">
                <a:solidFill>
                  <a:srgbClr val="FBEEF0"/>
                </a:solidFill>
                <a:latin typeface="Calibri"/>
              </a:rPr>
              <a:t>Streaming, input mid-call, tasks, views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ERAS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Two eras on one endpoint, recognised request by request</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4 · Speaking every client's language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19</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Session state (and task records, rate limits and OAuth codes) goes through a shared store, so either era works across several workers (Part 8).</a:t>
            </a:r>
          </a:p>
        </p:txBody>
      </p:sp>
      <p:graphicFrame>
        <p:nvGraphicFramePr>
          <p:cNvPr id="12" name="Table 11"/>
          <p:cNvGraphicFramePr>
            <a:graphicFrameLocks noGrp="1"/>
          </p:cNvGraphicFramePr>
          <p:nvPr/>
        </p:nvGraphicFramePr>
        <p:xfrm>
          <a:off x="777240" y="1386967"/>
          <a:ext cx="10637214" cy="3346767"/>
        </p:xfrm>
        <a:graphic>
          <a:graphicData uri="http://schemas.openxmlformats.org/drawingml/2006/table">
            <a:tbl>
              <a:tblPr firstRow="1">
                <a:tableStyleId>{5C22544A-7EE6-4342-B048-85BDC9FD1C3A}</a:tableStyleId>
              </a:tblPr>
              <a:tblGrid>
                <a:gridCol w="1728547"/>
                <a:gridCol w="2260408"/>
                <a:gridCol w="4254886"/>
                <a:gridCol w="2393373"/>
              </a:tblGrid>
              <a:tr h="318579">
                <a:tc>
                  <a:txBody>
                    <a:bodyPr wrap="square"/>
                    <a:lstStyle/>
                    <a:p>
                      <a:r>
                        <a:rPr sz="1300" b="1">
                          <a:solidFill>
                            <a:srgbClr val="FFFFFF"/>
                          </a:solidFill>
                          <a:latin typeface="Calibri"/>
                        </a:rPr>
                        <a:t>Era</a:t>
                      </a:r>
                    </a:p>
                  </a:txBody>
                  <a:tcPr marL="82296" marR="64008" marT="32004" marB="32004" anchor="ctr">
                    <a:solidFill>
                      <a:srgbClr val="A51C30"/>
                    </a:solidFill>
                  </a:tcPr>
                </a:tc>
                <a:tc>
                  <a:txBody>
                    <a:bodyPr wrap="square"/>
                    <a:lstStyle/>
                    <a:p>
                      <a:r>
                        <a:rPr sz="1300" b="1">
                          <a:solidFill>
                            <a:srgbClr val="FFFFFF"/>
                          </a:solidFill>
                          <a:latin typeface="Calibri"/>
                        </a:rPr>
                        <a:t>Versions</a:t>
                      </a:r>
                    </a:p>
                  </a:txBody>
                  <a:tcPr marL="82296" marR="64008" marT="32004" marB="32004" anchor="ctr">
                    <a:solidFill>
                      <a:srgbClr val="A51C30"/>
                    </a:solidFill>
                  </a:tcPr>
                </a:tc>
                <a:tc>
                  <a:txBody>
                    <a:bodyPr wrap="square"/>
                    <a:lstStyle/>
                    <a:p>
                      <a:r>
                        <a:rPr sz="1300" b="1">
                          <a:solidFill>
                            <a:srgbClr val="FFFFFF"/>
                          </a:solidFill>
                          <a:latin typeface="Calibri"/>
                        </a:rPr>
                        <a:t>How SAJHA recognises it</a:t>
                      </a:r>
                    </a:p>
                  </a:txBody>
                  <a:tcPr marL="82296" marR="64008" marT="32004" marB="32004" anchor="ctr">
                    <a:solidFill>
                      <a:srgbClr val="A51C30"/>
                    </a:solidFill>
                  </a:tcPr>
                </a:tc>
                <a:tc>
                  <a:txBody>
                    <a:bodyPr wrap="square"/>
                    <a:lstStyle/>
                    <a:p>
                      <a:r>
                        <a:rPr sz="1300" b="1">
                          <a:solidFill>
                            <a:srgbClr val="FFFFFF"/>
                          </a:solidFill>
                          <a:latin typeface="Calibri"/>
                        </a:rPr>
                        <a:t>Who sends it</a:t>
                      </a:r>
                    </a:p>
                  </a:txBody>
                  <a:tcPr marL="82296" marR="64008" marT="32004" marB="32004" anchor="ctr">
                    <a:solidFill>
                      <a:srgbClr val="A51C30"/>
                    </a:solidFill>
                  </a:tcPr>
                </a:tc>
              </a:tr>
              <a:tr h="1009396">
                <a:tc>
                  <a:txBody>
                    <a:bodyPr wrap="square"/>
                    <a:lstStyle/>
                    <a:p>
                      <a:r>
                        <a:rPr sz="1400" b="1">
                          <a:solidFill>
                            <a:srgbClr val="6E1120"/>
                          </a:solidFill>
                          <a:latin typeface="Calibri"/>
                        </a:rPr>
                        <a:t>Stateless</a:t>
                      </a:r>
                    </a:p>
                  </a:txBody>
                  <a:tcPr marL="82296" marR="64008" marT="32004" marB="32004" anchor="ctr">
                    <a:solidFill>
                      <a:srgbClr val="FFFFFF"/>
                    </a:solidFill>
                  </a:tcPr>
                </a:tc>
                <a:tc>
                  <a:txBody>
                    <a:bodyPr wrap="square"/>
                    <a:lstStyle/>
                    <a:p>
                      <a:r>
                        <a:rPr sz="1400" b="0">
                          <a:solidFill>
                            <a:srgbClr val="1A1A1A"/>
                          </a:solidFill>
                          <a:latin typeface="Calibri"/>
                        </a:rPr>
                        <a:t>2026-07-28</a:t>
                      </a:r>
                    </a:p>
                  </a:txBody>
                  <a:tcPr marL="82296" marR="64008" marT="32004" marB="32004" anchor="ctr">
                    <a:solidFill>
                      <a:srgbClr val="FFFFFF"/>
                    </a:solidFill>
                  </a:tcPr>
                </a:tc>
                <a:tc>
                  <a:txBody>
                    <a:bodyPr wrap="square"/>
                    <a:lstStyle/>
                    <a:p>
                      <a:r>
                        <a:rPr sz="1400" b="0">
                          <a:solidFill>
                            <a:srgbClr val="1A1A1A"/>
                          </a:solidFill>
                          <a:latin typeface="Calibri"/>
                        </a:rPr>
                        <a:t>The request names its protocol version in _meta (or a non-handshake MCP-Protocol-Version header); there is no session.</a:t>
                      </a:r>
                    </a:p>
                  </a:txBody>
                  <a:tcPr marL="82296" marR="64008" marT="32004" marB="32004" anchor="ctr">
                    <a:solidFill>
                      <a:srgbClr val="FFFFFF"/>
                    </a:solidFill>
                  </a:tcPr>
                </a:tc>
                <a:tc>
                  <a:txBody>
                    <a:bodyPr wrap="square"/>
                    <a:lstStyle/>
                    <a:p>
                      <a:r>
                        <a:rPr sz="1400" b="0">
                          <a:solidFill>
                            <a:srgbClr val="1A1A1A"/>
                          </a:solidFill>
                          <a:latin typeface="Calibri"/>
                        </a:rPr>
                        <a:t>Clients on current SDKs</a:t>
                      </a:r>
                    </a:p>
                  </a:txBody>
                  <a:tcPr marL="82296" marR="64008" marT="32004" marB="32004" anchor="ctr">
                    <a:solidFill>
                      <a:srgbClr val="FFFFFF"/>
                    </a:solidFill>
                  </a:tcPr>
                </a:tc>
              </a:tr>
              <a:tr h="1009396">
                <a:tc>
                  <a:txBody>
                    <a:bodyPr wrap="square"/>
                    <a:lstStyle/>
                    <a:p>
                      <a:r>
                        <a:rPr sz="1400" b="1">
                          <a:solidFill>
                            <a:srgbClr val="6E1120"/>
                          </a:solidFill>
                          <a:latin typeface="Calibri"/>
                        </a:rPr>
                        <a:t>Session-based</a:t>
                      </a:r>
                    </a:p>
                  </a:txBody>
                  <a:tcPr marL="82296" marR="64008" marT="32004" marB="32004" anchor="ctr">
                    <a:solidFill>
                      <a:srgbClr val="F7F5F2"/>
                    </a:solidFill>
                  </a:tcPr>
                </a:tc>
                <a:tc>
                  <a:txBody>
                    <a:bodyPr wrap="square"/>
                    <a:lstStyle/>
                    <a:p>
                      <a:r>
                        <a:rPr sz="1400" b="0">
                          <a:solidFill>
                            <a:srgbClr val="1A1A1A"/>
                          </a:solidFill>
                          <a:latin typeface="Calibri"/>
                        </a:rPr>
                        <a:t>2025-11-25, 2025-06-18, 2025-03-26 and 2024-11-05</a:t>
                      </a:r>
                    </a:p>
                  </a:txBody>
                  <a:tcPr marL="82296" marR="64008" marT="32004" marB="32004" anchor="ctr">
                    <a:solidFill>
                      <a:srgbClr val="F7F5F2"/>
                    </a:solidFill>
                  </a:tcPr>
                </a:tc>
                <a:tc>
                  <a:txBody>
                    <a:bodyPr wrap="square"/>
                    <a:lstStyle/>
                    <a:p>
                      <a:r>
                        <a:rPr sz="1400" b="0">
                          <a:solidFill>
                            <a:srgbClr val="1A1A1A"/>
                          </a:solidFill>
                          <a:latin typeface="Calibri"/>
                        </a:rPr>
                        <a:t>An initialize handshake opens a session (Mcp-Session-Id) that later requests carry.</a:t>
                      </a:r>
                    </a:p>
                  </a:txBody>
                  <a:tcPr marL="82296" marR="64008" marT="32004" marB="32004" anchor="ctr">
                    <a:solidFill>
                      <a:srgbClr val="F7F5F2"/>
                    </a:solidFill>
                  </a:tcPr>
                </a:tc>
                <a:tc>
                  <a:txBody>
                    <a:bodyPr wrap="square"/>
                    <a:lstStyle/>
                    <a:p>
                      <a:r>
                        <a:rPr sz="1400" b="0">
                          <a:solidFill>
                            <a:srgbClr val="1A1A1A"/>
                          </a:solidFill>
                          <a:latin typeface="Calibri"/>
                        </a:rPr>
                        <a:t>Most clients in the field</a:t>
                      </a:r>
                    </a:p>
                  </a:txBody>
                  <a:tcPr marL="82296" marR="64008" marT="32004" marB="32004" anchor="ctr">
                    <a:solidFill>
                      <a:srgbClr val="F7F5F2"/>
                    </a:solidFill>
                  </a:tcPr>
                </a:tc>
              </a:tr>
              <a:tr h="1009396">
                <a:tc>
                  <a:txBody>
                    <a:bodyPr wrap="square"/>
                    <a:lstStyle/>
                    <a:p>
                      <a:r>
                        <a:rPr sz="1400" b="1">
                          <a:solidFill>
                            <a:srgbClr val="6E1120"/>
                          </a:solidFill>
                          <a:latin typeface="Calibri"/>
                        </a:rPr>
                        <a:t>Either</a:t>
                      </a:r>
                    </a:p>
                  </a:txBody>
                  <a:tcPr marL="82296" marR="64008" marT="32004" marB="32004" anchor="ctr">
                    <a:solidFill>
                      <a:srgbClr val="FFFFFF"/>
                    </a:solidFill>
                  </a:tcPr>
                </a:tc>
                <a:tc>
                  <a:txBody>
                    <a:bodyPr wrap="square"/>
                    <a:lstStyle/>
                    <a:p>
                      <a:r>
                        <a:rPr sz="1400" b="0">
                          <a:solidFill>
                            <a:srgbClr val="1A1A1A"/>
                          </a:solidFill>
                          <a:latin typeface="Calibri"/>
                        </a:rPr>
                        <a:t>—</a:t>
                      </a:r>
                    </a:p>
                  </a:txBody>
                  <a:tcPr marL="82296" marR="64008" marT="32004" marB="32004" anchor="ctr">
                    <a:solidFill>
                      <a:srgbClr val="FFFFFF"/>
                    </a:solidFill>
                  </a:tcPr>
                </a:tc>
                <a:tc>
                  <a:txBody>
                    <a:bodyPr wrap="square"/>
                    <a:lstStyle/>
                    <a:p>
                      <a:r>
                        <a:rPr sz="1400" b="0">
                          <a:solidFill>
                            <a:srgbClr val="1A1A1A"/>
                          </a:solidFill>
                          <a:latin typeface="Calibri"/>
                        </a:rPr>
                        <a:t>Decided per request on POST /mcp, so one deployment serves a mixed fleet; the Python client probes server/discover and adopts the newest.</a:t>
                      </a:r>
                    </a:p>
                  </a:txBody>
                  <a:tcPr marL="82296" marR="64008" marT="32004" marB="32004" anchor="ctr">
                    <a:solidFill>
                      <a:srgbClr val="FFFFFF"/>
                    </a:solidFill>
                  </a:tcPr>
                </a:tc>
                <a:tc>
                  <a:txBody>
                    <a:bodyPr wrap="square"/>
                    <a:lstStyle/>
                    <a:p>
                      <a:r>
                        <a:rPr sz="1400" b="0">
                          <a:solidFill>
                            <a:srgbClr val="1A1A1A"/>
                          </a:solidFill>
                          <a:latin typeface="Calibri"/>
                        </a:rPr>
                        <a:t>Mixed estates</a:t>
                      </a:r>
                    </a:p>
                  </a:txBody>
                  <a:tcPr marL="82296" marR="64008" marT="32004" marB="32004"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TRANSPORTS</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Four transports, with the same catalog and the same rules on each</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4 · Speaking every client's language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20</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From outside, SAJHA also ships sajhaclient (Python, on the official MCP SDK), REST and A2A clients, and the sajha command line.</a:t>
            </a:r>
          </a:p>
        </p:txBody>
      </p:sp>
      <p:graphicFrame>
        <p:nvGraphicFramePr>
          <p:cNvPr id="12" name="Table 11"/>
          <p:cNvGraphicFramePr>
            <a:graphicFrameLocks noGrp="1"/>
          </p:cNvGraphicFramePr>
          <p:nvPr/>
        </p:nvGraphicFramePr>
        <p:xfrm>
          <a:off x="777240" y="1322705"/>
          <a:ext cx="10637214" cy="2331910"/>
        </p:xfrm>
        <a:graphic>
          <a:graphicData uri="http://schemas.openxmlformats.org/drawingml/2006/table">
            <a:tbl>
              <a:tblPr firstRow="1">
                <a:tableStyleId>{5C22544A-7EE6-4342-B048-85BDC9FD1C3A}</a:tableStyleId>
              </a:tblPr>
              <a:tblGrid>
                <a:gridCol w="2431363"/>
                <a:gridCol w="3191164"/>
                <a:gridCol w="5014687"/>
              </a:tblGrid>
              <a:tr h="318579">
                <a:tc>
                  <a:txBody>
                    <a:bodyPr wrap="square"/>
                    <a:lstStyle/>
                    <a:p>
                      <a:r>
                        <a:rPr sz="1300" b="1">
                          <a:solidFill>
                            <a:srgbClr val="FFFFFF"/>
                          </a:solidFill>
                          <a:latin typeface="Calibri"/>
                        </a:rPr>
                        <a:t>Transport</a:t>
                      </a:r>
                    </a:p>
                  </a:txBody>
                  <a:tcPr marL="82296" marR="64008" marT="32004" marB="32004" anchor="ctr">
                    <a:solidFill>
                      <a:srgbClr val="A51C30"/>
                    </a:solidFill>
                  </a:tcPr>
                </a:tc>
                <a:tc>
                  <a:txBody>
                    <a:bodyPr wrap="square"/>
                    <a:lstStyle/>
                    <a:p>
                      <a:r>
                        <a:rPr sz="1300" b="1">
                          <a:solidFill>
                            <a:srgbClr val="FFFFFF"/>
                          </a:solidFill>
                          <a:latin typeface="Calibri"/>
                        </a:rPr>
                        <a:t>Where</a:t>
                      </a:r>
                    </a:p>
                  </a:txBody>
                  <a:tcPr marL="82296" marR="64008" marT="32004" marB="32004" anchor="ctr">
                    <a:solidFill>
                      <a:srgbClr val="A51C30"/>
                    </a:solidFill>
                  </a:tcPr>
                </a:tc>
                <a:tc>
                  <a:txBody>
                    <a:bodyPr wrap="square"/>
                    <a:lstStyle/>
                    <a:p>
                      <a:r>
                        <a:rPr sz="1300" b="1">
                          <a:solidFill>
                            <a:srgbClr val="FFFFFF"/>
                          </a:solidFill>
                          <a:latin typeface="Calibri"/>
                        </a:rPr>
                        <a:t>Typical client</a:t>
                      </a:r>
                    </a:p>
                  </a:txBody>
                  <a:tcPr marL="82296" marR="64008" marT="32004" marB="32004" anchor="ctr">
                    <a:solidFill>
                      <a:srgbClr val="A51C30"/>
                    </a:solidFill>
                  </a:tcPr>
                </a:tc>
              </a:tr>
              <a:tr h="559562">
                <a:tc>
                  <a:txBody>
                    <a:bodyPr wrap="square"/>
                    <a:lstStyle/>
                    <a:p>
                      <a:r>
                        <a:rPr sz="1400" b="1">
                          <a:solidFill>
                            <a:srgbClr val="6E1120"/>
                          </a:solidFill>
                          <a:latin typeface="Calibri"/>
                        </a:rPr>
                        <a:t>Streamable HTTP</a:t>
                      </a:r>
                    </a:p>
                  </a:txBody>
                  <a:tcPr marL="82296" marR="64008" marT="32004" marB="32004" anchor="ctr">
                    <a:solidFill>
                      <a:srgbClr val="FFFFFF"/>
                    </a:solidFill>
                  </a:tcPr>
                </a:tc>
                <a:tc>
                  <a:txBody>
                    <a:bodyPr wrap="square"/>
                    <a:lstStyle/>
                    <a:p>
                      <a:r>
                        <a:rPr sz="1400" b="0">
                          <a:solidFill>
                            <a:srgbClr val="1A1A1A"/>
                          </a:solidFill>
                          <a:latin typeface="Calibri"/>
                        </a:rPr>
                        <a:t>POST /mcp</a:t>
                      </a:r>
                    </a:p>
                  </a:txBody>
                  <a:tcPr marL="82296" marR="64008" marT="32004" marB="32004" anchor="ctr">
                    <a:solidFill>
                      <a:srgbClr val="FFFFFF"/>
                    </a:solidFill>
                  </a:tcPr>
                </a:tc>
                <a:tc>
                  <a:txBody>
                    <a:bodyPr wrap="square"/>
                    <a:lstStyle/>
                    <a:p>
                      <a:r>
                        <a:rPr sz="1400" b="0">
                          <a:solidFill>
                            <a:srgbClr val="1A1A1A"/>
                          </a:solidFill>
                          <a:latin typeface="Calibri"/>
                        </a:rPr>
                        <a:t>Remote clients of both eras; a JSON or a streamed (SSE) response</a:t>
                      </a:r>
                    </a:p>
                  </a:txBody>
                  <a:tcPr marL="82296" marR="64008" marT="32004" marB="32004" anchor="ctr">
                    <a:solidFill>
                      <a:srgbClr val="FFFFFF"/>
                    </a:solidFill>
                  </a:tcPr>
                </a:tc>
              </a:tr>
              <a:tr h="334645">
                <a:tc>
                  <a:txBody>
                    <a:bodyPr wrap="square"/>
                    <a:lstStyle/>
                    <a:p>
                      <a:r>
                        <a:rPr sz="1400" b="1">
                          <a:solidFill>
                            <a:srgbClr val="6E1120"/>
                          </a:solidFill>
                          <a:latin typeface="Calibri"/>
                        </a:rPr>
                        <a:t>HTTP+SSE (legacy)</a:t>
                      </a:r>
                    </a:p>
                  </a:txBody>
                  <a:tcPr marL="82296" marR="64008" marT="32004" marB="32004" anchor="ctr">
                    <a:solidFill>
                      <a:srgbClr val="F7F5F2"/>
                    </a:solidFill>
                  </a:tcPr>
                </a:tc>
                <a:tc>
                  <a:txBody>
                    <a:bodyPr wrap="square"/>
                    <a:lstStyle/>
                    <a:p>
                      <a:r>
                        <a:rPr sz="1400" b="0">
                          <a:solidFill>
                            <a:srgbClr val="1A1A1A"/>
                          </a:solidFill>
                          <a:latin typeface="Calibri"/>
                        </a:rPr>
                        <a:t>/mcp/sse</a:t>
                      </a:r>
                    </a:p>
                  </a:txBody>
                  <a:tcPr marL="82296" marR="64008" marT="32004" marB="32004" anchor="ctr">
                    <a:solidFill>
                      <a:srgbClr val="F7F5F2"/>
                    </a:solidFill>
                  </a:tcPr>
                </a:tc>
                <a:tc>
                  <a:txBody>
                    <a:bodyPr wrap="square"/>
                    <a:lstStyle/>
                    <a:p>
                      <a:r>
                        <a:rPr sz="1400" b="0">
                          <a:solidFill>
                            <a:srgbClr val="1A1A1A"/>
                          </a:solidFill>
                          <a:latin typeface="Calibri"/>
                        </a:rPr>
                        <a:t>Older clients that predate Streamable HTTP</a:t>
                      </a:r>
                    </a:p>
                  </a:txBody>
                  <a:tcPr marL="82296" marR="64008" marT="32004" marB="32004" anchor="ctr">
                    <a:solidFill>
                      <a:srgbClr val="F7F5F2"/>
                    </a:solidFill>
                  </a:tcPr>
                </a:tc>
              </a:tr>
              <a:tr h="334645">
                <a:tc>
                  <a:txBody>
                    <a:bodyPr wrap="square"/>
                    <a:lstStyle/>
                    <a:p>
                      <a:r>
                        <a:rPr sz="1400" b="1">
                          <a:solidFill>
                            <a:srgbClr val="6E1120"/>
                          </a:solidFill>
                          <a:latin typeface="Calibri"/>
                        </a:rPr>
                        <a:t>WebSocket</a:t>
                      </a:r>
                    </a:p>
                  </a:txBody>
                  <a:tcPr marL="82296" marR="64008" marT="32004" marB="32004" anchor="ctr">
                    <a:solidFill>
                      <a:srgbClr val="FFFFFF"/>
                    </a:solidFill>
                  </a:tcPr>
                </a:tc>
                <a:tc>
                  <a:txBody>
                    <a:bodyPr wrap="square"/>
                    <a:lstStyle/>
                    <a:p>
                      <a:r>
                        <a:rPr sz="1400" b="0">
                          <a:solidFill>
                            <a:srgbClr val="1A1A1A"/>
                          </a:solidFill>
                          <a:latin typeface="Calibri"/>
                        </a:rPr>
                        <a:t>/mcp/ws</a:t>
                      </a:r>
                    </a:p>
                  </a:txBody>
                  <a:tcPr marL="82296" marR="64008" marT="32004" marB="32004" anchor="ctr">
                    <a:solidFill>
                      <a:srgbClr val="FFFFFF"/>
                    </a:solidFill>
                  </a:tcPr>
                </a:tc>
                <a:tc>
                  <a:txBody>
                    <a:bodyPr wrap="square"/>
                    <a:lstStyle/>
                    <a:p>
                      <a:r>
                        <a:rPr sz="1400" b="0">
                          <a:solidFill>
                            <a:srgbClr val="1A1A1A"/>
                          </a:solidFill>
                          <a:latin typeface="Calibri"/>
                        </a:rPr>
                        <a:t>Browsers and long-lived connections</a:t>
                      </a:r>
                    </a:p>
                  </a:txBody>
                  <a:tcPr marL="82296" marR="64008" marT="32004" marB="32004" anchor="ctr">
                    <a:solidFill>
                      <a:srgbClr val="FFFFFF"/>
                    </a:solidFill>
                  </a:tcPr>
                </a:tc>
              </a:tr>
              <a:tr h="784479">
                <a:tc>
                  <a:txBody>
                    <a:bodyPr wrap="square"/>
                    <a:lstStyle/>
                    <a:p>
                      <a:r>
                        <a:rPr sz="1400" b="1">
                          <a:solidFill>
                            <a:srgbClr val="6E1120"/>
                          </a:solidFill>
                          <a:latin typeface="Calibri"/>
                        </a:rPr>
                        <a:t>stdio</a:t>
                      </a:r>
                    </a:p>
                  </a:txBody>
                  <a:tcPr marL="82296" marR="64008" marT="32004" marB="32004" anchor="ctr">
                    <a:solidFill>
                      <a:srgbClr val="F7F5F2"/>
                    </a:solidFill>
                  </a:tcPr>
                </a:tc>
                <a:tc>
                  <a:txBody>
                    <a:bodyPr wrap="square"/>
                    <a:lstStyle/>
                    <a:p>
                      <a:r>
                        <a:rPr sz="1400" b="0">
                          <a:solidFill>
                            <a:srgbClr val="1A1A1A"/>
                          </a:solidFill>
                          <a:latin typeface="Calibri"/>
                        </a:rPr>
                        <a:t>sajha serve --stdio, or run_server.py --stdio</a:t>
                      </a:r>
                    </a:p>
                  </a:txBody>
                  <a:tcPr marL="82296" marR="64008" marT="32004" marB="32004" anchor="ctr">
                    <a:solidFill>
                      <a:srgbClr val="F7F5F2"/>
                    </a:solidFill>
                  </a:tcPr>
                </a:tc>
                <a:tc>
                  <a:txBody>
                    <a:bodyPr wrap="square"/>
                    <a:lstStyle/>
                    <a:p>
                      <a:r>
                        <a:rPr sz="1400" b="0">
                          <a:solidFill>
                            <a:srgbClr val="1A1A1A"/>
                          </a:solidFill>
                          <a:latin typeface="Calibri"/>
                        </a:rPr>
                        <a:t>Desktop clients such as Claude Desktop and Claude Code; one caller per process, set by --user or --api-key</a:t>
                      </a:r>
                    </a:p>
                  </a:txBody>
                  <a:tcPr marL="82296" marR="64008" marT="32004" marB="32004" anchor="ctr">
                    <a:solidFill>
                      <a:srgbClr val="F7F5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EVIDENCE</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The official conformance suite: 242 checks passed, 0 failed</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4 · Speaking every client's language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21</a:t>
            </a:r>
          </a:p>
        </p:txBody>
      </p:sp>
      <p:sp>
        <p:nvSpPr>
          <p:cNvPr id="10" name="TextBox 9"/>
          <p:cNvSpPr txBox="1"/>
          <p:nvPr/>
        </p:nvSpPr>
        <p:spPr>
          <a:xfrm>
            <a:off x="777240" y="1354836"/>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350" b="0" i="0">
                <a:solidFill>
                  <a:srgbClr val="1A1A1A"/>
                </a:solidFill>
                <a:latin typeface="Calibri"/>
              </a:rPr>
              <a:t>The CI workflow starts a live SAJHA and runs the official MCP conformance suite once per era, 2025-11-25 (suite 0.1.16) and 2026-07-28 (suite 0.2.0-alpha.12), on every push to develop and main. The compliance report records those runs and two more suites run against the same server, for tasks and for the built-in authorization server:</a:t>
            </a:r>
          </a:p>
        </p:txBody>
      </p:sp>
      <p:sp>
        <p:nvSpPr>
          <p:cNvPr id="11" name="Rectangle 10"/>
          <p:cNvSpPr/>
          <p:nvPr/>
        </p:nvSpPr>
        <p:spPr>
          <a:xfrm>
            <a:off x="777240" y="2226659"/>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2665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354675"/>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242</a:t>
            </a:r>
          </a:p>
        </p:txBody>
      </p:sp>
      <p:sp>
        <p:nvSpPr>
          <p:cNvPr id="14" name="TextBox 13"/>
          <p:cNvSpPr txBox="1"/>
          <p:nvPr/>
        </p:nvSpPr>
        <p:spPr>
          <a:xfrm>
            <a:off x="978408" y="2830163"/>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checks passed, over the four suites below</a:t>
            </a:r>
          </a:p>
        </p:txBody>
      </p:sp>
      <p:sp>
        <p:nvSpPr>
          <p:cNvPr id="15" name="Rectangle 14"/>
          <p:cNvSpPr/>
          <p:nvPr/>
        </p:nvSpPr>
        <p:spPr>
          <a:xfrm>
            <a:off x="4390034" y="2226659"/>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0034" y="222665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1202" y="2354675"/>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0</a:t>
            </a:r>
          </a:p>
        </p:txBody>
      </p:sp>
      <p:sp>
        <p:nvSpPr>
          <p:cNvPr id="18" name="TextBox 17"/>
          <p:cNvSpPr txBox="1"/>
          <p:nvPr/>
        </p:nvSpPr>
        <p:spPr>
          <a:xfrm>
            <a:off x="4591202" y="2830163"/>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checks failed</a:t>
            </a:r>
          </a:p>
        </p:txBody>
      </p:sp>
      <p:sp>
        <p:nvSpPr>
          <p:cNvPr id="19" name="Rectangle 18"/>
          <p:cNvSpPr/>
          <p:nvPr/>
        </p:nvSpPr>
        <p:spPr>
          <a:xfrm>
            <a:off x="8002828" y="2226659"/>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2828" y="222665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3996" y="2354675"/>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a:t>
            </a:r>
          </a:p>
        </p:txBody>
      </p:sp>
      <p:sp>
        <p:nvSpPr>
          <p:cNvPr id="22" name="TextBox 21"/>
          <p:cNvSpPr txBox="1"/>
          <p:nvPr/>
        </p:nvSpPr>
        <p:spPr>
          <a:xfrm>
            <a:off x="8203996" y="2830163"/>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eras in the CI matrix, each with a pinned suite</a:t>
            </a:r>
          </a:p>
        </p:txBody>
      </p:sp>
      <p:sp>
        <p:nvSpPr>
          <p:cNvPr id="23" name="Rectangle 22"/>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A release is only as compliant as the last green run of the workflow.</a:t>
            </a:r>
          </a:p>
        </p:txBody>
      </p:sp>
      <p:graphicFrame>
        <p:nvGraphicFramePr>
          <p:cNvPr id="25" name="Table 24"/>
          <p:cNvGraphicFramePr>
            <a:graphicFrameLocks noGrp="1"/>
          </p:cNvGraphicFramePr>
          <p:nvPr/>
        </p:nvGraphicFramePr>
        <p:xfrm>
          <a:off x="777240" y="3579971"/>
          <a:ext cx="10637214" cy="1841911"/>
        </p:xfrm>
        <a:graphic>
          <a:graphicData uri="http://schemas.openxmlformats.org/drawingml/2006/table">
            <a:tbl>
              <a:tblPr firstRow="1">
                <a:tableStyleId>{5C22544A-7EE6-4342-B048-85BDC9FD1C3A}</a:tableStyleId>
              </a:tblPr>
              <a:tblGrid>
                <a:gridCol w="6292437"/>
                <a:gridCol w="1498199"/>
                <a:gridCol w="1648019"/>
                <a:gridCol w="1198559"/>
              </a:tblGrid>
              <a:tr h="318579">
                <a:tc>
                  <a:txBody>
                    <a:bodyPr wrap="square"/>
                    <a:lstStyle/>
                    <a:p>
                      <a:r>
                        <a:rPr sz="1300" b="1">
                          <a:solidFill>
                            <a:srgbClr val="FFFFFF"/>
                          </a:solidFill>
                          <a:latin typeface="Calibri"/>
                        </a:rPr>
                        <a:t>Suite</a:t>
                      </a:r>
                    </a:p>
                  </a:txBody>
                  <a:tcPr marL="82296" marR="64008" marT="32004" marB="32004" anchor="ctr">
                    <a:solidFill>
                      <a:srgbClr val="A51C30"/>
                    </a:solidFill>
                  </a:tcPr>
                </a:tc>
                <a:tc>
                  <a:txBody>
                    <a:bodyPr wrap="square"/>
                    <a:lstStyle/>
                    <a:p>
                      <a:r>
                        <a:rPr sz="1300" b="1">
                          <a:solidFill>
                            <a:srgbClr val="FFFFFF"/>
                          </a:solidFill>
                          <a:latin typeface="Calibri"/>
                        </a:rPr>
                        <a:t>Scenarios</a:t>
                      </a:r>
                    </a:p>
                  </a:txBody>
                  <a:tcPr marL="82296" marR="64008" marT="32004" marB="32004" anchor="ctr">
                    <a:solidFill>
                      <a:srgbClr val="A51C30"/>
                    </a:solidFill>
                  </a:tcPr>
                </a:tc>
                <a:tc>
                  <a:txBody>
                    <a:bodyPr wrap="square"/>
                    <a:lstStyle/>
                    <a:p>
                      <a:r>
                        <a:rPr sz="1300" b="1">
                          <a:solidFill>
                            <a:srgbClr val="FFFFFF"/>
                          </a:solidFill>
                          <a:latin typeface="Calibri"/>
                        </a:rPr>
                        <a:t>Checks passed</a:t>
                      </a:r>
                    </a:p>
                  </a:txBody>
                  <a:tcPr marL="82296" marR="64008" marT="32004" marB="32004" anchor="ctr">
                    <a:solidFill>
                      <a:srgbClr val="A51C30"/>
                    </a:solidFill>
                  </a:tcPr>
                </a:tc>
                <a:tc>
                  <a:txBody>
                    <a:bodyPr wrap="square"/>
                    <a:lstStyle/>
                    <a:p>
                      <a:r>
                        <a:rPr sz="1300" b="1">
                          <a:solidFill>
                            <a:srgbClr val="FFFFFF"/>
                          </a:solidFill>
                          <a:latin typeface="Calibri"/>
                        </a:rPr>
                        <a:t>Failed</a:t>
                      </a:r>
                    </a:p>
                  </a:txBody>
                  <a:tcPr marL="82296" marR="64008" marT="32004" marB="32004" anchor="ctr">
                    <a:solidFill>
                      <a:srgbClr val="A51C30"/>
                    </a:solidFill>
                  </a:tcPr>
                </a:tc>
              </a:tr>
              <a:tr h="326612">
                <a:tc>
                  <a:txBody>
                    <a:bodyPr wrap="square"/>
                    <a:lstStyle/>
                    <a:p>
                      <a:r>
                        <a:rPr sz="1350" b="1">
                          <a:solidFill>
                            <a:srgbClr val="6E1120"/>
                          </a:solidFill>
                          <a:latin typeface="Calibri"/>
                        </a:rPr>
                        <a:t>2025-11-25 (legacy path, 0.1.16)</a:t>
                      </a:r>
                    </a:p>
                  </a:txBody>
                  <a:tcPr marL="82296" marR="64008" marT="32004" marB="32004" anchor="ctr">
                    <a:solidFill>
                      <a:srgbClr val="FFFFFF"/>
                    </a:solidFill>
                  </a:tcPr>
                </a:tc>
                <a:tc>
                  <a:txBody>
                    <a:bodyPr wrap="square"/>
                    <a:lstStyle/>
                    <a:p>
                      <a:r>
                        <a:rPr sz="1350" b="0">
                          <a:solidFill>
                            <a:srgbClr val="1A1A1A"/>
                          </a:solidFill>
                          <a:latin typeface="Calibri"/>
                        </a:rPr>
                        <a:t>32/32</a:t>
                      </a:r>
                    </a:p>
                  </a:txBody>
                  <a:tcPr marL="82296" marR="64008" marT="32004" marB="32004" anchor="ctr">
                    <a:solidFill>
                      <a:srgbClr val="FFFFFF"/>
                    </a:solidFill>
                  </a:tcPr>
                </a:tc>
                <a:tc>
                  <a:txBody>
                    <a:bodyPr wrap="square"/>
                    <a:lstStyle/>
                    <a:p>
                      <a:r>
                        <a:rPr sz="1350" b="0">
                          <a:solidFill>
                            <a:srgbClr val="1A1A1A"/>
                          </a:solidFill>
                          <a:latin typeface="Calibri"/>
                        </a:rPr>
                        <a:t>43</a:t>
                      </a:r>
                    </a:p>
                  </a:txBody>
                  <a:tcPr marL="82296" marR="64008" marT="32004" marB="32004" anchor="ctr">
                    <a:solidFill>
                      <a:srgbClr val="FFFFFF"/>
                    </a:solidFill>
                  </a:tcPr>
                </a:tc>
                <a:tc>
                  <a:txBody>
                    <a:bodyPr wrap="square"/>
                    <a:lstStyle/>
                    <a:p>
                      <a:r>
                        <a:rPr sz="1350" b="0">
                          <a:solidFill>
                            <a:srgbClr val="1A1A1A"/>
                          </a:solidFill>
                          <a:latin typeface="Calibri"/>
                        </a:rPr>
                        <a:t>0</a:t>
                      </a:r>
                    </a:p>
                  </a:txBody>
                  <a:tcPr marL="82296" marR="64008" marT="32004" marB="32004" anchor="ctr">
                    <a:solidFill>
                      <a:srgbClr val="FFFFFF"/>
                    </a:solidFill>
                  </a:tcPr>
                </a:tc>
              </a:tr>
              <a:tr h="326612">
                <a:tc>
                  <a:txBody>
                    <a:bodyPr wrap="square"/>
                    <a:lstStyle/>
                    <a:p>
                      <a:r>
                        <a:rPr sz="1350" b="1">
                          <a:solidFill>
                            <a:srgbClr val="6E1120"/>
                          </a:solidFill>
                          <a:latin typeface="Calibri"/>
                        </a:rPr>
                        <a:t>2026-07-28 --suite all (0.2.0-alpha.12)</a:t>
                      </a:r>
                    </a:p>
                  </a:txBody>
                  <a:tcPr marL="82296" marR="64008" marT="32004" marB="32004" anchor="ctr">
                    <a:solidFill>
                      <a:srgbClr val="F7F5F2"/>
                    </a:solidFill>
                  </a:tcPr>
                </a:tc>
                <a:tc>
                  <a:txBody>
                    <a:bodyPr wrap="square"/>
                    <a:lstStyle/>
                    <a:p>
                      <a:r>
                        <a:rPr sz="1350" b="0">
                          <a:solidFill>
                            <a:srgbClr val="1A1A1A"/>
                          </a:solidFill>
                          <a:latin typeface="Calibri"/>
                        </a:rPr>
                        <a:t>40/40</a:t>
                      </a:r>
                    </a:p>
                  </a:txBody>
                  <a:tcPr marL="82296" marR="64008" marT="32004" marB="32004" anchor="ctr">
                    <a:solidFill>
                      <a:srgbClr val="F7F5F2"/>
                    </a:solidFill>
                  </a:tcPr>
                </a:tc>
                <a:tc>
                  <a:txBody>
                    <a:bodyPr wrap="square"/>
                    <a:lstStyle/>
                    <a:p>
                      <a:r>
                        <a:rPr sz="1350" b="0">
                          <a:solidFill>
                            <a:srgbClr val="1A1A1A"/>
                          </a:solidFill>
                          <a:latin typeface="Calibri"/>
                        </a:rPr>
                        <a:t>152</a:t>
                      </a:r>
                    </a:p>
                  </a:txBody>
                  <a:tcPr marL="82296" marR="64008" marT="32004" marB="32004" anchor="ctr">
                    <a:solidFill>
                      <a:srgbClr val="F7F5F2"/>
                    </a:solidFill>
                  </a:tcPr>
                </a:tc>
                <a:tc>
                  <a:txBody>
                    <a:bodyPr wrap="square"/>
                    <a:lstStyle/>
                    <a:p>
                      <a:r>
                        <a:rPr sz="1350" b="0">
                          <a:solidFill>
                            <a:srgbClr val="1A1A1A"/>
                          </a:solidFill>
                          <a:latin typeface="Calibri"/>
                        </a:rPr>
                        <a:t>0</a:t>
                      </a:r>
                    </a:p>
                  </a:txBody>
                  <a:tcPr marL="82296" marR="64008" marT="32004" marB="32004" anchor="ctr">
                    <a:solidFill>
                      <a:srgbClr val="F7F5F2"/>
                    </a:solidFill>
                  </a:tcPr>
                </a:tc>
              </a:tr>
              <a:tr h="326612">
                <a:tc>
                  <a:txBody>
                    <a:bodyPr wrap="square"/>
                    <a:lstStyle/>
                    <a:p>
                      <a:r>
                        <a:rPr sz="1350" b="1">
                          <a:solidFill>
                            <a:srgbClr val="6E1120"/>
                          </a:solidFill>
                          <a:latin typeface="Calibri"/>
                        </a:rPr>
                        <a:t>tasks extension scenarios (--force)</a:t>
                      </a:r>
                    </a:p>
                  </a:txBody>
                  <a:tcPr marL="82296" marR="64008" marT="32004" marB="32004" anchor="ctr">
                    <a:solidFill>
                      <a:srgbClr val="FFFFFF"/>
                    </a:solidFill>
                  </a:tcPr>
                </a:tc>
                <a:tc>
                  <a:txBody>
                    <a:bodyPr wrap="square"/>
                    <a:lstStyle/>
                    <a:p>
                      <a:r>
                        <a:rPr sz="1350" b="0">
                          <a:solidFill>
                            <a:srgbClr val="1A1A1A"/>
                          </a:solidFill>
                          <a:latin typeface="Calibri"/>
                        </a:rPr>
                        <a:t>10/10</a:t>
                      </a:r>
                    </a:p>
                  </a:txBody>
                  <a:tcPr marL="82296" marR="64008" marT="32004" marB="32004" anchor="ctr">
                    <a:solidFill>
                      <a:srgbClr val="FFFFFF"/>
                    </a:solidFill>
                  </a:tcPr>
                </a:tc>
                <a:tc>
                  <a:txBody>
                    <a:bodyPr wrap="square"/>
                    <a:lstStyle/>
                    <a:p>
                      <a:r>
                        <a:rPr sz="1350" b="0">
                          <a:solidFill>
                            <a:srgbClr val="1A1A1A"/>
                          </a:solidFill>
                          <a:latin typeface="Calibri"/>
                        </a:rPr>
                        <a:t>44</a:t>
                      </a:r>
                    </a:p>
                  </a:txBody>
                  <a:tcPr marL="82296" marR="64008" marT="32004" marB="32004" anchor="ctr">
                    <a:solidFill>
                      <a:srgbClr val="FFFFFF"/>
                    </a:solidFill>
                  </a:tcPr>
                </a:tc>
                <a:tc>
                  <a:txBody>
                    <a:bodyPr wrap="square"/>
                    <a:lstStyle/>
                    <a:p>
                      <a:r>
                        <a:rPr sz="1350" b="0">
                          <a:solidFill>
                            <a:srgbClr val="1A1A1A"/>
                          </a:solidFill>
                          <a:latin typeface="Calibri"/>
                        </a:rPr>
                        <a:t>0</a:t>
                      </a:r>
                    </a:p>
                  </a:txBody>
                  <a:tcPr marL="82296" marR="64008" marT="32004" marB="32004" anchor="ctr">
                    <a:solidFill>
                      <a:srgbClr val="FFFFFF"/>
                    </a:solidFill>
                  </a:tcPr>
                </a:tc>
              </a:tr>
              <a:tr h="543496">
                <a:tc>
                  <a:txBody>
                    <a:bodyPr wrap="square"/>
                    <a:lstStyle/>
                    <a:p>
                      <a:r>
                        <a:rPr sz="1350" b="1">
                          <a:solidFill>
                            <a:srgbClr val="6E1120"/>
                          </a:solidFill>
                          <a:latin typeface="Calibri"/>
                        </a:rPr>
                        <a:t>authorization (built-in AS, --spec-version 2026-07-28 and 2025-11-25)</a:t>
                      </a:r>
                    </a:p>
                  </a:txBody>
                  <a:tcPr marL="82296" marR="64008" marT="32004" marB="32004" anchor="ctr">
                    <a:solidFill>
                      <a:srgbClr val="F7F5F2"/>
                    </a:solidFill>
                  </a:tcPr>
                </a:tc>
                <a:tc>
                  <a:txBody>
                    <a:bodyPr wrap="square"/>
                    <a:lstStyle/>
                    <a:p>
                      <a:r>
                        <a:rPr sz="1350" b="0">
                          <a:solidFill>
                            <a:srgbClr val="1A1A1A"/>
                          </a:solidFill>
                          <a:latin typeface="Calibri"/>
                        </a:rPr>
                        <a:t>2/2</a:t>
                      </a:r>
                    </a:p>
                  </a:txBody>
                  <a:tcPr marL="82296" marR="64008" marT="32004" marB="32004" anchor="ctr">
                    <a:solidFill>
                      <a:srgbClr val="F7F5F2"/>
                    </a:solidFill>
                  </a:tcPr>
                </a:tc>
                <a:tc>
                  <a:txBody>
                    <a:bodyPr wrap="square"/>
                    <a:lstStyle/>
                    <a:p>
                      <a:r>
                        <a:rPr sz="1350" b="0">
                          <a:solidFill>
                            <a:srgbClr val="1A1A1A"/>
                          </a:solidFill>
                          <a:latin typeface="Calibri"/>
                        </a:rPr>
                        <a:t>3</a:t>
                      </a:r>
                    </a:p>
                  </a:txBody>
                  <a:tcPr marL="82296" marR="64008" marT="32004" marB="32004" anchor="ctr">
                    <a:solidFill>
                      <a:srgbClr val="F7F5F2"/>
                    </a:solidFill>
                  </a:tcPr>
                </a:tc>
                <a:tc>
                  <a:txBody>
                    <a:bodyPr wrap="square"/>
                    <a:lstStyle/>
                    <a:p>
                      <a:r>
                        <a:rPr sz="1350" b="0">
                          <a:solidFill>
                            <a:srgbClr val="1A1A1A"/>
                          </a:solidFill>
                          <a:latin typeface="Calibri"/>
                        </a:rPr>
                        <a:t>0</a:t>
                      </a:r>
                    </a:p>
                  </a:txBody>
                  <a:tcPr marL="82296" marR="64008" marT="32004" marB="32004" anchor="ctr">
                    <a:solidFill>
                      <a:srgbClr val="F7F5F2"/>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BEYOND LIST AND CALL</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A1A1A"/>
                </a:solidFill>
                <a:latin typeface="Georgia"/>
              </a:rPr>
              <a:t>Streaming, cancellation, input mid-call, long tasks and views</a:t>
            </a:r>
          </a:p>
        </p:txBody>
      </p:sp>
      <p:sp>
        <p:nvSpPr>
          <p:cNvPr id="6" name="Rectangle 5"/>
          <p:cNvSpPr/>
          <p:nvPr/>
        </p:nvSpPr>
        <p:spPr>
          <a:xfrm>
            <a:off x="777240" y="1210754"/>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4 · Speaking every client's language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22</a:t>
            </a:r>
          </a:p>
        </p:txBody>
      </p:sp>
      <p:sp>
        <p:nvSpPr>
          <p:cNvPr id="10" name="Rectangle 9"/>
          <p:cNvSpPr/>
          <p:nvPr/>
        </p:nvSpPr>
        <p:spPr>
          <a:xfrm>
            <a:off x="777240" y="1338770"/>
            <a:ext cx="3436010" cy="2370994"/>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38770"/>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03362"/>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STREAMING</a:t>
            </a:r>
          </a:p>
        </p:txBody>
      </p:sp>
      <p:sp>
        <p:nvSpPr>
          <p:cNvPr id="13" name="TextBox 12"/>
          <p:cNvSpPr txBox="1"/>
          <p:nvPr/>
        </p:nvSpPr>
        <p:spPr>
          <a:xfrm>
            <a:off x="960120" y="1759394"/>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Progress and logs while a tool runs</a:t>
            </a:r>
          </a:p>
        </p:txBody>
      </p:sp>
      <p:sp>
        <p:nvSpPr>
          <p:cNvPr id="14" name="TextBox 13"/>
          <p:cNvSpPr txBox="1"/>
          <p:nvPr/>
        </p:nvSpPr>
        <p:spPr>
          <a:xfrm>
            <a:off x="960120" y="2364930"/>
            <a:ext cx="3070250" cy="12168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 tool reports progress and log lines; a client that asked for them receives them over the streamed response.</a:t>
            </a:r>
          </a:p>
        </p:txBody>
      </p:sp>
      <p:sp>
        <p:nvSpPr>
          <p:cNvPr id="15" name="Rectangle 14"/>
          <p:cNvSpPr/>
          <p:nvPr/>
        </p:nvSpPr>
        <p:spPr>
          <a:xfrm>
            <a:off x="4377842" y="1338770"/>
            <a:ext cx="3436010" cy="2370994"/>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7842" y="1338770"/>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0722" y="1503362"/>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CANCELLATION</a:t>
            </a:r>
          </a:p>
        </p:txBody>
      </p:sp>
      <p:sp>
        <p:nvSpPr>
          <p:cNvPr id="18" name="TextBox 17"/>
          <p:cNvSpPr txBox="1"/>
          <p:nvPr/>
        </p:nvSpPr>
        <p:spPr>
          <a:xfrm>
            <a:off x="4560722" y="1759394"/>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A client can stop a call</a:t>
            </a:r>
          </a:p>
        </p:txBody>
      </p:sp>
      <p:sp>
        <p:nvSpPr>
          <p:cNvPr id="19" name="TextBox 18"/>
          <p:cNvSpPr txBox="1"/>
          <p:nvPr/>
        </p:nvSpPr>
        <p:spPr>
          <a:xfrm>
            <a:off x="4560722" y="2107882"/>
            <a:ext cx="3070250" cy="1473866"/>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 cancelled request is visible to the running tool (is_cancelled), which can stop early.</a:t>
            </a:r>
          </a:p>
        </p:txBody>
      </p:sp>
      <p:sp>
        <p:nvSpPr>
          <p:cNvPr id="20" name="Rectangle 19"/>
          <p:cNvSpPr/>
          <p:nvPr/>
        </p:nvSpPr>
        <p:spPr>
          <a:xfrm>
            <a:off x="7978444" y="1338770"/>
            <a:ext cx="3436010" cy="2370994"/>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78444" y="1338770"/>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1324" y="1503362"/>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MRTR</a:t>
            </a:r>
          </a:p>
        </p:txBody>
      </p:sp>
      <p:sp>
        <p:nvSpPr>
          <p:cNvPr id="23" name="TextBox 22"/>
          <p:cNvSpPr txBox="1"/>
          <p:nvPr/>
        </p:nvSpPr>
        <p:spPr>
          <a:xfrm>
            <a:off x="8161324" y="1759394"/>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Multi Round-Trip Requests</a:t>
            </a:r>
          </a:p>
        </p:txBody>
      </p:sp>
      <p:sp>
        <p:nvSpPr>
          <p:cNvPr id="24" name="TextBox 23"/>
          <p:cNvSpPr txBox="1"/>
          <p:nvPr/>
        </p:nvSpPr>
        <p:spPr>
          <a:xfrm>
            <a:off x="8161324" y="2107882"/>
            <a:ext cx="3070250" cy="1473866"/>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 stateless server asks for input mid-call (a form, a confirmation) by answering input_required; the client retries with the answers.</a:t>
            </a:r>
          </a:p>
        </p:txBody>
      </p:sp>
      <p:sp>
        <p:nvSpPr>
          <p:cNvPr id="25" name="Rectangle 24"/>
          <p:cNvSpPr/>
          <p:nvPr/>
        </p:nvSpPr>
        <p:spPr>
          <a:xfrm>
            <a:off x="777240" y="3874357"/>
            <a:ext cx="3436010" cy="2370994"/>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387435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3894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TASKS</a:t>
            </a:r>
          </a:p>
        </p:txBody>
      </p:sp>
      <p:sp>
        <p:nvSpPr>
          <p:cNvPr id="28" name="TextBox 27"/>
          <p:cNvSpPr txBox="1"/>
          <p:nvPr/>
        </p:nvSpPr>
        <p:spPr>
          <a:xfrm>
            <a:off x="960120" y="429498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Long calls become tasks</a:t>
            </a:r>
          </a:p>
        </p:txBody>
      </p:sp>
      <p:sp>
        <p:nvSpPr>
          <p:cNvPr id="29" name="TextBox 28"/>
          <p:cNvSpPr txBox="1"/>
          <p:nvPr/>
        </p:nvSpPr>
        <p:spPr>
          <a:xfrm>
            <a:off x="960120" y="4643469"/>
            <a:ext cx="3070250" cy="1473866"/>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 task-capable tool returns a task id; the client polls tasks/get, answers input with tasks/update, or cancels.</a:t>
            </a:r>
          </a:p>
        </p:txBody>
      </p:sp>
      <p:sp>
        <p:nvSpPr>
          <p:cNvPr id="30" name="Rectangle 29"/>
          <p:cNvSpPr/>
          <p:nvPr/>
        </p:nvSpPr>
        <p:spPr>
          <a:xfrm>
            <a:off x="4377842" y="3874357"/>
            <a:ext cx="3436010" cy="2370994"/>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77842" y="387435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60722" y="403894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MCP APPS</a:t>
            </a:r>
          </a:p>
        </p:txBody>
      </p:sp>
      <p:sp>
        <p:nvSpPr>
          <p:cNvPr id="33" name="TextBox 32"/>
          <p:cNvSpPr txBox="1"/>
          <p:nvPr/>
        </p:nvSpPr>
        <p:spPr>
          <a:xfrm>
            <a:off x="4560722" y="429498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A tool can ship its own view</a:t>
            </a:r>
          </a:p>
        </p:txBody>
      </p:sp>
      <p:sp>
        <p:nvSpPr>
          <p:cNvPr id="34" name="TextBox 33"/>
          <p:cNvSpPr txBox="1"/>
          <p:nvPr/>
        </p:nvSpPr>
        <p:spPr>
          <a:xfrm>
            <a:off x="4560722" y="4900517"/>
            <a:ext cx="3070250" cy="12168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An interactive HTML view (ui://) the client renders beside the result, such as the loan schedule chart of calc_loan_amortization.</a:t>
            </a:r>
          </a:p>
        </p:txBody>
      </p:sp>
      <p:sp>
        <p:nvSpPr>
          <p:cNvPr id="35" name="Rectangle 34"/>
          <p:cNvSpPr/>
          <p:nvPr/>
        </p:nvSpPr>
        <p:spPr>
          <a:xfrm>
            <a:off x="7978444" y="3874357"/>
            <a:ext cx="3436010" cy="2370994"/>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78444" y="387435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61324" y="403894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HEADERS</a:t>
            </a:r>
          </a:p>
        </p:txBody>
      </p:sp>
      <p:sp>
        <p:nvSpPr>
          <p:cNvPr id="38" name="TextBox 37"/>
          <p:cNvSpPr txBox="1"/>
          <p:nvPr/>
        </p:nvSpPr>
        <p:spPr>
          <a:xfrm>
            <a:off x="8161324" y="429498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Routing without reading the body</a:t>
            </a:r>
          </a:p>
        </p:txBody>
      </p:sp>
      <p:sp>
        <p:nvSpPr>
          <p:cNvPr id="39" name="TextBox 38"/>
          <p:cNvSpPr txBox="1"/>
          <p:nvPr/>
        </p:nvSpPr>
        <p:spPr>
          <a:xfrm>
            <a:off x="8161324" y="4900517"/>
            <a:ext cx="3070250" cy="12168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Mcp-Method, Mcp-Name and Mcp-Param-* headers let a gateway route and filter 2026-07-28 traffic.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F3C6CF"/>
                </a:solidFill>
                <a:latin typeface="Calibri"/>
              </a:rPr>
              <a:t>PART 5</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2600" b="0" i="0">
                <a:solidFill>
                  <a:srgbClr val="FFFFFF"/>
                </a:solidFill>
                <a:latin typeface="Georgia"/>
              </a:rPr>
              <a:t>Governance an enterprise can sign off</a:t>
            </a:r>
          </a:p>
        </p:txBody>
      </p:sp>
      <p:sp>
        <p:nvSpPr>
          <p:cNvPr id="6" name="Rectangle 5"/>
          <p:cNvSpPr/>
          <p:nvPr/>
        </p:nvSpPr>
        <p:spPr>
          <a:xfrm>
            <a:off x="1005840" y="3383280"/>
            <a:ext cx="137160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BEEF0"/>
                </a:solidFill>
                <a:latin typeface="Calibri"/>
              </a:rPr>
              <a:t>A security review asks five things: who is calling, what may they do, what stops a bad call, what record is left, and what happens to code and credentials SAJHA did not write. Each answer here is code, and two of them were exercised while this deck was built.</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F3C6CF"/>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BEEF0"/>
                </a:solidFill>
                <a:latin typeface="Calibri"/>
              </a:rPr>
              <a:t>Identities and one access policy</a:t>
            </a:r>
          </a:p>
          <a:p>
            <a:pPr>
              <a:lnSpc>
                <a:spcPct val="115000"/>
              </a:lnSpc>
              <a:spcBef>
                <a:spcPts val="0"/>
              </a:spcBef>
              <a:spcAft>
                <a:spcPts val="600"/>
              </a:spcAft>
            </a:pPr>
            <a:r>
              <a:rPr sz="1200" b="0" i="0">
                <a:solidFill>
                  <a:srgbClr val="FBEEF0"/>
                </a:solidFill>
                <a:latin typeface="Calibri"/>
              </a:rPr>
              <a:t>OAuth 2.1 on the MCP endpoint</a:t>
            </a:r>
          </a:p>
          <a:p>
            <a:pPr>
              <a:lnSpc>
                <a:spcPct val="115000"/>
              </a:lnSpc>
              <a:spcBef>
                <a:spcPts val="0"/>
              </a:spcBef>
              <a:spcAft>
                <a:spcPts val="600"/>
              </a:spcAft>
            </a:pPr>
            <a:r>
              <a:rPr sz="1200" b="0" i="0">
                <a:solidFill>
                  <a:srgbClr val="FBEEF0"/>
                </a:solidFill>
                <a:latin typeface="Calibri"/>
              </a:rPr>
              <a:t>Rules before every call, evaluated</a:t>
            </a:r>
          </a:p>
          <a:p>
            <a:pPr>
              <a:lnSpc>
                <a:spcPct val="115000"/>
              </a:lnSpc>
              <a:spcBef>
                <a:spcPts val="0"/>
              </a:spcBef>
              <a:spcAft>
                <a:spcPts val="600"/>
              </a:spcAft>
            </a:pPr>
            <a:r>
              <a:rPr sz="1200" b="0" i="0">
                <a:solidFill>
                  <a:srgbClr val="FBEEF0"/>
                </a:solidFill>
                <a:latin typeface="Calibri"/>
              </a:rPr>
              <a:t>A tamper-evident audit, tampered with</a:t>
            </a:r>
          </a:p>
          <a:p>
            <a:pPr>
              <a:lnSpc>
                <a:spcPct val="115000"/>
              </a:lnSpc>
              <a:spcBef>
                <a:spcPts val="0"/>
              </a:spcBef>
              <a:spcAft>
                <a:spcPts val="600"/>
              </a:spcAft>
            </a:pPr>
            <a:r>
              <a:rPr sz="1200" b="0" i="0">
                <a:solidFill>
                  <a:srgbClr val="FBEEF0"/>
                </a:solidFill>
                <a:latin typeface="Calibri"/>
              </a:rPr>
              <a:t>Sandbox and connected accounts</a:t>
            </a:r>
          </a:p>
          <a:p>
            <a:pPr>
              <a:lnSpc>
                <a:spcPct val="115000"/>
              </a:lnSpc>
              <a:spcBef>
                <a:spcPts val="0"/>
              </a:spcBef>
              <a:spcAft>
                <a:spcPts val="600"/>
              </a:spcAft>
            </a:pPr>
            <a:r>
              <a:rPr sz="1200" b="0" i="0">
                <a:solidFill>
                  <a:srgbClr val="FBEEF0"/>
                </a:solidFill>
                <a:latin typeface="Calibri"/>
              </a:rPr>
              <a:t>Fixes, listed as evidence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WHO IS CALLING</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Four kinds of caller, one access policy on every path</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5 · Governance an enterprise can sign off</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24</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One policy (sajha/auth/access.py) applies to REST, MCP in both eras, SSE, WebSocket, stdio, A2A and asynchronous calls; tools/list shows a caller only what it may run.</a:t>
            </a:r>
          </a:p>
        </p:txBody>
      </p:sp>
      <p:graphicFrame>
        <p:nvGraphicFramePr>
          <p:cNvPr id="12" name="Table 11"/>
          <p:cNvGraphicFramePr>
            <a:graphicFrameLocks noGrp="1"/>
          </p:cNvGraphicFramePr>
          <p:nvPr/>
        </p:nvGraphicFramePr>
        <p:xfrm>
          <a:off x="777240" y="1386967"/>
          <a:ext cx="10637214" cy="2556827"/>
        </p:xfrm>
        <a:graphic>
          <a:graphicData uri="http://schemas.openxmlformats.org/drawingml/2006/table">
            <a:tbl>
              <a:tblPr firstRow="1">
                <a:tableStyleId>{5C22544A-7EE6-4342-B048-85BDC9FD1C3A}</a:tableStyleId>
              </a:tblPr>
              <a:tblGrid>
                <a:gridCol w="2185729"/>
                <a:gridCol w="4662888"/>
                <a:gridCol w="3788597"/>
              </a:tblGrid>
              <a:tr h="318579">
                <a:tc>
                  <a:txBody>
                    <a:bodyPr wrap="square"/>
                    <a:lstStyle/>
                    <a:p>
                      <a:r>
                        <a:rPr sz="1300" b="1">
                          <a:solidFill>
                            <a:srgbClr val="FFFFFF"/>
                          </a:solidFill>
                          <a:latin typeface="Calibri"/>
                        </a:rPr>
                        <a:t>Caller</a:t>
                      </a:r>
                    </a:p>
                  </a:txBody>
                  <a:tcPr marL="82296" marR="64008" marT="32004" marB="32004" anchor="ctr">
                    <a:solidFill>
                      <a:srgbClr val="A51C30"/>
                    </a:solidFill>
                  </a:tcPr>
                </a:tc>
                <a:tc>
                  <a:txBody>
                    <a:bodyPr wrap="square"/>
                    <a:lstStyle/>
                    <a:p>
                      <a:r>
                        <a:rPr sz="1300" b="1">
                          <a:solidFill>
                            <a:srgbClr val="FFFFFF"/>
                          </a:solidFill>
                          <a:latin typeface="Calibri"/>
                        </a:rPr>
                        <a:t>How it proves who it is</a:t>
                      </a:r>
                    </a:p>
                  </a:txBody>
                  <a:tcPr marL="82296" marR="64008" marT="32004" marB="32004" anchor="ctr">
                    <a:solidFill>
                      <a:srgbClr val="A51C30"/>
                    </a:solidFill>
                  </a:tcPr>
                </a:tc>
                <a:tc>
                  <a:txBody>
                    <a:bodyPr wrap="square"/>
                    <a:lstStyle/>
                    <a:p>
                      <a:r>
                        <a:rPr sz="1300" b="1">
                          <a:solidFill>
                            <a:srgbClr val="FFFFFF"/>
                          </a:solidFill>
                          <a:latin typeface="Calibri"/>
                        </a:rPr>
                        <a:t>What it may see and run</a:t>
                      </a:r>
                    </a:p>
                  </a:txBody>
                  <a:tcPr marL="82296" marR="64008" marT="32004" marB="32004" anchor="ctr">
                    <a:solidFill>
                      <a:srgbClr val="A51C30"/>
                    </a:solidFill>
                  </a:tcPr>
                </a:tc>
              </a:tr>
              <a:tr h="559562">
                <a:tc>
                  <a:txBody>
                    <a:bodyPr wrap="square"/>
                    <a:lstStyle/>
                    <a:p>
                      <a:r>
                        <a:rPr sz="1400" b="1">
                          <a:solidFill>
                            <a:srgbClr val="6E1120"/>
                          </a:solidFill>
                          <a:latin typeface="Calibri"/>
                        </a:rPr>
                        <a:t>A user</a:t>
                      </a:r>
                    </a:p>
                  </a:txBody>
                  <a:tcPr marL="82296" marR="64008" marT="32004" marB="32004" anchor="ctr">
                    <a:solidFill>
                      <a:srgbClr val="FFFFFF"/>
                    </a:solidFill>
                  </a:tcPr>
                </a:tc>
                <a:tc>
                  <a:txBody>
                    <a:bodyPr wrap="square"/>
                    <a:lstStyle/>
                    <a:p>
                      <a:r>
                        <a:rPr sz="1400" b="0">
                          <a:solidFill>
                            <a:srgbClr val="1A1A1A"/>
                          </a:solidFill>
                          <a:latin typeface="Calibri"/>
                        </a:rPr>
                        <a:t>Web sign-in (lockout, throttling, password policy), then a session or a SAJHA JWT</a:t>
                      </a:r>
                    </a:p>
                  </a:txBody>
                  <a:tcPr marL="82296" marR="64008" marT="32004" marB="32004" anchor="ctr">
                    <a:solidFill>
                      <a:srgbClr val="FFFFFF"/>
                    </a:solidFill>
                  </a:tcPr>
                </a:tc>
                <a:tc>
                  <a:txBody>
                    <a:bodyPr wrap="square"/>
                    <a:lstStyle/>
                    <a:p>
                      <a:r>
                        <a:rPr sz="1400" b="0">
                          <a:solidFill>
                            <a:srgbClr val="1A1A1A"/>
                          </a:solidFill>
                          <a:latin typeface="Calibri"/>
                        </a:rPr>
                        <a:t>Its roles' tool permissions: read to see a tool, execute to run it</a:t>
                      </a:r>
                    </a:p>
                  </a:txBody>
                  <a:tcPr marL="82296" marR="64008" marT="32004" marB="32004" anchor="ctr">
                    <a:solidFill>
                      <a:srgbClr val="FFFFFF"/>
                    </a:solidFill>
                  </a:tcPr>
                </a:tc>
              </a:tr>
              <a:tr h="559562">
                <a:tc>
                  <a:txBody>
                    <a:bodyPr wrap="square"/>
                    <a:lstStyle/>
                    <a:p>
                      <a:r>
                        <a:rPr sz="1400" b="1">
                          <a:solidFill>
                            <a:srgbClr val="6E1120"/>
                          </a:solidFill>
                          <a:latin typeface="Calibri"/>
                        </a:rPr>
                        <a:t>An API key</a:t>
                      </a:r>
                    </a:p>
                  </a:txBody>
                  <a:tcPr marL="82296" marR="64008" marT="32004" marB="32004" anchor="ctr">
                    <a:solidFill>
                      <a:srgbClr val="F7F5F2"/>
                    </a:solidFill>
                  </a:tcPr>
                </a:tc>
                <a:tc>
                  <a:txBody>
                    <a:bodyPr wrap="square"/>
                    <a:lstStyle/>
                    <a:p>
                      <a:r>
                        <a:rPr sz="1400" b="0">
                          <a:solidFill>
                            <a:srgbClr val="1A1A1A"/>
                          </a:solidFill>
                          <a:latin typeface="Calibri"/>
                        </a:rPr>
                        <a:t>A key issued by an administrator, optionally with an expiry</a:t>
                      </a:r>
                    </a:p>
                  </a:txBody>
                  <a:tcPr marL="82296" marR="64008" marT="32004" marB="32004" anchor="ctr">
                    <a:solidFill>
                      <a:srgbClr val="F7F5F2"/>
                    </a:solidFill>
                  </a:tcPr>
                </a:tc>
                <a:tc>
                  <a:txBody>
                    <a:bodyPr wrap="square"/>
                    <a:lstStyle/>
                    <a:p>
                      <a:r>
                        <a:rPr sz="1400" b="0">
                          <a:solidFill>
                            <a:srgbClr val="1A1A1A"/>
                          </a:solidFill>
                          <a:latin typeface="Calibri"/>
                        </a:rPr>
                        <a:t>Its tool access mode: all, allowlist, denylist or regex</a:t>
                      </a:r>
                    </a:p>
                  </a:txBody>
                  <a:tcPr marL="82296" marR="64008" marT="32004" marB="32004" anchor="ctr">
                    <a:solidFill>
                      <a:srgbClr val="F7F5F2"/>
                    </a:solidFill>
                  </a:tcPr>
                </a:tc>
              </a:tr>
              <a:tr h="559562">
                <a:tc>
                  <a:txBody>
                    <a:bodyPr wrap="square"/>
                    <a:lstStyle/>
                    <a:p>
                      <a:r>
                        <a:rPr sz="1400" b="1">
                          <a:solidFill>
                            <a:srgbClr val="6E1120"/>
                          </a:solidFill>
                          <a:latin typeface="Calibri"/>
                        </a:rPr>
                        <a:t>An OAuth client</a:t>
                      </a:r>
                    </a:p>
                  </a:txBody>
                  <a:tcPr marL="82296" marR="64008" marT="32004" marB="32004" anchor="ctr">
                    <a:solidFill>
                      <a:srgbClr val="FFFFFF"/>
                    </a:solidFill>
                  </a:tcPr>
                </a:tc>
                <a:tc>
                  <a:txBody>
                    <a:bodyPr wrap="square"/>
                    <a:lstStyle/>
                    <a:p>
                      <a:r>
                        <a:rPr sz="1400" b="0">
                          <a:solidFill>
                            <a:srgbClr val="1A1A1A"/>
                          </a:solidFill>
                          <a:latin typeface="Calibri"/>
                        </a:rPr>
                        <a:t>An access token for /mcp from SAJHA's authorization server or yours</a:t>
                      </a:r>
                    </a:p>
                  </a:txBody>
                  <a:tcPr marL="82296" marR="64008" marT="32004" marB="32004" anchor="ctr">
                    <a:solidFill>
                      <a:srgbClr val="FFFFFF"/>
                    </a:solidFill>
                  </a:tcPr>
                </a:tc>
                <a:tc>
                  <a:txBody>
                    <a:bodyPr wrap="square"/>
                    <a:lstStyle/>
                    <a:p>
                      <a:r>
                        <a:rPr sz="1400" b="0">
                          <a:solidFill>
                            <a:srgbClr val="1A1A1A"/>
                          </a:solidFill>
                          <a:latin typeface="Calibri"/>
                        </a:rPr>
                        <a:t>Its scopes for methods, then the user's tool access on top</a:t>
                      </a:r>
                    </a:p>
                  </a:txBody>
                  <a:tcPr marL="82296" marR="64008" marT="32004" marB="32004" anchor="ctr">
                    <a:solidFill>
                      <a:srgbClr val="FFFFFF"/>
                    </a:solidFill>
                  </a:tcPr>
                </a:tc>
              </a:tr>
              <a:tr h="559562">
                <a:tc>
                  <a:txBody>
                    <a:bodyPr wrap="square"/>
                    <a:lstStyle/>
                    <a:p>
                      <a:r>
                        <a:rPr sz="1400" b="1">
                          <a:solidFill>
                            <a:srgbClr val="6E1120"/>
                          </a:solidFill>
                          <a:latin typeface="Calibri"/>
                        </a:rPr>
                        <a:t>Anonymous</a:t>
                      </a:r>
                    </a:p>
                  </a:txBody>
                  <a:tcPr marL="82296" marR="64008" marT="32004" marB="32004" anchor="ctr">
                    <a:solidFill>
                      <a:srgbClr val="F7F5F2"/>
                    </a:solidFill>
                  </a:tcPr>
                </a:tc>
                <a:tc>
                  <a:txBody>
                    <a:bodyPr wrap="square"/>
                    <a:lstStyle/>
                    <a:p>
                      <a:r>
                        <a:rPr sz="1400" b="0">
                          <a:solidFill>
                            <a:srgbClr val="1A1A1A"/>
                          </a:solidFill>
                          <a:latin typeface="Calibri"/>
                        </a:rPr>
                        <a:t>Nothing</a:t>
                      </a:r>
                    </a:p>
                  </a:txBody>
                  <a:tcPr marL="82296" marR="64008" marT="32004" marB="32004" anchor="ctr">
                    <a:solidFill>
                      <a:srgbClr val="F7F5F2"/>
                    </a:solidFill>
                  </a:tcPr>
                </a:tc>
                <a:tc>
                  <a:txBody>
                    <a:bodyPr wrap="square"/>
                    <a:lstStyle/>
                    <a:p>
                      <a:r>
                        <a:rPr sz="1400" b="0">
                          <a:solidFill>
                            <a:srgbClr val="1A1A1A"/>
                          </a:solidFill>
                          <a:latin typeface="Calibri"/>
                        </a:rPr>
                        <a:t>No tools, prompts or data files by default (mcp.anonymous.*)</a:t>
                      </a:r>
                    </a:p>
                  </a:txBody>
                  <a:tcPr marL="82296" marR="64008" marT="32004" marB="32004" anchor="ctr">
                    <a:solidFill>
                      <a:srgbClr val="F7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MCP ENDPOINT</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A1A1A"/>
                </a:solidFill>
                <a:latin typeface="Georgia"/>
              </a:rPr>
              <a:t>OAuth 2.1 on /mcp: SAJHA's own authorization server, or yours</a:t>
            </a:r>
          </a:p>
        </p:txBody>
      </p:sp>
      <p:sp>
        <p:nvSpPr>
          <p:cNvPr id="6" name="Rectangle 5"/>
          <p:cNvSpPr/>
          <p:nvPr/>
        </p:nvSpPr>
        <p:spPr>
          <a:xfrm>
            <a:off x="777240" y="1210754"/>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5 · Governance an enterprise can sign off</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25</a:t>
            </a:r>
          </a:p>
        </p:txBody>
      </p:sp>
      <p:sp>
        <p:nvSpPr>
          <p:cNvPr id="10" name="TextBox 9"/>
          <p:cNvSpPr txBox="1"/>
          <p:nvPr/>
        </p:nvSpPr>
        <p:spPr>
          <a:xfrm>
            <a:off x="777240" y="1338770"/>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An authorization server issues the tokens; a resource server accepts them. SAJHA can be both, or only the second behind your identity provider. It is off by default (mcp.auth.mode: off, optional or required); API keys and SAJHA's own tokens work in every mode.</a:t>
            </a:r>
          </a:p>
        </p:txBody>
      </p:sp>
      <p:sp>
        <p:nvSpPr>
          <p:cNvPr id="11" name="TextBox 10"/>
          <p:cNvSpPr txBox="1"/>
          <p:nvPr/>
        </p:nvSpPr>
        <p:spPr>
          <a:xfrm>
            <a:off x="777240" y="2236787"/>
            <a:ext cx="10637215" cy="4008564"/>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A1A1A"/>
                </a:solidFill>
                <a:latin typeface="Calibri"/>
              </a:rPr>
              <a:t>Resource server</a:t>
            </a:r>
          </a:p>
          <a:p>
            <a:pPr lvl="1">
              <a:lnSpc>
                <a:spcPct val="120000"/>
              </a:lnSpc>
              <a:spcBef>
                <a:spcPts val="0"/>
              </a:spcBef>
              <a:spcAft>
                <a:spcPts val="0"/>
              </a:spcAft>
            </a:pPr>
            <a:r>
              <a:rPr sz="1550" b="0">
                <a:solidFill>
                  <a:srgbClr val="6B7480"/>
                </a:solidFill>
                <a:latin typeface="Calibri"/>
              </a:rPr>
              <a:t>Protected-resource metadata (RFC 9728), audience-bound tokens: a token issued for another API is refused.</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Built-in authorization server</a:t>
            </a:r>
          </a:p>
          <a:p>
            <a:pPr lvl="1">
              <a:lnSpc>
                <a:spcPct val="120000"/>
              </a:lnSpc>
              <a:spcBef>
                <a:spcPts val="0"/>
              </a:spcBef>
              <a:spcAft>
                <a:spcPts val="0"/>
              </a:spcAft>
            </a:pPr>
            <a:r>
              <a:rPr sz="1550" b="0">
                <a:solidFill>
                  <a:srgbClr val="6B7480"/>
                </a:solidFill>
                <a:latin typeface="Calibri"/>
              </a:rPr>
              <a:t>Authorization code with PKCE S256, client ID metadata documents, optional dynamic registration, rotating refresh tokens with reuse detection.</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Tested by the suite</a:t>
            </a:r>
          </a:p>
          <a:p>
            <a:pPr lvl="1">
              <a:lnSpc>
                <a:spcPct val="120000"/>
              </a:lnSpc>
              <a:spcBef>
                <a:spcPts val="0"/>
              </a:spcBef>
              <a:spcAft>
                <a:spcPts val="0"/>
              </a:spcAft>
            </a:pPr>
            <a:r>
              <a:rPr sz="1550" b="0">
                <a:solidFill>
                  <a:srgbClr val="6B7480"/>
                </a:solidFill>
                <a:latin typeface="Calibri"/>
              </a:rPr>
              <a:t>The official authorization scenarios: 2/2 scenarios, 3 checks passed, 0 failed (Part 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POLICY</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A rule is a few lines of YAML, and it decides before the tool runs</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5 · Governance an enterprise can sign off</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26</a:t>
            </a:r>
          </a:p>
        </p:txBody>
      </p:sp>
      <p:sp>
        <p:nvSpPr>
          <p:cNvPr id="10" name="Rectangle 9"/>
          <p:cNvSpPr/>
          <p:nvPr/>
        </p:nvSpPr>
        <p:spPr>
          <a:xfrm>
            <a:off x="777240" y="1306639"/>
            <a:ext cx="4724869"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0663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379791"/>
            <a:ext cx="4450549"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config/policies/example-guardrails.yaml</a:t>
            </a:r>
          </a:p>
        </p:txBody>
      </p:sp>
      <p:sp>
        <p:nvSpPr>
          <p:cNvPr id="13" name="Rectangle 12"/>
          <p:cNvSpPr/>
          <p:nvPr/>
        </p:nvSpPr>
        <p:spPr>
          <a:xfrm>
            <a:off x="777240" y="1818703"/>
            <a:ext cx="4724869" cy="4426648"/>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1818703"/>
            <a:ext cx="41148" cy="44266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1965007"/>
            <a:ext cx="4340821" cy="4152328"/>
          </a:xfrm>
          <a:prstGeom prst="rect">
            <a:avLst/>
          </a:prstGeom>
          <a:noFill/>
        </p:spPr>
        <p:txBody>
          <a:bodyPr wrap="square" lIns="0" rIns="0" tIns="0" bIns="0" anchor="t">
            <a:spAutoFit/>
          </a:bodyPr>
          <a:lstStyle/>
          <a:p>
            <a:pPr algn="l">
              <a:lnSpc>
                <a:spcPct val="110000"/>
              </a:lnSpc>
              <a:spcBef>
                <a:spcPts val="0"/>
              </a:spcBef>
              <a:spcAft>
                <a:spcPts val="200"/>
              </a:spcAft>
            </a:pPr>
            <a:r>
              <a:rPr sz="1250" b="0" i="0">
                <a:solidFill>
                  <a:srgbClr val="1A1A1A"/>
                </a:solidFill>
                <a:latin typeface="Consolas"/>
              </a:rPr>
              <a:t>- id: sql-read-only</a:t>
            </a:r>
          </a:p>
          <a:p>
            <a:pPr>
              <a:lnSpc>
                <a:spcPct val="110000"/>
              </a:lnSpc>
              <a:spcBef>
                <a:spcPts val="0"/>
              </a:spcBef>
              <a:spcAft>
                <a:spcPts val="200"/>
              </a:spcAft>
            </a:pPr>
            <a:r>
              <a:rPr sz="1250" b="0" i="0">
                <a:solidFill>
                  <a:srgbClr val="1A1A1A"/>
                </a:solidFill>
                <a:latin typeface="Consolas"/>
              </a:rPr>
              <a:t>  description: Queries may not contain DDL</a:t>
            </a:r>
          </a:p>
          <a:p>
            <a:pPr>
              <a:lnSpc>
                <a:spcPct val="110000"/>
              </a:lnSpc>
              <a:spcBef>
                <a:spcPts val="0"/>
              </a:spcBef>
              <a:spcAft>
                <a:spcPts val="200"/>
              </a:spcAft>
            </a:pPr>
            <a:r>
              <a:rPr sz="1250" b="0" i="0">
                <a:solidFill>
                  <a:srgbClr val="1A1A1A"/>
                </a:solidFill>
                <a:latin typeface="Consolas"/>
              </a:rPr>
              <a:t>      or DML keywords, and stay short.</a:t>
            </a:r>
          </a:p>
          <a:p>
            <a:pPr>
              <a:lnSpc>
                <a:spcPct val="110000"/>
              </a:lnSpc>
              <a:spcBef>
                <a:spcPts val="0"/>
              </a:spcBef>
              <a:spcAft>
                <a:spcPts val="200"/>
              </a:spcAft>
            </a:pPr>
            <a:r>
              <a:rPr sz="1250" b="0" i="0">
                <a:solidFill>
                  <a:srgbClr val="1A1A1A"/>
                </a:solidFill>
                <a:latin typeface="Consolas"/>
              </a:rPr>
              <a:t>  match: {tools: ["duckdb_*",</a:t>
            </a:r>
          </a:p>
          <a:p>
            <a:pPr>
              <a:lnSpc>
                <a:spcPct val="110000"/>
              </a:lnSpc>
              <a:spcBef>
                <a:spcPts val="0"/>
              </a:spcBef>
              <a:spcAft>
                <a:spcPts val="200"/>
              </a:spcAft>
            </a:pPr>
            <a:r>
              <a:rPr sz="1250" b="0" i="0">
                <a:solidFill>
                  <a:srgbClr val="1A1A1A"/>
                </a:solidFill>
                <a:latin typeface="Consolas"/>
              </a:rPr>
              <a:t>      "sqlselect_*"]}</a:t>
            </a:r>
          </a:p>
          <a:p>
            <a:pPr>
              <a:lnSpc>
                <a:spcPct val="110000"/>
              </a:lnSpc>
              <a:spcBef>
                <a:spcPts val="0"/>
              </a:spcBef>
              <a:spcAft>
                <a:spcPts val="200"/>
              </a:spcAft>
            </a:pPr>
            <a:r>
              <a:rPr sz="1250" b="0" i="0">
                <a:solidFill>
                  <a:srgbClr val="1A1A1A"/>
                </a:solidFill>
                <a:latin typeface="Consolas"/>
              </a:rPr>
              <a:t>  constraints:</a:t>
            </a:r>
          </a:p>
          <a:p>
            <a:pPr>
              <a:lnSpc>
                <a:spcPct val="110000"/>
              </a:lnSpc>
              <a:spcBef>
                <a:spcPts val="0"/>
              </a:spcBef>
              <a:spcAft>
                <a:spcPts val="200"/>
              </a:spcAft>
            </a:pPr>
            <a:r>
              <a:rPr sz="1250" b="0" i="0">
                <a:solidFill>
                  <a:srgbClr val="1A1A1A"/>
                </a:solidFill>
                <a:latin typeface="Consolas"/>
              </a:rPr>
              <a:t>    sql: {not_pattern: "(?i)\\b(drop|delete|</a:t>
            </a:r>
          </a:p>
          <a:p>
            <a:pPr>
              <a:lnSpc>
                <a:spcPct val="110000"/>
              </a:lnSpc>
              <a:spcBef>
                <a:spcPts val="0"/>
              </a:spcBef>
              <a:spcAft>
                <a:spcPts val="200"/>
              </a:spcAft>
            </a:pPr>
            <a:r>
              <a:rPr sz="1250" b="0" i="0">
                <a:solidFill>
                  <a:srgbClr val="1A1A1A"/>
                </a:solidFill>
                <a:latin typeface="Consolas"/>
              </a:rPr>
              <a:t>        update|insert|alter|truncate|attach)</a:t>
            </a:r>
          </a:p>
          <a:p>
            <a:pPr>
              <a:lnSpc>
                <a:spcPct val="110000"/>
              </a:lnSpc>
              <a:spcBef>
                <a:spcPts val="0"/>
              </a:spcBef>
              <a:spcAft>
                <a:spcPts val="200"/>
              </a:spcAft>
            </a:pPr>
            <a:r>
              <a:rPr sz="1250" b="0" i="0">
                <a:solidFill>
                  <a:srgbClr val="1A1A1A"/>
                </a:solidFill>
                <a:latin typeface="Consolas"/>
              </a:rPr>
              <a:t>        \\b", max_length: 4000}</a:t>
            </a:r>
          </a:p>
          <a:p>
            <a:pPr>
              <a:lnSpc>
                <a:spcPct val="110000"/>
              </a:lnSpc>
              <a:spcBef>
                <a:spcPts val="0"/>
              </a:spcBef>
              <a:spcAft>
                <a:spcPts val="200"/>
              </a:spcAft>
            </a:pPr>
            <a:r>
              <a:rPr sz="1250" b="0" i="0">
                <a:solidFill>
                  <a:srgbClr val="1A1A1A"/>
                </a:solidFill>
                <a:latin typeface="Consolas"/>
              </a:rPr>
              <a:t>    query: {not_pattern: "(?i)\\b(drop|delet</a:t>
            </a:r>
          </a:p>
          <a:p>
            <a:pPr>
              <a:lnSpc>
                <a:spcPct val="110000"/>
              </a:lnSpc>
              <a:spcBef>
                <a:spcPts val="0"/>
              </a:spcBef>
              <a:spcAft>
                <a:spcPts val="200"/>
              </a:spcAft>
            </a:pPr>
            <a:r>
              <a:rPr sz="1250" b="0" i="0">
                <a:solidFill>
                  <a:srgbClr val="1A1A1A"/>
                </a:solidFill>
                <a:latin typeface="Consolas"/>
              </a:rPr>
              <a:t>        e|update|insert|alter|truncate|attac</a:t>
            </a:r>
          </a:p>
          <a:p>
            <a:pPr>
              <a:lnSpc>
                <a:spcPct val="110000"/>
              </a:lnSpc>
              <a:spcBef>
                <a:spcPts val="0"/>
              </a:spcBef>
              <a:spcAft>
                <a:spcPts val="200"/>
              </a:spcAft>
            </a:pPr>
            <a:r>
              <a:rPr sz="1250" b="0" i="0">
                <a:solidFill>
                  <a:srgbClr val="1A1A1A"/>
                </a:solidFill>
                <a:latin typeface="Consolas"/>
              </a:rPr>
              <a:t>        h)\\b", max_length: 4000}</a:t>
            </a:r>
          </a:p>
          <a:p>
            <a:pPr>
              <a:lnSpc>
                <a:spcPct val="110000"/>
              </a:lnSpc>
              <a:spcBef>
                <a:spcPts val="0"/>
              </a:spcBef>
              <a:spcAft>
                <a:spcPts val="200"/>
              </a:spcAft>
            </a:pPr>
            <a:r>
              <a:rPr sz="1250" b="0" i="0">
                <a:solidFill>
                  <a:srgbClr val="1A1A1A"/>
                </a:solidFill>
                <a:latin typeface="Consolas"/>
              </a:rPr>
              <a:t/>
            </a:r>
          </a:p>
          <a:p>
            <a:pPr>
              <a:lnSpc>
                <a:spcPct val="110000"/>
              </a:lnSpc>
              <a:spcBef>
                <a:spcPts val="0"/>
              </a:spcBef>
              <a:spcAft>
                <a:spcPts val="200"/>
              </a:spcAft>
            </a:pPr>
            <a:r>
              <a:rPr sz="1250" b="0" i="0">
                <a:solidFill>
                  <a:srgbClr val="6B7480"/>
                </a:solidFill>
                <a:latin typeface="Consolas"/>
              </a:rPr>
              <a:t># deny wins over allow; a violated constraint</a:t>
            </a:r>
          </a:p>
          <a:p>
            <a:pPr>
              <a:lnSpc>
                <a:spcPct val="110000"/>
              </a:lnSpc>
              <a:spcBef>
                <a:spcPts val="0"/>
              </a:spcBef>
              <a:spcAft>
                <a:spcPts val="200"/>
              </a:spcAft>
            </a:pPr>
            <a:r>
              <a:rPr sz="1250" b="0" i="0">
                <a:solidFill>
                  <a:srgbClr val="6B7480"/>
                </a:solidFill>
                <a:latin typeface="Consolas"/>
              </a:rPr>
              <a:t># denies with the rule's name</a:t>
            </a:r>
          </a:p>
        </p:txBody>
      </p:sp>
      <p:sp>
        <p:nvSpPr>
          <p:cNvPr id="16" name="Rectangle 15"/>
          <p:cNvSpPr/>
          <p:nvPr/>
        </p:nvSpPr>
        <p:spPr>
          <a:xfrm>
            <a:off x="5867869" y="1306639"/>
            <a:ext cx="5546585"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67869" y="130663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2461" y="1379791"/>
            <a:ext cx="5272265"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The rule language</a:t>
            </a:r>
          </a:p>
        </p:txBody>
      </p:sp>
      <p:sp>
        <p:nvSpPr>
          <p:cNvPr id="19" name="TextBox 18"/>
          <p:cNvSpPr txBox="1"/>
          <p:nvPr/>
        </p:nvSpPr>
        <p:spPr>
          <a:xfrm>
            <a:off x="5867869" y="1818703"/>
            <a:ext cx="5546585" cy="4426648"/>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A1A1A"/>
                </a:solidFill>
                <a:latin typeface="Calibri"/>
              </a:rPr>
              <a:t>Match</a:t>
            </a:r>
          </a:p>
          <a:p>
            <a:pPr lvl="1">
              <a:lnSpc>
                <a:spcPct val="120000"/>
              </a:lnSpc>
              <a:spcBef>
                <a:spcPts val="0"/>
              </a:spcBef>
              <a:spcAft>
                <a:spcPts val="0"/>
              </a:spcAft>
            </a:pPr>
            <a:r>
              <a:rPr sz="1450" b="0">
                <a:solidFill>
                  <a:srgbClr val="6B7480"/>
                </a:solidFill>
                <a:latin typeface="Calibri"/>
              </a:rPr>
              <a:t>Tool names and groups, annotations such as destructiveHint, the caller (anonymous, user, role, API key), the path, a time window, argument values.</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Decide</a:t>
            </a:r>
          </a:p>
          <a:p>
            <a:pPr lvl="1">
              <a:lnSpc>
                <a:spcPct val="120000"/>
              </a:lnSpc>
              <a:spcBef>
                <a:spcPts val="0"/>
              </a:spcBef>
              <a:spcAft>
                <a:spcPts val="0"/>
              </a:spcAft>
            </a:pPr>
            <a:r>
              <a:rPr sz="1450" b="0">
                <a:solidFill>
                  <a:srgbClr val="6B7480"/>
                </a:solidFill>
                <a:latin typeface="Calibri"/>
              </a:rPr>
              <a:t>allow, deny with a reason, or require_approval by the caller or an administrator; deny overrides; default_effect: deny turns it into an allowlist.</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Oblige</a:t>
            </a:r>
          </a:p>
          <a:p>
            <a:pPr lvl="1">
              <a:lnSpc>
                <a:spcPct val="120000"/>
              </a:lnSpc>
              <a:spcBef>
                <a:spcPts val="0"/>
              </a:spcBef>
              <a:spcAft>
                <a:spcPts val="0"/>
              </a:spcAft>
            </a:pPr>
            <a:r>
              <a:rPr sz="1450" b="0">
                <a:solidFill>
                  <a:srgbClr val="6B7480"/>
                </a:solidFill>
                <a:latin typeface="Calibri"/>
              </a:rPr>
              <a:t>Argument constraints, rate limits and quotas shared by every worker, redaction of personal data, screening of results for injected instructions.</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Operate</a:t>
            </a:r>
          </a:p>
          <a:p>
            <a:pPr lvl="1">
              <a:lnSpc>
                <a:spcPct val="120000"/>
              </a:lnSpc>
              <a:spcBef>
                <a:spcPts val="0"/>
              </a:spcBef>
              <a:spcAft>
                <a:spcPts val="0"/>
              </a:spcAft>
            </a:pPr>
            <a:r>
              <a:rPr sz="1450" b="0">
                <a:solidFill>
                  <a:srgbClr val="6B7480"/>
                </a:solidFill>
                <a:latin typeface="Calibri"/>
              </a:rPr>
              <a:t>Files reload on change; every decision that is not allow is audited; the Policies page has a test bench.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POLICY, EVALUATED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The shipped example policy, evaluated on four calls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5 · Governance an enterprise can sign off</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27</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The same engine sits in BaseMCPTool.execute_with_tracking, so these decisions would be the same over MCP, REST, the command line or Ask SAJHA.</a:t>
            </a:r>
          </a:p>
        </p:txBody>
      </p:sp>
      <p:graphicFrame>
        <p:nvGraphicFramePr>
          <p:cNvPr id="12" name="Table 11"/>
          <p:cNvGraphicFramePr>
            <a:graphicFrameLocks noGrp="1"/>
          </p:cNvGraphicFramePr>
          <p:nvPr/>
        </p:nvGraphicFramePr>
        <p:xfrm>
          <a:off x="777240" y="1386967"/>
          <a:ext cx="10637213" cy="3231578"/>
        </p:xfrm>
        <a:graphic>
          <a:graphicData uri="http://schemas.openxmlformats.org/drawingml/2006/table">
            <a:tbl>
              <a:tblPr firstRow="1">
                <a:tableStyleId>{5C22544A-7EE6-4342-B048-85BDC9FD1C3A}</a:tableStyleId>
              </a:tblPr>
              <a:tblGrid>
                <a:gridCol w="1297221"/>
                <a:gridCol w="3761941"/>
                <a:gridCol w="1686387"/>
                <a:gridCol w="3891664"/>
              </a:tblGrid>
              <a:tr h="318579">
                <a:tc>
                  <a:txBody>
                    <a:bodyPr wrap="square"/>
                    <a:lstStyle/>
                    <a:p>
                      <a:r>
                        <a:rPr sz="1300" b="1">
                          <a:solidFill>
                            <a:srgbClr val="FFFFFF"/>
                          </a:solidFill>
                          <a:latin typeface="Calibri"/>
                        </a:rPr>
                        <a:t>Caller</a:t>
                      </a:r>
                    </a:p>
                  </a:txBody>
                  <a:tcPr marL="82296" marR="64008" marT="32004" marB="32004" anchor="ctr">
                    <a:solidFill>
                      <a:srgbClr val="A51C30"/>
                    </a:solidFill>
                  </a:tcPr>
                </a:tc>
                <a:tc>
                  <a:txBody>
                    <a:bodyPr wrap="square"/>
                    <a:lstStyle/>
                    <a:p>
                      <a:r>
                        <a:rPr sz="1300" b="1">
                          <a:solidFill>
                            <a:srgbClr val="FFFFFF"/>
                          </a:solidFill>
                          <a:latin typeface="Calibri"/>
                        </a:rPr>
                        <a:t>Tool and arguments</a:t>
                      </a:r>
                    </a:p>
                  </a:txBody>
                  <a:tcPr marL="82296" marR="64008" marT="32004" marB="32004" anchor="ctr">
                    <a:solidFill>
                      <a:srgbClr val="A51C30"/>
                    </a:solidFill>
                  </a:tcPr>
                </a:tc>
                <a:tc>
                  <a:txBody>
                    <a:bodyPr wrap="square"/>
                    <a:lstStyle/>
                    <a:p>
                      <a:r>
                        <a:rPr sz="1300" b="1">
                          <a:solidFill>
                            <a:srgbClr val="FFFFFF"/>
                          </a:solidFill>
                          <a:latin typeface="Calibri"/>
                        </a:rPr>
                        <a:t>Decision</a:t>
                      </a:r>
                    </a:p>
                  </a:txBody>
                  <a:tcPr marL="82296" marR="64008" marT="32004" marB="32004" anchor="ctr">
                    <a:solidFill>
                      <a:srgbClr val="A51C30"/>
                    </a:solidFill>
                  </a:tcPr>
                </a:tc>
                <a:tc>
                  <a:txBody>
                    <a:bodyPr wrap="square"/>
                    <a:lstStyle/>
                    <a:p>
                      <a:r>
                        <a:rPr sz="1300" b="1">
                          <a:solidFill>
                            <a:srgbClr val="FFFFFF"/>
                          </a:solidFill>
                          <a:latin typeface="Calibri"/>
                        </a:rPr>
                        <a:t>Rule and reason</a:t>
                      </a:r>
                    </a:p>
                  </a:txBody>
                  <a:tcPr marL="82296" marR="64008" marT="32004" marB="32004" anchor="ctr">
                    <a:solidFill>
                      <a:srgbClr val="A51C30"/>
                    </a:solidFill>
                  </a:tcPr>
                </a:tc>
              </a:tr>
              <a:tr h="784479">
                <a:tc>
                  <a:txBody>
                    <a:bodyPr wrap="square"/>
                    <a:lstStyle/>
                    <a:p>
                      <a:r>
                        <a:rPr sz="1400" b="1">
                          <a:solidFill>
                            <a:srgbClr val="6E1120"/>
                          </a:solidFill>
                          <a:latin typeface="Calibri"/>
                        </a:rPr>
                        <a:t>alice</a:t>
                      </a:r>
                    </a:p>
                  </a:txBody>
                  <a:tcPr marL="82296" marR="64008" marT="32004" marB="32004" anchor="ctr">
                    <a:solidFill>
                      <a:srgbClr val="FFFFFF"/>
                    </a:solidFill>
                  </a:tcPr>
                </a:tc>
                <a:tc>
                  <a:txBody>
                    <a:bodyPr wrap="square"/>
                    <a:lstStyle/>
                    <a:p>
                      <a:r>
                        <a:rPr sz="1400" b="0">
                          <a:solidFill>
                            <a:srgbClr val="1A1A1A"/>
                          </a:solidFill>
                          <a:latin typeface="Calibri"/>
                        </a:rPr>
                        <a:t>duckdb_sql {"sql": "SELECT region, SUM(amount) FROM orders GROUP BY region"}</a:t>
                      </a:r>
                    </a:p>
                  </a:txBody>
                  <a:tcPr marL="82296" marR="64008" marT="32004" marB="32004" anchor="ctr">
                    <a:solidFill>
                      <a:srgbClr val="FFFFFF"/>
                    </a:solidFill>
                  </a:tcPr>
                </a:tc>
                <a:tc>
                  <a:txBody>
                    <a:bodyPr wrap="square"/>
                    <a:lstStyle/>
                    <a:p>
                      <a:r>
                        <a:rPr sz="1400" b="0">
                          <a:solidFill>
                            <a:srgbClr val="1A1A1A"/>
                          </a:solidFill>
                          <a:latin typeface="Calibri"/>
                        </a:rPr>
                        <a:t>allow + redact</a:t>
                      </a:r>
                    </a:p>
                  </a:txBody>
                  <a:tcPr marL="82296" marR="64008" marT="32004" marB="32004" anchor="ctr">
                    <a:solidFill>
                      <a:srgbClr val="FFFFFF"/>
                    </a:solidFill>
                  </a:tcPr>
                </a:tc>
                <a:tc>
                  <a:txBody>
                    <a:bodyPr wrap="square"/>
                    <a:lstStyle/>
                    <a:p>
                      <a:r>
                        <a:rPr sz="1400" b="0">
                          <a:solidFill>
                            <a:srgbClr val="1A1A1A"/>
                          </a:solidFill>
                          <a:latin typeface="Calibri"/>
                        </a:rPr>
                        <a:t>no deciding rule: allowed; obligations still apply</a:t>
                      </a:r>
                    </a:p>
                  </a:txBody>
                  <a:tcPr marL="82296" marR="64008" marT="32004" marB="32004" anchor="ctr">
                    <a:solidFill>
                      <a:srgbClr val="FFFFFF"/>
                    </a:solidFill>
                  </a:tcPr>
                </a:tc>
              </a:tr>
              <a:tr h="784479">
                <a:tc>
                  <a:txBody>
                    <a:bodyPr wrap="square"/>
                    <a:lstStyle/>
                    <a:p>
                      <a:r>
                        <a:rPr sz="1400" b="1">
                          <a:solidFill>
                            <a:srgbClr val="6E1120"/>
                          </a:solidFill>
                          <a:latin typeface="Calibri"/>
                        </a:rPr>
                        <a:t>alice</a:t>
                      </a:r>
                    </a:p>
                  </a:txBody>
                  <a:tcPr marL="82296" marR="64008" marT="32004" marB="32004" anchor="ctr">
                    <a:solidFill>
                      <a:srgbClr val="F7F5F2"/>
                    </a:solidFill>
                  </a:tcPr>
                </a:tc>
                <a:tc>
                  <a:txBody>
                    <a:bodyPr wrap="square"/>
                    <a:lstStyle/>
                    <a:p>
                      <a:r>
                        <a:rPr sz="1400" b="0">
                          <a:solidFill>
                            <a:srgbClr val="1A1A1A"/>
                          </a:solidFill>
                          <a:latin typeface="Calibri"/>
                        </a:rPr>
                        <a:t>duckdb_sql {"sql": "SELECT 1; DROP TABLE orders"}</a:t>
                      </a:r>
                    </a:p>
                  </a:txBody>
                  <a:tcPr marL="82296" marR="64008" marT="32004" marB="32004" anchor="ctr">
                    <a:solidFill>
                      <a:srgbClr val="F7F5F2"/>
                    </a:solidFill>
                  </a:tcPr>
                </a:tc>
                <a:tc>
                  <a:txBody>
                    <a:bodyPr wrap="square"/>
                    <a:lstStyle/>
                    <a:p>
                      <a:r>
                        <a:rPr sz="1400" b="0">
                          <a:solidFill>
                            <a:srgbClr val="1A1A1A"/>
                          </a:solidFill>
                          <a:latin typeface="Calibri"/>
                        </a:rPr>
                        <a:t>deny</a:t>
                      </a:r>
                    </a:p>
                  </a:txBody>
                  <a:tcPr marL="82296" marR="64008" marT="32004" marB="32004" anchor="ctr">
                    <a:solidFill>
                      <a:srgbClr val="F7F5F2"/>
                    </a:solidFill>
                  </a:tcPr>
                </a:tc>
                <a:tc>
                  <a:txBody>
                    <a:bodyPr wrap="square"/>
                    <a:lstStyle/>
                    <a:p>
                      <a:r>
                        <a:rPr sz="1400" b="0">
                          <a:solidFill>
                            <a:srgbClr val="1A1A1A"/>
                          </a:solidFill>
                          <a:latin typeface="Calibri"/>
                        </a:rPr>
                        <a:t>sql-read-only: argument constraint: 'sql' matches a forbidden pattern (rule example-guardrails/sql-read-only)</a:t>
                      </a:r>
                    </a:p>
                  </a:txBody>
                  <a:tcPr marL="82296" marR="64008" marT="32004" marB="32004" anchor="ctr">
                    <a:solidFill>
                      <a:srgbClr val="F7F5F2"/>
                    </a:solidFill>
                  </a:tcPr>
                </a:tc>
              </a:tr>
              <a:tr h="559562">
                <a:tc>
                  <a:txBody>
                    <a:bodyPr wrap="square"/>
                    <a:lstStyle/>
                    <a:p>
                      <a:r>
                        <a:rPr sz="1400" b="1">
                          <a:solidFill>
                            <a:srgbClr val="6E1120"/>
                          </a:solidFill>
                          <a:latin typeface="Calibri"/>
                        </a:rPr>
                        <a:t>anonymous</a:t>
                      </a:r>
                    </a:p>
                  </a:txBody>
                  <a:tcPr marL="82296" marR="64008" marT="32004" marB="32004" anchor="ctr">
                    <a:solidFill>
                      <a:srgbClr val="FFFFFF"/>
                    </a:solidFill>
                  </a:tcPr>
                </a:tc>
                <a:tc>
                  <a:txBody>
                    <a:bodyPr wrap="square"/>
                    <a:lstStyle/>
                    <a:p>
                      <a:r>
                        <a:rPr sz="1400" b="0">
                          <a:solidFill>
                            <a:srgbClr val="1A1A1A"/>
                          </a:solidFill>
                          <a:latin typeface="Calibri"/>
                        </a:rPr>
                        <a:t>github_create_issue {"repo": "acme/app", "title": "x"}</a:t>
                      </a:r>
                    </a:p>
                  </a:txBody>
                  <a:tcPr marL="82296" marR="64008" marT="32004" marB="32004" anchor="ctr">
                    <a:solidFill>
                      <a:srgbClr val="FFFFFF"/>
                    </a:solidFill>
                  </a:tcPr>
                </a:tc>
                <a:tc>
                  <a:txBody>
                    <a:bodyPr wrap="square"/>
                    <a:lstStyle/>
                    <a:p>
                      <a:r>
                        <a:rPr sz="1400" b="0">
                          <a:solidFill>
                            <a:srgbClr val="1A1A1A"/>
                          </a:solidFill>
                          <a:latin typeface="Calibri"/>
                        </a:rPr>
                        <a:t>deny</a:t>
                      </a:r>
                    </a:p>
                  </a:txBody>
                  <a:tcPr marL="82296" marR="64008" marT="32004" marB="32004" anchor="ctr">
                    <a:solidFill>
                      <a:srgbClr val="FFFFFF"/>
                    </a:solidFill>
                  </a:tcPr>
                </a:tc>
                <a:tc>
                  <a:txBody>
                    <a:bodyPr wrap="square"/>
                    <a:lstStyle/>
                    <a:p>
                      <a:r>
                        <a:rPr sz="1400" b="0">
                          <a:solidFill>
                            <a:srgbClr val="1A1A1A"/>
                          </a:solidFill>
                          <a:latin typeface="Calibri"/>
                        </a:rPr>
                        <a:t>no-anonymous-destructive: Sign in to run tools that change or delete data.</a:t>
                      </a:r>
                    </a:p>
                  </a:txBody>
                  <a:tcPr marL="82296" marR="64008" marT="32004" marB="32004" anchor="ctr">
                    <a:solidFill>
                      <a:srgbClr val="FFFFFF"/>
                    </a:solidFill>
                  </a:tcPr>
                </a:tc>
              </a:tr>
              <a:tr h="784479">
                <a:tc>
                  <a:txBody>
                    <a:bodyPr wrap="square"/>
                    <a:lstStyle/>
                    <a:p>
                      <a:r>
                        <a:rPr sz="1400" b="1">
                          <a:solidFill>
                            <a:srgbClr val="6E1120"/>
                          </a:solidFill>
                          <a:latin typeface="Calibri"/>
                        </a:rPr>
                        <a:t>alice</a:t>
                      </a:r>
                    </a:p>
                  </a:txBody>
                  <a:tcPr marL="82296" marR="64008" marT="32004" marB="32004" anchor="ctr">
                    <a:solidFill>
                      <a:srgbClr val="F7F5F2"/>
                    </a:solidFill>
                  </a:tcPr>
                </a:tc>
                <a:tc>
                  <a:txBody>
                    <a:bodyPr wrap="square"/>
                    <a:lstStyle/>
                    <a:p>
                      <a:r>
                        <a:rPr sz="1400" b="0">
                          <a:solidFill>
                            <a:srgbClr val="1A1A1A"/>
                          </a:solidFill>
                          <a:latin typeface="Calibri"/>
                        </a:rPr>
                        <a:t>github_create_issue {"repo": "acme/app", "title": "x"}</a:t>
                      </a:r>
                    </a:p>
                  </a:txBody>
                  <a:tcPr marL="82296" marR="64008" marT="32004" marB="32004" anchor="ctr">
                    <a:solidFill>
                      <a:srgbClr val="F7F5F2"/>
                    </a:solidFill>
                  </a:tcPr>
                </a:tc>
                <a:tc>
                  <a:txBody>
                    <a:bodyPr wrap="square"/>
                    <a:lstStyle/>
                    <a:p>
                      <a:r>
                        <a:rPr sz="1400" b="0">
                          <a:solidFill>
                            <a:srgbClr val="1A1A1A"/>
                          </a:solidFill>
                          <a:latin typeface="Calibri"/>
                        </a:rPr>
                        <a:t>require_approval + redact</a:t>
                      </a:r>
                    </a:p>
                  </a:txBody>
                  <a:tcPr marL="82296" marR="64008" marT="32004" marB="32004" anchor="ctr">
                    <a:solidFill>
                      <a:srgbClr val="F7F5F2"/>
                    </a:solidFill>
                  </a:tcPr>
                </a:tc>
                <a:tc>
                  <a:txBody>
                    <a:bodyPr wrap="square"/>
                    <a:lstStyle/>
                    <a:p>
                      <a:r>
                        <a:rPr sz="1400" b="0">
                          <a:solidFill>
                            <a:srgbClr val="1A1A1A"/>
                          </a:solidFill>
                          <a:latin typeface="Calibri"/>
                        </a:rPr>
                        <a:t>approve-destructive: This tool can change or delete data</a:t>
                      </a:r>
                    </a:p>
                  </a:txBody>
                  <a:tcPr marL="82296" marR="64008" marT="32004" marB="32004" anchor="ctr">
                    <a:solidFill>
                      <a:srgbClr val="F7F5F2"/>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AUDIT, TAMPERED WITH</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Change one stored field and the audit says which record and which field</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5 · Governance an enterprise can sign off</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28</a:t>
            </a:r>
          </a:p>
        </p:txBody>
      </p:sp>
      <p:sp>
        <p:nvSpPr>
          <p:cNvPr id="10" name="Rectangle 9"/>
          <p:cNvSpPr/>
          <p:nvPr/>
        </p:nvSpPr>
        <p:spPr>
          <a:xfrm>
            <a:off x="777240" y="129057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29057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36372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Captured while building this deck</a:t>
            </a:r>
          </a:p>
        </p:txBody>
      </p:sp>
      <p:sp>
        <p:nvSpPr>
          <p:cNvPr id="13" name="Rectangle 12"/>
          <p:cNvSpPr/>
          <p:nvPr/>
        </p:nvSpPr>
        <p:spPr>
          <a:xfrm>
            <a:off x="777240" y="1802638"/>
            <a:ext cx="5135727" cy="4442714"/>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1802638"/>
            <a:ext cx="41148" cy="444271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1948942"/>
            <a:ext cx="4751679" cy="4168394"/>
          </a:xfrm>
          <a:prstGeom prst="rect">
            <a:avLst/>
          </a:prstGeom>
          <a:noFill/>
        </p:spPr>
        <p:txBody>
          <a:bodyPr wrap="square" lIns="0" rIns="0" tIns="0" bIns="0" anchor="t">
            <a:spAutoFit/>
          </a:bodyPr>
          <a:lstStyle/>
          <a:p>
            <a:pPr algn="l">
              <a:lnSpc>
                <a:spcPct val="110000"/>
              </a:lnSpc>
              <a:spcBef>
                <a:spcPts val="0"/>
              </a:spcBef>
              <a:spcAft>
                <a:spcPts val="200"/>
              </a:spcAft>
            </a:pPr>
            <a:r>
              <a:rPr sz="1250" b="0" i="0">
                <a:solidFill>
                  <a:srgbClr val="6B7480"/>
                </a:solidFill>
                <a:latin typeface="Consolas"/>
              </a:rPr>
              <a:t># write a short chain, signed every 5 records</a:t>
            </a:r>
          </a:p>
          <a:p>
            <a:pPr>
              <a:lnSpc>
                <a:spcPct val="110000"/>
              </a:lnSpc>
              <a:spcBef>
                <a:spcPts val="0"/>
              </a:spcBef>
              <a:spcAft>
                <a:spcPts val="200"/>
              </a:spcAft>
            </a:pPr>
            <a:r>
              <a:rPr sz="1250" b="1" i="0">
                <a:solidFill>
                  <a:srgbClr val="6E1120"/>
                </a:solidFill>
                <a:latin typeface="Consolas"/>
              </a:rPr>
              <a:t>✓ verify: 17 records, 3 signed anchors, ok=True</a:t>
            </a:r>
          </a:p>
          <a:p>
            <a:pPr>
              <a:lnSpc>
                <a:spcPct val="110000"/>
              </a:lnSpc>
              <a:spcBef>
                <a:spcPts val="0"/>
              </a:spcBef>
              <a:spcAft>
                <a:spcPts val="200"/>
              </a:spcAft>
            </a:pPr>
            <a:r>
              <a:rPr sz="1250" b="0" i="0">
                <a:solidFill>
                  <a:srgbClr val="1A1A1A"/>
                </a:solidFill>
                <a:latin typeface="Consolas"/>
              </a:rPr>
              <a:t/>
            </a:r>
          </a:p>
          <a:p>
            <a:pPr>
              <a:lnSpc>
                <a:spcPct val="110000"/>
              </a:lnSpc>
              <a:spcBef>
                <a:spcPts val="0"/>
              </a:spcBef>
              <a:spcAft>
                <a:spcPts val="200"/>
              </a:spcAft>
            </a:pPr>
            <a:r>
              <a:rPr sz="1250" b="0" i="0">
                <a:solidFill>
                  <a:srgbClr val="6B7480"/>
                </a:solidFill>
                <a:latin typeface="Consolas"/>
              </a:rPr>
              <a:t># change one stored outcome, deny -&gt; ok</a:t>
            </a:r>
          </a:p>
          <a:p>
            <a:pPr>
              <a:lnSpc>
                <a:spcPct val="110000"/>
              </a:lnSpc>
              <a:spcBef>
                <a:spcPts val="0"/>
              </a:spcBef>
              <a:spcAft>
                <a:spcPts val="200"/>
              </a:spcAft>
            </a:pPr>
            <a:r>
              <a:rPr sz="1250" b="0" i="0">
                <a:solidFill>
                  <a:srgbClr val="1A1A1A"/>
                </a:solidFill>
                <a:latin typeface="Consolas"/>
              </a:rPr>
              <a:t>UPDATE audit_chain SET outcome='ok' WHERE seq=9</a:t>
            </a:r>
          </a:p>
          <a:p>
            <a:pPr>
              <a:lnSpc>
                <a:spcPct val="110000"/>
              </a:lnSpc>
              <a:spcBef>
                <a:spcPts val="0"/>
              </a:spcBef>
              <a:spcAft>
                <a:spcPts val="200"/>
              </a:spcAft>
            </a:pPr>
            <a:r>
              <a:rPr sz="1250" b="0" i="0">
                <a:solidFill>
                  <a:srgbClr val="1A1A1A"/>
                </a:solidFill>
                <a:latin typeface="Consolas"/>
              </a:rPr>
              <a:t/>
            </a:r>
          </a:p>
          <a:p>
            <a:pPr>
              <a:lnSpc>
                <a:spcPct val="110000"/>
              </a:lnSpc>
              <a:spcBef>
                <a:spcPts val="0"/>
              </a:spcBef>
              <a:spcAft>
                <a:spcPts val="200"/>
              </a:spcAft>
            </a:pPr>
            <a:r>
              <a:rPr sz="1250" b="1" i="0">
                <a:solidFill>
                  <a:srgbClr val="6E1120"/>
                </a:solidFill>
                <a:latin typeface="Consolas"/>
              </a:rPr>
              <a:t>✗ verify: ok=False</a:t>
            </a:r>
          </a:p>
          <a:p>
            <a:pPr>
              <a:lnSpc>
                <a:spcPct val="110000"/>
              </a:lnSpc>
              <a:spcBef>
                <a:spcPts val="0"/>
              </a:spcBef>
              <a:spcAft>
                <a:spcPts val="200"/>
              </a:spcAft>
            </a:pPr>
            <a:r>
              <a:rPr sz="1250" b="0" i="0">
                <a:solidFill>
                  <a:srgbClr val="1A1A1A"/>
                </a:solidFill>
                <a:latin typeface="Consolas"/>
              </a:rPr>
              <a:t>seq 9: column outcome was changed ('ok' vs</a:t>
            </a:r>
          </a:p>
          <a:p>
            <a:pPr>
              <a:lnSpc>
                <a:spcPct val="110000"/>
              </a:lnSpc>
              <a:spcBef>
                <a:spcPts val="0"/>
              </a:spcBef>
              <a:spcAft>
                <a:spcPts val="200"/>
              </a:spcAft>
            </a:pPr>
            <a:r>
              <a:rPr sz="1250" b="0" i="0">
                <a:solidFill>
                  <a:srgbClr val="1A1A1A"/>
                </a:solidFill>
                <a:latin typeface="Consolas"/>
              </a:rPr>
              <a:t>  record 'deny')</a:t>
            </a:r>
          </a:p>
        </p:txBody>
      </p:sp>
      <p:sp>
        <p:nvSpPr>
          <p:cNvPr id="16" name="Rectangle 15"/>
          <p:cNvSpPr/>
          <p:nvPr/>
        </p:nvSpPr>
        <p:spPr>
          <a:xfrm>
            <a:off x="6278727" y="129057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29057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36372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How</a:t>
            </a:r>
          </a:p>
        </p:txBody>
      </p:sp>
      <p:sp>
        <p:nvSpPr>
          <p:cNvPr id="19" name="TextBox 18"/>
          <p:cNvSpPr txBox="1"/>
          <p:nvPr/>
        </p:nvSpPr>
        <p:spPr>
          <a:xfrm>
            <a:off x="6278727" y="1802638"/>
            <a:ext cx="5135727" cy="4442714"/>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A1A1A"/>
                </a:solidFill>
                <a:latin typeface="Calibri"/>
              </a:rPr>
              <a:t>Chained</a:t>
            </a:r>
          </a:p>
          <a:p>
            <a:pPr lvl="1">
              <a:lnSpc>
                <a:spcPct val="120000"/>
              </a:lnSpc>
              <a:spcBef>
                <a:spcPts val="0"/>
              </a:spcBef>
              <a:spcAft>
                <a:spcPts val="0"/>
              </a:spcAft>
            </a:pPr>
            <a:r>
              <a:rPr sz="1450" b="0">
                <a:solidFill>
                  <a:srgbClr val="6B7480"/>
                </a:solidFill>
                <a:latin typeface="Calibri"/>
              </a:rPr>
              <a:t>Each record's SHA-256 covers the previous record's hash, so an edit, deletion, insertion or reordering breaks the chain.</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Signed</a:t>
            </a:r>
          </a:p>
          <a:p>
            <a:pPr lvl="1">
              <a:lnSpc>
                <a:spcPct val="120000"/>
              </a:lnSpc>
              <a:spcBef>
                <a:spcPts val="0"/>
              </a:spcBef>
              <a:spcAft>
                <a:spcPts val="0"/>
              </a:spcAft>
            </a:pPr>
            <a:r>
              <a:rPr sz="1450" b="0">
                <a:solidFill>
                  <a:srgbClr val="6B7480"/>
                </a:solidFill>
                <a:latin typeface="Calibri"/>
              </a:rPr>
              <a:t>The head is signed (RS256) every N records, every few minutes and at shutdown, with the key published at /oauth/jwks.</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Checked</a:t>
            </a:r>
          </a:p>
          <a:p>
            <a:pPr lvl="1">
              <a:lnSpc>
                <a:spcPct val="120000"/>
              </a:lnSpc>
              <a:spcBef>
                <a:spcPts val="0"/>
              </a:spcBef>
              <a:spcAft>
                <a:spcPts val="0"/>
              </a:spcAft>
            </a:pPr>
            <a:r>
              <a:rPr sz="1450" b="0">
                <a:solidFill>
                  <a:srgbClr val="6B7480"/>
                </a:solidFill>
                <a:latin typeface="Calibri"/>
              </a:rPr>
              <a:t>python -m sajha.audit verify, or the Audit page.</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Exported</a:t>
            </a:r>
          </a:p>
          <a:p>
            <a:pPr lvl="1">
              <a:lnSpc>
                <a:spcPct val="120000"/>
              </a:lnSpc>
              <a:spcBef>
                <a:spcPts val="0"/>
              </a:spcBef>
              <a:spcAft>
                <a:spcPts val="0"/>
              </a:spcAft>
            </a:pPr>
            <a:r>
              <a:rPr sz="1450" b="0">
                <a:solidFill>
                  <a:srgbClr val="6B7480"/>
                </a:solidFill>
                <a:latin typeface="Calibri"/>
              </a:rPr>
              <a:t>To syslog, http and file sinks (splunk_hec, datadog and generic) as JSON, CEF and OCSF.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CODE AND CREDENTIALS SAJHA DID NOT WRITE</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User code runs in a sandbox; a user's tokens stay in a vault</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5 · Governance an enterprise can sign off</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29</a:t>
            </a:r>
          </a:p>
        </p:txBody>
      </p:sp>
      <p:sp>
        <p:nvSpPr>
          <p:cNvPr id="10" name="Rectangle 9"/>
          <p:cNvSpPr/>
          <p:nvPr/>
        </p:nvSpPr>
        <p:spPr>
          <a:xfrm>
            <a:off x="777240" y="1354836"/>
            <a:ext cx="5236311" cy="23629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54836"/>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19428"/>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SANDBOX</a:t>
            </a:r>
          </a:p>
        </p:txBody>
      </p:sp>
      <p:sp>
        <p:nvSpPr>
          <p:cNvPr id="13" name="TextBox 12"/>
          <p:cNvSpPr txBox="1"/>
          <p:nvPr/>
        </p:nvSpPr>
        <p:spPr>
          <a:xfrm>
            <a:off x="960120" y="1775460"/>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Every call of user code in its own process</a:t>
            </a:r>
          </a:p>
        </p:txBody>
      </p:sp>
      <p:sp>
        <p:nvSpPr>
          <p:cNvPr id="14" name="TextBox 13"/>
          <p:cNvSpPr txBox="1"/>
          <p:nvPr/>
        </p:nvSpPr>
        <p:spPr>
          <a:xfrm>
            <a:off x="960120" y="2380996"/>
            <a:ext cx="4870551" cy="1208786"/>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6B7480"/>
                </a:solidFill>
                <a:latin typeface="Calibri"/>
              </a:rPr>
              <a:t>Python and script tools made in Studio, and the admin shell, run per call with no server environment, no view of its files and no network unless allowed. Backends: subprocess, bwrap, nsjail or docker; on Linux the default adds Landlock, seccomp and namespaces.</a:t>
            </a:r>
          </a:p>
        </p:txBody>
      </p:sp>
      <p:sp>
        <p:nvSpPr>
          <p:cNvPr id="15" name="Rectangle 14"/>
          <p:cNvSpPr/>
          <p:nvPr/>
        </p:nvSpPr>
        <p:spPr>
          <a:xfrm>
            <a:off x="6178143" y="1354836"/>
            <a:ext cx="5236311" cy="23629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8143" y="1354836"/>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1023" y="1519428"/>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WHAT IT DOES NOT COVER</a:t>
            </a:r>
          </a:p>
        </p:txBody>
      </p:sp>
      <p:sp>
        <p:nvSpPr>
          <p:cNvPr id="18" name="TextBox 17"/>
          <p:cNvSpPr txBox="1"/>
          <p:nvPr/>
        </p:nvSpPr>
        <p:spPr>
          <a:xfrm>
            <a:off x="6361023" y="1775460"/>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Built-in tools are not sandboxed</a:t>
            </a:r>
          </a:p>
        </p:txBody>
      </p:sp>
      <p:sp>
        <p:nvSpPr>
          <p:cNvPr id="19" name="TextBox 18"/>
          <p:cNvSpPr txBox="1"/>
          <p:nvPr/>
        </p:nvSpPr>
        <p:spPr>
          <a:xfrm>
            <a:off x="6361023" y="2123948"/>
            <a:ext cx="4870551" cy="146583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Shipped tools and tools of other servers run in-process or remotely. On macOS and Windows the default sandbox gives only a clean environment and limits; where kernel exploits matter, use docker with gVisor.</a:t>
            </a:r>
          </a:p>
        </p:txBody>
      </p:sp>
      <p:sp>
        <p:nvSpPr>
          <p:cNvPr id="20" name="Rectangle 19"/>
          <p:cNvSpPr/>
          <p:nvPr/>
        </p:nvSpPr>
        <p:spPr>
          <a:xfrm>
            <a:off x="777240" y="3882390"/>
            <a:ext cx="5236311" cy="23629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2390"/>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046982"/>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CONNECTED ACCOUNTS</a:t>
            </a:r>
          </a:p>
        </p:txBody>
      </p:sp>
      <p:sp>
        <p:nvSpPr>
          <p:cNvPr id="23" name="TextBox 22"/>
          <p:cNvSpPr txBox="1"/>
          <p:nvPr/>
        </p:nvSpPr>
        <p:spPr>
          <a:xfrm>
            <a:off x="960120" y="4303014"/>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A tool acts as the user, not as a shared key</a:t>
            </a:r>
          </a:p>
        </p:txBody>
      </p:sp>
      <p:sp>
        <p:nvSpPr>
          <p:cNvPr id="24" name="TextBox 23"/>
          <p:cNvSpPr txBox="1"/>
          <p:nvPr/>
        </p:nvSpPr>
        <p:spPr>
          <a:xfrm>
            <a:off x="960120" y="4908550"/>
            <a:ext cx="4870551" cy="1208786"/>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 user links an account once (github, slack, google, microsoft, atlassian and notion, or any OAuth 2.0 service); tools that declare it call the service with that user's token.</a:t>
            </a:r>
          </a:p>
        </p:txBody>
      </p:sp>
      <p:sp>
        <p:nvSpPr>
          <p:cNvPr id="25" name="Rectangle 24"/>
          <p:cNvSpPr/>
          <p:nvPr/>
        </p:nvSpPr>
        <p:spPr>
          <a:xfrm>
            <a:off x="6178143" y="3882390"/>
            <a:ext cx="5236311" cy="23629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8143" y="3882390"/>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1023" y="4046982"/>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THE VAULT</a:t>
            </a:r>
          </a:p>
        </p:txBody>
      </p:sp>
      <p:sp>
        <p:nvSpPr>
          <p:cNvPr id="28" name="TextBox 27"/>
          <p:cNvSpPr txBox="1"/>
          <p:nvPr/>
        </p:nvSpPr>
        <p:spPr>
          <a:xfrm>
            <a:off x="6361023" y="4303014"/>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Tokens encrypted, bound and fenced</a:t>
            </a:r>
          </a:p>
        </p:txBody>
      </p:sp>
      <p:sp>
        <p:nvSpPr>
          <p:cNvPr id="29" name="TextBox 28"/>
          <p:cNvSpPr txBox="1"/>
          <p:nvPr/>
        </p:nvSpPr>
        <p:spPr>
          <a:xfrm>
            <a:off x="6361023" y="4651502"/>
            <a:ext cx="4870551" cy="146583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AES-256-GCM, bound to user and provider, refreshed by one worker at a time, sent only to the provider's listed hosts; per-user results are never cached.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EVIDENCE</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Security fixes are listed, with where each one lives in the code</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5 · Governance an enterprise can sign off</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30</a:t>
            </a:r>
          </a:p>
        </p:txBody>
      </p:sp>
      <p:sp>
        <p:nvSpPr>
          <p:cNvPr id="10" name="TextBox 9"/>
          <p:cNvSpPr txBox="1"/>
          <p:nvPr/>
        </p:nvSpPr>
        <p:spPr>
          <a:xfrm>
            <a:off x="777240" y="1322705"/>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The Security Model keeps a table of issues found and fixed since the last major release, each with the file that fixes it. A list kept in the open is worth more than a claim of none.</a:t>
            </a:r>
          </a:p>
        </p:txBody>
      </p:sp>
      <p:sp>
        <p:nvSpPr>
          <p:cNvPr id="11" name="Rectangle 10"/>
          <p:cNvSpPr/>
          <p:nvPr/>
        </p:nvSpPr>
        <p:spPr>
          <a:xfrm>
            <a:off x="777240" y="1976247"/>
            <a:ext cx="5218023"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197624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104263"/>
            <a:ext cx="4907127"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24</a:t>
            </a:r>
          </a:p>
        </p:txBody>
      </p:sp>
      <p:sp>
        <p:nvSpPr>
          <p:cNvPr id="14" name="TextBox 13"/>
          <p:cNvSpPr txBox="1"/>
          <p:nvPr/>
        </p:nvSpPr>
        <p:spPr>
          <a:xfrm>
            <a:off x="978408" y="2579751"/>
            <a:ext cx="4907127"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issues found and fixed, each named with its fix and its file</a:t>
            </a:r>
          </a:p>
        </p:txBody>
      </p:sp>
      <p:sp>
        <p:nvSpPr>
          <p:cNvPr id="15" name="Rectangle 14"/>
          <p:cNvSpPr/>
          <p:nvPr/>
        </p:nvSpPr>
        <p:spPr>
          <a:xfrm>
            <a:off x="6196431" y="1976247"/>
            <a:ext cx="5218023"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6431" y="197624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7599" y="2104263"/>
            <a:ext cx="4907127"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15</a:t>
            </a:r>
          </a:p>
        </p:txBody>
      </p:sp>
      <p:sp>
        <p:nvSpPr>
          <p:cNvPr id="18" name="TextBox 17"/>
          <p:cNvSpPr txBox="1"/>
          <p:nvPr/>
        </p:nvSpPr>
        <p:spPr>
          <a:xfrm>
            <a:off x="6397599" y="2579751"/>
            <a:ext cx="4907127"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known limitations, listed so a deployment can compensate</a:t>
            </a:r>
          </a:p>
        </p:txBody>
      </p:sp>
      <p:graphicFrame>
        <p:nvGraphicFramePr>
          <p:cNvPr id="19" name="Table 18"/>
          <p:cNvGraphicFramePr>
            <a:graphicFrameLocks noGrp="1"/>
          </p:cNvGraphicFramePr>
          <p:nvPr/>
        </p:nvGraphicFramePr>
        <p:xfrm>
          <a:off x="777240" y="3329559"/>
          <a:ext cx="10637215" cy="2864480"/>
        </p:xfrm>
        <a:graphic>
          <a:graphicData uri="http://schemas.openxmlformats.org/drawingml/2006/table">
            <a:tbl>
              <a:tblPr firstRow="1">
                <a:tableStyleId>{5C22544A-7EE6-4342-B048-85BDC9FD1C3A}</a:tableStyleId>
              </a:tblPr>
              <a:tblGrid>
                <a:gridCol w="10637215"/>
              </a:tblGrid>
              <a:tr h="286448">
                <a:tc>
                  <a:txBody>
                    <a:bodyPr wrap="square"/>
                    <a:lstStyle/>
                    <a:p>
                      <a:r>
                        <a:rPr sz="1100" b="1">
                          <a:solidFill>
                            <a:srgbClr val="FFFFFF"/>
                          </a:solidFill>
                          <a:latin typeface="Calibri"/>
                        </a:rPr>
                        <a:t>The shortest entries in the fixes table</a:t>
                      </a:r>
                    </a:p>
                  </a:txBody>
                  <a:tcPr marL="82296" marR="64008" marT="32004" marB="32004" anchor="ctr">
                    <a:solidFill>
                      <a:srgbClr val="A51C30"/>
                    </a:solidFill>
                  </a:tcPr>
                </a:tc>
              </a:tr>
              <a:tr h="286448">
                <a:tc>
                  <a:txBody>
                    <a:bodyPr wrap="square"/>
                    <a:lstStyle/>
                    <a:p>
                      <a:r>
                        <a:rPr sz="1100" b="0">
                          <a:solidFill>
                            <a:srgbClr val="1A1A1A"/>
                          </a:solidFill>
                          <a:latin typeface="Calibri"/>
                        </a:rPr>
                        <a:t>Open admin endpoints</a:t>
                      </a:r>
                    </a:p>
                  </a:txBody>
                  <a:tcPr marL="82296" marR="64008" marT="32004" marB="32004" anchor="ctr">
                    <a:solidFill>
                      <a:srgbClr val="FFFFFF"/>
                    </a:solidFill>
                  </a:tcPr>
                </a:tc>
              </a:tr>
              <a:tr h="286448">
                <a:tc>
                  <a:txBody>
                    <a:bodyPr wrap="square"/>
                    <a:lstStyle/>
                    <a:p>
                      <a:r>
                        <a:rPr sz="1100" b="0">
                          <a:solidFill>
                            <a:srgbClr val="1A1A1A"/>
                          </a:solidFill>
                          <a:latin typeface="Calibri"/>
                        </a:rPr>
                        <a:t>Open redirect via /login?next=</a:t>
                      </a:r>
                    </a:p>
                  </a:txBody>
                  <a:tcPr marL="82296" marR="64008" marT="32004" marB="32004" anchor="ctr">
                    <a:solidFill>
                      <a:srgbClr val="F7F5F2"/>
                    </a:solidFill>
                  </a:tcPr>
                </a:tc>
              </a:tr>
              <a:tr h="286448">
                <a:tc>
                  <a:txBody>
                    <a:bodyPr wrap="square"/>
                    <a:lstStyle/>
                    <a:p>
                      <a:r>
                        <a:rPr sz="1100" b="0">
                          <a:solidFill>
                            <a:srgbClr val="1A1A1A"/>
                          </a:solidFill>
                          <a:latin typeface="Calibri"/>
                        </a:rPr>
                        <a:t>POST /a2a ran tools anonymously</a:t>
                      </a:r>
                    </a:p>
                  </a:txBody>
                  <a:tcPr marL="82296" marR="64008" marT="32004" marB="32004" anchor="ctr">
                    <a:solidFill>
                      <a:srgbClr val="FFFFFF"/>
                    </a:solidFill>
                  </a:tcPr>
                </a:tc>
              </a:tr>
              <a:tr h="286448">
                <a:tc>
                  <a:txBody>
                    <a:bodyPr wrap="square"/>
                    <a:lstStyle/>
                    <a:p>
                      <a:r>
                        <a:rPr sz="1100" b="0">
                          <a:solidFill>
                            <a:srgbClr val="1A1A1A"/>
                          </a:solidFill>
                          <a:latin typeface="Calibri"/>
                        </a:rPr>
                        <a:t>Path traversal in sajha://data/... resources</a:t>
                      </a:r>
                    </a:p>
                  </a:txBody>
                  <a:tcPr marL="82296" marR="64008" marT="32004" marB="32004" anchor="ctr">
                    <a:solidFill>
                      <a:srgbClr val="F7F5F2"/>
                    </a:solidFill>
                  </a:tcPr>
                </a:tc>
              </a:tr>
              <a:tr h="286448">
                <a:tc>
                  <a:txBody>
                    <a:bodyPr wrap="square"/>
                    <a:lstStyle/>
                    <a:p>
                      <a:r>
                        <a:rPr sz="1100" b="0">
                          <a:solidFill>
                            <a:srgbClr val="1A1A1A"/>
                          </a:solidFill>
                          <a:latin typeface="Calibri"/>
                        </a:rPr>
                        <a:t>Tool arguments were checked only for presence</a:t>
                      </a:r>
                    </a:p>
                  </a:txBody>
                  <a:tcPr marL="82296" marR="64008" marT="32004" marB="32004" anchor="ctr">
                    <a:solidFill>
                      <a:srgbClr val="FFFFFF"/>
                    </a:solidFill>
                  </a:tcPr>
                </a:tc>
              </a:tr>
              <a:tr h="286448">
                <a:tc>
                  <a:txBody>
                    <a:bodyPr wrap="square"/>
                    <a:lstStyle/>
                    <a:p>
                      <a:r>
                        <a:rPr sz="1100" b="0">
                          <a:solidFill>
                            <a:srgbClr val="1A1A1A"/>
                          </a:solidFill>
                          <a:latin typeface="Calibri"/>
                        </a:rPr>
                        <a:t>The REST tool catalog listed every tool to anyone</a:t>
                      </a:r>
                    </a:p>
                  </a:txBody>
                  <a:tcPr marL="82296" marR="64008" marT="32004" marB="32004" anchor="ctr">
                    <a:solidFill>
                      <a:srgbClr val="F7F5F2"/>
                    </a:solidFill>
                  </a:tcPr>
                </a:tc>
              </a:tr>
              <a:tr h="286448">
                <a:tc>
                  <a:txBody>
                    <a:bodyPr wrap="square"/>
                    <a:lstStyle/>
                    <a:p>
                      <a:r>
                        <a:rPr sz="1100" b="0">
                          <a:solidFill>
                            <a:srgbClr val="1A1A1A"/>
                          </a:solidFill>
                          <a:latin typeface="Calibri"/>
                        </a:rPr>
                        <a:t>Security headers overwrote stricter per-route values</a:t>
                      </a:r>
                    </a:p>
                  </a:txBody>
                  <a:tcPr marL="82296" marR="64008" marT="32004" marB="32004" anchor="ctr">
                    <a:solidFill>
                      <a:srgbClr val="FFFFFF"/>
                    </a:solidFill>
                  </a:tcPr>
                </a:tc>
              </a:tr>
              <a:tr h="286448">
                <a:tc>
                  <a:txBody>
                    <a:bodyPr wrap="square"/>
                    <a:lstStyle/>
                    <a:p>
                      <a:r>
                        <a:rPr sz="1100" b="0">
                          <a:solidFill>
                            <a:srgbClr val="1A1A1A"/>
                          </a:solidFill>
                          <a:latin typeface="Calibri"/>
                        </a:rPr>
                        <a:t>Async execution wrote to any path and posted to any URL</a:t>
                      </a:r>
                    </a:p>
                  </a:txBody>
                  <a:tcPr marL="82296" marR="64008" marT="32004" marB="32004" anchor="ctr">
                    <a:solidFill>
                      <a:srgbClr val="F7F5F2"/>
                    </a:solidFill>
                  </a:tcPr>
                </a:tc>
              </a:tr>
              <a:tr h="286448">
                <a:tc>
                  <a:txBody>
                    <a:bodyPr wrap="square"/>
                    <a:lstStyle/>
                    <a:p>
                      <a:r>
                        <a:rPr sz="1100" b="0">
                          <a:solidFill>
                            <a:srgbClr val="1A1A1A"/>
                          </a:solidFill>
                          <a:latin typeface="Calibri"/>
                        </a:rPr>
                        <a:t>Public JWT and session secrets in config/application.yml</a:t>
                      </a:r>
                    </a:p>
                  </a:txBody>
                  <a:tcPr marL="82296" marR="64008" marT="32004" marB="32004"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F3C6CF"/>
                </a:solidFill>
                <a:latin typeface="Calibri"/>
              </a:rPr>
              <a:t>PART 6</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200" b="0" i="0">
                <a:solidFill>
                  <a:srgbClr val="FFFFFF"/>
                </a:solidFill>
                <a:latin typeface="Georgia"/>
              </a:rPr>
              <a:t>Every tool you have</a:t>
            </a:r>
          </a:p>
        </p:txBody>
      </p:sp>
      <p:sp>
        <p:nvSpPr>
          <p:cNvPr id="6" name="Rectangle 5"/>
          <p:cNvSpPr/>
          <p:nvPr/>
        </p:nvSpPr>
        <p:spPr>
          <a:xfrm>
            <a:off x="1005840" y="3383280"/>
            <a:ext cx="137160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BEEF0"/>
                </a:solidFill>
                <a:latin typeface="Calibri"/>
              </a:rPr>
              <a:t>A catalog is shared only if it holds the tools people need. SAJHA ships a large one, and gives seven ways to add more without writing a server: browser creators, a sentence, an API description, a database connection, another MCP server, a composite and a workflow.</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F3C6CF"/>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BEEF0"/>
                </a:solidFill>
                <a:latin typeface="Calibri"/>
              </a:rPr>
              <a:t>The catalog in the box</a:t>
            </a:r>
          </a:p>
          <a:p>
            <a:pPr>
              <a:lnSpc>
                <a:spcPct val="115000"/>
              </a:lnSpc>
              <a:spcBef>
                <a:spcPts val="0"/>
              </a:spcBef>
              <a:spcAft>
                <a:spcPts val="600"/>
              </a:spcAft>
            </a:pPr>
            <a:r>
              <a:rPr sz="1200" b="0" i="0">
                <a:solidFill>
                  <a:srgbClr val="FBEEF0"/>
                </a:solidFill>
                <a:latin typeface="Calibri"/>
              </a:rPr>
              <a:t>Studio, and describing a tool in a sentence</a:t>
            </a:r>
          </a:p>
          <a:p>
            <a:pPr>
              <a:lnSpc>
                <a:spcPct val="115000"/>
              </a:lnSpc>
              <a:spcBef>
                <a:spcPts val="0"/>
              </a:spcBef>
              <a:spcAft>
                <a:spcPts val="600"/>
              </a:spcAft>
            </a:pPr>
            <a:r>
              <a:rPr sz="1200" b="0" i="0">
                <a:solidFill>
                  <a:srgbClr val="FBEEF0"/>
                </a:solidFill>
                <a:latin typeface="Calibri"/>
              </a:rPr>
              <a:t>API import and data connectors</a:t>
            </a:r>
          </a:p>
          <a:p>
            <a:pPr>
              <a:lnSpc>
                <a:spcPct val="115000"/>
              </a:lnSpc>
              <a:spcBef>
                <a:spcPts val="0"/>
              </a:spcBef>
              <a:spcAft>
                <a:spcPts val="600"/>
              </a:spcAft>
            </a:pPr>
            <a:r>
              <a:rPr sz="1200" b="0" i="0">
                <a:solidFill>
                  <a:srgbClr val="FBEEF0"/>
                </a:solidFill>
                <a:latin typeface="Calibri"/>
              </a:rPr>
              <a:t>Federation</a:t>
            </a:r>
          </a:p>
          <a:p>
            <a:pPr>
              <a:lnSpc>
                <a:spcPct val="115000"/>
              </a:lnSpc>
              <a:spcBef>
                <a:spcPts val="0"/>
              </a:spcBef>
              <a:spcAft>
                <a:spcPts val="600"/>
              </a:spcAft>
            </a:pPr>
            <a:r>
              <a:rPr sz="1200" b="0" i="0">
                <a:solidFill>
                  <a:srgbClr val="FBEEF0"/>
                </a:solidFill>
                <a:latin typeface="Calibri"/>
              </a:rPr>
              <a:t>Composition and confidence</a:t>
            </a:r>
          </a:p>
          <a:p>
            <a:pPr>
              <a:lnSpc>
                <a:spcPct val="115000"/>
              </a:lnSpc>
              <a:spcBef>
                <a:spcPts val="0"/>
              </a:spcBef>
              <a:spcAft>
                <a:spcPts val="600"/>
              </a:spcAft>
            </a:pPr>
            <a:r>
              <a:rPr sz="1200" b="0" i="0">
                <a:solidFill>
                  <a:srgbClr val="FBEEF0"/>
                </a:solidFill>
                <a:latin typeface="Calibri"/>
              </a:rPr>
              <a:t>Workflows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IN THE BOX</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507 tools in 40 groups ship with the server</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6 · Every tool you have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32</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Market data, central banks, filings, public statistics, search and calculators. The live list is tools/list or the Tools page; a caller sees only what it may run.</a:t>
            </a:r>
          </a:p>
        </p:txBody>
      </p:sp>
      <p:graphicFrame>
        <p:nvGraphicFramePr>
          <p:cNvPr id="12" name="Table 11"/>
          <p:cNvGraphicFramePr>
            <a:graphicFrameLocks noGrp="1"/>
          </p:cNvGraphicFramePr>
          <p:nvPr/>
        </p:nvGraphicFramePr>
        <p:xfrm>
          <a:off x="777240" y="1386967"/>
          <a:ext cx="10637214" cy="3630168"/>
        </p:xfrm>
        <a:graphic>
          <a:graphicData uri="http://schemas.openxmlformats.org/drawingml/2006/table">
            <a:tbl>
              <a:tblPr firstRow="1">
                <a:tableStyleId>{5C22544A-7EE6-4342-B048-85BDC9FD1C3A}</a:tableStyleId>
              </a:tblPr>
              <a:tblGrid>
                <a:gridCol w="3151767"/>
                <a:gridCol w="1575883"/>
                <a:gridCol w="5909564"/>
              </a:tblGrid>
              <a:tr h="302514">
                <a:tc>
                  <a:txBody>
                    <a:bodyPr wrap="square"/>
                    <a:lstStyle/>
                    <a:p>
                      <a:r>
                        <a:rPr sz="1200" b="1">
                          <a:solidFill>
                            <a:srgbClr val="FFFFFF"/>
                          </a:solidFill>
                          <a:latin typeface="Calibri"/>
                        </a:rPr>
                        <a:t>Group</a:t>
                      </a:r>
                    </a:p>
                  </a:txBody>
                  <a:tcPr marL="82296" marR="64008" marT="32004" marB="32004" anchor="ctr">
                    <a:solidFill>
                      <a:srgbClr val="A51C30"/>
                    </a:solidFill>
                  </a:tcPr>
                </a:tc>
                <a:tc>
                  <a:txBody>
                    <a:bodyPr wrap="square"/>
                    <a:lstStyle/>
                    <a:p>
                      <a:r>
                        <a:rPr sz="1200" b="1">
                          <a:solidFill>
                            <a:srgbClr val="FFFFFF"/>
                          </a:solidFill>
                          <a:latin typeface="Calibri"/>
                        </a:rPr>
                        <a:t>Tools</a:t>
                      </a:r>
                    </a:p>
                  </a:txBody>
                  <a:tcPr marL="82296" marR="64008" marT="32004" marB="32004" anchor="ctr">
                    <a:solidFill>
                      <a:srgbClr val="A51C30"/>
                    </a:solidFill>
                  </a:tcPr>
                </a:tc>
                <a:tc>
                  <a:txBody>
                    <a:bodyPr wrap="square"/>
                    <a:lstStyle/>
                    <a:p>
                      <a:r>
                        <a:rPr sz="1200" b="1">
                          <a:solidFill>
                            <a:srgbClr val="FFFFFF"/>
                          </a:solidFill>
                          <a:latin typeface="Calibri"/>
                        </a:rPr>
                        <a:t>For example</a:t>
                      </a:r>
                    </a:p>
                  </a:txBody>
                  <a:tcPr marL="82296" marR="64008" marT="32004" marB="32004" anchor="ctr">
                    <a:solidFill>
                      <a:srgbClr val="A51C30"/>
                    </a:solidFill>
                  </a:tcPr>
                </a:tc>
              </a:tr>
              <a:tr h="302514">
                <a:tc>
                  <a:txBody>
                    <a:bodyPr wrap="square"/>
                    <a:lstStyle/>
                    <a:p>
                      <a:r>
                        <a:rPr sz="1200" b="1">
                          <a:solidFill>
                            <a:srgbClr val="6E1120"/>
                          </a:solidFill>
                          <a:latin typeface="Calibri"/>
                        </a:rPr>
                        <a:t>fmp</a:t>
                      </a:r>
                    </a:p>
                  </a:txBody>
                  <a:tcPr marL="82296" marR="64008" marT="32004" marB="32004" anchor="ctr">
                    <a:solidFill>
                      <a:srgbClr val="FFFFFF"/>
                    </a:solidFill>
                  </a:tcPr>
                </a:tc>
                <a:tc>
                  <a:txBody>
                    <a:bodyPr wrap="square"/>
                    <a:lstStyle/>
                    <a:p>
                      <a:r>
                        <a:rPr sz="1200" b="0">
                          <a:solidFill>
                            <a:srgbClr val="1A1A1A"/>
                          </a:solidFill>
                          <a:latin typeface="Calibri"/>
                        </a:rPr>
                        <a:t>100</a:t>
                      </a:r>
                    </a:p>
                  </a:txBody>
                  <a:tcPr marL="82296" marR="64008" marT="32004" marB="32004" anchor="ctr">
                    <a:solidFill>
                      <a:srgbClr val="FFFFFF"/>
                    </a:solidFill>
                  </a:tcPr>
                </a:tc>
                <a:tc>
                  <a:txBody>
                    <a:bodyPr wrap="square"/>
                    <a:lstStyle/>
                    <a:p>
                      <a:r>
                        <a:rPr sz="1200" b="0">
                          <a:solidFill>
                            <a:srgbClr val="1A1A1A"/>
                          </a:solidFill>
                          <a:latin typeface="Calibri"/>
                        </a:rPr>
                        <a:t>fmp_13f_filing</a:t>
                      </a:r>
                    </a:p>
                  </a:txBody>
                  <a:tcPr marL="82296" marR="64008" marT="32004" marB="32004" anchor="ctr">
                    <a:solidFill>
                      <a:srgbClr val="FFFFFF"/>
                    </a:solidFill>
                  </a:tcPr>
                </a:tc>
              </a:tr>
              <a:tr h="302514">
                <a:tc>
                  <a:txBody>
                    <a:bodyPr wrap="square"/>
                    <a:lstStyle/>
                    <a:p>
                      <a:r>
                        <a:rPr sz="1200" b="1">
                          <a:solidFill>
                            <a:srgbClr val="6E1120"/>
                          </a:solidFill>
                          <a:latin typeface="Calibri"/>
                        </a:rPr>
                        <a:t>openbb</a:t>
                      </a:r>
                    </a:p>
                  </a:txBody>
                  <a:tcPr marL="82296" marR="64008" marT="32004" marB="32004" anchor="ctr">
                    <a:solidFill>
                      <a:srgbClr val="F7F5F2"/>
                    </a:solidFill>
                  </a:tcPr>
                </a:tc>
                <a:tc>
                  <a:txBody>
                    <a:bodyPr wrap="square"/>
                    <a:lstStyle/>
                    <a:p>
                      <a:r>
                        <a:rPr sz="1200" b="0">
                          <a:solidFill>
                            <a:srgbClr val="1A1A1A"/>
                          </a:solidFill>
                          <a:latin typeface="Calibri"/>
                        </a:rPr>
                        <a:t>70</a:t>
                      </a:r>
                    </a:p>
                  </a:txBody>
                  <a:tcPr marL="82296" marR="64008" marT="32004" marB="32004" anchor="ctr">
                    <a:solidFill>
                      <a:srgbClr val="F7F5F2"/>
                    </a:solidFill>
                  </a:tcPr>
                </a:tc>
                <a:tc>
                  <a:txBody>
                    <a:bodyPr wrap="square"/>
                    <a:lstStyle/>
                    <a:p>
                      <a:r>
                        <a:rPr sz="1200" b="0">
                          <a:solidFill>
                            <a:srgbClr val="1A1A1A"/>
                          </a:solidFill>
                          <a:latin typeface="Calibri"/>
                        </a:rPr>
                        <a:t>openbb_balance_sheet</a:t>
                      </a:r>
                    </a:p>
                  </a:txBody>
                  <a:tcPr marL="82296" marR="64008" marT="32004" marB="32004" anchor="ctr">
                    <a:solidFill>
                      <a:srgbClr val="F7F5F2"/>
                    </a:solidFill>
                  </a:tcPr>
                </a:tc>
              </a:tr>
              <a:tr h="302514">
                <a:tc>
                  <a:txBody>
                    <a:bodyPr wrap="square"/>
                    <a:lstStyle/>
                    <a:p>
                      <a:r>
                        <a:rPr sz="1200" b="1">
                          <a:solidFill>
                            <a:srgbClr val="6E1120"/>
                          </a:solidFill>
                          <a:latin typeface="Calibri"/>
                        </a:rPr>
                        <a:t>fred</a:t>
                      </a:r>
                    </a:p>
                  </a:txBody>
                  <a:tcPr marL="82296" marR="64008" marT="32004" marB="32004" anchor="ctr">
                    <a:solidFill>
                      <a:srgbClr val="FFFFFF"/>
                    </a:solidFill>
                  </a:tcPr>
                </a:tc>
                <a:tc>
                  <a:txBody>
                    <a:bodyPr wrap="square"/>
                    <a:lstStyle/>
                    <a:p>
                      <a:r>
                        <a:rPr sz="1200" b="0">
                          <a:solidFill>
                            <a:srgbClr val="1A1A1A"/>
                          </a:solidFill>
                          <a:latin typeface="Calibri"/>
                        </a:rPr>
                        <a:t>55</a:t>
                      </a:r>
                    </a:p>
                  </a:txBody>
                  <a:tcPr marL="82296" marR="64008" marT="32004" marB="32004" anchor="ctr">
                    <a:solidFill>
                      <a:srgbClr val="FFFFFF"/>
                    </a:solidFill>
                  </a:tcPr>
                </a:tc>
                <a:tc>
                  <a:txBody>
                    <a:bodyPr wrap="square"/>
                    <a:lstStyle/>
                    <a:p>
                      <a:r>
                        <a:rPr sz="1200" b="0">
                          <a:solidFill>
                            <a:srgbClr val="1A1A1A"/>
                          </a:solidFill>
                          <a:latin typeface="Calibri"/>
                        </a:rPr>
                        <a:t>fred_10yr_treasury</a:t>
                      </a:r>
                    </a:p>
                  </a:txBody>
                  <a:tcPr marL="82296" marR="64008" marT="32004" marB="32004" anchor="ctr">
                    <a:solidFill>
                      <a:srgbClr val="FFFFFF"/>
                    </a:solidFill>
                  </a:tcPr>
                </a:tc>
              </a:tr>
              <a:tr h="302514">
                <a:tc>
                  <a:txBody>
                    <a:bodyPr wrap="square"/>
                    <a:lstStyle/>
                    <a:p>
                      <a:r>
                        <a:rPr sz="1200" b="1">
                          <a:solidFill>
                            <a:srgbClr val="6E1120"/>
                          </a:solidFill>
                          <a:latin typeface="Calibri"/>
                        </a:rPr>
                        <a:t>av</a:t>
                      </a:r>
                    </a:p>
                  </a:txBody>
                  <a:tcPr marL="82296" marR="64008" marT="32004" marB="32004" anchor="ctr">
                    <a:solidFill>
                      <a:srgbClr val="F7F5F2"/>
                    </a:solidFill>
                  </a:tcPr>
                </a:tc>
                <a:tc>
                  <a:txBody>
                    <a:bodyPr wrap="square"/>
                    <a:lstStyle/>
                    <a:p>
                      <a:r>
                        <a:rPr sz="1200" b="0">
                          <a:solidFill>
                            <a:srgbClr val="1A1A1A"/>
                          </a:solidFill>
                          <a:latin typeface="Calibri"/>
                        </a:rPr>
                        <a:t>35</a:t>
                      </a:r>
                    </a:p>
                  </a:txBody>
                  <a:tcPr marL="82296" marR="64008" marT="32004" marB="32004" anchor="ctr">
                    <a:solidFill>
                      <a:srgbClr val="F7F5F2"/>
                    </a:solidFill>
                  </a:tcPr>
                </a:tc>
                <a:tc>
                  <a:txBody>
                    <a:bodyPr wrap="square"/>
                    <a:lstStyle/>
                    <a:p>
                      <a:r>
                        <a:rPr sz="1200" b="0">
                          <a:solidFill>
                            <a:srgbClr val="1A1A1A"/>
                          </a:solidFill>
                          <a:latin typeface="Calibri"/>
                        </a:rPr>
                        <a:t>av_ad_line</a:t>
                      </a:r>
                    </a:p>
                  </a:txBody>
                  <a:tcPr marL="82296" marR="64008" marT="32004" marB="32004" anchor="ctr">
                    <a:solidFill>
                      <a:srgbClr val="F7F5F2"/>
                    </a:solidFill>
                  </a:tcPr>
                </a:tc>
              </a:tr>
              <a:tr h="302514">
                <a:tc>
                  <a:txBody>
                    <a:bodyPr wrap="square"/>
                    <a:lstStyle/>
                    <a:p>
                      <a:r>
                        <a:rPr sz="1200" b="1">
                          <a:solidFill>
                            <a:srgbClr val="6E1120"/>
                          </a:solidFill>
                          <a:latin typeface="Calibri"/>
                        </a:rPr>
                        <a:t>yf</a:t>
                      </a:r>
                    </a:p>
                  </a:txBody>
                  <a:tcPr marL="82296" marR="64008" marT="32004" marB="32004" anchor="ctr">
                    <a:solidFill>
                      <a:srgbClr val="FFFFFF"/>
                    </a:solidFill>
                  </a:tcPr>
                </a:tc>
                <a:tc>
                  <a:txBody>
                    <a:bodyPr wrap="square"/>
                    <a:lstStyle/>
                    <a:p>
                      <a:r>
                        <a:rPr sz="1200" b="0">
                          <a:solidFill>
                            <a:srgbClr val="1A1A1A"/>
                          </a:solidFill>
                          <a:latin typeface="Calibri"/>
                        </a:rPr>
                        <a:t>35</a:t>
                      </a:r>
                    </a:p>
                  </a:txBody>
                  <a:tcPr marL="82296" marR="64008" marT="32004" marB="32004" anchor="ctr">
                    <a:solidFill>
                      <a:srgbClr val="FFFFFF"/>
                    </a:solidFill>
                  </a:tcPr>
                </a:tc>
                <a:tc>
                  <a:txBody>
                    <a:bodyPr wrap="square"/>
                    <a:lstStyle/>
                    <a:p>
                      <a:r>
                        <a:rPr sz="1200" b="0">
                          <a:solidFill>
                            <a:srgbClr val="1A1A1A"/>
                          </a:solidFill>
                          <a:latin typeface="Calibri"/>
                        </a:rPr>
                        <a:t>yf_actions</a:t>
                      </a:r>
                    </a:p>
                  </a:txBody>
                  <a:tcPr marL="82296" marR="64008" marT="32004" marB="32004" anchor="ctr">
                    <a:solidFill>
                      <a:srgbClr val="FFFFFF"/>
                    </a:solidFill>
                  </a:tcPr>
                </a:tc>
              </a:tr>
              <a:tr h="302514">
                <a:tc>
                  <a:txBody>
                    <a:bodyPr wrap="square"/>
                    <a:lstStyle/>
                    <a:p>
                      <a:r>
                        <a:rPr sz="1200" b="1">
                          <a:solidFill>
                            <a:srgbClr val="6E1120"/>
                          </a:solidFill>
                          <a:latin typeface="Calibri"/>
                        </a:rPr>
                        <a:t>cg</a:t>
                      </a:r>
                    </a:p>
                  </a:txBody>
                  <a:tcPr marL="82296" marR="64008" marT="32004" marB="32004" anchor="ctr">
                    <a:solidFill>
                      <a:srgbClr val="F7F5F2"/>
                    </a:solidFill>
                  </a:tcPr>
                </a:tc>
                <a:tc>
                  <a:txBody>
                    <a:bodyPr wrap="square"/>
                    <a:lstStyle/>
                    <a:p>
                      <a:r>
                        <a:rPr sz="1200" b="0">
                          <a:solidFill>
                            <a:srgbClr val="1A1A1A"/>
                          </a:solidFill>
                          <a:latin typeface="Calibri"/>
                        </a:rPr>
                        <a:t>25</a:t>
                      </a:r>
                    </a:p>
                  </a:txBody>
                  <a:tcPr marL="82296" marR="64008" marT="32004" marB="32004" anchor="ctr">
                    <a:solidFill>
                      <a:srgbClr val="F7F5F2"/>
                    </a:solidFill>
                  </a:tcPr>
                </a:tc>
                <a:tc>
                  <a:txBody>
                    <a:bodyPr wrap="square"/>
                    <a:lstStyle/>
                    <a:p>
                      <a:r>
                        <a:rPr sz="1200" b="0">
                          <a:solidFill>
                            <a:srgbClr val="1A1A1A"/>
                          </a:solidFill>
                          <a:latin typeface="Calibri"/>
                        </a:rPr>
                        <a:t>cg_asset_platforms</a:t>
                      </a:r>
                    </a:p>
                  </a:txBody>
                  <a:tcPr marL="82296" marR="64008" marT="32004" marB="32004" anchor="ctr">
                    <a:solidFill>
                      <a:srgbClr val="F7F5F2"/>
                    </a:solidFill>
                  </a:tcPr>
                </a:tc>
              </a:tr>
              <a:tr h="302514">
                <a:tc>
                  <a:txBody>
                    <a:bodyPr wrap="square"/>
                    <a:lstStyle/>
                    <a:p>
                      <a:r>
                        <a:rPr sz="1200" b="1">
                          <a:solidFill>
                            <a:srgbClr val="6E1120"/>
                          </a:solidFill>
                          <a:latin typeface="Calibri"/>
                        </a:rPr>
                        <a:t>edgar</a:t>
                      </a:r>
                    </a:p>
                  </a:txBody>
                  <a:tcPr marL="82296" marR="64008" marT="32004" marB="32004" anchor="ctr">
                    <a:solidFill>
                      <a:srgbClr val="FFFFFF"/>
                    </a:solidFill>
                  </a:tcPr>
                </a:tc>
                <a:tc>
                  <a:txBody>
                    <a:bodyPr wrap="square"/>
                    <a:lstStyle/>
                    <a:p>
                      <a:r>
                        <a:rPr sz="1200" b="0">
                          <a:solidFill>
                            <a:srgbClr val="1A1A1A"/>
                          </a:solidFill>
                          <a:latin typeface="Calibri"/>
                        </a:rPr>
                        <a:t>20</a:t>
                      </a:r>
                    </a:p>
                  </a:txBody>
                  <a:tcPr marL="82296" marR="64008" marT="32004" marB="32004" anchor="ctr">
                    <a:solidFill>
                      <a:srgbClr val="FFFFFF"/>
                    </a:solidFill>
                  </a:tcPr>
                </a:tc>
                <a:tc>
                  <a:txBody>
                    <a:bodyPr wrap="square"/>
                    <a:lstStyle/>
                    <a:p>
                      <a:r>
                        <a:rPr sz="1200" b="0">
                          <a:solidFill>
                            <a:srgbClr val="1A1A1A"/>
                          </a:solidFill>
                          <a:latin typeface="Calibri"/>
                        </a:rPr>
                        <a:t>edgar_amendments</a:t>
                      </a:r>
                    </a:p>
                  </a:txBody>
                  <a:tcPr marL="82296" marR="64008" marT="32004" marB="32004" anchor="ctr">
                    <a:solidFill>
                      <a:srgbClr val="FFFFFF"/>
                    </a:solidFill>
                  </a:tcPr>
                </a:tc>
              </a:tr>
              <a:tr h="302514">
                <a:tc>
                  <a:txBody>
                    <a:bodyPr wrap="square"/>
                    <a:lstStyle/>
                    <a:p>
                      <a:r>
                        <a:rPr sz="1200" b="1">
                          <a:solidFill>
                            <a:srgbClr val="6E1120"/>
                          </a:solidFill>
                          <a:latin typeface="Calibri"/>
                        </a:rPr>
                        <a:t>calc</a:t>
                      </a:r>
                    </a:p>
                  </a:txBody>
                  <a:tcPr marL="82296" marR="64008" marT="32004" marB="32004" anchor="ctr">
                    <a:solidFill>
                      <a:srgbClr val="F7F5F2"/>
                    </a:solidFill>
                  </a:tcPr>
                </a:tc>
                <a:tc>
                  <a:txBody>
                    <a:bodyPr wrap="square"/>
                    <a:lstStyle/>
                    <a:p>
                      <a:r>
                        <a:rPr sz="1200" b="0">
                          <a:solidFill>
                            <a:srgbClr val="1A1A1A"/>
                          </a:solidFill>
                          <a:latin typeface="Calibri"/>
                        </a:rPr>
                        <a:t>19</a:t>
                      </a:r>
                    </a:p>
                  </a:txBody>
                  <a:tcPr marL="82296" marR="64008" marT="32004" marB="32004" anchor="ctr">
                    <a:solidFill>
                      <a:srgbClr val="F7F5F2"/>
                    </a:solidFill>
                  </a:tcPr>
                </a:tc>
                <a:tc>
                  <a:txBody>
                    <a:bodyPr wrap="square"/>
                    <a:lstStyle/>
                    <a:p>
                      <a:r>
                        <a:rPr sz="1200" b="0">
                          <a:solidFill>
                            <a:srgbClr val="1A1A1A"/>
                          </a:solidFill>
                          <a:latin typeface="Calibri"/>
                        </a:rPr>
                        <a:t>calc_beta</a:t>
                      </a:r>
                    </a:p>
                  </a:txBody>
                  <a:tcPr marL="82296" marR="64008" marT="32004" marB="32004" anchor="ctr">
                    <a:solidFill>
                      <a:srgbClr val="F7F5F2"/>
                    </a:solidFill>
                  </a:tcPr>
                </a:tc>
              </a:tr>
              <a:tr h="302514">
                <a:tc>
                  <a:txBody>
                    <a:bodyPr wrap="square"/>
                    <a:lstStyle/>
                    <a:p>
                      <a:r>
                        <a:rPr sz="1200" b="1">
                          <a:solidFill>
                            <a:srgbClr val="6E1120"/>
                          </a:solidFill>
                          <a:latin typeface="Calibri"/>
                        </a:rPr>
                        <a:t>msdoc</a:t>
                      </a:r>
                    </a:p>
                  </a:txBody>
                  <a:tcPr marL="82296" marR="64008" marT="32004" marB="32004" anchor="ctr">
                    <a:solidFill>
                      <a:srgbClr val="FFFFFF"/>
                    </a:solidFill>
                  </a:tcPr>
                </a:tc>
                <a:tc>
                  <a:txBody>
                    <a:bodyPr wrap="square"/>
                    <a:lstStyle/>
                    <a:p>
                      <a:r>
                        <a:rPr sz="1200" b="0">
                          <a:solidFill>
                            <a:srgbClr val="1A1A1A"/>
                          </a:solidFill>
                          <a:latin typeface="Calibri"/>
                        </a:rPr>
                        <a:t>10</a:t>
                      </a:r>
                    </a:p>
                  </a:txBody>
                  <a:tcPr marL="82296" marR="64008" marT="32004" marB="32004" anchor="ctr">
                    <a:solidFill>
                      <a:srgbClr val="FFFFFF"/>
                    </a:solidFill>
                  </a:tcPr>
                </a:tc>
                <a:tc>
                  <a:txBody>
                    <a:bodyPr wrap="square"/>
                    <a:lstStyle/>
                    <a:p>
                      <a:r>
                        <a:rPr sz="1200" b="0">
                          <a:solidFill>
                            <a:srgbClr val="1A1A1A"/>
                          </a:solidFill>
                          <a:latin typeface="Calibri"/>
                        </a:rPr>
                        <a:t>msdoc_extract_text</a:t>
                      </a:r>
                    </a:p>
                  </a:txBody>
                  <a:tcPr marL="82296" marR="64008" marT="32004" marB="32004" anchor="ctr">
                    <a:solidFill>
                      <a:srgbClr val="FFFFFF"/>
                    </a:solidFill>
                  </a:tcPr>
                </a:tc>
              </a:tr>
              <a:tr h="302514">
                <a:tc>
                  <a:txBody>
                    <a:bodyPr wrap="square"/>
                    <a:lstStyle/>
                    <a:p>
                      <a:r>
                        <a:rPr sz="1200" b="1">
                          <a:solidFill>
                            <a:srgbClr val="6E1120"/>
                          </a:solidFill>
                          <a:latin typeface="Calibri"/>
                        </a:rPr>
                        <a:t>wb</a:t>
                      </a:r>
                    </a:p>
                  </a:txBody>
                  <a:tcPr marL="82296" marR="64008" marT="32004" marB="32004" anchor="ctr">
                    <a:solidFill>
                      <a:srgbClr val="F7F5F2"/>
                    </a:solidFill>
                  </a:tcPr>
                </a:tc>
                <a:tc>
                  <a:txBody>
                    <a:bodyPr wrap="square"/>
                    <a:lstStyle/>
                    <a:p>
                      <a:r>
                        <a:rPr sz="1200" b="0">
                          <a:solidFill>
                            <a:srgbClr val="1A1A1A"/>
                          </a:solidFill>
                          <a:latin typeface="Calibri"/>
                        </a:rPr>
                        <a:t>10</a:t>
                      </a:r>
                    </a:p>
                  </a:txBody>
                  <a:tcPr marL="82296" marR="64008" marT="32004" marB="32004" anchor="ctr">
                    <a:solidFill>
                      <a:srgbClr val="F7F5F2"/>
                    </a:solidFill>
                  </a:tcPr>
                </a:tc>
                <a:tc>
                  <a:txBody>
                    <a:bodyPr wrap="square"/>
                    <a:lstStyle/>
                    <a:p>
                      <a:r>
                        <a:rPr sz="1200" b="0">
                          <a:solidFill>
                            <a:srgbClr val="1A1A1A"/>
                          </a:solidFill>
                          <a:latin typeface="Calibri"/>
                        </a:rPr>
                        <a:t>wb_compare_countries</a:t>
                      </a:r>
                    </a:p>
                  </a:txBody>
                  <a:tcPr marL="82296" marR="64008" marT="32004" marB="32004" anchor="ctr">
                    <a:solidFill>
                      <a:srgbClr val="F7F5F2"/>
                    </a:solidFill>
                  </a:tcPr>
                </a:tc>
              </a:tr>
              <a:tr h="302514">
                <a:tc>
                  <a:txBody>
                    <a:bodyPr wrap="square"/>
                    <a:lstStyle/>
                    <a:p>
                      <a:r>
                        <a:rPr sz="1200" b="1">
                          <a:solidFill>
                            <a:srgbClr val="6E1120"/>
                          </a:solidFill>
                          <a:latin typeface="Calibri"/>
                        </a:rPr>
                        <a:t>30 more groups</a:t>
                      </a:r>
                    </a:p>
                  </a:txBody>
                  <a:tcPr marL="82296" marR="64008" marT="32004" marB="32004" anchor="ctr">
                    <a:solidFill>
                      <a:srgbClr val="FFFFFF"/>
                    </a:solidFill>
                  </a:tcPr>
                </a:tc>
                <a:tc>
                  <a:txBody>
                    <a:bodyPr wrap="square"/>
                    <a:lstStyle/>
                    <a:p>
                      <a:r>
                        <a:rPr sz="1200" b="0">
                          <a:solidFill>
                            <a:srgbClr val="1A1A1A"/>
                          </a:solidFill>
                          <a:latin typeface="Calibri"/>
                        </a:rPr>
                        <a:t>128</a:t>
                      </a:r>
                    </a:p>
                  </a:txBody>
                  <a:tcPr marL="82296" marR="64008" marT="32004" marB="32004" anchor="ctr">
                    <a:solidFill>
                      <a:srgbClr val="FFFFFF"/>
                    </a:solidFill>
                  </a:tcPr>
                </a:tc>
                <a:tc>
                  <a:txBody>
                    <a:bodyPr wrap="square"/>
                    <a:lstStyle/>
                    <a:p>
                      <a:r>
                        <a:rPr sz="1200" b="0">
                          <a:solidFill>
                            <a:srgbClr val="1A1A1A"/>
                          </a:solidFill>
                          <a:latin typeface="Calibri"/>
                        </a:rPr>
                        <a:t>search, central banks, documents, …</a:t>
                      </a:r>
                    </a:p>
                  </a:txBody>
                  <a:tcPr marL="82296" marR="64008" marT="32004" marB="32004"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ADDING TOOLS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Seven ways to make a tool without writing an MCP server</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6 · Every tool you have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33</a:t>
            </a:r>
          </a:p>
        </p:txBody>
      </p:sp>
      <p:graphicFrame>
        <p:nvGraphicFramePr>
          <p:cNvPr id="10" name="Table 9"/>
          <p:cNvGraphicFramePr>
            <a:graphicFrameLocks noGrp="1"/>
          </p:cNvGraphicFramePr>
          <p:nvPr/>
        </p:nvGraphicFramePr>
        <p:xfrm>
          <a:off x="777240" y="1386967"/>
          <a:ext cx="10637214" cy="4010596"/>
        </p:xfrm>
        <a:graphic>
          <a:graphicData uri="http://schemas.openxmlformats.org/drawingml/2006/table">
            <a:tbl>
              <a:tblPr firstRow="1">
                <a:tableStyleId>{5C22544A-7EE6-4342-B048-85BDC9FD1C3A}</a:tableStyleId>
              </a:tblPr>
              <a:tblGrid>
                <a:gridCol w="2477159"/>
                <a:gridCol w="3788597"/>
                <a:gridCol w="4371458"/>
              </a:tblGrid>
              <a:tr h="318579">
                <a:tc>
                  <a:txBody>
                    <a:bodyPr wrap="square"/>
                    <a:lstStyle/>
                    <a:p>
                      <a:r>
                        <a:rPr sz="1300" b="1">
                          <a:solidFill>
                            <a:srgbClr val="FFFFFF"/>
                          </a:solidFill>
                          <a:latin typeface="Calibri"/>
                        </a:rPr>
                        <a:t>Way</a:t>
                      </a:r>
                    </a:p>
                  </a:txBody>
                  <a:tcPr marL="82296" marR="64008" marT="32004" marB="32004" anchor="ctr">
                    <a:solidFill>
                      <a:srgbClr val="A51C30"/>
                    </a:solidFill>
                  </a:tcPr>
                </a:tc>
                <a:tc>
                  <a:txBody>
                    <a:bodyPr wrap="square"/>
                    <a:lstStyle/>
                    <a:p>
                      <a:r>
                        <a:rPr sz="1300" b="1">
                          <a:solidFill>
                            <a:srgbClr val="FFFFFF"/>
                          </a:solidFill>
                          <a:latin typeface="Calibri"/>
                        </a:rPr>
                        <a:t>You give</a:t>
                      </a:r>
                    </a:p>
                  </a:txBody>
                  <a:tcPr marL="82296" marR="64008" marT="32004" marB="32004" anchor="ctr">
                    <a:solidFill>
                      <a:srgbClr val="A51C30"/>
                    </a:solidFill>
                  </a:tcPr>
                </a:tc>
                <a:tc>
                  <a:txBody>
                    <a:bodyPr wrap="square"/>
                    <a:lstStyle/>
                    <a:p>
                      <a:r>
                        <a:rPr sz="1300" b="1">
                          <a:solidFill>
                            <a:srgbClr val="FFFFFF"/>
                          </a:solidFill>
                          <a:latin typeface="Calibri"/>
                        </a:rPr>
                        <a:t>You get</a:t>
                      </a:r>
                    </a:p>
                  </a:txBody>
                  <a:tcPr marL="82296" marR="64008" marT="32004" marB="32004" anchor="ctr">
                    <a:solidFill>
                      <a:srgbClr val="A51C30"/>
                    </a:solidFill>
                  </a:tcPr>
                </a:tc>
              </a:tr>
              <a:tr h="559562">
                <a:tc>
                  <a:txBody>
                    <a:bodyPr wrap="square"/>
                    <a:lstStyle/>
                    <a:p>
                      <a:r>
                        <a:rPr sz="1400" b="1">
                          <a:solidFill>
                            <a:srgbClr val="6E1120"/>
                          </a:solidFill>
                          <a:latin typeface="Calibri"/>
                        </a:rPr>
                        <a:t>MCP Studio creators</a:t>
                      </a:r>
                    </a:p>
                  </a:txBody>
                  <a:tcPr marL="82296" marR="64008" marT="32004" marB="32004" anchor="ctr">
                    <a:solidFill>
                      <a:srgbClr val="FFFFFF"/>
                    </a:solidFill>
                  </a:tcPr>
                </a:tc>
                <a:tc>
                  <a:txBody>
                    <a:bodyPr wrap="square"/>
                    <a:lstStyle/>
                    <a:p>
                      <a:r>
                        <a:rPr sz="1400" b="0">
                          <a:solidFill>
                            <a:srgbClr val="1A1A1A"/>
                          </a:solidFill>
                          <a:latin typeface="Calibri"/>
                        </a:rPr>
                        <a:t>SQL query, LiveLink, Power BI, Power BI DAX, REST, script and SharePoint</a:t>
                      </a:r>
                    </a:p>
                  </a:txBody>
                  <a:tcPr marL="82296" marR="64008" marT="32004" marB="32004" anchor="ctr">
                    <a:solidFill>
                      <a:srgbClr val="FFFFFF"/>
                    </a:solidFill>
                  </a:tcPr>
                </a:tc>
                <a:tc>
                  <a:txBody>
                    <a:bodyPr wrap="square"/>
                    <a:lstStyle/>
                    <a:p>
                      <a:r>
                        <a:rPr sz="1400" b="0">
                          <a:solidFill>
                            <a:srgbClr val="1A1A1A"/>
                          </a:solidFill>
                          <a:latin typeface="Calibri"/>
                        </a:rPr>
                        <a:t>A generated tool, deployed into the running server; code tools run sandboxed</a:t>
                      </a:r>
                    </a:p>
                  </a:txBody>
                  <a:tcPr marL="82296" marR="64008" marT="32004" marB="32004" anchor="ctr">
                    <a:solidFill>
                      <a:srgbClr val="FFFFFF"/>
                    </a:solidFill>
                  </a:tcPr>
                </a:tc>
              </a:tr>
              <a:tr h="559562">
                <a:tc>
                  <a:txBody>
                    <a:bodyPr wrap="square"/>
                    <a:lstStyle/>
                    <a:p>
                      <a:r>
                        <a:rPr sz="1400" b="1">
                          <a:solidFill>
                            <a:srgbClr val="6E1120"/>
                          </a:solidFill>
                          <a:latin typeface="Calibri"/>
                        </a:rPr>
                        <a:t>Describe a tool</a:t>
                      </a:r>
                    </a:p>
                  </a:txBody>
                  <a:tcPr marL="82296" marR="64008" marT="32004" marB="32004" anchor="ctr">
                    <a:solidFill>
                      <a:srgbClr val="F7F5F2"/>
                    </a:solidFill>
                  </a:tcPr>
                </a:tc>
                <a:tc>
                  <a:txBody>
                    <a:bodyPr wrap="square"/>
                    <a:lstStyle/>
                    <a:p>
                      <a:r>
                        <a:rPr sz="1400" b="0">
                          <a:solidFill>
                            <a:srgbClr val="1A1A1A"/>
                          </a:solidFill>
                          <a:latin typeface="Calibri"/>
                        </a:rPr>
                        <a:t>A sentence</a:t>
                      </a:r>
                    </a:p>
                  </a:txBody>
                  <a:tcPr marL="82296" marR="64008" marT="32004" marB="32004" anchor="ctr">
                    <a:solidFill>
                      <a:srgbClr val="F7F5F2"/>
                    </a:solidFill>
                  </a:tcPr>
                </a:tc>
                <a:tc>
                  <a:txBody>
                    <a:bodyPr wrap="square"/>
                    <a:lstStyle/>
                    <a:p>
                      <a:r>
                        <a:rPr sz="1400" b="0">
                          <a:solidFill>
                            <a:srgbClr val="1A1A1A"/>
                          </a:solidFill>
                          <a:latin typeface="Calibri"/>
                        </a:rPr>
                        <a:t>A proposed, tested tool an administrator reviews and approves</a:t>
                      </a:r>
                    </a:p>
                  </a:txBody>
                  <a:tcPr marL="82296" marR="64008" marT="32004" marB="32004" anchor="ctr">
                    <a:solidFill>
                      <a:srgbClr val="F7F5F2"/>
                    </a:solidFill>
                  </a:tcPr>
                </a:tc>
              </a:tr>
              <a:tr h="559562">
                <a:tc>
                  <a:txBody>
                    <a:bodyPr wrap="square"/>
                    <a:lstStyle/>
                    <a:p>
                      <a:r>
                        <a:rPr sz="1400" b="1">
                          <a:solidFill>
                            <a:srgbClr val="6E1120"/>
                          </a:solidFill>
                          <a:latin typeface="Calibri"/>
                        </a:rPr>
                        <a:t>Import an API</a:t>
                      </a:r>
                    </a:p>
                  </a:txBody>
                  <a:tcPr marL="82296" marR="64008" marT="32004" marB="32004" anchor="ctr">
                    <a:solidFill>
                      <a:srgbClr val="FFFFFF"/>
                    </a:solidFill>
                  </a:tcPr>
                </a:tc>
                <a:tc>
                  <a:txBody>
                    <a:bodyPr wrap="square"/>
                    <a:lstStyle/>
                    <a:p>
                      <a:r>
                        <a:rPr sz="1400" b="0">
                          <a:solidFill>
                            <a:srgbClr val="1A1A1A"/>
                          </a:solidFill>
                          <a:latin typeface="Calibri"/>
                        </a:rPr>
                        <a:t>An OpenAPI 3, Swagger 2 or GraphQL description</a:t>
                      </a:r>
                    </a:p>
                  </a:txBody>
                  <a:tcPr marL="82296" marR="64008" marT="32004" marB="32004" anchor="ctr">
                    <a:solidFill>
                      <a:srgbClr val="FFFFFF"/>
                    </a:solidFill>
                  </a:tcPr>
                </a:tc>
                <a:tc>
                  <a:txBody>
                    <a:bodyPr wrap="square"/>
                    <a:lstStyle/>
                    <a:p>
                      <a:r>
                        <a:rPr sz="1400" b="0">
                          <a:solidFill>
                            <a:srgbClr val="1A1A1A"/>
                          </a:solidFill>
                          <a:latin typeface="Calibri"/>
                        </a:rPr>
                        <a:t>Reviewed tools on one generic executor; no code generated</a:t>
                      </a:r>
                    </a:p>
                  </a:txBody>
                  <a:tcPr marL="82296" marR="64008" marT="32004" marB="32004" anchor="ctr">
                    <a:solidFill>
                      <a:srgbClr val="FFFFFF"/>
                    </a:solidFill>
                  </a:tcPr>
                </a:tc>
              </a:tr>
              <a:tr h="559562">
                <a:tc>
                  <a:txBody>
                    <a:bodyPr wrap="square"/>
                    <a:lstStyle/>
                    <a:p>
                      <a:r>
                        <a:rPr sz="1400" b="1">
                          <a:solidFill>
                            <a:srgbClr val="6E1120"/>
                          </a:solidFill>
                          <a:latin typeface="Calibri"/>
                        </a:rPr>
                        <a:t>Data connectors</a:t>
                      </a:r>
                    </a:p>
                  </a:txBody>
                  <a:tcPr marL="82296" marR="64008" marT="32004" marB="32004" anchor="ctr">
                    <a:solidFill>
                      <a:srgbClr val="F7F5F2"/>
                    </a:solidFill>
                  </a:tcPr>
                </a:tc>
                <a:tc>
                  <a:txBody>
                    <a:bodyPr wrap="square"/>
                    <a:lstStyle/>
                    <a:p>
                      <a:r>
                        <a:rPr sz="1400" b="0">
                          <a:solidFill>
                            <a:srgbClr val="1A1A1A"/>
                          </a:solidFill>
                          <a:latin typeface="Calibri"/>
                        </a:rPr>
                        <a:t>A database, warehouse or vector store connection</a:t>
                      </a:r>
                    </a:p>
                  </a:txBody>
                  <a:tcPr marL="82296" marR="64008" marT="32004" marB="32004" anchor="ctr">
                    <a:solidFill>
                      <a:srgbClr val="F7F5F2"/>
                    </a:solidFill>
                  </a:tcPr>
                </a:tc>
                <a:tc>
                  <a:txBody>
                    <a:bodyPr wrap="square"/>
                    <a:lstStyle/>
                    <a:p>
                      <a:r>
                        <a:rPr sz="1400" b="0">
                          <a:solidFill>
                            <a:srgbClr val="1A1A1A"/>
                          </a:solidFill>
                          <a:latin typeface="Calibri"/>
                        </a:rPr>
                        <a:t>Read-only list, describe, query and search tools, and curated views</a:t>
                      </a:r>
                    </a:p>
                  </a:txBody>
                  <a:tcPr marL="82296" marR="64008" marT="32004" marB="32004" anchor="ctr">
                    <a:solidFill>
                      <a:srgbClr val="F7F5F2"/>
                    </a:solidFill>
                  </a:tcPr>
                </a:tc>
              </a:tr>
              <a:tr h="559562">
                <a:tc>
                  <a:txBody>
                    <a:bodyPr wrap="square"/>
                    <a:lstStyle/>
                    <a:p>
                      <a:r>
                        <a:rPr sz="1400" b="1">
                          <a:solidFill>
                            <a:srgbClr val="6E1120"/>
                          </a:solidFill>
                          <a:latin typeface="Calibri"/>
                        </a:rPr>
                        <a:t>Federation</a:t>
                      </a:r>
                    </a:p>
                  </a:txBody>
                  <a:tcPr marL="82296" marR="64008" marT="32004" marB="32004" anchor="ctr">
                    <a:solidFill>
                      <a:srgbClr val="FFFFFF"/>
                    </a:solidFill>
                  </a:tcPr>
                </a:tc>
                <a:tc>
                  <a:txBody>
                    <a:bodyPr wrap="square"/>
                    <a:lstStyle/>
                    <a:p>
                      <a:r>
                        <a:rPr sz="1400" b="0">
                          <a:solidFill>
                            <a:srgbClr val="1A1A1A"/>
                          </a:solidFill>
                          <a:latin typeface="Calibri"/>
                        </a:rPr>
                        <a:t>Another MCP server's address</a:t>
                      </a:r>
                    </a:p>
                  </a:txBody>
                  <a:tcPr marL="82296" marR="64008" marT="32004" marB="32004" anchor="ctr">
                    <a:solidFill>
                      <a:srgbClr val="FFFFFF"/>
                    </a:solidFill>
                  </a:tcPr>
                </a:tc>
                <a:tc>
                  <a:txBody>
                    <a:bodyPr wrap="square"/>
                    <a:lstStyle/>
                    <a:p>
                      <a:r>
                        <a:rPr sz="1400" b="0">
                          <a:solidFill>
                            <a:srgbClr val="1A1A1A"/>
                          </a:solidFill>
                          <a:latin typeface="Calibri"/>
                        </a:rPr>
                        <a:t>Its tools in the catalog, under SAJHA's rules</a:t>
                      </a:r>
                    </a:p>
                  </a:txBody>
                  <a:tcPr marL="82296" marR="64008" marT="32004" marB="32004" anchor="ctr">
                    <a:solidFill>
                      <a:srgbClr val="FFFFFF"/>
                    </a:solidFill>
                  </a:tcPr>
                </a:tc>
              </a:tr>
              <a:tr h="334645">
                <a:tc>
                  <a:txBody>
                    <a:bodyPr wrap="square"/>
                    <a:lstStyle/>
                    <a:p>
                      <a:r>
                        <a:rPr sz="1400" b="1">
                          <a:solidFill>
                            <a:srgbClr val="6E1120"/>
                          </a:solidFill>
                          <a:latin typeface="Calibri"/>
                        </a:rPr>
                        <a:t>Composite tool</a:t>
                      </a:r>
                    </a:p>
                  </a:txBody>
                  <a:tcPr marL="82296" marR="64008" marT="32004" marB="32004" anchor="ctr">
                    <a:solidFill>
                      <a:srgbClr val="F7F5F2"/>
                    </a:solidFill>
                  </a:tcPr>
                </a:tc>
                <a:tc>
                  <a:txBody>
                    <a:bodyPr wrap="square"/>
                    <a:lstStyle/>
                    <a:p>
                      <a:r>
                        <a:rPr sz="1400" b="0">
                          <a:solidFill>
                            <a:srgbClr val="1A1A1A"/>
                          </a:solidFill>
                          <a:latin typeface="Calibri"/>
                        </a:rPr>
                        <a:t>Steps that chain existing tools</a:t>
                      </a:r>
                    </a:p>
                  </a:txBody>
                  <a:tcPr marL="82296" marR="64008" marT="32004" marB="32004" anchor="ctr">
                    <a:solidFill>
                      <a:srgbClr val="F7F5F2"/>
                    </a:solidFill>
                  </a:tcPr>
                </a:tc>
                <a:tc>
                  <a:txBody>
                    <a:bodyPr wrap="square"/>
                    <a:lstStyle/>
                    <a:p>
                      <a:r>
                        <a:rPr sz="1400" b="0">
                          <a:solidFill>
                            <a:srgbClr val="1A1A1A"/>
                          </a:solidFill>
                          <a:latin typeface="Calibri"/>
                        </a:rPr>
                        <a:t>One tool, with confidence tracking</a:t>
                      </a:r>
                    </a:p>
                  </a:txBody>
                  <a:tcPr marL="82296" marR="64008" marT="32004" marB="32004" anchor="ctr">
                    <a:solidFill>
                      <a:srgbClr val="F7F5F2"/>
                    </a:solidFill>
                  </a:tcPr>
                </a:tc>
              </a:tr>
              <a:tr h="559562">
                <a:tc>
                  <a:txBody>
                    <a:bodyPr wrap="square"/>
                    <a:lstStyle/>
                    <a:p>
                      <a:r>
                        <a:rPr sz="1400" b="1">
                          <a:solidFill>
                            <a:srgbClr val="6E1120"/>
                          </a:solidFill>
                          <a:latin typeface="Calibri"/>
                        </a:rPr>
                        <a:t>Workflow</a:t>
                      </a:r>
                    </a:p>
                  </a:txBody>
                  <a:tcPr marL="82296" marR="64008" marT="32004" marB="32004" anchor="ctr">
                    <a:solidFill>
                      <a:srgbClr val="FFFFFF"/>
                    </a:solidFill>
                  </a:tcPr>
                </a:tc>
                <a:tc>
                  <a:txBody>
                    <a:bodyPr wrap="square"/>
                    <a:lstStyle/>
                    <a:p>
                      <a:r>
                        <a:rPr sz="1400" b="0">
                          <a:solidFill>
                            <a:srgbClr val="1A1A1A"/>
                          </a:solidFill>
                          <a:latin typeface="Calibri"/>
                        </a:rPr>
                        <a:t>A graph of steps and a trigger</a:t>
                      </a:r>
                    </a:p>
                  </a:txBody>
                  <a:tcPr marL="82296" marR="64008" marT="32004" marB="32004" anchor="ctr">
                    <a:solidFill>
                      <a:srgbClr val="FFFFFF"/>
                    </a:solidFill>
                  </a:tcPr>
                </a:tc>
                <a:tc>
                  <a:txBody>
                    <a:bodyPr wrap="square"/>
                    <a:lstStyle/>
                    <a:p>
                      <a:r>
                        <a:rPr sz="1400" b="0">
                          <a:solidFill>
                            <a:srgbClr val="1A1A1A"/>
                          </a:solidFill>
                          <a:latin typeface="Calibri"/>
                        </a:rPr>
                        <a:t>A scheduled or triggered run, optionally a tool</a:t>
                      </a:r>
                    </a:p>
                  </a:txBody>
                  <a:tcPr marL="82296" marR="64008" marT="32004" marB="32004" anchor="ct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DESCRIBE A TOOL</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A sentence becomes a proposal, and nothing deploys without a person</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6 · Every tool you have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34</a:t>
            </a:r>
          </a:p>
        </p:txBody>
      </p:sp>
      <p:sp>
        <p:nvSpPr>
          <p:cNvPr id="10" name="Rectangle 9"/>
          <p:cNvSpPr/>
          <p:nvPr/>
        </p:nvSpPr>
        <p:spPr>
          <a:xfrm>
            <a:off x="777240"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Describe</a:t>
            </a:r>
          </a:p>
        </p:txBody>
      </p:sp>
      <p:sp>
        <p:nvSpPr>
          <p:cNvPr id="13" name="TextBox 12"/>
          <p:cNvSpPr txBox="1"/>
          <p:nvPr/>
        </p:nvSpPr>
        <p:spPr>
          <a:xfrm>
            <a:off x="960120" y="1819719"/>
            <a:ext cx="1556857" cy="2102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“Fetch today's FX rate for a currency pair from our rates API.”</a:t>
            </a:r>
          </a:p>
        </p:txBody>
      </p:sp>
      <p:sp>
        <p:nvSpPr>
          <p:cNvPr id="14" name="Rectangle 13"/>
          <p:cNvSpPr/>
          <p:nvPr/>
        </p:nvSpPr>
        <p:spPr>
          <a:xfrm>
            <a:off x="2955889"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5889"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38769"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Propose</a:t>
            </a:r>
          </a:p>
        </p:txBody>
      </p:sp>
      <p:sp>
        <p:nvSpPr>
          <p:cNvPr id="17" name="TextBox 16"/>
          <p:cNvSpPr txBox="1"/>
          <p:nvPr/>
        </p:nvSpPr>
        <p:spPr>
          <a:xfrm>
            <a:off x="3138769" y="1819719"/>
            <a:ext cx="1556857" cy="2102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The toolsmith model drafts the kind, name, schemas, implementation and test cases.</a:t>
            </a:r>
          </a:p>
        </p:txBody>
      </p:sp>
      <p:cxnSp>
        <p:nvCxnSpPr>
          <p:cNvPr id="18" name="Connector 17"/>
          <p:cNvCxnSpPr/>
          <p:nvPr/>
        </p:nvCxnSpPr>
        <p:spPr>
          <a:xfrm>
            <a:off x="2727289" y="267823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34538"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34538"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17418"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Check</a:t>
            </a:r>
          </a:p>
        </p:txBody>
      </p:sp>
      <p:sp>
        <p:nvSpPr>
          <p:cNvPr id="22" name="TextBox 21"/>
          <p:cNvSpPr txBox="1"/>
          <p:nvPr/>
        </p:nvSpPr>
        <p:spPr>
          <a:xfrm>
            <a:off x="5317418" y="1819719"/>
            <a:ext cx="1556857" cy="2102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Treated as untrusted: read-only SQL, host checks, no credentials, risky imports flagged.</a:t>
            </a:r>
          </a:p>
        </p:txBody>
      </p:sp>
      <p:cxnSp>
        <p:nvCxnSpPr>
          <p:cNvPr id="23" name="Connector 22"/>
          <p:cNvCxnSpPr/>
          <p:nvPr/>
        </p:nvCxnSpPr>
        <p:spPr>
          <a:xfrm>
            <a:off x="4905938" y="267823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13188"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3188"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6068"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Test</a:t>
            </a:r>
          </a:p>
        </p:txBody>
      </p:sp>
      <p:sp>
        <p:nvSpPr>
          <p:cNvPr id="27" name="TextBox 26"/>
          <p:cNvSpPr txBox="1"/>
          <p:nvPr/>
        </p:nvSpPr>
        <p:spPr>
          <a:xfrm>
            <a:off x="7496068" y="1819719"/>
            <a:ext cx="1556857" cy="2102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Cases run in the sandbox, offline where possible, bound to the draft's SHA-256.</a:t>
            </a:r>
          </a:p>
        </p:txBody>
      </p:sp>
      <p:cxnSp>
        <p:nvCxnSpPr>
          <p:cNvPr id="28" name="Connector 27"/>
          <p:cNvCxnSpPr/>
          <p:nvPr/>
        </p:nvCxnSpPr>
        <p:spPr>
          <a:xfrm>
            <a:off x="7084588" y="267823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491837"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91837"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74717"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Approve</a:t>
            </a:r>
          </a:p>
        </p:txBody>
      </p:sp>
      <p:sp>
        <p:nvSpPr>
          <p:cNvPr id="32" name="TextBox 31"/>
          <p:cNvSpPr txBox="1"/>
          <p:nvPr/>
        </p:nvSpPr>
        <p:spPr>
          <a:xfrm>
            <a:off x="9674717" y="1819719"/>
            <a:ext cx="1556857" cy="2102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An administrator approves that hash; policy can require a second one.</a:t>
            </a:r>
          </a:p>
        </p:txBody>
      </p:sp>
      <p:cxnSp>
        <p:nvCxnSpPr>
          <p:cNvPr id="33" name="Connector 32"/>
          <p:cNvCxnSpPr/>
          <p:nvPr/>
        </p:nvCxnSpPr>
        <p:spPr>
          <a:xfrm>
            <a:off x="9263237" y="267823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4260151"/>
            <a:ext cx="10637215" cy="1985200"/>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A1A1A"/>
                </a:solidFill>
                <a:latin typeface="Calibri"/>
              </a:rPr>
              <a:t>Out of the box the toolsmith alias points at an offline mock that knows a few shapes; real designs need a real model. Generated Python tools always run sandboxed.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APIS AND DATABASES</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An API description or a database becomes governed, read-only tools</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6 · Every tool you have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35</a:t>
            </a:r>
          </a:p>
        </p:txBody>
      </p:sp>
      <p:sp>
        <p:nvSpPr>
          <p:cNvPr id="10" name="Rectangle 9"/>
          <p:cNvSpPr/>
          <p:nvPr/>
        </p:nvSpPr>
        <p:spPr>
          <a:xfrm>
            <a:off x="777240" y="130663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0663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37979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Import an API</a:t>
            </a:r>
          </a:p>
        </p:txBody>
      </p:sp>
      <p:sp>
        <p:nvSpPr>
          <p:cNvPr id="13" name="TextBox 12"/>
          <p:cNvSpPr txBox="1"/>
          <p:nvPr/>
        </p:nvSpPr>
        <p:spPr>
          <a:xfrm>
            <a:off x="777240" y="1818703"/>
            <a:ext cx="5135727" cy="4426648"/>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A1A1A"/>
                </a:solidFill>
                <a:latin typeface="Calibri"/>
              </a:rPr>
              <a:t>OpenAPI 3.x, Swagger 2.0 or a GraphQL endpoint becomes a preview of every operation: name, JSON Schema in and out, read-only and destructive hints.</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Choose, test one call, deploy; credentials only as secret references.</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Every call passes an SSRF guard; re-import shows a diff. Multipart bodies are not supported.</a:t>
            </a:r>
          </a:p>
        </p:txBody>
      </p:sp>
      <p:sp>
        <p:nvSpPr>
          <p:cNvPr id="14" name="Rectangle 13"/>
          <p:cNvSpPr/>
          <p:nvPr/>
        </p:nvSpPr>
        <p:spPr>
          <a:xfrm>
            <a:off x="6278727" y="130663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0663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37979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Data connectors</a:t>
            </a:r>
          </a:p>
        </p:txBody>
      </p:sp>
      <p:sp>
        <p:nvSpPr>
          <p:cNvPr id="17" name="TextBox 16"/>
          <p:cNvSpPr txBox="1"/>
          <p:nvPr/>
        </p:nvSpPr>
        <p:spPr>
          <a:xfrm>
            <a:off x="6278727" y="1818703"/>
            <a:ext cx="5135727" cy="4426648"/>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A1A1A"/>
                </a:solidFill>
                <a:latin typeface="Calibri"/>
              </a:rPr>
              <a:t>SQL: postgresql, pgvector, redshift, mysql, mariadb, sqlserver, oracle, snowflake, bigquery, databricks, sqlite and duckdb. Search: qdrant, elasticsearch and opensearch.</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Read-only three times over: a statement guard, a read-only session, and the login's own grants. Row, byte and time limits; masking per column.</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Curated views become typed tools; snowflake, bigquery and databricks can sign in as each user.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FEDERATION</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A1A1A"/>
                </a:solidFill>
                <a:latin typeface="Georgia"/>
              </a:rPr>
              <a:t>Other MCP servers' tools join the catalog under SAJHA's rules</a:t>
            </a:r>
          </a:p>
        </p:txBody>
      </p:sp>
      <p:sp>
        <p:nvSpPr>
          <p:cNvPr id="6" name="Rectangle 5"/>
          <p:cNvSpPr/>
          <p:nvPr/>
        </p:nvSpPr>
        <p:spPr>
          <a:xfrm>
            <a:off x="777240" y="1210754"/>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6 · Every tool you have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36</a:t>
            </a:r>
          </a:p>
        </p:txBody>
      </p:sp>
      <p:sp>
        <p:nvSpPr>
          <p:cNvPr id="10" name="TextBox 9"/>
          <p:cNvSpPr txBox="1"/>
          <p:nvPr/>
        </p:nvSpPr>
        <p:spPr>
          <a:xfrm>
            <a:off x="777240" y="1338770"/>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Federation means SAJHA fronting another MCP server: its tools appear in the catalog as &lt;prefix&gt;__&lt;tool&gt; and every call to them passes SAJHA's access policy, rules, cache, circuit breakers and audit. It is off by default.</a:t>
            </a:r>
          </a:p>
        </p:txBody>
      </p:sp>
      <p:sp>
        <p:nvSpPr>
          <p:cNvPr id="11" name="TextBox 10"/>
          <p:cNvSpPr txBox="1"/>
          <p:nvPr/>
        </p:nvSpPr>
        <p:spPr>
          <a:xfrm>
            <a:off x="777240" y="2236787"/>
            <a:ext cx="10637215" cy="4008564"/>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A1A1A"/>
                </a:solidFill>
                <a:latin typeface="Calibri"/>
              </a:rPr>
              <a:t>Approval before exposure</a:t>
            </a:r>
          </a:p>
          <a:p>
            <a:pPr lvl="1">
              <a:lnSpc>
                <a:spcPct val="120000"/>
              </a:lnSpc>
              <a:spcBef>
                <a:spcPts val="0"/>
              </a:spcBef>
              <a:spcAft>
                <a:spcPts val="0"/>
              </a:spcAft>
            </a:pPr>
            <a:r>
              <a:rPr sz="1550" b="0">
                <a:solidFill>
                  <a:srgbClr val="6B7480"/>
                </a:solidFill>
                <a:latin typeface="Calibri"/>
              </a:rPr>
              <a:t>An upstream's tools wait for an administrator; a changed definition waits again.</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Screened text</a:t>
            </a:r>
          </a:p>
          <a:p>
            <a:pPr lvl="1">
              <a:lnSpc>
                <a:spcPct val="120000"/>
              </a:lnSpc>
              <a:spcBef>
                <a:spcPts val="0"/>
              </a:spcBef>
              <a:spcAft>
                <a:spcPts val="0"/>
              </a:spcAft>
            </a:pPr>
            <a:r>
              <a:rPr sz="1550" b="0">
                <a:solidFill>
                  <a:srgbClr val="6B7480"/>
                </a:solidFill>
                <a:latin typeface="Calibri"/>
              </a:rPr>
              <a:t>Descriptions and results are screened for injected instructions; flagged items always wait for a person.</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Fenced network</a:t>
            </a:r>
          </a:p>
          <a:p>
            <a:pPr lvl="1">
              <a:lnSpc>
                <a:spcPct val="120000"/>
              </a:lnSpc>
              <a:spcBef>
                <a:spcPts val="0"/>
              </a:spcBef>
              <a:spcAft>
                <a:spcPts val="0"/>
              </a:spcAft>
            </a:pPr>
            <a:r>
              <a:rPr sz="1550" b="0">
                <a:solidFill>
                  <a:srgbClr val="6B7480"/>
                </a:solidFill>
                <a:latin typeface="Calibri"/>
              </a:rPr>
              <a:t>Upstream and token addresses pass an SSRF guard; each user's own token can be passed through instead of a shared one.</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Not isolated</a:t>
            </a:r>
          </a:p>
          <a:p>
            <a:pPr lvl="1">
              <a:lnSpc>
                <a:spcPct val="120000"/>
              </a:lnSpc>
              <a:spcBef>
                <a:spcPts val="0"/>
              </a:spcBef>
              <a:spcAft>
                <a:spcPts val="0"/>
              </a:spcAft>
            </a:pPr>
            <a:r>
              <a:rPr sz="1550" b="0">
                <a:solidFill>
                  <a:srgbClr val="6B7480"/>
                </a:solidFill>
                <a:latin typeface="Calibri"/>
              </a:rPr>
              <a:t>An upstream server runs where it runs; SAJHA governs the calls, not the server's process.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COMPOSITION</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Confidence falls as uncertain steps chain, and SAJHA computes by how much</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6 · Every tool you have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37</a:t>
            </a:r>
          </a:p>
        </p:txBody>
      </p:sp>
      <p:sp>
        <p:nvSpPr>
          <p:cNvPr id="10" name="Rectangle 9"/>
          <p:cNvSpPr/>
          <p:nvPr/>
        </p:nvSpPr>
        <p:spPr>
          <a:xfrm>
            <a:off x="777240" y="1611884"/>
            <a:ext cx="5341156"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61188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685036"/>
            <a:ext cx="5066836"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Computed while building this deck</a:t>
            </a:r>
          </a:p>
        </p:txBody>
      </p:sp>
      <p:sp>
        <p:nvSpPr>
          <p:cNvPr id="13" name="Rectangle 12"/>
          <p:cNvSpPr/>
          <p:nvPr/>
        </p:nvSpPr>
        <p:spPr>
          <a:xfrm>
            <a:off x="777240" y="2123948"/>
            <a:ext cx="5341156" cy="4121403"/>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123948"/>
            <a:ext cx="41148" cy="41214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270252"/>
            <a:ext cx="4957108" cy="3847083"/>
          </a:xfrm>
          <a:prstGeom prst="rect">
            <a:avLst/>
          </a:prstGeom>
          <a:noFill/>
        </p:spPr>
        <p:txBody>
          <a:bodyPr wrap="square" lIns="0" rIns="0" tIns="0" bIns="0" anchor="t">
            <a:spAutoFit/>
          </a:bodyPr>
          <a:lstStyle/>
          <a:p>
            <a:pPr algn="l">
              <a:lnSpc>
                <a:spcPct val="110000"/>
              </a:lnSpc>
              <a:spcBef>
                <a:spcPts val="0"/>
              </a:spcBef>
              <a:spcAft>
                <a:spcPts val="200"/>
              </a:spcAft>
            </a:pPr>
            <a:r>
              <a:rPr sz="1250" b="0" i="0">
                <a:solidFill>
                  <a:srgbClr val="6B7480"/>
                </a:solidFill>
                <a:latin typeface="Consolas"/>
              </a:rPr>
              <a:t># confidence through a three-step composite</a:t>
            </a:r>
          </a:p>
          <a:p>
            <a:pPr>
              <a:lnSpc>
                <a:spcPct val="110000"/>
              </a:lnSpc>
              <a:spcBef>
                <a:spcPts val="0"/>
              </a:spcBef>
              <a:spcAft>
                <a:spcPts val="200"/>
              </a:spcAft>
            </a:pPr>
            <a:r>
              <a:rPr sz="1250" b="0" i="0">
                <a:solidFill>
                  <a:srgbClr val="6B7480"/>
                </a:solidFill>
                <a:latin typeface="Consolas"/>
              </a:rPr>
              <a:t># step                      conf  chain  bits</a:t>
            </a:r>
          </a:p>
          <a:p>
            <a:pPr>
              <a:lnSpc>
                <a:spcPct val="110000"/>
              </a:lnSpc>
              <a:spcBef>
                <a:spcPts val="0"/>
              </a:spcBef>
              <a:spcAft>
                <a:spcPts val="200"/>
              </a:spcAft>
            </a:pPr>
            <a:r>
              <a:rPr sz="1250" b="0" i="0">
                <a:solidFill>
                  <a:srgbClr val="1A1A1A"/>
                </a:solidFill>
                <a:latin typeface="Consolas"/>
              </a:rPr>
              <a:t>fred_series_observations  0.95  0.950  0.29</a:t>
            </a:r>
          </a:p>
          <a:p>
            <a:pPr>
              <a:lnSpc>
                <a:spcPct val="110000"/>
              </a:lnSpc>
              <a:spcBef>
                <a:spcPts val="0"/>
              </a:spcBef>
              <a:spcAft>
                <a:spcPts val="200"/>
              </a:spcAft>
            </a:pPr>
            <a:r>
              <a:rPr sz="1250" b="0" i="0">
                <a:solidFill>
                  <a:srgbClr val="1A1A1A"/>
                </a:solidFill>
                <a:latin typeface="Consolas"/>
              </a:rPr>
              <a:t>fmp_company_profile       0.93  0.883  0.52</a:t>
            </a:r>
          </a:p>
          <a:p>
            <a:pPr>
              <a:lnSpc>
                <a:spcPct val="110000"/>
              </a:lnSpc>
              <a:spcBef>
                <a:spcPts val="0"/>
              </a:spcBef>
              <a:spcAft>
                <a:spcPts val="200"/>
              </a:spcAft>
            </a:pPr>
            <a:r>
              <a:rPr sz="1250" b="0" i="0">
                <a:solidFill>
                  <a:srgbClr val="1A1A1A"/>
                </a:solidFill>
                <a:latin typeface="Consolas"/>
              </a:rPr>
              <a:t>calc_percentage_change    1.00  0.883  0.52</a:t>
            </a:r>
          </a:p>
          <a:p>
            <a:pPr>
              <a:lnSpc>
                <a:spcPct val="110000"/>
              </a:lnSpc>
              <a:spcBef>
                <a:spcPts val="0"/>
              </a:spcBef>
              <a:spcAft>
                <a:spcPts val="200"/>
              </a:spcAft>
            </a:pPr>
            <a:r>
              <a:rPr sz="1250" b="0" i="0">
                <a:solidFill>
                  <a:srgbClr val="1A1A1A"/>
                </a:solidFill>
                <a:latin typeface="Consolas"/>
              </a:rPr>
              <a:t/>
            </a:r>
          </a:p>
          <a:p>
            <a:pPr>
              <a:lnSpc>
                <a:spcPct val="110000"/>
              </a:lnSpc>
              <a:spcBef>
                <a:spcPts val="0"/>
              </a:spcBef>
              <a:spcAft>
                <a:spcPts val="200"/>
              </a:spcAft>
            </a:pPr>
            <a:r>
              <a:rPr sz="1250" b="0" i="0">
                <a:solidFill>
                  <a:srgbClr val="6B7480"/>
                </a:solidFill>
                <a:latin typeface="Consolas"/>
              </a:rPr>
              <a:t># refused above 3.0 bits (max_entropy_bits)</a:t>
            </a:r>
          </a:p>
        </p:txBody>
      </p:sp>
      <p:sp>
        <p:nvSpPr>
          <p:cNvPr id="16" name="Rectangle 15"/>
          <p:cNvSpPr/>
          <p:nvPr/>
        </p:nvSpPr>
        <p:spPr>
          <a:xfrm>
            <a:off x="6484156" y="1611884"/>
            <a:ext cx="4930298"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84156" y="161188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48748" y="1685036"/>
            <a:ext cx="4655978"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Why it matters</a:t>
            </a:r>
          </a:p>
        </p:txBody>
      </p:sp>
      <p:sp>
        <p:nvSpPr>
          <p:cNvPr id="19" name="TextBox 18"/>
          <p:cNvSpPr txBox="1"/>
          <p:nvPr/>
        </p:nvSpPr>
        <p:spPr>
          <a:xfrm>
            <a:off x="6484156" y="2123948"/>
            <a:ext cx="4930298" cy="4121403"/>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A1A1A"/>
                </a:solidFill>
                <a:latin typeface="Calibri"/>
              </a:rPr>
              <a:t>Sequential steps multiply confidence; parallel steps take the lowest.</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Entropy in bits measures the doubt that has built up; a composite whose predicted entropy passes the limit is refused before it runs.</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A deterministic step (a calculator) adds no doubt, so it does not lower the chain.</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Composite tools are ordinary catalog tools, so every rule of Part 5 applies to them.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WORKFLOWS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A schedule or an event runs a governed graph of steps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6 · Every tool you have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38</a:t>
            </a:r>
          </a:p>
        </p:txBody>
      </p:sp>
      <p:sp>
        <p:nvSpPr>
          <p:cNvPr id="10" name="Rectangle 9"/>
          <p:cNvSpPr/>
          <p:nvPr/>
        </p:nvSpPr>
        <p:spPr>
          <a:xfrm>
            <a:off x="777240" y="1386967"/>
            <a:ext cx="3436010"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STEPS</a:t>
            </a:r>
          </a:p>
        </p:txBody>
      </p:sp>
      <p:sp>
        <p:nvSpPr>
          <p:cNvPr id="13" name="TextBox 12"/>
          <p:cNvSpPr txBox="1"/>
          <p:nvPr/>
        </p:nvSpPr>
        <p:spPr>
          <a:xfrm>
            <a:off x="960120"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Tools, composites, questions, decisions</a:t>
            </a:r>
          </a:p>
        </p:txBody>
      </p:sp>
      <p:sp>
        <p:nvSpPr>
          <p:cNvPr id="14" name="TextBox 13"/>
          <p:cNvSpPr txBox="1"/>
          <p:nvPr/>
        </p:nvSpPr>
        <p:spPr>
          <a:xfrm>
            <a:off x="960120" y="2413127"/>
            <a:ext cx="3070250" cy="119272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Step kinds: tool, composite, ask, condition, foreach, wait and approval.</a:t>
            </a:r>
          </a:p>
        </p:txBody>
      </p:sp>
      <p:sp>
        <p:nvSpPr>
          <p:cNvPr id="15" name="Rectangle 14"/>
          <p:cNvSpPr/>
          <p:nvPr/>
        </p:nvSpPr>
        <p:spPr>
          <a:xfrm>
            <a:off x="4377842" y="1386967"/>
            <a:ext cx="3436010"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7842"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0722"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TRIGGERS</a:t>
            </a:r>
          </a:p>
        </p:txBody>
      </p:sp>
      <p:sp>
        <p:nvSpPr>
          <p:cNvPr id="18" name="TextBox 17"/>
          <p:cNvSpPr txBox="1"/>
          <p:nvPr/>
        </p:nvSpPr>
        <p:spPr>
          <a:xfrm>
            <a:off x="4560722"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Started by time or by events</a:t>
            </a:r>
          </a:p>
        </p:txBody>
      </p:sp>
      <p:sp>
        <p:nvSpPr>
          <p:cNvPr id="19" name="TextBox 18"/>
          <p:cNvSpPr txBox="1"/>
          <p:nvPr/>
        </p:nvSpPr>
        <p:spPr>
          <a:xfrm>
            <a:off x="4560722" y="2413127"/>
            <a:ext cx="3070250" cy="119272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cron schedules, webhook, file and event, or by hand; one fire per slot across workers.</a:t>
            </a:r>
          </a:p>
        </p:txBody>
      </p:sp>
      <p:sp>
        <p:nvSpPr>
          <p:cNvPr id="20" name="Rectangle 19"/>
          <p:cNvSpPr/>
          <p:nvPr/>
        </p:nvSpPr>
        <p:spPr>
          <a:xfrm>
            <a:off x="7978444" y="1386967"/>
            <a:ext cx="3436010"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78444"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1324"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DURABLE</a:t>
            </a:r>
          </a:p>
        </p:txBody>
      </p:sp>
      <p:sp>
        <p:nvSpPr>
          <p:cNvPr id="23" name="TextBox 22"/>
          <p:cNvSpPr txBox="1"/>
          <p:nvPr/>
        </p:nvSpPr>
        <p:spPr>
          <a:xfrm>
            <a:off x="8161324"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A run survives a crash</a:t>
            </a:r>
          </a:p>
        </p:txBody>
      </p:sp>
      <p:sp>
        <p:nvSpPr>
          <p:cNvPr id="24" name="TextBox 23"/>
          <p:cNvSpPr txBox="1"/>
          <p:nvPr/>
        </p:nvSpPr>
        <p:spPr>
          <a:xfrm>
            <a:off x="8161324" y="2156079"/>
            <a:ext cx="3070250"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Every step is stored; another worker takes over a dead worker's run and re-runs only idempotent steps.</a:t>
            </a:r>
          </a:p>
        </p:txBody>
      </p:sp>
      <p:sp>
        <p:nvSpPr>
          <p:cNvPr id="25" name="Rectangle 24"/>
          <p:cNvSpPr/>
          <p:nvPr/>
        </p:nvSpPr>
        <p:spPr>
          <a:xfrm>
            <a:off x="777240" y="3898455"/>
            <a:ext cx="3436010"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3898455"/>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63047"/>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AS THE OWNER</a:t>
            </a:r>
          </a:p>
        </p:txBody>
      </p:sp>
      <p:sp>
        <p:nvSpPr>
          <p:cNvPr id="28" name="TextBox 27"/>
          <p:cNvSpPr txBox="1"/>
          <p:nvPr/>
        </p:nvSpPr>
        <p:spPr>
          <a:xfrm>
            <a:off x="960120" y="4319079"/>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Runs with the owner's rights</a:t>
            </a:r>
          </a:p>
        </p:txBody>
      </p:sp>
      <p:sp>
        <p:nvSpPr>
          <p:cNvPr id="29" name="TextBox 28"/>
          <p:cNvSpPr txBox="1"/>
          <p:nvPr/>
        </p:nvSpPr>
        <p:spPr>
          <a:xfrm>
            <a:off x="960120" y="4924615"/>
            <a:ext cx="3070250" cy="119272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Steps run with the owner's current roles, seen by policy, usage and audit as that caller.</a:t>
            </a:r>
          </a:p>
        </p:txBody>
      </p:sp>
      <p:sp>
        <p:nvSpPr>
          <p:cNvPr id="30" name="Rectangle 29"/>
          <p:cNvSpPr/>
          <p:nvPr/>
        </p:nvSpPr>
        <p:spPr>
          <a:xfrm>
            <a:off x="4377842" y="3898455"/>
            <a:ext cx="3436010"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77842" y="3898455"/>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60722" y="4063047"/>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RE-RUN</a:t>
            </a:r>
          </a:p>
        </p:txBody>
      </p:sp>
      <p:sp>
        <p:nvSpPr>
          <p:cNvPr id="33" name="TextBox 32"/>
          <p:cNvSpPr txBox="1"/>
          <p:nvPr/>
        </p:nvSpPr>
        <p:spPr>
          <a:xfrm>
            <a:off x="4560722" y="4319079"/>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From the step that failed</a:t>
            </a:r>
          </a:p>
        </p:txBody>
      </p:sp>
      <p:sp>
        <p:nvSpPr>
          <p:cNvPr id="34" name="TextBox 33"/>
          <p:cNvSpPr txBox="1"/>
          <p:nvPr/>
        </p:nvSpPr>
        <p:spPr>
          <a:xfrm>
            <a:off x="4560722" y="4667567"/>
            <a:ext cx="3070250"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Finished steps are reused; a run can be cancelled.</a:t>
            </a:r>
          </a:p>
        </p:txBody>
      </p:sp>
      <p:sp>
        <p:nvSpPr>
          <p:cNvPr id="35" name="Rectangle 34"/>
          <p:cNvSpPr/>
          <p:nvPr/>
        </p:nvSpPr>
        <p:spPr>
          <a:xfrm>
            <a:off x="7978444" y="3898455"/>
            <a:ext cx="3436010"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78444" y="3898455"/>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61324" y="4063047"/>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PUBLISHED</a:t>
            </a:r>
          </a:p>
        </p:txBody>
      </p:sp>
      <p:sp>
        <p:nvSpPr>
          <p:cNvPr id="38" name="TextBox 37"/>
          <p:cNvSpPr txBox="1"/>
          <p:nvPr/>
        </p:nvSpPr>
        <p:spPr>
          <a:xfrm>
            <a:off x="8161324" y="4319079"/>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A workflow can be a tool</a:t>
            </a:r>
          </a:p>
        </p:txBody>
      </p:sp>
      <p:sp>
        <p:nvSpPr>
          <p:cNvPr id="39" name="TextBox 38"/>
          <p:cNvSpPr txBox="1"/>
          <p:nvPr/>
        </p:nvSpPr>
        <p:spPr>
          <a:xfrm>
            <a:off x="8161324" y="4667567"/>
            <a:ext cx="3070250"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An administrator can publish it to the catalog, callable from both eras.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F3C6CF"/>
                </a:solidFill>
                <a:latin typeface="Calibri"/>
              </a:rPr>
              <a:t>PART 7</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800" b="0" i="0">
                <a:solidFill>
                  <a:srgbClr val="FFFFFF"/>
                </a:solidFill>
                <a:latin typeface="Georgia"/>
              </a:rPr>
              <a:t>The intelligence layer</a:t>
            </a:r>
          </a:p>
        </p:txBody>
      </p:sp>
      <p:sp>
        <p:nvSpPr>
          <p:cNvPr id="6" name="Rectangle 5"/>
          <p:cNvSpPr/>
          <p:nvPr/>
        </p:nvSpPr>
        <p:spPr>
          <a:xfrm>
            <a:off x="1005840" y="3383280"/>
            <a:ext cx="137160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BEEF0"/>
                </a:solidFill>
                <a:latin typeface="Calibri"/>
              </a:rPr>
              <a:t>SAJHA does not need a language model to serve tools; clients bring their own. It has one anyway, for Ask SAJHA, for describing tools and for workflows, and it is built so that no provider is required and none is privileged.</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F3C6CF"/>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BEEF0"/>
                </a:solidFill>
                <a:latin typeface="Calibri"/>
              </a:rPr>
              <a:t>Providers behind one gateway</a:t>
            </a:r>
          </a:p>
          <a:p>
            <a:pPr>
              <a:lnSpc>
                <a:spcPct val="115000"/>
              </a:lnSpc>
              <a:spcBef>
                <a:spcPts val="0"/>
              </a:spcBef>
              <a:spcAft>
                <a:spcPts val="600"/>
              </a:spcAft>
            </a:pPr>
            <a:r>
              <a:rPr sz="1200" b="0" i="0">
                <a:solidFill>
                  <a:srgbClr val="FBEEF0"/>
                </a:solidFill>
                <a:latin typeface="Calibri"/>
              </a:rPr>
              <a:t>Planners</a:t>
            </a:r>
          </a:p>
          <a:p>
            <a:pPr>
              <a:lnSpc>
                <a:spcPct val="115000"/>
              </a:lnSpc>
              <a:spcBef>
                <a:spcPts val="0"/>
              </a:spcBef>
              <a:spcAft>
                <a:spcPts val="600"/>
              </a:spcAft>
            </a:pPr>
            <a:r>
              <a:rPr sz="1200" b="0" i="0">
                <a:solidFill>
                  <a:srgbClr val="FBEEF0"/>
                </a:solidFill>
                <a:latin typeface="Calibri"/>
              </a:rPr>
              <a:t>Memory and document search</a:t>
            </a:r>
          </a:p>
          <a:p>
            <a:pPr>
              <a:lnSpc>
                <a:spcPct val="115000"/>
              </a:lnSpc>
              <a:spcBef>
                <a:spcPts val="0"/>
              </a:spcBef>
              <a:spcAft>
                <a:spcPts val="600"/>
              </a:spcAft>
            </a:pPr>
            <a:r>
              <a:rPr sz="1200" b="0" i="0">
                <a:solidFill>
                  <a:srgbClr val="FBEEF0"/>
                </a:solidFill>
                <a:latin typeface="Calibri"/>
              </a:rPr>
              <a:t>Evals, and what the mock cannot do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PROVIDERS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19 provider types behind one gateway, and none is required</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7 · The intelligence layer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40</a:t>
            </a:r>
          </a:p>
        </p:txBody>
      </p:sp>
      <p:sp>
        <p:nvSpPr>
          <p:cNvPr id="10" name="TextBox 9"/>
          <p:cNvSpPr txBox="1"/>
          <p:nvPr/>
        </p:nvSpPr>
        <p:spPr>
          <a:xfrm>
            <a:off x="777240" y="1354836"/>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A provider is a source of models (a vendor's API or a local server); an alias such as “default” names an ordered list of models to try. Everything that asks a model goes through the gateway.</a:t>
            </a:r>
          </a:p>
        </p:txBody>
      </p:sp>
      <p:sp>
        <p:nvSpPr>
          <p:cNvPr id="11" name="Rectangle 10"/>
          <p:cNvSpPr/>
          <p:nvPr/>
        </p:nvSpPr>
        <p:spPr>
          <a:xfrm>
            <a:off x="777240" y="2008378"/>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08378"/>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136394"/>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18</a:t>
            </a:r>
          </a:p>
        </p:txBody>
      </p:sp>
      <p:sp>
        <p:nvSpPr>
          <p:cNvPr id="14" name="TextBox 13"/>
          <p:cNvSpPr txBox="1"/>
          <p:nvPr/>
        </p:nvSpPr>
        <p:spPr>
          <a:xfrm>
            <a:off x="978408" y="2611882"/>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real provider types, hosted and local</a:t>
            </a:r>
          </a:p>
        </p:txBody>
      </p:sp>
      <p:sp>
        <p:nvSpPr>
          <p:cNvPr id="15" name="Rectangle 14"/>
          <p:cNvSpPr/>
          <p:nvPr/>
        </p:nvSpPr>
        <p:spPr>
          <a:xfrm>
            <a:off x="4390034" y="2008378"/>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0034" y="2008378"/>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1202" y="2136394"/>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a:t>
            </a:r>
          </a:p>
        </p:txBody>
      </p:sp>
      <p:sp>
        <p:nvSpPr>
          <p:cNvPr id="18" name="TextBox 17"/>
          <p:cNvSpPr txBox="1"/>
          <p:nvPr/>
        </p:nvSpPr>
        <p:spPr>
          <a:xfrm>
            <a:off x="4591202" y="2611882"/>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offline mock, the default: works with no keys</a:t>
            </a:r>
          </a:p>
        </p:txBody>
      </p:sp>
      <p:sp>
        <p:nvSpPr>
          <p:cNvPr id="19" name="Rectangle 18"/>
          <p:cNvSpPr/>
          <p:nvPr/>
        </p:nvSpPr>
        <p:spPr>
          <a:xfrm>
            <a:off x="8002828" y="2008378"/>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2828" y="2008378"/>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3996" y="2136394"/>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4</a:t>
            </a:r>
          </a:p>
        </p:txBody>
      </p:sp>
      <p:sp>
        <p:nvSpPr>
          <p:cNvPr id="22" name="TextBox 21"/>
          <p:cNvSpPr txBox="1"/>
          <p:nvPr/>
        </p:nvSpPr>
        <p:spPr>
          <a:xfrm>
            <a:off x="8203996" y="2611882"/>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6B7480"/>
                </a:solidFill>
                <a:latin typeface="Calibri"/>
              </a:rPr>
              <a:t>planners for Ask SAJHA</a:t>
            </a:r>
          </a:p>
        </p:txBody>
      </p:sp>
      <p:sp>
        <p:nvSpPr>
          <p:cNvPr id="23" name="TextBox 22"/>
          <p:cNvSpPr txBox="1"/>
          <p:nvPr/>
        </p:nvSpPr>
        <p:spPr>
          <a:xfrm>
            <a:off x="777240" y="3361690"/>
            <a:ext cx="10637215" cy="2883662"/>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A1A1A"/>
                </a:solidFill>
                <a:latin typeface="Calibri"/>
              </a:rPr>
              <a:t>Built in</a:t>
            </a:r>
          </a:p>
          <a:p>
            <a:pPr lvl="1">
              <a:lnSpc>
                <a:spcPct val="120000"/>
              </a:lnSpc>
              <a:spcBef>
                <a:spcPts val="0"/>
              </a:spcBef>
              <a:spcAft>
                <a:spcPts val="0"/>
              </a:spcAft>
            </a:pPr>
            <a:r>
              <a:rPr sz="1350" b="0">
                <a:solidFill>
                  <a:srgbClr val="6B7480"/>
                </a:solidFill>
                <a:latin typeface="Calibri"/>
              </a:rPr>
              <a:t>anthropic, azure_openai, bedrock, cohere, deepseek, fireworks, gemini, groq, lmstudio, mistral, ollama, openai, openai_compatible, openrouter, perplexity, together, vllm and xai.</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The gateway applies</a:t>
            </a:r>
          </a:p>
          <a:p>
            <a:pPr lvl="1">
              <a:lnSpc>
                <a:spcPct val="120000"/>
              </a:lnSpc>
              <a:spcBef>
                <a:spcPts val="0"/>
              </a:spcBef>
              <a:spcAft>
                <a:spcPts val="0"/>
              </a:spcAft>
            </a:pPr>
            <a:r>
              <a:rPr sz="1350" b="0">
                <a:solidFill>
                  <a:srgbClr val="6B7480"/>
                </a:solidFill>
                <a:latin typeface="Calibri"/>
              </a:rPr>
              <a:t>Per-role policy (which models, whether tools may be offered, token caps), daily budgets per user and role, retries with backoff, a circuit breaker per provider, fallback to the next candidate, a response cache, one trace span per call.</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Extensible</a:t>
            </a:r>
          </a:p>
          <a:p>
            <a:pPr lvl="1">
              <a:lnSpc>
                <a:spcPct val="120000"/>
              </a:lnSpc>
              <a:spcBef>
                <a:spcPts val="0"/>
              </a:spcBef>
              <a:spcAft>
                <a:spcPts val="0"/>
              </a:spcAft>
            </a:pPr>
            <a:r>
              <a:rPr sz="1350" b="0">
                <a:solidFill>
                  <a:srgbClr val="6B7480"/>
                </a:solidFill>
                <a:latin typeface="Calibri"/>
              </a:rPr>
              <a:t>A provider, a model or a planner is a registered class or a package entry point; the extension guide has worked examples.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PLANNERS</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The planner decides the next step; the service keeps every safeguard</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7 · The intelligence layer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41</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Whatever the planner, the service keeps the access-filtered shortlist, refusal of tools not offered, confirmation of destructive tools, limits, citations, confidence and audit. A planner reaches a model only through the gateway and never touches a tool.</a:t>
            </a:r>
          </a:p>
        </p:txBody>
      </p:sp>
      <p:graphicFrame>
        <p:nvGraphicFramePr>
          <p:cNvPr id="12" name="Table 11"/>
          <p:cNvGraphicFramePr>
            <a:graphicFrameLocks noGrp="1"/>
          </p:cNvGraphicFramePr>
          <p:nvPr/>
        </p:nvGraphicFramePr>
        <p:xfrm>
          <a:off x="777240" y="1306639"/>
          <a:ext cx="10637214" cy="2765679"/>
        </p:xfrm>
        <a:graphic>
          <a:graphicData uri="http://schemas.openxmlformats.org/drawingml/2006/table">
            <a:tbl>
              <a:tblPr firstRow="1">
                <a:tableStyleId>{5C22544A-7EE6-4342-B048-85BDC9FD1C3A}</a:tableStyleId>
              </a:tblPr>
              <a:tblGrid>
                <a:gridCol w="1819523"/>
                <a:gridCol w="6018424"/>
                <a:gridCol w="2799267"/>
              </a:tblGrid>
              <a:tr h="527431">
                <a:tc>
                  <a:txBody>
                    <a:bodyPr wrap="square"/>
                    <a:lstStyle/>
                    <a:p>
                      <a:r>
                        <a:rPr sz="1300" b="1">
                          <a:solidFill>
                            <a:srgbClr val="FFFFFF"/>
                          </a:solidFill>
                          <a:latin typeface="Calibri"/>
                        </a:rPr>
                        <a:t>Planner</a:t>
                      </a:r>
                    </a:p>
                  </a:txBody>
                  <a:tcPr marL="82296" marR="64008" marT="32004" marB="32004" anchor="ctr">
                    <a:solidFill>
                      <a:srgbClr val="A51C30"/>
                    </a:solidFill>
                  </a:tcPr>
                </a:tc>
                <a:tc>
                  <a:txBody>
                    <a:bodyPr wrap="square"/>
                    <a:lstStyle/>
                    <a:p>
                      <a:r>
                        <a:rPr sz="1300" b="1">
                          <a:solidFill>
                            <a:srgbClr val="FFFFFF"/>
                          </a:solidFill>
                          <a:latin typeface="Calibri"/>
                        </a:rPr>
                        <a:t>What it does</a:t>
                      </a:r>
                    </a:p>
                  </a:txBody>
                  <a:tcPr marL="82296" marR="64008" marT="32004" marB="32004" anchor="ctr">
                    <a:solidFill>
                      <a:srgbClr val="A51C30"/>
                    </a:solidFill>
                  </a:tcPr>
                </a:tc>
                <a:tc>
                  <a:txBody>
                    <a:bodyPr wrap="square"/>
                    <a:lstStyle/>
                    <a:p>
                      <a:r>
                        <a:rPr sz="1300" b="1">
                          <a:solidFill>
                            <a:srgbClr val="FFFFFF"/>
                          </a:solidFill>
                          <a:latin typeface="Calibri"/>
                        </a:rPr>
                        <a:t>Model calls for a two-tool question</a:t>
                      </a:r>
                    </a:p>
                  </a:txBody>
                  <a:tcPr marL="82296" marR="64008" marT="32004" marB="32004" anchor="ctr">
                    <a:solidFill>
                      <a:srgbClr val="A51C30"/>
                    </a:solidFill>
                  </a:tcPr>
                </a:tc>
              </a:tr>
              <a:tr h="559562">
                <a:tc>
                  <a:txBody>
                    <a:bodyPr wrap="square"/>
                    <a:lstStyle/>
                    <a:p>
                      <a:r>
                        <a:rPr sz="1400" b="1">
                          <a:solidFill>
                            <a:srgbClr val="6E1120"/>
                          </a:solidFill>
                          <a:latin typeface="Calibri"/>
                        </a:rPr>
                        <a:t>react</a:t>
                      </a:r>
                    </a:p>
                  </a:txBody>
                  <a:tcPr marL="82296" marR="64008" marT="32004" marB="32004" anchor="ctr">
                    <a:solidFill>
                      <a:srgbClr val="FFFFFF"/>
                    </a:solidFill>
                  </a:tcPr>
                </a:tc>
                <a:tc>
                  <a:txBody>
                    <a:bodyPr wrap="square"/>
                    <a:lstStyle/>
                    <a:p>
                      <a:r>
                        <a:rPr sz="1400" b="0">
                          <a:solidFill>
                            <a:srgbClr val="1A1A1A"/>
                          </a:solidFill>
                          <a:latin typeface="Calibri"/>
                        </a:rPr>
                        <a:t>The default: one model call per step, answer or call which offered tools</a:t>
                      </a:r>
                    </a:p>
                  </a:txBody>
                  <a:tcPr marL="82296" marR="64008" marT="32004" marB="32004" anchor="ctr">
                    <a:solidFill>
                      <a:srgbClr val="FFFFFF"/>
                    </a:solidFill>
                  </a:tcPr>
                </a:tc>
                <a:tc>
                  <a:txBody>
                    <a:bodyPr wrap="square"/>
                    <a:lstStyle/>
                    <a:p>
                      <a:r>
                        <a:rPr sz="1400" b="0">
                          <a:solidFill>
                            <a:srgbClr val="1A1A1A"/>
                          </a:solidFill>
                          <a:latin typeface="Calibri"/>
                        </a:rPr>
                        <a:t>One per step, plus the answer</a:t>
                      </a:r>
                    </a:p>
                  </a:txBody>
                  <a:tcPr marL="82296" marR="64008" marT="32004" marB="32004" anchor="ctr">
                    <a:solidFill>
                      <a:srgbClr val="FFFFFF"/>
                    </a:solidFill>
                  </a:tcPr>
                </a:tc>
              </a:tr>
              <a:tr h="559562">
                <a:tc>
                  <a:txBody>
                    <a:bodyPr wrap="square"/>
                    <a:lstStyle/>
                    <a:p>
                      <a:r>
                        <a:rPr sz="1400" b="1">
                          <a:solidFill>
                            <a:srgbClr val="6E1120"/>
                          </a:solidFill>
                          <a:latin typeface="Calibri"/>
                        </a:rPr>
                        <a:t>plan_execute</a:t>
                      </a:r>
                    </a:p>
                  </a:txBody>
                  <a:tcPr marL="82296" marR="64008" marT="32004" marB="32004" anchor="ctr">
                    <a:solidFill>
                      <a:srgbClr val="F7F5F2"/>
                    </a:solidFill>
                  </a:tcPr>
                </a:tc>
                <a:tc>
                  <a:txBody>
                    <a:bodyPr wrap="square"/>
                    <a:lstStyle/>
                    <a:p>
                      <a:r>
                        <a:rPr sz="1400" b="0">
                          <a:solidFill>
                            <a:srgbClr val="1A1A1A"/>
                          </a:solidFill>
                          <a:latin typeface="Calibri"/>
                        </a:rPr>
                        <a:t>One planning call returns steps with dependencies; independent steps run together; one re-plan after a failure</a:t>
                      </a:r>
                    </a:p>
                  </a:txBody>
                  <a:tcPr marL="82296" marR="64008" marT="32004" marB="32004" anchor="ctr">
                    <a:solidFill>
                      <a:srgbClr val="F7F5F2"/>
                    </a:solidFill>
                  </a:tcPr>
                </a:tc>
                <a:tc>
                  <a:txBody>
                    <a:bodyPr wrap="square"/>
                    <a:lstStyle/>
                    <a:p>
                      <a:r>
                        <a:rPr sz="1400" b="0">
                          <a:solidFill>
                            <a:srgbClr val="1A1A1A"/>
                          </a:solidFill>
                          <a:latin typeface="Calibri"/>
                        </a:rPr>
                        <a:t>One, plus the answer</a:t>
                      </a:r>
                    </a:p>
                  </a:txBody>
                  <a:tcPr marL="82296" marR="64008" marT="32004" marB="32004" anchor="ctr">
                    <a:solidFill>
                      <a:srgbClr val="F7F5F2"/>
                    </a:solidFill>
                  </a:tcPr>
                </a:tc>
              </a:tr>
              <a:tr h="559562">
                <a:tc>
                  <a:txBody>
                    <a:bodyPr wrap="square"/>
                    <a:lstStyle/>
                    <a:p>
                      <a:r>
                        <a:rPr sz="1400" b="1">
                          <a:solidFill>
                            <a:srgbClr val="6E1120"/>
                          </a:solidFill>
                          <a:latin typeface="Calibri"/>
                        </a:rPr>
                        <a:t>recipes</a:t>
                      </a:r>
                    </a:p>
                  </a:txBody>
                  <a:tcPr marL="82296" marR="64008" marT="32004" marB="32004" anchor="ctr">
                    <a:solidFill>
                      <a:srgbClr val="FFFFFF"/>
                    </a:solidFill>
                  </a:tcPr>
                </a:tc>
                <a:tc>
                  <a:txBody>
                    <a:bodyPr wrap="square"/>
                    <a:lstStyle/>
                    <a:p>
                      <a:r>
                        <a:rPr sz="1400" b="0">
                          <a:solidFill>
                            <a:srgbClr val="1A1A1A"/>
                          </a:solidFill>
                          <a:latin typeface="Calibri"/>
                        </a:rPr>
                        <a:t>Regular-expression or keyword recipes from configuration map a question to a tool and its arguments</a:t>
                      </a:r>
                    </a:p>
                  </a:txBody>
                  <a:tcPr marL="82296" marR="64008" marT="32004" marB="32004" anchor="ctr">
                    <a:solidFill>
                      <a:srgbClr val="FFFFFF"/>
                    </a:solidFill>
                  </a:tcPr>
                </a:tc>
                <a:tc>
                  <a:txBody>
                    <a:bodyPr wrap="square"/>
                    <a:lstStyle/>
                    <a:p>
                      <a:r>
                        <a:rPr sz="1400" b="0">
                          <a:solidFill>
                            <a:srgbClr val="1A1A1A"/>
                          </a:solidFill>
                          <a:latin typeface="Calibri"/>
                        </a:rPr>
                        <a:t>None when the recipe has an answer template</a:t>
                      </a:r>
                    </a:p>
                  </a:txBody>
                  <a:tcPr marL="82296" marR="64008" marT="32004" marB="32004" anchor="ctr">
                    <a:solidFill>
                      <a:srgbClr val="FFFFFF"/>
                    </a:solidFill>
                  </a:tcPr>
                </a:tc>
              </a:tr>
              <a:tr h="559562">
                <a:tc>
                  <a:txBody>
                    <a:bodyPr wrap="square"/>
                    <a:lstStyle/>
                    <a:p>
                      <a:r>
                        <a:rPr sz="1400" b="1">
                          <a:solidFill>
                            <a:srgbClr val="6E1120"/>
                          </a:solidFill>
                          <a:latin typeface="Calibri"/>
                        </a:rPr>
                        <a:t>router</a:t>
                      </a:r>
                    </a:p>
                  </a:txBody>
                  <a:tcPr marL="82296" marR="64008" marT="32004" marB="32004" anchor="ctr">
                    <a:solidFill>
                      <a:srgbClr val="F7F5F2"/>
                    </a:solidFill>
                  </a:tcPr>
                </a:tc>
                <a:tc>
                  <a:txBody>
                    <a:bodyPr wrap="square"/>
                    <a:lstStyle/>
                    <a:p>
                      <a:r>
                        <a:rPr sz="1400" b="0">
                          <a:solidFill>
                            <a:srgbClr val="1A1A1A"/>
                          </a:solidFill>
                          <a:latin typeface="Calibri"/>
                        </a:rPr>
                        <a:t>Chooses per question: rules, then a matching recipe, then plan_execute for multi-part questions, else react</a:t>
                      </a:r>
                    </a:p>
                  </a:txBody>
                  <a:tcPr marL="82296" marR="64008" marT="32004" marB="32004" anchor="ctr">
                    <a:solidFill>
                      <a:srgbClr val="F7F5F2"/>
                    </a:solidFill>
                  </a:tcPr>
                </a:tc>
                <a:tc>
                  <a:txBody>
                    <a:bodyPr wrap="square"/>
                    <a:lstStyle/>
                    <a:p>
                      <a:r>
                        <a:rPr sz="1400" b="0">
                          <a:solidFill>
                            <a:srgbClr val="1A1A1A"/>
                          </a:solidFill>
                          <a:latin typeface="Calibri"/>
                        </a:rPr>
                        <a:t>As the planner it chose</a:t>
                      </a:r>
                    </a:p>
                  </a:txBody>
                  <a:tcPr marL="82296" marR="64008" marT="32004" marB="32004" anchor="ctr">
                    <a:solidFill>
                      <a:srgbClr val="F7F5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CONTEXT</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Memory is per user and deletable; document search cites its passages</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7 · The intelligence layer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42</a:t>
            </a:r>
          </a:p>
        </p:txBody>
      </p:sp>
      <p:sp>
        <p:nvSpPr>
          <p:cNvPr id="10" name="Rectangle 9"/>
          <p:cNvSpPr/>
          <p:nvPr/>
        </p:nvSpPr>
        <p:spPr>
          <a:xfrm>
            <a:off x="777240" y="130663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0663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37979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Conversation memory</a:t>
            </a:r>
          </a:p>
        </p:txBody>
      </p:sp>
      <p:sp>
        <p:nvSpPr>
          <p:cNvPr id="13" name="TextBox 12"/>
          <p:cNvSpPr txBox="1"/>
          <p:nvPr/>
        </p:nvSpPr>
        <p:spPr>
          <a:xfrm>
            <a:off x="777240" y="1818703"/>
            <a:ext cx="5135727" cy="4426648"/>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A1A1A"/>
                </a:solidFill>
                <a:latin typeface="Calibri"/>
              </a:rPr>
              <a:t>A follow-up gets the recent turns, a summary of older ones, and is rewritten to stand on its own (“and from 100 to 120?”).</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Per user, never shared; expires after ai.memory.retention_days; a user lists and deletes their own history.</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Off unless the ask names a conversation.</a:t>
            </a:r>
          </a:p>
        </p:txBody>
      </p:sp>
      <p:sp>
        <p:nvSpPr>
          <p:cNvPr id="14" name="Rectangle 13"/>
          <p:cNvSpPr/>
          <p:nvPr/>
        </p:nvSpPr>
        <p:spPr>
          <a:xfrm>
            <a:off x="6278727" y="130663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0663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37979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Document search</a:t>
            </a:r>
          </a:p>
        </p:txBody>
      </p:sp>
      <p:sp>
        <p:nvSpPr>
          <p:cNvPr id="17" name="TextBox 16"/>
          <p:cNvSpPr txBox="1"/>
          <p:nvPr/>
        </p:nvSpPr>
        <p:spPr>
          <a:xfrm>
            <a:off x="6278727" y="1818703"/>
            <a:ext cx="5135727" cy="4426648"/>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A1A1A"/>
                </a:solidFill>
                <a:latin typeface="Calibri"/>
              </a:rPr>
              <a:t>sajha_search_docs searches SAJHA's own guides, folders an administrator names, and uploads, and answers with document, section and link.</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Vector and word rankings fused; in-process store by default, pgvector on PostgreSQL.</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Text formats only; no PDF, Word or SharePoint sources yet.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BEFORE YOU TRUST A MODEL</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Evals measure a model on golden questions before anyone trusts it</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7 · The intelligence layer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43</a:t>
            </a:r>
          </a:p>
        </p:txBody>
      </p:sp>
      <p:sp>
        <p:nvSpPr>
          <p:cNvPr id="10" name="TextBox 9"/>
          <p:cNvSpPr txBox="1"/>
          <p:nvPr/>
        </p:nvSpPr>
        <p:spPr>
          <a:xfrm>
            <a:off x="777240" y="1322705"/>
            <a:ext cx="10637215" cy="4922647"/>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A1A1A"/>
                </a:solidFill>
                <a:latin typeface="Calibri"/>
              </a:rPr>
              <a:t>Golden questions</a:t>
            </a:r>
          </a:p>
          <a:p>
            <a:pPr lvl="1">
              <a:lnSpc>
                <a:spcPct val="120000"/>
              </a:lnSpc>
              <a:spcBef>
                <a:spcPts val="0"/>
              </a:spcBef>
              <a:spcAft>
                <a:spcPts val="0"/>
              </a:spcAft>
            </a:pPr>
            <a:r>
              <a:rPr sz="1550" b="0">
                <a:solidFill>
                  <a:srgbClr val="6B7480"/>
                </a:solidFill>
                <a:latin typeface="Calibri"/>
              </a:rPr>
              <a:t>An eval set names questions, the tools that must and must not be called, checks on the answer, and limits on steps, tokens, cost and latency.</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Measured</a:t>
            </a:r>
          </a:p>
          <a:p>
            <a:pPr lvl="1">
              <a:lnSpc>
                <a:spcPct val="120000"/>
              </a:lnSpc>
              <a:spcBef>
                <a:spcPts val="0"/>
              </a:spcBef>
              <a:spcAft>
                <a:spcPts val="0"/>
              </a:spcAft>
            </a:pPr>
            <a:r>
              <a:rPr sz="1550" b="0">
                <a:solidFill>
                  <a:srgbClr val="6B7480"/>
                </a:solidFill>
                <a:latin typeface="Calibri"/>
              </a:rPr>
              <a:t>Pass rate, tool-selection accuracy, answer accuracy, tokens, cost, mean and p95 latency, per model and planner; two runs can be compared question by question.</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On the mock, today</a:t>
            </a:r>
          </a:p>
          <a:p>
            <a:pPr lvl="1">
              <a:lnSpc>
                <a:spcPct val="120000"/>
              </a:lnSpc>
              <a:spcBef>
                <a:spcPts val="0"/>
              </a:spcBef>
              <a:spcAft>
                <a:spcPts val="0"/>
              </a:spcAft>
            </a:pPr>
            <a:r>
              <a:rPr sz="1550" b="0">
                <a:solidFill>
                  <a:srgbClr val="6B7480"/>
                </a:solidFill>
                <a:latin typeface="Calibri"/>
              </a:rPr>
              <a:t>“calculators”: 3/3 with react, 3/3 with plan_execute, tool-selection accuracy 100%, at zero cost.</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Not built yet</a:t>
            </a:r>
          </a:p>
          <a:p>
            <a:pPr lvl="1">
              <a:lnSpc>
                <a:spcPct val="120000"/>
              </a:lnSpc>
              <a:spcBef>
                <a:spcPts val="0"/>
              </a:spcBef>
              <a:spcAft>
                <a:spcPts val="0"/>
              </a:spcAft>
            </a:pPr>
            <a:r>
              <a:rPr sz="1550" b="0">
                <a:solidFill>
                  <a:srgbClr val="6B7480"/>
                </a:solidFill>
                <a:latin typeface="Calibri"/>
              </a:rPr>
              <a:t>Native async providers; Vertex AI and Entra ID token acquisition; freshness and cross-source agreement in the confidence score.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F3C6CF"/>
                </a:solidFill>
                <a:latin typeface="Calibri"/>
              </a:rPr>
              <a:t>PART 8</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200" b="0" i="0">
                <a:solidFill>
                  <a:srgbClr val="FFFFFF"/>
                </a:solidFill>
                <a:latin typeface="Georgia"/>
              </a:rPr>
              <a:t>How it runs</a:t>
            </a:r>
          </a:p>
        </p:txBody>
      </p:sp>
      <p:sp>
        <p:nvSpPr>
          <p:cNvPr id="6" name="Rectangle 5"/>
          <p:cNvSpPr/>
          <p:nvPr/>
        </p:nvSpPr>
        <p:spPr>
          <a:xfrm>
            <a:off x="1005840" y="3383280"/>
            <a:ext cx="137160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BEEF0"/>
                </a:solidFill>
                <a:latin typeface="Calibri"/>
              </a:rPr>
              <a:t>The same code runs as one process on a laptop and as several pods behind a load balancer. What changes is configuration: where files live, where shared state lives, which database, and what is watched.</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F3C6CF"/>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BEEF0"/>
                </a:solidFill>
                <a:latin typeface="Calibri"/>
              </a:rPr>
              <a:t>From one process to a cluster</a:t>
            </a:r>
          </a:p>
          <a:p>
            <a:pPr>
              <a:lnSpc>
                <a:spcPct val="115000"/>
              </a:lnSpc>
              <a:spcBef>
                <a:spcPts val="0"/>
              </a:spcBef>
              <a:spcAft>
                <a:spcPts val="600"/>
              </a:spcAft>
            </a:pPr>
            <a:r>
              <a:rPr sz="1200" b="0" i="0">
                <a:solidFill>
                  <a:srgbClr val="FBEEF0"/>
                </a:solidFill>
                <a:latin typeface="Calibri"/>
              </a:rPr>
              <a:t>Shared state across workers</a:t>
            </a:r>
          </a:p>
          <a:p>
            <a:pPr>
              <a:lnSpc>
                <a:spcPct val="115000"/>
              </a:lnSpc>
              <a:spcBef>
                <a:spcPts val="0"/>
              </a:spcBef>
              <a:spcAft>
                <a:spcPts val="600"/>
              </a:spcAft>
            </a:pPr>
            <a:r>
              <a:rPr sz="1200" b="0" i="0">
                <a:solidFill>
                  <a:srgbClr val="FBEEF0"/>
                </a:solidFill>
                <a:latin typeface="Calibri"/>
              </a:rPr>
              <a:t>Kubernetes and Helm</a:t>
            </a:r>
          </a:p>
          <a:p>
            <a:pPr>
              <a:lnSpc>
                <a:spcPct val="115000"/>
              </a:lnSpc>
              <a:spcBef>
                <a:spcPts val="0"/>
              </a:spcBef>
              <a:spcAft>
                <a:spcPts val="600"/>
              </a:spcAft>
            </a:pPr>
            <a:r>
              <a:rPr sz="1200" b="0" i="0">
                <a:solidFill>
                  <a:srgbClr val="FBEEF0"/>
                </a:solidFill>
                <a:latin typeface="Calibri"/>
              </a:rPr>
              <a:t>Metrics, traces, cost and alerts</a:t>
            </a:r>
          </a:p>
          <a:p>
            <a:pPr>
              <a:lnSpc>
                <a:spcPct val="115000"/>
              </a:lnSpc>
              <a:spcBef>
                <a:spcPts val="0"/>
              </a:spcBef>
              <a:spcAft>
                <a:spcPts val="600"/>
              </a:spcAft>
            </a:pPr>
            <a:r>
              <a:rPr sz="1200" b="0" i="0">
                <a:solidFill>
                  <a:srgbClr val="FBEEF0"/>
                </a:solidFill>
                <a:latin typeface="Calibri"/>
              </a:rPr>
              <a:t>The schema, and tool quality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SHAPES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One process on a laptop, or several pods in a cluster</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8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45</a:t>
            </a:r>
          </a:p>
        </p:txBody>
      </p:sp>
      <p:graphicFrame>
        <p:nvGraphicFramePr>
          <p:cNvPr id="10" name="Table 9"/>
          <p:cNvGraphicFramePr>
            <a:graphicFrameLocks noGrp="1"/>
          </p:cNvGraphicFramePr>
          <p:nvPr/>
        </p:nvGraphicFramePr>
        <p:xfrm>
          <a:off x="777240" y="1386967"/>
          <a:ext cx="10637214" cy="2556827"/>
        </p:xfrm>
        <a:graphic>
          <a:graphicData uri="http://schemas.openxmlformats.org/drawingml/2006/table">
            <a:tbl>
              <a:tblPr firstRow="1">
                <a:tableStyleId>{5C22544A-7EE6-4342-B048-85BDC9FD1C3A}</a:tableStyleId>
              </a:tblPr>
              <a:tblGrid>
                <a:gridCol w="2348476"/>
                <a:gridCol w="3591786"/>
                <a:gridCol w="4696952"/>
              </a:tblGrid>
              <a:tr h="318579">
                <a:tc>
                  <a:txBody>
                    <a:bodyPr wrap="square"/>
                    <a:lstStyle/>
                    <a:p>
                      <a:r>
                        <a:rPr sz="1300" b="1">
                          <a:solidFill>
                            <a:srgbClr val="FFFFFF"/>
                          </a:solidFill>
                          <a:latin typeface="Calibri"/>
                        </a:rPr>
                        <a:t>Concern</a:t>
                      </a:r>
                    </a:p>
                  </a:txBody>
                  <a:tcPr marL="82296" marR="64008" marT="32004" marB="32004" anchor="ctr">
                    <a:solidFill>
                      <a:srgbClr val="A51C30"/>
                    </a:solidFill>
                  </a:tcPr>
                </a:tc>
                <a:tc>
                  <a:txBody>
                    <a:bodyPr wrap="square"/>
                    <a:lstStyle/>
                    <a:p>
                      <a:r>
                        <a:rPr sz="1300" b="1">
                          <a:solidFill>
                            <a:srgbClr val="FFFFFF"/>
                          </a:solidFill>
                          <a:latin typeface="Calibri"/>
                        </a:rPr>
                        <a:t>Choices</a:t>
                      </a:r>
                    </a:p>
                  </a:txBody>
                  <a:tcPr marL="82296" marR="64008" marT="32004" marB="32004" anchor="ctr">
                    <a:solidFill>
                      <a:srgbClr val="A51C30"/>
                    </a:solidFill>
                  </a:tcPr>
                </a:tc>
                <a:tc>
                  <a:txBody>
                    <a:bodyPr wrap="square"/>
                    <a:lstStyle/>
                    <a:p>
                      <a:r>
                        <a:rPr sz="1300" b="1">
                          <a:solidFill>
                            <a:srgbClr val="FFFFFF"/>
                          </a:solidFill>
                          <a:latin typeface="Calibri"/>
                        </a:rPr>
                        <a:t>Default, and when to change it</a:t>
                      </a:r>
                    </a:p>
                  </a:txBody>
                  <a:tcPr marL="82296" marR="64008" marT="32004" marB="32004" anchor="ctr">
                    <a:solidFill>
                      <a:srgbClr val="A51C30"/>
                    </a:solidFill>
                  </a:tcPr>
                </a:tc>
              </a:tr>
              <a:tr h="559562">
                <a:tc>
                  <a:txBody>
                    <a:bodyPr wrap="square"/>
                    <a:lstStyle/>
                    <a:p>
                      <a:r>
                        <a:rPr sz="1400" b="1">
                          <a:solidFill>
                            <a:srgbClr val="6E1120"/>
                          </a:solidFill>
                          <a:latin typeface="Calibri"/>
                        </a:rPr>
                        <a:t>Configuration and tool files</a:t>
                      </a:r>
                    </a:p>
                  </a:txBody>
                  <a:tcPr marL="82296" marR="64008" marT="32004" marB="32004" anchor="ctr">
                    <a:solidFill>
                      <a:srgbClr val="FFFFFF"/>
                    </a:solidFill>
                  </a:tcPr>
                </a:tc>
                <a:tc>
                  <a:txBody>
                    <a:bodyPr wrap="square"/>
                    <a:lstStyle/>
                    <a:p>
                      <a:r>
                        <a:rPr sz="1400" b="0">
                          <a:solidFill>
                            <a:srgbClr val="1A1A1A"/>
                          </a:solidFill>
                          <a:latin typeface="Calibri"/>
                        </a:rPr>
                        <a:t>local disk, S3, Azure Blob or GCS</a:t>
                      </a:r>
                    </a:p>
                  </a:txBody>
                  <a:tcPr marL="82296" marR="64008" marT="32004" marB="32004" anchor="ctr">
                    <a:solidFill>
                      <a:srgbClr val="FFFFFF"/>
                    </a:solidFill>
                  </a:tcPr>
                </a:tc>
                <a:tc>
                  <a:txBody>
                    <a:bodyPr wrap="square"/>
                    <a:lstStyle/>
                    <a:p>
                      <a:r>
                        <a:rPr sz="1400" b="0">
                          <a:solidFill>
                            <a:srgbClr val="1A1A1A"/>
                          </a:solidFill>
                          <a:latin typeface="Calibri"/>
                        </a:rPr>
                        <a:t>Local disk; an object store when pods share files, with hot reload</a:t>
                      </a:r>
                    </a:p>
                  </a:txBody>
                  <a:tcPr marL="82296" marR="64008" marT="32004" marB="32004" anchor="ctr">
                    <a:solidFill>
                      <a:srgbClr val="FFFFFF"/>
                    </a:solidFill>
                  </a:tcPr>
                </a:tc>
              </a:tr>
              <a:tr h="559562">
                <a:tc>
                  <a:txBody>
                    <a:bodyPr wrap="square"/>
                    <a:lstStyle/>
                    <a:p>
                      <a:r>
                        <a:rPr sz="1400" b="1">
                          <a:solidFill>
                            <a:srgbClr val="6E1120"/>
                          </a:solidFill>
                          <a:latin typeface="Calibri"/>
                        </a:rPr>
                        <a:t>Shared protocol state</a:t>
                      </a:r>
                    </a:p>
                  </a:txBody>
                  <a:tcPr marL="82296" marR="64008" marT="32004" marB="32004" anchor="ctr">
                    <a:solidFill>
                      <a:srgbClr val="F7F5F2"/>
                    </a:solidFill>
                  </a:tcPr>
                </a:tc>
                <a:tc>
                  <a:txBody>
                    <a:bodyPr wrap="square"/>
                    <a:lstStyle/>
                    <a:p>
                      <a:r>
                        <a:rPr sz="1400" b="0">
                          <a:solidFill>
                            <a:srgbClr val="1A1A1A"/>
                          </a:solidFill>
                          <a:latin typeface="Calibri"/>
                        </a:rPr>
                        <a:t>memory, redis or database</a:t>
                      </a:r>
                    </a:p>
                  </a:txBody>
                  <a:tcPr marL="82296" marR="64008" marT="32004" marB="32004" anchor="ctr">
                    <a:solidFill>
                      <a:srgbClr val="F7F5F2"/>
                    </a:solidFill>
                  </a:tcPr>
                </a:tc>
                <a:tc>
                  <a:txBody>
                    <a:bodyPr wrap="square"/>
                    <a:lstStyle/>
                    <a:p>
                      <a:r>
                        <a:rPr sz="1400" b="0">
                          <a:solidFill>
                            <a:srgbClr val="1A1A1A"/>
                          </a:solidFill>
                          <a:latin typeface="Calibri"/>
                        </a:rPr>
                        <a:t>memory, for one worker; redis or database for several</a:t>
                      </a:r>
                    </a:p>
                  </a:txBody>
                  <a:tcPr marL="82296" marR="64008" marT="32004" marB="32004" anchor="ctr">
                    <a:solidFill>
                      <a:srgbClr val="F7F5F2"/>
                    </a:solidFill>
                  </a:tcPr>
                </a:tc>
              </a:tr>
              <a:tr h="559562">
                <a:tc>
                  <a:txBody>
                    <a:bodyPr wrap="square"/>
                    <a:lstStyle/>
                    <a:p>
                      <a:r>
                        <a:rPr sz="1400" b="1">
                          <a:solidFill>
                            <a:srgbClr val="6E1120"/>
                          </a:solidFill>
                          <a:latin typeface="Calibri"/>
                        </a:rPr>
                        <a:t>Database</a:t>
                      </a:r>
                    </a:p>
                  </a:txBody>
                  <a:tcPr marL="82296" marR="64008" marT="32004" marB="32004" anchor="ctr">
                    <a:solidFill>
                      <a:srgbClr val="FFFFFF"/>
                    </a:solidFill>
                  </a:tcPr>
                </a:tc>
                <a:tc>
                  <a:txBody>
                    <a:bodyPr wrap="square"/>
                    <a:lstStyle/>
                    <a:p>
                      <a:r>
                        <a:rPr sz="1400" b="0">
                          <a:solidFill>
                            <a:srgbClr val="1A1A1A"/>
                          </a:solidFill>
                          <a:latin typeface="Calibri"/>
                        </a:rPr>
                        <a:t>postgresql or sqlite</a:t>
                      </a:r>
                    </a:p>
                  </a:txBody>
                  <a:tcPr marL="82296" marR="64008" marT="32004" marB="32004" anchor="ctr">
                    <a:solidFill>
                      <a:srgbClr val="FFFFFF"/>
                    </a:solidFill>
                  </a:tcPr>
                </a:tc>
                <a:tc>
                  <a:txBody>
                    <a:bodyPr wrap="square"/>
                    <a:lstStyle/>
                    <a:p>
                      <a:r>
                        <a:rPr sz="1400" b="0">
                          <a:solidFill>
                            <a:srgbClr val="1A1A1A"/>
                          </a:solidFill>
                          <a:latin typeface="Calibri"/>
                        </a:rPr>
                        <a:t>SQLite for development; PostgreSQL from one schema file an operator runs</a:t>
                      </a:r>
                    </a:p>
                  </a:txBody>
                  <a:tcPr marL="82296" marR="64008" marT="32004" marB="32004" anchor="ctr">
                    <a:solidFill>
                      <a:srgbClr val="FFFFFF"/>
                    </a:solidFill>
                  </a:tcPr>
                </a:tc>
              </a:tr>
              <a:tr h="559562">
                <a:tc>
                  <a:txBody>
                    <a:bodyPr wrap="square"/>
                    <a:lstStyle/>
                    <a:p>
                      <a:r>
                        <a:rPr sz="1400" b="1">
                          <a:solidFill>
                            <a:srgbClr val="6E1120"/>
                          </a:solidFill>
                          <a:latin typeface="Calibri"/>
                        </a:rPr>
                        <a:t>Packaging</a:t>
                      </a:r>
                    </a:p>
                  </a:txBody>
                  <a:tcPr marL="82296" marR="64008" marT="32004" marB="32004" anchor="ctr">
                    <a:solidFill>
                      <a:srgbClr val="F7F5F2"/>
                    </a:solidFill>
                  </a:tcPr>
                </a:tc>
                <a:tc>
                  <a:txBody>
                    <a:bodyPr wrap="square"/>
                    <a:lstStyle/>
                    <a:p>
                      <a:r>
                        <a:rPr sz="1400" b="0">
                          <a:solidFill>
                            <a:srgbClr val="1A1A1A"/>
                          </a:solidFill>
                          <a:latin typeface="Calibri"/>
                        </a:rPr>
                        <a:t>A non-root container image, a Helm chart, Kustomize manifests</a:t>
                      </a:r>
                    </a:p>
                  </a:txBody>
                  <a:tcPr marL="82296" marR="64008" marT="32004" marB="32004" anchor="ctr">
                    <a:solidFill>
                      <a:srgbClr val="F7F5F2"/>
                    </a:solidFill>
                  </a:tcPr>
                </a:tc>
                <a:tc>
                  <a:txBody>
                    <a:bodyPr wrap="square"/>
                    <a:lstStyle/>
                    <a:p>
                      <a:r>
                        <a:rPr sz="1400" b="0">
                          <a:solidFill>
                            <a:srgbClr val="1A1A1A"/>
                          </a:solidFill>
                          <a:latin typeface="Calibri"/>
                        </a:rPr>
                        <a:t>Plus recipes: aws, baremetal and hetzner</a:t>
                      </a:r>
                    </a:p>
                  </a:txBody>
                  <a:tcPr marL="82296" marR="64008" marT="32004" marB="32004" anchor="ctr">
                    <a:solidFill>
                      <a:srgbClr val="F7F5F2"/>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SEVERAL WORKERS</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Workers share protocol state through one store; caches stay local on purpose</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8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46</a:t>
            </a:r>
          </a:p>
        </p:txBody>
      </p:sp>
      <p:sp>
        <p:nvSpPr>
          <p:cNvPr id="10" name="TextBox 9"/>
          <p:cNvSpPr txBox="1"/>
          <p:nvPr/>
        </p:nvSpPr>
        <p:spPr>
          <a:xfrm>
            <a:off x="777240" y="1611884"/>
            <a:ext cx="10637215" cy="4633468"/>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A1A1A"/>
                </a:solidFill>
                <a:latin typeface="Calibri"/>
              </a:rPr>
              <a:t>Shared</a:t>
            </a:r>
          </a:p>
          <a:p>
            <a:pPr lvl="1">
              <a:lnSpc>
                <a:spcPct val="120000"/>
              </a:lnSpc>
              <a:spcBef>
                <a:spcPts val="0"/>
              </a:spcBef>
              <a:spcAft>
                <a:spcPts val="0"/>
              </a:spcAft>
            </a:pPr>
            <a:r>
              <a:rPr sz="1550" b="0">
                <a:solidFill>
                  <a:srgbClr val="6B7480"/>
                </a:solidFill>
                <a:latin typeface="Calibri"/>
              </a:rPr>
              <a:t>Sessions, task records, OAuth codes and refresh tokens, rate-limit and budget counters, approvals, and the change events behind subscriptions, through redis or the database.</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Local by design</a:t>
            </a:r>
          </a:p>
          <a:p>
            <a:pPr lvl="1">
              <a:lnSpc>
                <a:spcPct val="120000"/>
              </a:lnSpc>
              <a:spcBef>
                <a:spcPts val="0"/>
              </a:spcBef>
              <a:spcAft>
                <a:spcPts val="0"/>
              </a:spcAft>
            </a:pPr>
            <a:r>
              <a:rPr sz="1550" b="0">
                <a:solidFill>
                  <a:srgbClr val="6B7480"/>
                </a:solidFill>
                <a:latin typeface="Calibri"/>
              </a:rPr>
              <a:t>Caches, circuit breakers and metrics stay per process; Prometheus adds the workers up.</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Durable tasks</a:t>
            </a:r>
          </a:p>
          <a:p>
            <a:pPr lvl="1">
              <a:lnSpc>
                <a:spcPct val="120000"/>
              </a:lnSpc>
              <a:spcBef>
                <a:spcPts val="0"/>
              </a:spcBef>
              <a:spcAft>
                <a:spcPts val="0"/>
              </a:spcAft>
            </a:pPr>
            <a:r>
              <a:rPr sz="1550" b="0">
                <a:solidFill>
                  <a:srgbClr val="6B7480"/>
                </a:solidFill>
                <a:latin typeface="Calibri"/>
              </a:rPr>
              <a:t>With a shared store, task records live in the database and survive a restart.</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One secret, everywhere</a:t>
            </a:r>
          </a:p>
          <a:p>
            <a:pPr lvl="1">
              <a:lnSpc>
                <a:spcPct val="120000"/>
              </a:lnSpc>
              <a:spcBef>
                <a:spcPts val="0"/>
              </a:spcBef>
              <a:spcAft>
                <a:spcPts val="0"/>
              </a:spcAft>
            </a:pPr>
            <a:r>
              <a:rPr sz="1550" b="0">
                <a:solidFill>
                  <a:srgbClr val="6B7480"/>
                </a:solidFill>
                <a:latin typeface="Calibri"/>
              </a:rPr>
              <a:t>Every worker needs the same signing and session secrets; the guide lists them.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KUBERNETES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A Helm chart with the pieces a production namespace expects</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8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47</a:t>
            </a:r>
          </a:p>
        </p:txBody>
      </p:sp>
      <p:sp>
        <p:nvSpPr>
          <p:cNvPr id="10" name="TextBox 9"/>
          <p:cNvSpPr txBox="1"/>
          <p:nvPr/>
        </p:nvSpPr>
        <p:spPr>
          <a:xfrm>
            <a:off x="777240" y="1354836"/>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The chart's templates, as shipped: configmap, deployment, hpa, ingress, networkpolicy, pdb, pvc, redis, secret, service, serviceaccount and servicemonitor.</a:t>
            </a:r>
          </a:p>
        </p:txBody>
      </p:sp>
      <p:sp>
        <p:nvSpPr>
          <p:cNvPr id="11" name="TextBox 10"/>
          <p:cNvSpPr txBox="1"/>
          <p:nvPr/>
        </p:nvSpPr>
        <p:spPr>
          <a:xfrm>
            <a:off x="777240" y="2008378"/>
            <a:ext cx="10637215" cy="4236974"/>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A1A1A"/>
                </a:solidFill>
                <a:latin typeface="Calibri"/>
              </a:rPr>
              <a:t>Scales</a:t>
            </a:r>
          </a:p>
          <a:p>
            <a:pPr lvl="1">
              <a:lnSpc>
                <a:spcPct val="120000"/>
              </a:lnSpc>
              <a:spcBef>
                <a:spcPts val="0"/>
              </a:spcBef>
              <a:spcAft>
                <a:spcPts val="0"/>
              </a:spcAft>
            </a:pPr>
            <a:r>
              <a:rPr sz="1550" b="0">
                <a:solidFill>
                  <a:srgbClr val="6B7480"/>
                </a:solidFill>
                <a:latin typeface="Calibri"/>
              </a:rPr>
              <a:t>A horizontal pod autoscaler and a disruption budget; several replicas need the redis or database state backend, which the chart can provide.</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Locked down</a:t>
            </a:r>
          </a:p>
          <a:p>
            <a:pPr lvl="1">
              <a:lnSpc>
                <a:spcPct val="120000"/>
              </a:lnSpc>
              <a:spcBef>
                <a:spcPts val="0"/>
              </a:spcBef>
              <a:spcAft>
                <a:spcPts val="0"/>
              </a:spcAft>
            </a:pPr>
            <a:r>
              <a:rPr sz="1550" b="0">
                <a:solidFill>
                  <a:srgbClr val="6B7480"/>
                </a:solidFill>
                <a:latin typeface="Calibri"/>
              </a:rPr>
              <a:t>A non-root image and a network policy; secrets from Kubernetes secrets, never from the tracked configuration file.</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Watched</a:t>
            </a:r>
          </a:p>
          <a:p>
            <a:pPr lvl="1">
              <a:lnSpc>
                <a:spcPct val="120000"/>
              </a:lnSpc>
              <a:spcBef>
                <a:spcPts val="0"/>
              </a:spcBef>
              <a:spcAft>
                <a:spcPts val="0"/>
              </a:spcAft>
            </a:pPr>
            <a:r>
              <a:rPr sz="1550" b="0">
                <a:solidFill>
                  <a:srgbClr val="6B7480"/>
                </a:solidFill>
                <a:latin typeface="Calibri"/>
              </a:rPr>
              <a:t>A ServiceMonitor for Prometheus; ingress settings that keep streamed responses unbuffered.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OPERATIONS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Metrics, traces, cost and alerts, out of the box</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8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48</a:t>
            </a:r>
          </a:p>
        </p:txBody>
      </p:sp>
      <p:sp>
        <p:nvSpPr>
          <p:cNvPr id="10" name="Rectangle 9"/>
          <p:cNvSpPr/>
          <p:nvPr/>
        </p:nvSpPr>
        <p:spPr>
          <a:xfrm>
            <a:off x="777240" y="1386967"/>
            <a:ext cx="5236311"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51559"/>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METRICS</a:t>
            </a:r>
          </a:p>
        </p:txBody>
      </p:sp>
      <p:sp>
        <p:nvSpPr>
          <p:cNvPr id="13" name="TextBox 12"/>
          <p:cNvSpPr txBox="1"/>
          <p:nvPr/>
        </p:nvSpPr>
        <p:spPr>
          <a:xfrm>
            <a:off x="960120" y="1807591"/>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Prometheus at /metrics, protected</a:t>
            </a:r>
          </a:p>
        </p:txBody>
      </p:sp>
      <p:sp>
        <p:nvSpPr>
          <p:cNvPr id="14" name="TextBox 13"/>
          <p:cNvSpPr txBox="1"/>
          <p:nvPr/>
        </p:nvSpPr>
        <p:spPr>
          <a:xfrm>
            <a:off x="960120" y="2156079"/>
            <a:ext cx="4870551"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HTTP, MCP and tool calls and latency, cache hits, LLM tokens and spend, sandbox runs, policy decisions, audit export.</a:t>
            </a:r>
          </a:p>
        </p:txBody>
      </p:sp>
      <p:sp>
        <p:nvSpPr>
          <p:cNvPr id="15" name="Rectangle 14"/>
          <p:cNvSpPr/>
          <p:nvPr/>
        </p:nvSpPr>
        <p:spPr>
          <a:xfrm>
            <a:off x="6178143" y="1386967"/>
            <a:ext cx="5236311"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8143" y="1386967"/>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1023" y="1551559"/>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TRACES</a:t>
            </a:r>
          </a:p>
        </p:txBody>
      </p:sp>
      <p:sp>
        <p:nvSpPr>
          <p:cNvPr id="18" name="TextBox 17"/>
          <p:cNvSpPr txBox="1"/>
          <p:nvPr/>
        </p:nvSpPr>
        <p:spPr>
          <a:xfrm>
            <a:off x="6361023" y="1807591"/>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OpenTelemetry over OTLP, opt-in</a:t>
            </a:r>
          </a:p>
        </p:txBody>
      </p:sp>
      <p:sp>
        <p:nvSpPr>
          <p:cNvPr id="19" name="TextBox 18"/>
          <p:cNvSpPr txBox="1"/>
          <p:nvPr/>
        </p:nvSpPr>
        <p:spPr>
          <a:xfrm>
            <a:off x="6361023" y="2156079"/>
            <a:ext cx="4870551"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A span per request, tool call and model call, with the caller attached.</a:t>
            </a:r>
          </a:p>
        </p:txBody>
      </p:sp>
      <p:sp>
        <p:nvSpPr>
          <p:cNvPr id="20" name="Rectangle 19"/>
          <p:cNvSpPr/>
          <p:nvPr/>
        </p:nvSpPr>
        <p:spPr>
          <a:xfrm>
            <a:off x="777240" y="3898455"/>
            <a:ext cx="5236311"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98455"/>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063047"/>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COST</a:t>
            </a:r>
          </a:p>
        </p:txBody>
      </p:sp>
      <p:sp>
        <p:nvSpPr>
          <p:cNvPr id="23" name="TextBox 22"/>
          <p:cNvSpPr txBox="1"/>
          <p:nvPr/>
        </p:nvSpPr>
        <p:spPr>
          <a:xfrm>
            <a:off x="960120" y="4319079"/>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A usage and cost dashboard</a:t>
            </a:r>
          </a:p>
        </p:txBody>
      </p:sp>
      <p:sp>
        <p:nvSpPr>
          <p:cNvPr id="24" name="TextBox 23"/>
          <p:cNvSpPr txBox="1"/>
          <p:nvPr/>
        </p:nvSpPr>
        <p:spPr>
          <a:xfrm>
            <a:off x="960120" y="4667567"/>
            <a:ext cx="4870551"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Calls, errors, tokens and spend by user, API key, role, model, tool and day; budgets against today's use; CSV export.</a:t>
            </a:r>
          </a:p>
        </p:txBody>
      </p:sp>
      <p:sp>
        <p:nvSpPr>
          <p:cNvPr id="25" name="Rectangle 24"/>
          <p:cNvSpPr/>
          <p:nvPr/>
        </p:nvSpPr>
        <p:spPr>
          <a:xfrm>
            <a:off x="6178143" y="3898455"/>
            <a:ext cx="5236311" cy="2346896"/>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8143" y="3898455"/>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1023" y="4063047"/>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ALERTS</a:t>
            </a:r>
          </a:p>
        </p:txBody>
      </p:sp>
      <p:sp>
        <p:nvSpPr>
          <p:cNvPr id="28" name="TextBox 27"/>
          <p:cNvSpPr txBox="1"/>
          <p:nvPr/>
        </p:nvSpPr>
        <p:spPr>
          <a:xfrm>
            <a:off x="6361023" y="4319079"/>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Rules on rates, latency and spend</a:t>
            </a:r>
          </a:p>
        </p:txBody>
      </p:sp>
      <p:sp>
        <p:nvSpPr>
          <p:cNvPr id="29" name="TextBox 28"/>
          <p:cNvSpPr txBox="1"/>
          <p:nvPr/>
        </p:nvSpPr>
        <p:spPr>
          <a:xfrm>
            <a:off x="6361023" y="4667567"/>
            <a:ext cx="4870551"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Error rates, p95 latency, LLM spend, open circuit breakers; sent to a log, an email or a webhook that passes the SSRF guard.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CHANGE, SAFELY</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Two schema files and no migrations; tools tested and released by canary</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8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49</a:t>
            </a:r>
          </a:p>
        </p:txBody>
      </p:sp>
      <p:sp>
        <p:nvSpPr>
          <p:cNvPr id="10" name="Rectangle 9"/>
          <p:cNvSpPr/>
          <p:nvPr/>
        </p:nvSpPr>
        <p:spPr>
          <a:xfrm>
            <a:off x="777240" y="129057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29057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36372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The database schema</a:t>
            </a:r>
          </a:p>
        </p:txBody>
      </p:sp>
      <p:sp>
        <p:nvSpPr>
          <p:cNvPr id="13" name="TextBox 12"/>
          <p:cNvSpPr txBox="1"/>
          <p:nvPr/>
        </p:nvSpPr>
        <p:spPr>
          <a:xfrm>
            <a:off x="777240" y="1802638"/>
            <a:ext cx="5135727" cy="4442714"/>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A1A1A"/>
                </a:solidFill>
                <a:latin typeface="Calibri"/>
              </a:rPr>
              <a:t>One schema file per database (postgresql and sqlite) in db/scripts; a test keeps them in step with the models.</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SAJHA never runs DDL on PostgreSQL: an operator runs the file, which creates only what is missing. SQLite creates its own tables.</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A start-up check names any missing table.</a:t>
            </a:r>
          </a:p>
        </p:txBody>
      </p:sp>
      <p:sp>
        <p:nvSpPr>
          <p:cNvPr id="14" name="Rectangle 13"/>
          <p:cNvSpPr/>
          <p:nvPr/>
        </p:nvSpPr>
        <p:spPr>
          <a:xfrm>
            <a:off x="6278727" y="129057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29057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36372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Tool quality</a:t>
            </a:r>
          </a:p>
        </p:txBody>
      </p:sp>
      <p:sp>
        <p:nvSpPr>
          <p:cNvPr id="17" name="TextBox 16"/>
          <p:cNvSpPr txBox="1"/>
          <p:nvPr/>
        </p:nvSpPr>
        <p:spPr>
          <a:xfrm>
            <a:off x="6278727" y="1802638"/>
            <a:ext cx="5135727" cy="4442714"/>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A1A1A"/>
                </a:solidFill>
                <a:latin typeface="Calibri"/>
              </a:rPr>
              <a:t>Test cases with recorded HTTP cassettes replayed offline; JUnit output.</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A schema linter; health probes on a schedule.</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Tool versions behind one name, routed by pin, user, role or canary percentage, with automatic rollback on errors or slowness, and sunset dates.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F3C6CF"/>
                </a:solidFill>
                <a:latin typeface="Calibri"/>
              </a:rPr>
              <a:t>PART 9</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200" b="0" i="0">
                <a:solidFill>
                  <a:srgbClr val="FFFFFF"/>
                </a:solidFill>
                <a:latin typeface="Georgia"/>
              </a:rPr>
              <a:t>How it compares, honestly</a:t>
            </a:r>
          </a:p>
        </p:txBody>
      </p:sp>
      <p:sp>
        <p:nvSpPr>
          <p:cNvPr id="6" name="Rectangle 5"/>
          <p:cNvSpPr/>
          <p:nvPr/>
        </p:nvSpPr>
        <p:spPr>
          <a:xfrm>
            <a:off x="1005840" y="3383280"/>
            <a:ext cx="137160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BEEF0"/>
                </a:solidFill>
                <a:latin typeface="Calibri"/>
              </a:rPr>
              <a:t>SAJHA sits among frameworks, gateways and hosted platforms. Each column of the comparison is the vendor's own documentation on a stated date; where another product is stronger, this part says so, and then says what SAJHA does not do.</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F3C6CF"/>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BEEF0"/>
                </a:solidFill>
                <a:latin typeface="Calibri"/>
              </a:rPr>
              <a:t>Ten products, one set of questions</a:t>
            </a:r>
          </a:p>
          <a:p>
            <a:pPr>
              <a:lnSpc>
                <a:spcPct val="115000"/>
              </a:lnSpc>
              <a:spcBef>
                <a:spcPts val="0"/>
              </a:spcBef>
              <a:spcAft>
                <a:spcPts val="600"/>
              </a:spcAft>
            </a:pPr>
            <a:r>
              <a:rPr sz="1200" b="0" i="0">
                <a:solidFill>
                  <a:srgbClr val="FBEEF0"/>
                </a:solidFill>
                <a:latin typeface="Calibri"/>
              </a:rPr>
              <a:t>Where SAJHA stands</a:t>
            </a:r>
          </a:p>
          <a:p>
            <a:pPr>
              <a:lnSpc>
                <a:spcPct val="115000"/>
              </a:lnSpc>
              <a:spcBef>
                <a:spcPts val="0"/>
              </a:spcBef>
              <a:spcAft>
                <a:spcPts val="600"/>
              </a:spcAft>
            </a:pPr>
            <a:r>
              <a:rPr sz="1200" b="0" i="0">
                <a:solidFill>
                  <a:srgbClr val="FBEEF0"/>
                </a:solidFill>
                <a:latin typeface="Calibri"/>
              </a:rPr>
              <a:t>Where others are stronger</a:t>
            </a:r>
          </a:p>
          <a:p>
            <a:pPr>
              <a:lnSpc>
                <a:spcPct val="115000"/>
              </a:lnSpc>
              <a:spcBef>
                <a:spcPts val="0"/>
              </a:spcBef>
              <a:spcAft>
                <a:spcPts val="600"/>
              </a:spcAft>
            </a:pPr>
            <a:r>
              <a:rPr sz="1200" b="0" i="0">
                <a:solidFill>
                  <a:srgbClr val="FBEEF0"/>
                </a:solidFill>
                <a:latin typeface="Calibri"/>
              </a:rPr>
              <a:t>What SAJHA does not do</a:t>
            </a:r>
          </a:p>
          <a:p>
            <a:pPr>
              <a:lnSpc>
                <a:spcPct val="115000"/>
              </a:lnSpc>
              <a:spcBef>
                <a:spcPts val="0"/>
              </a:spcBef>
              <a:spcAft>
                <a:spcPts val="600"/>
              </a:spcAft>
            </a:pPr>
            <a:r>
              <a:rPr sz="1200" b="0" i="0">
                <a:solidFill>
                  <a:srgbClr val="FBEEF0"/>
                </a:solidFill>
                <a:latin typeface="Calibri"/>
              </a:rPr>
              <a:t>Where to start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COMPARISON</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10 products, 23 questions, verdicts from vendors' own pages</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9 · How it compares, honestly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51</a:t>
            </a:r>
          </a:p>
        </p:txBody>
      </p:sp>
      <p:sp>
        <p:nvSpPr>
          <p:cNvPr id="10" name="TextBox 9"/>
          <p:cNvSpPr txBox="1"/>
          <p:nvPr/>
        </p:nvSpPr>
        <p:spPr>
          <a:xfrm>
            <a:off x="777240" y="1354836"/>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Each cell is Yes, Partial, No or Unknown (could not be verified), with a note and a dated source. The questions are the ones a buyer of a tool server asks; a gateway buyer would ask others, so read the counts as a profile, not a score.</a:t>
            </a:r>
          </a:p>
        </p:txBody>
      </p:sp>
      <p:graphicFrame>
        <p:nvGraphicFramePr>
          <p:cNvPr id="11" name="Table 10"/>
          <p:cNvGraphicFramePr>
            <a:graphicFrameLocks noGrp="1"/>
          </p:cNvGraphicFramePr>
          <p:nvPr/>
        </p:nvGraphicFramePr>
        <p:xfrm>
          <a:off x="777240" y="2252853"/>
          <a:ext cx="10637212" cy="3327654"/>
        </p:xfrm>
        <a:graphic>
          <a:graphicData uri="http://schemas.openxmlformats.org/drawingml/2006/table">
            <a:tbl>
              <a:tblPr firstRow="1">
                <a:tableStyleId>{5C22544A-7EE6-4342-B048-85BDC9FD1C3A}</a:tableStyleId>
              </a:tblPr>
              <a:tblGrid>
                <a:gridCol w="3639047"/>
                <a:gridCol w="2379377"/>
                <a:gridCol w="1119706"/>
                <a:gridCol w="1119706"/>
                <a:gridCol w="1119706"/>
                <a:gridCol w="1259670"/>
              </a:tblGrid>
              <a:tr h="302514">
                <a:tc>
                  <a:txBody>
                    <a:bodyPr wrap="square"/>
                    <a:lstStyle/>
                    <a:p>
                      <a:r>
                        <a:rPr sz="1200" b="1">
                          <a:solidFill>
                            <a:srgbClr val="FFFFFF"/>
                          </a:solidFill>
                          <a:latin typeface="Calibri"/>
                        </a:rPr>
                        <a:t>Product</a:t>
                      </a:r>
                    </a:p>
                  </a:txBody>
                  <a:tcPr marL="82296" marR="64008" marT="32004" marB="32004" anchor="ctr">
                    <a:solidFill>
                      <a:srgbClr val="A51C30"/>
                    </a:solidFill>
                  </a:tcPr>
                </a:tc>
                <a:tc>
                  <a:txBody>
                    <a:bodyPr wrap="square"/>
                    <a:lstStyle/>
                    <a:p>
                      <a:r>
                        <a:rPr sz="1200" b="1">
                          <a:solidFill>
                            <a:srgbClr val="FFFFFF"/>
                          </a:solidFill>
                          <a:latin typeface="Calibri"/>
                        </a:rPr>
                        <a:t>Kind</a:t>
                      </a:r>
                    </a:p>
                  </a:txBody>
                  <a:tcPr marL="82296" marR="64008" marT="32004" marB="32004" anchor="ctr">
                    <a:solidFill>
                      <a:srgbClr val="A51C30"/>
                    </a:solidFill>
                  </a:tcPr>
                </a:tc>
                <a:tc>
                  <a:txBody>
                    <a:bodyPr wrap="square"/>
                    <a:lstStyle/>
                    <a:p>
                      <a:r>
                        <a:rPr sz="1200" b="1">
                          <a:solidFill>
                            <a:srgbClr val="FFFFFF"/>
                          </a:solidFill>
                          <a:latin typeface="Calibri"/>
                        </a:rPr>
                        <a:t>Yes</a:t>
                      </a:r>
                    </a:p>
                  </a:txBody>
                  <a:tcPr marL="82296" marR="64008" marT="32004" marB="32004" anchor="ctr">
                    <a:solidFill>
                      <a:srgbClr val="A51C30"/>
                    </a:solidFill>
                  </a:tcPr>
                </a:tc>
                <a:tc>
                  <a:txBody>
                    <a:bodyPr wrap="square"/>
                    <a:lstStyle/>
                    <a:p>
                      <a:r>
                        <a:rPr sz="1200" b="1">
                          <a:solidFill>
                            <a:srgbClr val="FFFFFF"/>
                          </a:solidFill>
                          <a:latin typeface="Calibri"/>
                        </a:rPr>
                        <a:t>Partial</a:t>
                      </a:r>
                    </a:p>
                  </a:txBody>
                  <a:tcPr marL="82296" marR="64008" marT="32004" marB="32004" anchor="ctr">
                    <a:solidFill>
                      <a:srgbClr val="A51C30"/>
                    </a:solidFill>
                  </a:tcPr>
                </a:tc>
                <a:tc>
                  <a:txBody>
                    <a:bodyPr wrap="square"/>
                    <a:lstStyle/>
                    <a:p>
                      <a:r>
                        <a:rPr sz="1200" b="1">
                          <a:solidFill>
                            <a:srgbClr val="FFFFFF"/>
                          </a:solidFill>
                          <a:latin typeface="Calibri"/>
                        </a:rPr>
                        <a:t>No</a:t>
                      </a:r>
                    </a:p>
                  </a:txBody>
                  <a:tcPr marL="82296" marR="64008" marT="32004" marB="32004" anchor="ctr">
                    <a:solidFill>
                      <a:srgbClr val="A51C30"/>
                    </a:solidFill>
                  </a:tcPr>
                </a:tc>
                <a:tc>
                  <a:txBody>
                    <a:bodyPr wrap="square"/>
                    <a:lstStyle/>
                    <a:p>
                      <a:r>
                        <a:rPr sz="1200" b="1">
                          <a:solidFill>
                            <a:srgbClr val="FFFFFF"/>
                          </a:solidFill>
                          <a:latin typeface="Calibri"/>
                        </a:rPr>
                        <a:t>Unknown</a:t>
                      </a:r>
                    </a:p>
                  </a:txBody>
                  <a:tcPr marL="82296" marR="64008" marT="32004" marB="32004" anchor="ctr">
                    <a:solidFill>
                      <a:srgbClr val="A51C30"/>
                    </a:solidFill>
                  </a:tcPr>
                </a:tc>
              </a:tr>
              <a:tr h="302514">
                <a:tc>
                  <a:txBody>
                    <a:bodyPr wrap="square"/>
                    <a:lstStyle/>
                    <a:p>
                      <a:r>
                        <a:rPr sz="1200" b="1">
                          <a:solidFill>
                            <a:srgbClr val="6E1120"/>
                          </a:solidFill>
                          <a:latin typeface="Calibri"/>
                        </a:rPr>
                        <a:t>SAJHA</a:t>
                      </a:r>
                    </a:p>
                  </a:txBody>
                  <a:tcPr marL="82296" marR="64008" marT="32004" marB="32004" anchor="ctr">
                    <a:solidFill>
                      <a:srgbClr val="FFFFFF"/>
                    </a:solidFill>
                  </a:tcPr>
                </a:tc>
                <a:tc>
                  <a:txBody>
                    <a:bodyPr wrap="square"/>
                    <a:lstStyle/>
                    <a:p>
                      <a:r>
                        <a:rPr sz="1200" b="0">
                          <a:solidFill>
                            <a:srgbClr val="1A1A1A"/>
                          </a:solidFill>
                          <a:latin typeface="Calibri"/>
                        </a:rPr>
                        <a:t>Server</a:t>
                      </a:r>
                    </a:p>
                  </a:txBody>
                  <a:tcPr marL="82296" marR="64008" marT="32004" marB="32004" anchor="ctr">
                    <a:solidFill>
                      <a:srgbClr val="FFFFFF"/>
                    </a:solidFill>
                  </a:tcPr>
                </a:tc>
                <a:tc>
                  <a:txBody>
                    <a:bodyPr wrap="square"/>
                    <a:lstStyle/>
                    <a:p>
                      <a:r>
                        <a:rPr sz="1200" b="0">
                          <a:solidFill>
                            <a:srgbClr val="1A1A1A"/>
                          </a:solidFill>
                          <a:latin typeface="Calibri"/>
                        </a:rPr>
                        <a:t>19</a:t>
                      </a:r>
                    </a:p>
                  </a:txBody>
                  <a:tcPr marL="82296" marR="64008" marT="32004" marB="32004" anchor="ctr">
                    <a:solidFill>
                      <a:srgbClr val="FFFFFF"/>
                    </a:solidFill>
                  </a:tcPr>
                </a:tc>
                <a:tc>
                  <a:txBody>
                    <a:bodyPr wrap="square"/>
                    <a:lstStyle/>
                    <a:p>
                      <a:r>
                        <a:rPr sz="1200" b="0">
                          <a:solidFill>
                            <a:srgbClr val="1A1A1A"/>
                          </a:solidFill>
                          <a:latin typeface="Calibri"/>
                        </a:rPr>
                        <a:t>2</a:t>
                      </a:r>
                    </a:p>
                  </a:txBody>
                  <a:tcPr marL="82296" marR="64008" marT="32004" marB="32004" anchor="ctr">
                    <a:solidFill>
                      <a:srgbClr val="FFFFFF"/>
                    </a:solidFill>
                  </a:tcPr>
                </a:tc>
                <a:tc>
                  <a:txBody>
                    <a:bodyPr wrap="square"/>
                    <a:lstStyle/>
                    <a:p>
                      <a:r>
                        <a:rPr sz="1200" b="0">
                          <a:solidFill>
                            <a:srgbClr val="1A1A1A"/>
                          </a:solidFill>
                          <a:latin typeface="Calibri"/>
                        </a:rPr>
                        <a:t>2</a:t>
                      </a:r>
                    </a:p>
                  </a:txBody>
                  <a:tcPr marL="82296" marR="64008" marT="32004" marB="32004" anchor="ctr">
                    <a:solidFill>
                      <a:srgbClr val="FFFFFF"/>
                    </a:solidFill>
                  </a:tcPr>
                </a:tc>
                <a:tc>
                  <a:txBody>
                    <a:bodyPr wrap="square"/>
                    <a:lstStyle/>
                    <a:p>
                      <a:r>
                        <a:rPr sz="1200" b="0">
                          <a:solidFill>
                            <a:srgbClr val="1A1A1A"/>
                          </a:solidFill>
                          <a:latin typeface="Calibri"/>
                        </a:rPr>
                        <a:t>0</a:t>
                      </a:r>
                    </a:p>
                  </a:txBody>
                  <a:tcPr marL="82296" marR="64008" marT="32004" marB="32004" anchor="ctr">
                    <a:solidFill>
                      <a:srgbClr val="FFFFFF"/>
                    </a:solidFill>
                  </a:tcPr>
                </a:tc>
              </a:tr>
              <a:tr h="302514">
                <a:tc>
                  <a:txBody>
                    <a:bodyPr wrap="square"/>
                    <a:lstStyle/>
                    <a:p>
                      <a:r>
                        <a:rPr sz="1200" b="1">
                          <a:solidFill>
                            <a:srgbClr val="6E1120"/>
                          </a:solidFill>
                          <a:latin typeface="Calibri"/>
                        </a:rPr>
                        <a:t>FastMCP</a:t>
                      </a:r>
                    </a:p>
                  </a:txBody>
                  <a:tcPr marL="82296" marR="64008" marT="32004" marB="32004" anchor="ctr">
                    <a:solidFill>
                      <a:srgbClr val="F7F5F2"/>
                    </a:solidFill>
                  </a:tcPr>
                </a:tc>
                <a:tc>
                  <a:txBody>
                    <a:bodyPr wrap="square"/>
                    <a:lstStyle/>
                    <a:p>
                      <a:r>
                        <a:rPr sz="1200" b="0">
                          <a:solidFill>
                            <a:srgbClr val="1A1A1A"/>
                          </a:solidFill>
                          <a:latin typeface="Calibri"/>
                        </a:rPr>
                        <a:t>Framework</a:t>
                      </a:r>
                    </a:p>
                  </a:txBody>
                  <a:tcPr marL="82296" marR="64008" marT="32004" marB="32004" anchor="ctr">
                    <a:solidFill>
                      <a:srgbClr val="F7F5F2"/>
                    </a:solidFill>
                  </a:tcPr>
                </a:tc>
                <a:tc>
                  <a:txBody>
                    <a:bodyPr wrap="square"/>
                    <a:lstStyle/>
                    <a:p>
                      <a:r>
                        <a:rPr sz="1200" b="0">
                          <a:solidFill>
                            <a:srgbClr val="1A1A1A"/>
                          </a:solidFill>
                          <a:latin typeface="Calibri"/>
                        </a:rPr>
                        <a:t>16</a:t>
                      </a:r>
                    </a:p>
                  </a:txBody>
                  <a:tcPr marL="82296" marR="64008" marT="32004" marB="32004" anchor="ctr">
                    <a:solidFill>
                      <a:srgbClr val="F7F5F2"/>
                    </a:solidFill>
                  </a:tcPr>
                </a:tc>
                <a:tc>
                  <a:txBody>
                    <a:bodyPr wrap="square"/>
                    <a:lstStyle/>
                    <a:p>
                      <a:r>
                        <a:rPr sz="1200" b="0">
                          <a:solidFill>
                            <a:srgbClr val="1A1A1A"/>
                          </a:solidFill>
                          <a:latin typeface="Calibri"/>
                        </a:rPr>
                        <a:t>3</a:t>
                      </a:r>
                    </a:p>
                  </a:txBody>
                  <a:tcPr marL="82296" marR="64008" marT="32004" marB="32004" anchor="ctr">
                    <a:solidFill>
                      <a:srgbClr val="F7F5F2"/>
                    </a:solidFill>
                  </a:tcPr>
                </a:tc>
                <a:tc>
                  <a:txBody>
                    <a:bodyPr wrap="square"/>
                    <a:lstStyle/>
                    <a:p>
                      <a:r>
                        <a:rPr sz="1200" b="0">
                          <a:solidFill>
                            <a:srgbClr val="1A1A1A"/>
                          </a:solidFill>
                          <a:latin typeface="Calibri"/>
                        </a:rPr>
                        <a:t>4</a:t>
                      </a:r>
                    </a:p>
                  </a:txBody>
                  <a:tcPr marL="82296" marR="64008" marT="32004" marB="32004" anchor="ctr">
                    <a:solidFill>
                      <a:srgbClr val="F7F5F2"/>
                    </a:solidFill>
                  </a:tcPr>
                </a:tc>
                <a:tc>
                  <a:txBody>
                    <a:bodyPr wrap="square"/>
                    <a:lstStyle/>
                    <a:p>
                      <a:r>
                        <a:rPr sz="1200" b="0">
                          <a:solidFill>
                            <a:srgbClr val="1A1A1A"/>
                          </a:solidFill>
                          <a:latin typeface="Calibri"/>
                        </a:rPr>
                        <a:t>0</a:t>
                      </a:r>
                    </a:p>
                  </a:txBody>
                  <a:tcPr marL="82296" marR="64008" marT="32004" marB="32004" anchor="ctr">
                    <a:solidFill>
                      <a:srgbClr val="F7F5F2"/>
                    </a:solidFill>
                  </a:tcPr>
                </a:tc>
              </a:tr>
              <a:tr h="302514">
                <a:tc>
                  <a:txBody>
                    <a:bodyPr wrap="square"/>
                    <a:lstStyle/>
                    <a:p>
                      <a:r>
                        <a:rPr sz="1200" b="1">
                          <a:solidFill>
                            <a:srgbClr val="6E1120"/>
                          </a:solidFill>
                          <a:latin typeface="Calibri"/>
                        </a:rPr>
                        <a:t>IBM ContextForge</a:t>
                      </a:r>
                    </a:p>
                  </a:txBody>
                  <a:tcPr marL="82296" marR="64008" marT="32004" marB="32004" anchor="ctr">
                    <a:solidFill>
                      <a:srgbClr val="FFFFFF"/>
                    </a:solidFill>
                  </a:tcPr>
                </a:tc>
                <a:tc>
                  <a:txBody>
                    <a:bodyPr wrap="square"/>
                    <a:lstStyle/>
                    <a:p>
                      <a:r>
                        <a:rPr sz="1200" b="0">
                          <a:solidFill>
                            <a:srgbClr val="1A1A1A"/>
                          </a:solidFill>
                          <a:latin typeface="Calibri"/>
                        </a:rPr>
                        <a:t>Gateway</a:t>
                      </a:r>
                    </a:p>
                  </a:txBody>
                  <a:tcPr marL="82296" marR="64008" marT="32004" marB="32004" anchor="ctr">
                    <a:solidFill>
                      <a:srgbClr val="FFFFFF"/>
                    </a:solidFill>
                  </a:tcPr>
                </a:tc>
                <a:tc>
                  <a:txBody>
                    <a:bodyPr wrap="square"/>
                    <a:lstStyle/>
                    <a:p>
                      <a:r>
                        <a:rPr sz="1200" b="0">
                          <a:solidFill>
                            <a:srgbClr val="1A1A1A"/>
                          </a:solidFill>
                          <a:latin typeface="Calibri"/>
                        </a:rPr>
                        <a:t>13</a:t>
                      </a:r>
                    </a:p>
                  </a:txBody>
                  <a:tcPr marL="82296" marR="64008" marT="32004" marB="32004" anchor="ctr">
                    <a:solidFill>
                      <a:srgbClr val="FFFFFF"/>
                    </a:solidFill>
                  </a:tcPr>
                </a:tc>
                <a:tc>
                  <a:txBody>
                    <a:bodyPr wrap="square"/>
                    <a:lstStyle/>
                    <a:p>
                      <a:r>
                        <a:rPr sz="1200" b="0">
                          <a:solidFill>
                            <a:srgbClr val="1A1A1A"/>
                          </a:solidFill>
                          <a:latin typeface="Calibri"/>
                        </a:rPr>
                        <a:t>4</a:t>
                      </a:r>
                    </a:p>
                  </a:txBody>
                  <a:tcPr marL="82296" marR="64008" marT="32004" marB="32004" anchor="ctr">
                    <a:solidFill>
                      <a:srgbClr val="FFFFFF"/>
                    </a:solidFill>
                  </a:tcPr>
                </a:tc>
                <a:tc>
                  <a:txBody>
                    <a:bodyPr wrap="square"/>
                    <a:lstStyle/>
                    <a:p>
                      <a:r>
                        <a:rPr sz="1200" b="0">
                          <a:solidFill>
                            <a:srgbClr val="1A1A1A"/>
                          </a:solidFill>
                          <a:latin typeface="Calibri"/>
                        </a:rPr>
                        <a:t>3</a:t>
                      </a:r>
                    </a:p>
                  </a:txBody>
                  <a:tcPr marL="82296" marR="64008" marT="32004" marB="32004" anchor="ctr">
                    <a:solidFill>
                      <a:srgbClr val="FFFFFF"/>
                    </a:solidFill>
                  </a:tcPr>
                </a:tc>
                <a:tc>
                  <a:txBody>
                    <a:bodyPr wrap="square"/>
                    <a:lstStyle/>
                    <a:p>
                      <a:r>
                        <a:rPr sz="1200" b="0">
                          <a:solidFill>
                            <a:srgbClr val="1A1A1A"/>
                          </a:solidFill>
                          <a:latin typeface="Calibri"/>
                        </a:rPr>
                        <a:t>3</a:t>
                      </a:r>
                    </a:p>
                  </a:txBody>
                  <a:tcPr marL="82296" marR="64008" marT="32004" marB="32004" anchor="ctr">
                    <a:solidFill>
                      <a:srgbClr val="FFFFFF"/>
                    </a:solidFill>
                  </a:tcPr>
                </a:tc>
              </a:tr>
              <a:tr h="302514">
                <a:tc>
                  <a:txBody>
                    <a:bodyPr wrap="square"/>
                    <a:lstStyle/>
                    <a:p>
                      <a:r>
                        <a:rPr sz="1200" b="1">
                          <a:solidFill>
                            <a:srgbClr val="6E1120"/>
                          </a:solidFill>
                          <a:latin typeface="Calibri"/>
                        </a:rPr>
                        <a:t>Docker MCP Gateway</a:t>
                      </a:r>
                    </a:p>
                  </a:txBody>
                  <a:tcPr marL="82296" marR="64008" marT="32004" marB="32004" anchor="ctr">
                    <a:solidFill>
                      <a:srgbClr val="F7F5F2"/>
                    </a:solidFill>
                  </a:tcPr>
                </a:tc>
                <a:tc>
                  <a:txBody>
                    <a:bodyPr wrap="square"/>
                    <a:lstStyle/>
                    <a:p>
                      <a:r>
                        <a:rPr sz="1200" b="0">
                          <a:solidFill>
                            <a:srgbClr val="1A1A1A"/>
                          </a:solidFill>
                          <a:latin typeface="Calibri"/>
                        </a:rPr>
                        <a:t>Gateway</a:t>
                      </a:r>
                    </a:p>
                  </a:txBody>
                  <a:tcPr marL="82296" marR="64008" marT="32004" marB="32004" anchor="ctr">
                    <a:solidFill>
                      <a:srgbClr val="F7F5F2"/>
                    </a:solidFill>
                  </a:tcPr>
                </a:tc>
                <a:tc>
                  <a:txBody>
                    <a:bodyPr wrap="square"/>
                    <a:lstStyle/>
                    <a:p>
                      <a:r>
                        <a:rPr sz="1200" b="0">
                          <a:solidFill>
                            <a:srgbClr val="1A1A1A"/>
                          </a:solidFill>
                          <a:latin typeface="Calibri"/>
                        </a:rPr>
                        <a:t>11</a:t>
                      </a:r>
                    </a:p>
                  </a:txBody>
                  <a:tcPr marL="82296" marR="64008" marT="32004" marB="32004" anchor="ctr">
                    <a:solidFill>
                      <a:srgbClr val="F7F5F2"/>
                    </a:solidFill>
                  </a:tcPr>
                </a:tc>
                <a:tc>
                  <a:txBody>
                    <a:bodyPr wrap="square"/>
                    <a:lstStyle/>
                    <a:p>
                      <a:r>
                        <a:rPr sz="1200" b="0">
                          <a:solidFill>
                            <a:srgbClr val="1A1A1A"/>
                          </a:solidFill>
                          <a:latin typeface="Calibri"/>
                        </a:rPr>
                        <a:t>3</a:t>
                      </a:r>
                    </a:p>
                  </a:txBody>
                  <a:tcPr marL="82296" marR="64008" marT="32004" marB="32004" anchor="ctr">
                    <a:solidFill>
                      <a:srgbClr val="F7F5F2"/>
                    </a:solidFill>
                  </a:tcPr>
                </a:tc>
                <a:tc>
                  <a:txBody>
                    <a:bodyPr wrap="square"/>
                    <a:lstStyle/>
                    <a:p>
                      <a:r>
                        <a:rPr sz="1200" b="0">
                          <a:solidFill>
                            <a:srgbClr val="1A1A1A"/>
                          </a:solidFill>
                          <a:latin typeface="Calibri"/>
                        </a:rPr>
                        <a:t>4</a:t>
                      </a:r>
                    </a:p>
                  </a:txBody>
                  <a:tcPr marL="82296" marR="64008" marT="32004" marB="32004" anchor="ctr">
                    <a:solidFill>
                      <a:srgbClr val="F7F5F2"/>
                    </a:solidFill>
                  </a:tcPr>
                </a:tc>
                <a:tc>
                  <a:txBody>
                    <a:bodyPr wrap="square"/>
                    <a:lstStyle/>
                    <a:p>
                      <a:r>
                        <a:rPr sz="1200" b="0">
                          <a:solidFill>
                            <a:srgbClr val="1A1A1A"/>
                          </a:solidFill>
                          <a:latin typeface="Calibri"/>
                        </a:rPr>
                        <a:t>5</a:t>
                      </a:r>
                    </a:p>
                  </a:txBody>
                  <a:tcPr marL="82296" marR="64008" marT="32004" marB="32004" anchor="ctr">
                    <a:solidFill>
                      <a:srgbClr val="F7F5F2"/>
                    </a:solidFill>
                  </a:tcPr>
                </a:tc>
              </a:tr>
              <a:tr h="302514">
                <a:tc>
                  <a:txBody>
                    <a:bodyPr wrap="square"/>
                    <a:lstStyle/>
                    <a:p>
                      <a:r>
                        <a:rPr sz="1200" b="1">
                          <a:solidFill>
                            <a:srgbClr val="6E1120"/>
                          </a:solidFill>
                          <a:latin typeface="Calibri"/>
                        </a:rPr>
                        <a:t>Microsoft MCP Gateway</a:t>
                      </a:r>
                    </a:p>
                  </a:txBody>
                  <a:tcPr marL="82296" marR="64008" marT="32004" marB="32004" anchor="ctr">
                    <a:solidFill>
                      <a:srgbClr val="FFFFFF"/>
                    </a:solidFill>
                  </a:tcPr>
                </a:tc>
                <a:tc>
                  <a:txBody>
                    <a:bodyPr wrap="square"/>
                    <a:lstStyle/>
                    <a:p>
                      <a:r>
                        <a:rPr sz="1200" b="0">
                          <a:solidFill>
                            <a:srgbClr val="1A1A1A"/>
                          </a:solidFill>
                          <a:latin typeface="Calibri"/>
                        </a:rPr>
                        <a:t>Gateway</a:t>
                      </a:r>
                    </a:p>
                  </a:txBody>
                  <a:tcPr marL="82296" marR="64008" marT="32004" marB="32004" anchor="ctr">
                    <a:solidFill>
                      <a:srgbClr val="FFFFFF"/>
                    </a:solidFill>
                  </a:tcPr>
                </a:tc>
                <a:tc>
                  <a:txBody>
                    <a:bodyPr wrap="square"/>
                    <a:lstStyle/>
                    <a:p>
                      <a:r>
                        <a:rPr sz="1200" b="0">
                          <a:solidFill>
                            <a:srgbClr val="1A1A1A"/>
                          </a:solidFill>
                          <a:latin typeface="Calibri"/>
                        </a:rPr>
                        <a:t>7</a:t>
                      </a:r>
                    </a:p>
                  </a:txBody>
                  <a:tcPr marL="82296" marR="64008" marT="32004" marB="32004" anchor="ctr">
                    <a:solidFill>
                      <a:srgbClr val="FFFFFF"/>
                    </a:solidFill>
                  </a:tcPr>
                </a:tc>
                <a:tc>
                  <a:txBody>
                    <a:bodyPr wrap="square"/>
                    <a:lstStyle/>
                    <a:p>
                      <a:r>
                        <a:rPr sz="1200" b="0">
                          <a:solidFill>
                            <a:srgbClr val="1A1A1A"/>
                          </a:solidFill>
                          <a:latin typeface="Calibri"/>
                        </a:rPr>
                        <a:t>5</a:t>
                      </a:r>
                    </a:p>
                  </a:txBody>
                  <a:tcPr marL="82296" marR="64008" marT="32004" marB="32004" anchor="ctr">
                    <a:solidFill>
                      <a:srgbClr val="FFFFFF"/>
                    </a:solidFill>
                  </a:tcPr>
                </a:tc>
                <a:tc>
                  <a:txBody>
                    <a:bodyPr wrap="square"/>
                    <a:lstStyle/>
                    <a:p>
                      <a:r>
                        <a:rPr sz="1200" b="0">
                          <a:solidFill>
                            <a:srgbClr val="1A1A1A"/>
                          </a:solidFill>
                          <a:latin typeface="Calibri"/>
                        </a:rPr>
                        <a:t>9</a:t>
                      </a:r>
                    </a:p>
                  </a:txBody>
                  <a:tcPr marL="82296" marR="64008" marT="32004" marB="32004" anchor="ctr">
                    <a:solidFill>
                      <a:srgbClr val="FFFFFF"/>
                    </a:solidFill>
                  </a:tcPr>
                </a:tc>
                <a:tc>
                  <a:txBody>
                    <a:bodyPr wrap="square"/>
                    <a:lstStyle/>
                    <a:p>
                      <a:r>
                        <a:rPr sz="1200" b="0">
                          <a:solidFill>
                            <a:srgbClr val="1A1A1A"/>
                          </a:solidFill>
                          <a:latin typeface="Calibri"/>
                        </a:rPr>
                        <a:t>2</a:t>
                      </a:r>
                    </a:p>
                  </a:txBody>
                  <a:tcPr marL="82296" marR="64008" marT="32004" marB="32004" anchor="ctr">
                    <a:solidFill>
                      <a:srgbClr val="FFFFFF"/>
                    </a:solidFill>
                  </a:tcPr>
                </a:tc>
              </a:tr>
              <a:tr h="302514">
                <a:tc>
                  <a:txBody>
                    <a:bodyPr wrap="square"/>
                    <a:lstStyle/>
                    <a:p>
                      <a:r>
                        <a:rPr sz="1200" b="1">
                          <a:solidFill>
                            <a:srgbClr val="6E1120"/>
                          </a:solidFill>
                          <a:latin typeface="Calibri"/>
                        </a:rPr>
                        <a:t>Kong AI Gateway</a:t>
                      </a:r>
                    </a:p>
                  </a:txBody>
                  <a:tcPr marL="82296" marR="64008" marT="32004" marB="32004" anchor="ctr">
                    <a:solidFill>
                      <a:srgbClr val="F7F5F2"/>
                    </a:solidFill>
                  </a:tcPr>
                </a:tc>
                <a:tc>
                  <a:txBody>
                    <a:bodyPr wrap="square"/>
                    <a:lstStyle/>
                    <a:p>
                      <a:r>
                        <a:rPr sz="1200" b="0">
                          <a:solidFill>
                            <a:srgbClr val="1A1A1A"/>
                          </a:solidFill>
                          <a:latin typeface="Calibri"/>
                        </a:rPr>
                        <a:t>Gateway</a:t>
                      </a:r>
                    </a:p>
                  </a:txBody>
                  <a:tcPr marL="82296" marR="64008" marT="32004" marB="32004" anchor="ctr">
                    <a:solidFill>
                      <a:srgbClr val="F7F5F2"/>
                    </a:solidFill>
                  </a:tcPr>
                </a:tc>
                <a:tc>
                  <a:txBody>
                    <a:bodyPr wrap="square"/>
                    <a:lstStyle/>
                    <a:p>
                      <a:r>
                        <a:rPr sz="1200" b="0">
                          <a:solidFill>
                            <a:srgbClr val="1A1A1A"/>
                          </a:solidFill>
                          <a:latin typeface="Calibri"/>
                        </a:rPr>
                        <a:t>9</a:t>
                      </a:r>
                    </a:p>
                  </a:txBody>
                  <a:tcPr marL="82296" marR="64008" marT="32004" marB="32004" anchor="ctr">
                    <a:solidFill>
                      <a:srgbClr val="F7F5F2"/>
                    </a:solidFill>
                  </a:tcPr>
                </a:tc>
                <a:tc>
                  <a:txBody>
                    <a:bodyPr wrap="square"/>
                    <a:lstStyle/>
                    <a:p>
                      <a:r>
                        <a:rPr sz="1200" b="0">
                          <a:solidFill>
                            <a:srgbClr val="1A1A1A"/>
                          </a:solidFill>
                          <a:latin typeface="Calibri"/>
                        </a:rPr>
                        <a:t>5</a:t>
                      </a:r>
                    </a:p>
                  </a:txBody>
                  <a:tcPr marL="82296" marR="64008" marT="32004" marB="32004" anchor="ctr">
                    <a:solidFill>
                      <a:srgbClr val="F7F5F2"/>
                    </a:solidFill>
                  </a:tcPr>
                </a:tc>
                <a:tc>
                  <a:txBody>
                    <a:bodyPr wrap="square"/>
                    <a:lstStyle/>
                    <a:p>
                      <a:r>
                        <a:rPr sz="1200" b="0">
                          <a:solidFill>
                            <a:srgbClr val="1A1A1A"/>
                          </a:solidFill>
                          <a:latin typeface="Calibri"/>
                        </a:rPr>
                        <a:t>4</a:t>
                      </a:r>
                    </a:p>
                  </a:txBody>
                  <a:tcPr marL="82296" marR="64008" marT="32004" marB="32004" anchor="ctr">
                    <a:solidFill>
                      <a:srgbClr val="F7F5F2"/>
                    </a:solidFill>
                  </a:tcPr>
                </a:tc>
                <a:tc>
                  <a:txBody>
                    <a:bodyPr wrap="square"/>
                    <a:lstStyle/>
                    <a:p>
                      <a:r>
                        <a:rPr sz="1200" b="0">
                          <a:solidFill>
                            <a:srgbClr val="1A1A1A"/>
                          </a:solidFill>
                          <a:latin typeface="Calibri"/>
                        </a:rPr>
                        <a:t>5</a:t>
                      </a:r>
                    </a:p>
                  </a:txBody>
                  <a:tcPr marL="82296" marR="64008" marT="32004" marB="32004" anchor="ctr">
                    <a:solidFill>
                      <a:srgbClr val="F7F5F2"/>
                    </a:solidFill>
                  </a:tcPr>
                </a:tc>
              </a:tr>
              <a:tr h="302514">
                <a:tc>
                  <a:txBody>
                    <a:bodyPr wrap="square"/>
                    <a:lstStyle/>
                    <a:p>
                      <a:r>
                        <a:rPr sz="1200" b="1">
                          <a:solidFill>
                            <a:srgbClr val="6E1120"/>
                          </a:solidFill>
                          <a:latin typeface="Calibri"/>
                        </a:rPr>
                        <a:t>Cloudflare remote MCP</a:t>
                      </a:r>
                    </a:p>
                  </a:txBody>
                  <a:tcPr marL="82296" marR="64008" marT="32004" marB="32004" anchor="ctr">
                    <a:solidFill>
                      <a:srgbClr val="FFFFFF"/>
                    </a:solidFill>
                  </a:tcPr>
                </a:tc>
                <a:tc>
                  <a:txBody>
                    <a:bodyPr wrap="square"/>
                    <a:lstStyle/>
                    <a:p>
                      <a:r>
                        <a:rPr sz="1200" b="0">
                          <a:solidFill>
                            <a:srgbClr val="1A1A1A"/>
                          </a:solidFill>
                          <a:latin typeface="Calibri"/>
                        </a:rPr>
                        <a:t>Edge platform</a:t>
                      </a:r>
                    </a:p>
                  </a:txBody>
                  <a:tcPr marL="82296" marR="64008" marT="32004" marB="32004" anchor="ctr">
                    <a:solidFill>
                      <a:srgbClr val="FFFFFF"/>
                    </a:solidFill>
                  </a:tcPr>
                </a:tc>
                <a:tc>
                  <a:txBody>
                    <a:bodyPr wrap="square"/>
                    <a:lstStyle/>
                    <a:p>
                      <a:r>
                        <a:rPr sz="1200" b="0">
                          <a:solidFill>
                            <a:srgbClr val="1A1A1A"/>
                          </a:solidFill>
                          <a:latin typeface="Calibri"/>
                        </a:rPr>
                        <a:t>15</a:t>
                      </a:r>
                    </a:p>
                  </a:txBody>
                  <a:tcPr marL="82296" marR="64008" marT="32004" marB="32004" anchor="ctr">
                    <a:solidFill>
                      <a:srgbClr val="FFFFFF"/>
                    </a:solidFill>
                  </a:tcPr>
                </a:tc>
                <a:tc>
                  <a:txBody>
                    <a:bodyPr wrap="square"/>
                    <a:lstStyle/>
                    <a:p>
                      <a:r>
                        <a:rPr sz="1200" b="0">
                          <a:solidFill>
                            <a:srgbClr val="1A1A1A"/>
                          </a:solidFill>
                          <a:latin typeface="Calibri"/>
                        </a:rPr>
                        <a:t>4</a:t>
                      </a:r>
                    </a:p>
                  </a:txBody>
                  <a:tcPr marL="82296" marR="64008" marT="32004" marB="32004" anchor="ctr">
                    <a:solidFill>
                      <a:srgbClr val="FFFFFF"/>
                    </a:solidFill>
                  </a:tcPr>
                </a:tc>
                <a:tc>
                  <a:txBody>
                    <a:bodyPr wrap="square"/>
                    <a:lstStyle/>
                    <a:p>
                      <a:r>
                        <a:rPr sz="1200" b="0">
                          <a:solidFill>
                            <a:srgbClr val="1A1A1A"/>
                          </a:solidFill>
                          <a:latin typeface="Calibri"/>
                        </a:rPr>
                        <a:t>2</a:t>
                      </a:r>
                    </a:p>
                  </a:txBody>
                  <a:tcPr marL="82296" marR="64008" marT="32004" marB="32004" anchor="ctr">
                    <a:solidFill>
                      <a:srgbClr val="FFFFFF"/>
                    </a:solidFill>
                  </a:tcPr>
                </a:tc>
                <a:tc>
                  <a:txBody>
                    <a:bodyPr wrap="square"/>
                    <a:lstStyle/>
                    <a:p>
                      <a:r>
                        <a:rPr sz="1200" b="0">
                          <a:solidFill>
                            <a:srgbClr val="1A1A1A"/>
                          </a:solidFill>
                          <a:latin typeface="Calibri"/>
                        </a:rPr>
                        <a:t>2</a:t>
                      </a:r>
                    </a:p>
                  </a:txBody>
                  <a:tcPr marL="82296" marR="64008" marT="32004" marB="32004" anchor="ctr">
                    <a:solidFill>
                      <a:srgbClr val="FFFFFF"/>
                    </a:solidFill>
                  </a:tcPr>
                </a:tc>
              </a:tr>
              <a:tr h="302514">
                <a:tc>
                  <a:txBody>
                    <a:bodyPr wrap="square"/>
                    <a:lstStyle/>
                    <a:p>
                      <a:r>
                        <a:rPr sz="1200" b="1">
                          <a:solidFill>
                            <a:srgbClr val="6E1120"/>
                          </a:solidFill>
                          <a:latin typeface="Calibri"/>
                        </a:rPr>
                        <a:t>Composio</a:t>
                      </a:r>
                    </a:p>
                  </a:txBody>
                  <a:tcPr marL="82296" marR="64008" marT="32004" marB="32004" anchor="ctr">
                    <a:solidFill>
                      <a:srgbClr val="F7F5F2"/>
                    </a:solidFill>
                  </a:tcPr>
                </a:tc>
                <a:tc>
                  <a:txBody>
                    <a:bodyPr wrap="square"/>
                    <a:lstStyle/>
                    <a:p>
                      <a:r>
                        <a:rPr sz="1200" b="0">
                          <a:solidFill>
                            <a:srgbClr val="1A1A1A"/>
                          </a:solidFill>
                          <a:latin typeface="Calibri"/>
                        </a:rPr>
                        <a:t>Hosted platform</a:t>
                      </a:r>
                    </a:p>
                  </a:txBody>
                  <a:tcPr marL="82296" marR="64008" marT="32004" marB="32004" anchor="ctr">
                    <a:solidFill>
                      <a:srgbClr val="F7F5F2"/>
                    </a:solidFill>
                  </a:tcPr>
                </a:tc>
                <a:tc>
                  <a:txBody>
                    <a:bodyPr wrap="square"/>
                    <a:lstStyle/>
                    <a:p>
                      <a:r>
                        <a:rPr sz="1200" b="0">
                          <a:solidFill>
                            <a:srgbClr val="1A1A1A"/>
                          </a:solidFill>
                          <a:latin typeface="Calibri"/>
                        </a:rPr>
                        <a:t>9</a:t>
                      </a:r>
                    </a:p>
                  </a:txBody>
                  <a:tcPr marL="82296" marR="64008" marT="32004" marB="32004" anchor="ctr">
                    <a:solidFill>
                      <a:srgbClr val="F7F5F2"/>
                    </a:solidFill>
                  </a:tcPr>
                </a:tc>
                <a:tc>
                  <a:txBody>
                    <a:bodyPr wrap="square"/>
                    <a:lstStyle/>
                    <a:p>
                      <a:r>
                        <a:rPr sz="1200" b="0">
                          <a:solidFill>
                            <a:srgbClr val="1A1A1A"/>
                          </a:solidFill>
                          <a:latin typeface="Calibri"/>
                        </a:rPr>
                        <a:t>6</a:t>
                      </a:r>
                    </a:p>
                  </a:txBody>
                  <a:tcPr marL="82296" marR="64008" marT="32004" marB="32004" anchor="ctr">
                    <a:solidFill>
                      <a:srgbClr val="F7F5F2"/>
                    </a:solidFill>
                  </a:tcPr>
                </a:tc>
                <a:tc>
                  <a:txBody>
                    <a:bodyPr wrap="square"/>
                    <a:lstStyle/>
                    <a:p>
                      <a:r>
                        <a:rPr sz="1200" b="0">
                          <a:solidFill>
                            <a:srgbClr val="1A1A1A"/>
                          </a:solidFill>
                          <a:latin typeface="Calibri"/>
                        </a:rPr>
                        <a:t>4</a:t>
                      </a:r>
                    </a:p>
                  </a:txBody>
                  <a:tcPr marL="82296" marR="64008" marT="32004" marB="32004" anchor="ctr">
                    <a:solidFill>
                      <a:srgbClr val="F7F5F2"/>
                    </a:solidFill>
                  </a:tcPr>
                </a:tc>
                <a:tc>
                  <a:txBody>
                    <a:bodyPr wrap="square"/>
                    <a:lstStyle/>
                    <a:p>
                      <a:r>
                        <a:rPr sz="1200" b="0">
                          <a:solidFill>
                            <a:srgbClr val="1A1A1A"/>
                          </a:solidFill>
                          <a:latin typeface="Calibri"/>
                        </a:rPr>
                        <a:t>4</a:t>
                      </a:r>
                    </a:p>
                  </a:txBody>
                  <a:tcPr marL="82296" marR="64008" marT="32004" marB="32004" anchor="ctr">
                    <a:solidFill>
                      <a:srgbClr val="F7F5F2"/>
                    </a:solidFill>
                  </a:tcPr>
                </a:tc>
              </a:tr>
              <a:tr h="302514">
                <a:tc>
                  <a:txBody>
                    <a:bodyPr wrap="square"/>
                    <a:lstStyle/>
                    <a:p>
                      <a:r>
                        <a:rPr sz="1200" b="1">
                          <a:solidFill>
                            <a:srgbClr val="6E1120"/>
                          </a:solidFill>
                          <a:latin typeface="Calibri"/>
                        </a:rPr>
                        <a:t>Zapier MCP</a:t>
                      </a:r>
                    </a:p>
                  </a:txBody>
                  <a:tcPr marL="82296" marR="64008" marT="32004" marB="32004" anchor="ctr">
                    <a:solidFill>
                      <a:srgbClr val="FFFFFF"/>
                    </a:solidFill>
                  </a:tcPr>
                </a:tc>
                <a:tc>
                  <a:txBody>
                    <a:bodyPr wrap="square"/>
                    <a:lstStyle/>
                    <a:p>
                      <a:r>
                        <a:rPr sz="1200" b="0">
                          <a:solidFill>
                            <a:srgbClr val="1A1A1A"/>
                          </a:solidFill>
                          <a:latin typeface="Calibri"/>
                        </a:rPr>
                        <a:t>Hosted platform</a:t>
                      </a:r>
                    </a:p>
                  </a:txBody>
                  <a:tcPr marL="82296" marR="64008" marT="32004" marB="32004" anchor="ctr">
                    <a:solidFill>
                      <a:srgbClr val="FFFFFF"/>
                    </a:solidFill>
                  </a:tcPr>
                </a:tc>
                <a:tc>
                  <a:txBody>
                    <a:bodyPr wrap="square"/>
                    <a:lstStyle/>
                    <a:p>
                      <a:r>
                        <a:rPr sz="1200" b="0">
                          <a:solidFill>
                            <a:srgbClr val="1A1A1A"/>
                          </a:solidFill>
                          <a:latin typeface="Calibri"/>
                        </a:rPr>
                        <a:t>10</a:t>
                      </a:r>
                    </a:p>
                  </a:txBody>
                  <a:tcPr marL="82296" marR="64008" marT="32004" marB="32004" anchor="ctr">
                    <a:solidFill>
                      <a:srgbClr val="FFFFFF"/>
                    </a:solidFill>
                  </a:tcPr>
                </a:tc>
                <a:tc>
                  <a:txBody>
                    <a:bodyPr wrap="square"/>
                    <a:lstStyle/>
                    <a:p>
                      <a:r>
                        <a:rPr sz="1200" b="0">
                          <a:solidFill>
                            <a:srgbClr val="1A1A1A"/>
                          </a:solidFill>
                          <a:latin typeface="Calibri"/>
                        </a:rPr>
                        <a:t>5</a:t>
                      </a:r>
                    </a:p>
                  </a:txBody>
                  <a:tcPr marL="82296" marR="64008" marT="32004" marB="32004" anchor="ctr">
                    <a:solidFill>
                      <a:srgbClr val="FFFFFF"/>
                    </a:solidFill>
                  </a:tcPr>
                </a:tc>
                <a:tc>
                  <a:txBody>
                    <a:bodyPr wrap="square"/>
                    <a:lstStyle/>
                    <a:p>
                      <a:r>
                        <a:rPr sz="1200" b="0">
                          <a:solidFill>
                            <a:srgbClr val="1A1A1A"/>
                          </a:solidFill>
                          <a:latin typeface="Calibri"/>
                        </a:rPr>
                        <a:t>4</a:t>
                      </a:r>
                    </a:p>
                  </a:txBody>
                  <a:tcPr marL="82296" marR="64008" marT="32004" marB="32004" anchor="ctr">
                    <a:solidFill>
                      <a:srgbClr val="FFFFFF"/>
                    </a:solidFill>
                  </a:tcPr>
                </a:tc>
                <a:tc>
                  <a:txBody>
                    <a:bodyPr wrap="square"/>
                    <a:lstStyle/>
                    <a:p>
                      <a:r>
                        <a:rPr sz="1200" b="0">
                          <a:solidFill>
                            <a:srgbClr val="1A1A1A"/>
                          </a:solidFill>
                          <a:latin typeface="Calibri"/>
                        </a:rPr>
                        <a:t>4</a:t>
                      </a:r>
                    </a:p>
                  </a:txBody>
                  <a:tcPr marL="82296" marR="64008" marT="32004" marB="32004" anchor="ctr">
                    <a:solidFill>
                      <a:srgbClr val="FFFFFF"/>
                    </a:solidFill>
                  </a:tcPr>
                </a:tc>
              </a:tr>
              <a:tr h="302514">
                <a:tc>
                  <a:txBody>
                    <a:bodyPr wrap="square"/>
                    <a:lstStyle/>
                    <a:p>
                      <a:r>
                        <a:rPr sz="1200" b="1">
                          <a:solidFill>
                            <a:srgbClr val="6E1120"/>
                          </a:solidFill>
                          <a:latin typeface="Calibri"/>
                        </a:rPr>
                        <a:t>Smithery</a:t>
                      </a:r>
                    </a:p>
                  </a:txBody>
                  <a:tcPr marL="82296" marR="64008" marT="32004" marB="32004" anchor="ctr">
                    <a:solidFill>
                      <a:srgbClr val="F7F5F2"/>
                    </a:solidFill>
                  </a:tcPr>
                </a:tc>
                <a:tc>
                  <a:txBody>
                    <a:bodyPr wrap="square"/>
                    <a:lstStyle/>
                    <a:p>
                      <a:r>
                        <a:rPr sz="1200" b="0">
                          <a:solidFill>
                            <a:srgbClr val="1A1A1A"/>
                          </a:solidFill>
                          <a:latin typeface="Calibri"/>
                        </a:rPr>
                        <a:t>Hosted platform</a:t>
                      </a:r>
                    </a:p>
                  </a:txBody>
                  <a:tcPr marL="82296" marR="64008" marT="32004" marB="32004" anchor="ctr">
                    <a:solidFill>
                      <a:srgbClr val="F7F5F2"/>
                    </a:solidFill>
                  </a:tcPr>
                </a:tc>
                <a:tc>
                  <a:txBody>
                    <a:bodyPr wrap="square"/>
                    <a:lstStyle/>
                    <a:p>
                      <a:r>
                        <a:rPr sz="1200" b="0">
                          <a:solidFill>
                            <a:srgbClr val="1A1A1A"/>
                          </a:solidFill>
                          <a:latin typeface="Calibri"/>
                        </a:rPr>
                        <a:t>8</a:t>
                      </a:r>
                    </a:p>
                  </a:txBody>
                  <a:tcPr marL="82296" marR="64008" marT="32004" marB="32004" anchor="ctr">
                    <a:solidFill>
                      <a:srgbClr val="F7F5F2"/>
                    </a:solidFill>
                  </a:tcPr>
                </a:tc>
                <a:tc>
                  <a:txBody>
                    <a:bodyPr wrap="square"/>
                    <a:lstStyle/>
                    <a:p>
                      <a:r>
                        <a:rPr sz="1200" b="0">
                          <a:solidFill>
                            <a:srgbClr val="1A1A1A"/>
                          </a:solidFill>
                          <a:latin typeface="Calibri"/>
                        </a:rPr>
                        <a:t>8</a:t>
                      </a:r>
                    </a:p>
                  </a:txBody>
                  <a:tcPr marL="82296" marR="64008" marT="32004" marB="32004" anchor="ctr">
                    <a:solidFill>
                      <a:srgbClr val="F7F5F2"/>
                    </a:solidFill>
                  </a:tcPr>
                </a:tc>
                <a:tc>
                  <a:txBody>
                    <a:bodyPr wrap="square"/>
                    <a:lstStyle/>
                    <a:p>
                      <a:r>
                        <a:rPr sz="1200" b="0">
                          <a:solidFill>
                            <a:srgbClr val="1A1A1A"/>
                          </a:solidFill>
                          <a:latin typeface="Calibri"/>
                        </a:rPr>
                        <a:t>1</a:t>
                      </a:r>
                    </a:p>
                  </a:txBody>
                  <a:tcPr marL="82296" marR="64008" marT="32004" marB="32004" anchor="ctr">
                    <a:solidFill>
                      <a:srgbClr val="F7F5F2"/>
                    </a:solidFill>
                  </a:tcPr>
                </a:tc>
                <a:tc>
                  <a:txBody>
                    <a:bodyPr wrap="square"/>
                    <a:lstStyle/>
                    <a:p>
                      <a:r>
                        <a:rPr sz="1200" b="0">
                          <a:solidFill>
                            <a:srgbClr val="1A1A1A"/>
                          </a:solidFill>
                          <a:latin typeface="Calibri"/>
                        </a:rPr>
                        <a:t>6</a:t>
                      </a:r>
                    </a:p>
                  </a:txBody>
                  <a:tcPr marL="82296" marR="64008" marT="32004" marB="32004" anchor="ctr">
                    <a:solidFill>
                      <a:srgbClr val="F7F5F2"/>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SAJHA STANDS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Ten of the questions, product by product</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9 · How it compares, honestly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52</a:t>
            </a:r>
          </a:p>
        </p:txBody>
      </p:sp>
      <p:sp>
        <p:nvSpPr>
          <p:cNvPr id="10" name="Rectangle 9"/>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Part = partial: limited, preview, a paid tier, or part of the row; ? = not verifiable from public documentation on the date.</a:t>
            </a:r>
          </a:p>
        </p:txBody>
      </p:sp>
      <p:graphicFrame>
        <p:nvGraphicFramePr>
          <p:cNvPr id="12" name="Table 11"/>
          <p:cNvGraphicFramePr>
            <a:graphicFrameLocks noGrp="1"/>
          </p:cNvGraphicFramePr>
          <p:nvPr/>
        </p:nvGraphicFramePr>
        <p:xfrm>
          <a:off x="777240" y="1386967"/>
          <a:ext cx="10637212" cy="3231253"/>
        </p:xfrm>
        <a:graphic>
          <a:graphicData uri="http://schemas.openxmlformats.org/drawingml/2006/table">
            <a:tbl>
              <a:tblPr firstRow="1">
                <a:tableStyleId>{5C22544A-7EE6-4342-B048-85BDC9FD1C3A}</a:tableStyleId>
              </a:tblPr>
              <a:tblGrid>
                <a:gridCol w="1989072"/>
                <a:gridCol w="864814"/>
                <a:gridCol w="864814"/>
                <a:gridCol w="864814"/>
                <a:gridCol w="864814"/>
                <a:gridCol w="864814"/>
                <a:gridCol w="864814"/>
                <a:gridCol w="864814"/>
                <a:gridCol w="864814"/>
                <a:gridCol w="864814"/>
                <a:gridCol w="864814"/>
              </a:tblGrid>
              <a:tr h="447103">
                <a:tc>
                  <a:txBody>
                    <a:bodyPr wrap="square"/>
                    <a:lstStyle/>
                    <a:p>
                      <a:r>
                        <a:rPr sz="1050" b="1">
                          <a:solidFill>
                            <a:srgbClr val="FFFFFF"/>
                          </a:solidFill>
                          <a:latin typeface="Calibri"/>
                        </a:rPr>
                        <a:t>Product</a:t>
                      </a:r>
                    </a:p>
                  </a:txBody>
                  <a:tcPr marL="82296" marR="64008" marT="32004" marB="32004" anchor="ctr">
                    <a:solidFill>
                      <a:srgbClr val="A51C30"/>
                    </a:solidFill>
                  </a:tcPr>
                </a:tc>
                <a:tc>
                  <a:txBody>
                    <a:bodyPr wrap="square"/>
                    <a:lstStyle/>
                    <a:p>
                      <a:r>
                        <a:rPr sz="1050" b="1">
                          <a:solidFill>
                            <a:srgbClr val="FFFFFF"/>
                          </a:solidFill>
                          <a:latin typeface="Calibri"/>
                        </a:rPr>
                        <a:t>2026 era</a:t>
                      </a:r>
                    </a:p>
                  </a:txBody>
                  <a:tcPr marL="82296" marR="64008" marT="32004" marB="32004" anchor="ctr">
                    <a:solidFill>
                      <a:srgbClr val="A51C30"/>
                    </a:solidFill>
                  </a:tcPr>
                </a:tc>
                <a:tc>
                  <a:txBody>
                    <a:bodyPr wrap="square"/>
                    <a:lstStyle/>
                    <a:p>
                      <a:r>
                        <a:rPr sz="1050" b="1">
                          <a:solidFill>
                            <a:srgbClr val="FFFFFF"/>
                          </a:solidFill>
                          <a:latin typeface="Calibri"/>
                        </a:rPr>
                        <a:t>Suite in CI</a:t>
                      </a:r>
                    </a:p>
                  </a:txBody>
                  <a:tcPr marL="82296" marR="64008" marT="32004" marB="32004" anchor="ctr">
                    <a:solidFill>
                      <a:srgbClr val="A51C30"/>
                    </a:solidFill>
                  </a:tcPr>
                </a:tc>
                <a:tc>
                  <a:txBody>
                    <a:bodyPr wrap="square"/>
                    <a:lstStyle/>
                    <a:p>
                      <a:r>
                        <a:rPr sz="1050" b="1">
                          <a:solidFill>
                            <a:srgbClr val="FFFFFF"/>
                          </a:solidFill>
                          <a:latin typeface="Calibri"/>
                        </a:rPr>
                        <a:t>Own OAuth server</a:t>
                      </a:r>
                    </a:p>
                  </a:txBody>
                  <a:tcPr marL="82296" marR="64008" marT="32004" marB="32004" anchor="ctr">
                    <a:solidFill>
                      <a:srgbClr val="A51C30"/>
                    </a:solidFill>
                  </a:tcPr>
                </a:tc>
                <a:tc>
                  <a:txBody>
                    <a:bodyPr wrap="square"/>
                    <a:lstStyle/>
                    <a:p>
                      <a:r>
                        <a:rPr sz="1050" b="1">
                          <a:solidFill>
                            <a:srgbClr val="FFFFFF"/>
                          </a:solidFill>
                          <a:latin typeface="Calibri"/>
                        </a:rPr>
                        <a:t>Tools in the box</a:t>
                      </a:r>
                    </a:p>
                  </a:txBody>
                  <a:tcPr marL="82296" marR="64008" marT="32004" marB="32004" anchor="ctr">
                    <a:solidFill>
                      <a:srgbClr val="A51C30"/>
                    </a:solidFill>
                  </a:tcPr>
                </a:tc>
                <a:tc>
                  <a:txBody>
                    <a:bodyPr wrap="square"/>
                    <a:lstStyle/>
                    <a:p>
                      <a:r>
                        <a:rPr sz="1050" b="1">
                          <a:solidFill>
                            <a:srgbClr val="FFFFFF"/>
                          </a:solidFill>
                          <a:latin typeface="Calibri"/>
                        </a:rPr>
                        <a:t>No-code tools</a:t>
                      </a:r>
                    </a:p>
                  </a:txBody>
                  <a:tcPr marL="82296" marR="64008" marT="32004" marB="32004" anchor="ctr">
                    <a:solidFill>
                      <a:srgbClr val="A51C30"/>
                    </a:solidFill>
                  </a:tcPr>
                </a:tc>
                <a:tc>
                  <a:txBody>
                    <a:bodyPr wrap="square"/>
                    <a:lstStyle/>
                    <a:p>
                      <a:r>
                        <a:rPr sz="1050" b="1">
                          <a:solidFill>
                            <a:srgbClr val="FFFFFF"/>
                          </a:solidFill>
                          <a:latin typeface="Calibri"/>
                        </a:rPr>
                        <a:t>LLM and chat</a:t>
                      </a:r>
                    </a:p>
                  </a:txBody>
                  <a:tcPr marL="82296" marR="64008" marT="32004" marB="32004" anchor="ctr">
                    <a:solidFill>
                      <a:srgbClr val="A51C30"/>
                    </a:solidFill>
                  </a:tcPr>
                </a:tc>
                <a:tc>
                  <a:txBody>
                    <a:bodyPr wrap="square"/>
                    <a:lstStyle/>
                    <a:p>
                      <a:r>
                        <a:rPr sz="1050" b="1">
                          <a:solidFill>
                            <a:srgbClr val="FFFFFF"/>
                          </a:solidFill>
                          <a:latin typeface="Calibri"/>
                        </a:rPr>
                        <a:t>Isolation</a:t>
                      </a:r>
                    </a:p>
                  </a:txBody>
                  <a:tcPr marL="82296" marR="64008" marT="32004" marB="32004" anchor="ctr">
                    <a:solidFill>
                      <a:srgbClr val="A51C30"/>
                    </a:solidFill>
                  </a:tcPr>
                </a:tc>
                <a:tc>
                  <a:txBody>
                    <a:bodyPr wrap="square"/>
                    <a:lstStyle/>
                    <a:p>
                      <a:r>
                        <a:rPr sz="1050" b="1">
                          <a:solidFill>
                            <a:srgbClr val="FFFFFF"/>
                          </a:solidFill>
                          <a:latin typeface="Calibri"/>
                        </a:rPr>
                        <a:t>SaaS apps</a:t>
                      </a:r>
                    </a:p>
                  </a:txBody>
                  <a:tcPr marL="82296" marR="64008" marT="32004" marB="32004" anchor="ctr">
                    <a:solidFill>
                      <a:srgbClr val="A51C30"/>
                    </a:solidFill>
                  </a:tcPr>
                </a:tc>
                <a:tc>
                  <a:txBody>
                    <a:bodyPr wrap="square"/>
                    <a:lstStyle/>
                    <a:p>
                      <a:r>
                        <a:rPr sz="1050" b="1">
                          <a:solidFill>
                            <a:srgbClr val="FFFFFF"/>
                          </a:solidFill>
                          <a:latin typeface="Calibri"/>
                        </a:rPr>
                        <a:t>Open source</a:t>
                      </a:r>
                    </a:p>
                  </a:txBody>
                  <a:tcPr marL="82296" marR="64008" marT="32004" marB="32004" anchor="ctr">
                    <a:solidFill>
                      <a:srgbClr val="A51C30"/>
                    </a:solidFill>
                  </a:tcPr>
                </a:tc>
                <a:tc>
                  <a:txBody>
                    <a:bodyPr wrap="square"/>
                    <a:lstStyle/>
                    <a:p>
                      <a:r>
                        <a:rPr sz="1050" b="1">
                          <a:solidFill>
                            <a:srgbClr val="FFFFFF"/>
                          </a:solidFill>
                          <a:latin typeface="Calibri"/>
                        </a:rPr>
                        <a:t>Managed</a:t>
                      </a:r>
                    </a:p>
                  </a:txBody>
                  <a:tcPr marL="82296" marR="64008" marT="32004" marB="32004" anchor="ctr">
                    <a:solidFill>
                      <a:srgbClr val="A51C30"/>
                    </a:solidFill>
                  </a:tcPr>
                </a:tc>
              </a:tr>
              <a:tr h="278415">
                <a:tc>
                  <a:txBody>
                    <a:bodyPr wrap="square"/>
                    <a:lstStyle/>
                    <a:p>
                      <a:r>
                        <a:rPr sz="1050" b="1">
                          <a:solidFill>
                            <a:srgbClr val="6E1120"/>
                          </a:solidFill>
                          <a:latin typeface="Calibri"/>
                        </a:rPr>
                        <a:t>SAJHA</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r>
              <a:tr h="278415">
                <a:tc>
                  <a:txBody>
                    <a:bodyPr wrap="square"/>
                    <a:lstStyle/>
                    <a:p>
                      <a:r>
                        <a:rPr sz="1050" b="1">
                          <a:solidFill>
                            <a:srgbClr val="6E1120"/>
                          </a:solidFill>
                          <a:latin typeface="Calibri"/>
                        </a:rPr>
                        <a:t>FastMCP</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r>
              <a:tr h="278415">
                <a:tc>
                  <a:txBody>
                    <a:bodyPr wrap="square"/>
                    <a:lstStyle/>
                    <a:p>
                      <a:r>
                        <a:rPr sz="1050" b="1">
                          <a:solidFill>
                            <a:srgbClr val="6E1120"/>
                          </a:solidFill>
                          <a:latin typeface="Calibri"/>
                        </a:rPr>
                        <a:t>IBM ContextForge</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a:t>
                      </a:r>
                    </a:p>
                  </a:txBody>
                  <a:tcPr marL="82296" marR="64008" marT="32004" marB="32004" anchor="ctr">
                    <a:solidFill>
                      <a:srgbClr val="FFFFFF"/>
                    </a:solidFill>
                  </a:tcPr>
                </a:tc>
              </a:tr>
              <a:tr h="278415">
                <a:tc>
                  <a:txBody>
                    <a:bodyPr wrap="square"/>
                    <a:lstStyle/>
                    <a:p>
                      <a:r>
                        <a:rPr sz="1050" b="1">
                          <a:solidFill>
                            <a:srgbClr val="6E1120"/>
                          </a:solidFill>
                          <a:latin typeface="Calibri"/>
                        </a:rPr>
                        <a:t>Docker MCP Gateway</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r>
              <a:tr h="278415">
                <a:tc>
                  <a:txBody>
                    <a:bodyPr wrap="square"/>
                    <a:lstStyle/>
                    <a:p>
                      <a:r>
                        <a:rPr sz="1050" b="1">
                          <a:solidFill>
                            <a:srgbClr val="6E1120"/>
                          </a:solidFill>
                          <a:latin typeface="Calibri"/>
                        </a:rPr>
                        <a:t>Microsoft MCP Gateway</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r>
              <a:tr h="278415">
                <a:tc>
                  <a:txBody>
                    <a:bodyPr wrap="square"/>
                    <a:lstStyle/>
                    <a:p>
                      <a:r>
                        <a:rPr sz="1050" b="1">
                          <a:solidFill>
                            <a:srgbClr val="6E1120"/>
                          </a:solidFill>
                          <a:latin typeface="Calibri"/>
                        </a:rPr>
                        <a:t>Kong AI Gateway</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r>
              <a:tr h="278415">
                <a:tc>
                  <a:txBody>
                    <a:bodyPr wrap="square"/>
                    <a:lstStyle/>
                    <a:p>
                      <a:r>
                        <a:rPr sz="1050" b="1">
                          <a:solidFill>
                            <a:srgbClr val="6E1120"/>
                          </a:solidFill>
                          <a:latin typeface="Calibri"/>
                        </a:rPr>
                        <a:t>Cloudflare remote MCP</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r>
              <a:tr h="278415">
                <a:tc>
                  <a:txBody>
                    <a:bodyPr wrap="square"/>
                    <a:lstStyle/>
                    <a:p>
                      <a:r>
                        <a:rPr sz="1050" b="1">
                          <a:solidFill>
                            <a:srgbClr val="6E1120"/>
                          </a:solidFill>
                          <a:latin typeface="Calibri"/>
                        </a:rPr>
                        <a:t>Composio</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r>
              <a:tr h="278415">
                <a:tc>
                  <a:txBody>
                    <a:bodyPr wrap="square"/>
                    <a:lstStyle/>
                    <a:p>
                      <a:r>
                        <a:rPr sz="1050" b="1">
                          <a:solidFill>
                            <a:srgbClr val="6E1120"/>
                          </a:solidFill>
                          <a:latin typeface="Calibri"/>
                        </a:rPr>
                        <a:t>Zapier MCP</a:t>
                      </a:r>
                    </a:p>
                  </a:txBody>
                  <a:tcPr marL="82296" marR="64008" marT="32004" marB="32004" anchor="ctr">
                    <a:solidFill>
                      <a:srgbClr val="FFFFFF"/>
                    </a:solidFill>
                  </a:tcPr>
                </a:tc>
                <a:tc>
                  <a:txBody>
                    <a:bodyPr wrap="square"/>
                    <a:lstStyle/>
                    <a:p>
                      <a:r>
                        <a:rPr sz="1050" b="0">
                          <a:solidFill>
                            <a:srgbClr val="1A1A1A"/>
                          </a:solidFill>
                          <a:latin typeface="Calibri"/>
                        </a:rPr>
                        <a:t>?</a:t>
                      </a:r>
                    </a:p>
                  </a:txBody>
                  <a:tcPr marL="82296" marR="64008" marT="32004" marB="32004" anchor="ctr">
                    <a:solidFill>
                      <a:srgbClr val="FFFFFF"/>
                    </a:solidFill>
                  </a:tcPr>
                </a:tc>
                <a:tc>
                  <a:txBody>
                    <a:bodyPr wrap="square"/>
                    <a:lstStyle/>
                    <a:p>
                      <a:r>
                        <a:rPr sz="1050" b="0">
                          <a:solidFill>
                            <a:srgbClr val="1A1A1A"/>
                          </a:solidFill>
                          <a:latin typeface="Calibri"/>
                        </a:rPr>
                        <a:t>?</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Part</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c>
                  <a:txBody>
                    <a:bodyPr wrap="square"/>
                    <a:lstStyle/>
                    <a:p>
                      <a:r>
                        <a:rPr sz="1050" b="0">
                          <a:solidFill>
                            <a:srgbClr val="1A1A1A"/>
                          </a:solidFill>
                          <a:latin typeface="Calibri"/>
                        </a:rPr>
                        <a:t>No</a:t>
                      </a:r>
                    </a:p>
                  </a:txBody>
                  <a:tcPr marL="82296" marR="64008" marT="32004" marB="32004" anchor="ctr">
                    <a:solidFill>
                      <a:srgbClr val="FFFFFF"/>
                    </a:solidFill>
                  </a:tcPr>
                </a:tc>
                <a:tc>
                  <a:txBody>
                    <a:bodyPr wrap="square"/>
                    <a:lstStyle/>
                    <a:p>
                      <a:r>
                        <a:rPr sz="1050" b="0">
                          <a:solidFill>
                            <a:srgbClr val="1A1A1A"/>
                          </a:solidFill>
                          <a:latin typeface="Calibri"/>
                        </a:rPr>
                        <a:t>Yes</a:t>
                      </a:r>
                    </a:p>
                  </a:txBody>
                  <a:tcPr marL="82296" marR="64008" marT="32004" marB="32004" anchor="ctr">
                    <a:solidFill>
                      <a:srgbClr val="FFFFFF"/>
                    </a:solidFill>
                  </a:tcPr>
                </a:tc>
              </a:tr>
              <a:tr h="278415">
                <a:tc>
                  <a:txBody>
                    <a:bodyPr wrap="square"/>
                    <a:lstStyle/>
                    <a:p>
                      <a:r>
                        <a:rPr sz="1050" b="1">
                          <a:solidFill>
                            <a:srgbClr val="6E1120"/>
                          </a:solidFill>
                          <a:latin typeface="Calibri"/>
                        </a:rPr>
                        <a:t>Smithery</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No</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c>
                  <a:txBody>
                    <a:bodyPr wrap="square"/>
                    <a:lstStyle/>
                    <a:p>
                      <a:r>
                        <a:rPr sz="1050" b="0">
                          <a:solidFill>
                            <a:srgbClr val="1A1A1A"/>
                          </a:solidFill>
                          <a:latin typeface="Calibri"/>
                        </a:rPr>
                        <a:t>Part</a:t>
                      </a:r>
                    </a:p>
                  </a:txBody>
                  <a:tcPr marL="82296" marR="64008" marT="32004" marB="32004" anchor="ctr">
                    <a:solidFill>
                      <a:srgbClr val="F7F5F2"/>
                    </a:solidFill>
                  </a:tcPr>
                </a:tc>
                <a:tc>
                  <a:txBody>
                    <a:bodyPr wrap="square"/>
                    <a:lstStyle/>
                    <a:p>
                      <a:r>
                        <a:rPr sz="1050" b="0">
                          <a:solidFill>
                            <a:srgbClr val="1A1A1A"/>
                          </a:solidFill>
                          <a:latin typeface="Calibri"/>
                        </a:rPr>
                        <a:t>Yes</a:t>
                      </a:r>
                    </a:p>
                  </a:txBody>
                  <a:tcPr marL="82296" marR="64008" marT="32004" marB="32004" anchor="ctr">
                    <a:solidFill>
                      <a:srgbClr val="F7F5F2"/>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OTHERS ARE STRONGER</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Gateways, containers, SaaS breadth and a hosted service: others do these better</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9 · How it compares, honestly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53</a:t>
            </a:r>
          </a:p>
        </p:txBody>
      </p:sp>
      <p:sp>
        <p:nvSpPr>
          <p:cNvPr id="10" name="Rectangle 9"/>
          <p:cNvSpPr/>
          <p:nvPr/>
        </p:nvSpPr>
        <p:spPr>
          <a:xfrm>
            <a:off x="777240" y="1611884"/>
            <a:ext cx="5236311" cy="2234438"/>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611884"/>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776476"/>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SCALE OF FEDERATION</a:t>
            </a:r>
          </a:p>
        </p:txBody>
      </p:sp>
      <p:sp>
        <p:nvSpPr>
          <p:cNvPr id="13" name="TextBox 12"/>
          <p:cNvSpPr txBox="1"/>
          <p:nvPr/>
        </p:nvSpPr>
        <p:spPr>
          <a:xfrm>
            <a:off x="960120" y="2032508"/>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A1A1A"/>
                </a:solidFill>
                <a:latin typeface="Georgia"/>
              </a:rPr>
              <a:t>Gateways: IBM ContextForge, Docker MCP Gateway, Microsoft MCP Gateway and Kong AI Gateway</a:t>
            </a:r>
          </a:p>
        </p:txBody>
      </p:sp>
      <p:sp>
        <p:nvSpPr>
          <p:cNvPr id="14" name="TextBox 13"/>
          <p:cNvSpPr txBox="1"/>
          <p:nvPr/>
        </p:nvSpPr>
        <p:spPr>
          <a:xfrm>
            <a:off x="960120" y="2557716"/>
            <a:ext cx="4870551" cy="1160589"/>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Built to put many MCP servers behind one endpoint at scale. SAJHA federates upstreams too, off by default, as one process.</a:t>
            </a:r>
          </a:p>
        </p:txBody>
      </p:sp>
      <p:sp>
        <p:nvSpPr>
          <p:cNvPr id="15" name="Rectangle 14"/>
          <p:cNvSpPr/>
          <p:nvPr/>
        </p:nvSpPr>
        <p:spPr>
          <a:xfrm>
            <a:off x="6178143" y="1611884"/>
            <a:ext cx="5236311" cy="2234438"/>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8143" y="1611884"/>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1023" y="1776476"/>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ISOLATION</a:t>
            </a:r>
          </a:p>
        </p:txBody>
      </p:sp>
      <p:sp>
        <p:nvSpPr>
          <p:cNvPr id="18" name="TextBox 17"/>
          <p:cNvSpPr txBox="1"/>
          <p:nvPr/>
        </p:nvSpPr>
        <p:spPr>
          <a:xfrm>
            <a:off x="6361023" y="2032508"/>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A1A1A"/>
                </a:solidFill>
                <a:latin typeface="Georgia"/>
              </a:rPr>
              <a:t>Containers per server: Docker MCP Gateway, Microsoft MCP Gateway and Cloudflare remote MCP</a:t>
            </a:r>
          </a:p>
        </p:txBody>
      </p:sp>
      <p:sp>
        <p:nvSpPr>
          <p:cNvPr id="19" name="TextBox 18"/>
          <p:cNvSpPr txBox="1"/>
          <p:nvPr/>
        </p:nvSpPr>
        <p:spPr>
          <a:xfrm>
            <a:off x="6361023" y="2557716"/>
            <a:ext cx="4870551" cy="1160589"/>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They run each server in its own container. SAJHA sandboxes only the code users add in Studio, and the shell.</a:t>
            </a:r>
          </a:p>
        </p:txBody>
      </p:sp>
      <p:sp>
        <p:nvSpPr>
          <p:cNvPr id="20" name="Rectangle 19"/>
          <p:cNvSpPr/>
          <p:nvPr/>
        </p:nvSpPr>
        <p:spPr>
          <a:xfrm>
            <a:off x="777240" y="4010914"/>
            <a:ext cx="5236311" cy="2234438"/>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10914"/>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175505"/>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SAAS BREADTH</a:t>
            </a:r>
          </a:p>
        </p:txBody>
      </p:sp>
      <p:sp>
        <p:nvSpPr>
          <p:cNvPr id="23" name="TextBox 22"/>
          <p:cNvSpPr txBox="1"/>
          <p:nvPr/>
        </p:nvSpPr>
        <p:spPr>
          <a:xfrm>
            <a:off x="960120" y="4431538"/>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Hosted catalogs: Composio, Zapier MCP and Smithery</a:t>
            </a:r>
          </a:p>
        </p:txBody>
      </p:sp>
      <p:sp>
        <p:nvSpPr>
          <p:cNvPr id="24" name="TextBox 23"/>
          <p:cNvSpPr txBox="1"/>
          <p:nvPr/>
        </p:nvSpPr>
        <p:spPr>
          <a:xfrm>
            <a:off x="960120" y="5037074"/>
            <a:ext cx="4870551" cy="108026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Thousands of SaaS apps with per-user sign-in, run for you. SAJHA links a handful of services as each user.</a:t>
            </a:r>
          </a:p>
        </p:txBody>
      </p:sp>
      <p:sp>
        <p:nvSpPr>
          <p:cNvPr id="25" name="Rectangle 24"/>
          <p:cNvSpPr/>
          <p:nvPr/>
        </p:nvSpPr>
        <p:spPr>
          <a:xfrm>
            <a:off x="6178143" y="4010914"/>
            <a:ext cx="5236311" cy="2234438"/>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8143" y="4010914"/>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1023" y="4175505"/>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LICENCE AND HOSTING</a:t>
            </a:r>
          </a:p>
        </p:txBody>
      </p:sp>
      <p:sp>
        <p:nvSpPr>
          <p:cNvPr id="28" name="TextBox 27"/>
          <p:cNvSpPr txBox="1"/>
          <p:nvPr/>
        </p:nvSpPr>
        <p:spPr>
          <a:xfrm>
            <a:off x="6361023" y="4431538"/>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A1A1A"/>
                </a:solidFill>
                <a:latin typeface="Georgia"/>
              </a:rPr>
              <a:t>Open source, or run for you</a:t>
            </a:r>
          </a:p>
        </p:txBody>
      </p:sp>
      <p:sp>
        <p:nvSpPr>
          <p:cNvPr id="29" name="TextBox 28"/>
          <p:cNvSpPr txBox="1"/>
          <p:nvPr/>
        </p:nvSpPr>
        <p:spPr>
          <a:xfrm>
            <a:off x="6361023" y="4780025"/>
            <a:ext cx="4870551" cy="133731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6B7480"/>
                </a:solidFill>
                <a:latin typeface="Calibri"/>
              </a:rPr>
              <a:t>Open source: FastMCP, IBM ContextForge and Microsoft MCP Gateway. Managed: FastMCP, Kong AI Gateway, Cloudflare remote MCP, Composio, Zapier MCP and Smithery. SAJHA has neither.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LIMITS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What SAJHA does not do, from its own documents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9 · How it compares, honestly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54</a:t>
            </a:r>
          </a:p>
        </p:txBody>
      </p:sp>
      <p:sp>
        <p:nvSpPr>
          <p:cNvPr id="10" name="Rectangle 9"/>
          <p:cNvSpPr/>
          <p:nvPr/>
        </p:nvSpPr>
        <p:spPr>
          <a:xfrm>
            <a:off x="777240" y="1386967"/>
            <a:ext cx="4314011"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60119"/>
            <a:ext cx="4039691"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Not a Yes in the comparison</a:t>
            </a:r>
          </a:p>
        </p:txBody>
      </p:sp>
      <p:sp>
        <p:nvSpPr>
          <p:cNvPr id="13" name="TextBox 12"/>
          <p:cNvSpPr txBox="1"/>
          <p:nvPr/>
        </p:nvSpPr>
        <p:spPr>
          <a:xfrm>
            <a:off x="777240" y="1899031"/>
            <a:ext cx="4314011" cy="4346321"/>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A1A1A"/>
                </a:solidFill>
                <a:latin typeface="Calibri"/>
              </a:rPr>
              <a:t>SaaS integrations: Partial</a:t>
            </a:r>
          </a:p>
          <a:p>
            <a:pPr lvl="1">
              <a:lnSpc>
                <a:spcPct val="120000"/>
              </a:lnSpc>
              <a:spcBef>
                <a:spcPts val="0"/>
              </a:spcBef>
              <a:spcAft>
                <a:spcPts val="0"/>
              </a:spcAft>
            </a:pPr>
            <a:r>
              <a:rPr sz="1350" b="0">
                <a:solidFill>
                  <a:srgbClr val="6B7480"/>
                </a:solidFill>
                <a:latin typeface="Calibri"/>
              </a:rPr>
              <a:t>No catalog of thousands of app actions.</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Isolation: Partial</a:t>
            </a:r>
          </a:p>
          <a:p>
            <a:pPr lvl="1">
              <a:lnSpc>
                <a:spcPct val="120000"/>
              </a:lnSpc>
              <a:spcBef>
                <a:spcPts val="0"/>
              </a:spcBef>
              <a:spcAft>
                <a:spcPts val="0"/>
              </a:spcAft>
            </a:pPr>
            <a:r>
              <a:rPr sz="1350" b="0">
                <a:solidFill>
                  <a:srgbClr val="6B7480"/>
                </a:solidFill>
                <a:latin typeface="Calibri"/>
              </a:rPr>
              <a:t>Built-in tools and federated servers are not isolated.</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Open source: No</a:t>
            </a:r>
          </a:p>
          <a:p>
            <a:pPr lvl="1">
              <a:lnSpc>
                <a:spcPct val="120000"/>
              </a:lnSpc>
              <a:spcBef>
                <a:spcPts val="0"/>
              </a:spcBef>
              <a:spcAft>
                <a:spcPts val="0"/>
              </a:spcAft>
            </a:pPr>
            <a:r>
              <a:rPr sz="1350" b="0">
                <a:solidFill>
                  <a:srgbClr val="6B7480"/>
                </a:solidFill>
                <a:latin typeface="Calibri"/>
              </a:rPr>
              <a:t>All rights reserved: no OSI licence.</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Managed service: No</a:t>
            </a:r>
          </a:p>
          <a:p>
            <a:pPr lvl="1">
              <a:lnSpc>
                <a:spcPct val="120000"/>
              </a:lnSpc>
              <a:spcBef>
                <a:spcPts val="0"/>
              </a:spcBef>
              <a:spcAft>
                <a:spcPts val="0"/>
              </a:spcAft>
            </a:pPr>
            <a:r>
              <a:rPr sz="1350" b="0">
                <a:solidFill>
                  <a:srgbClr val="6B7480"/>
                </a:solidFill>
                <a:latin typeface="Calibri"/>
              </a:rPr>
              <a:t>No hosted service: you run it.</a:t>
            </a:r>
          </a:p>
        </p:txBody>
      </p:sp>
      <p:sp>
        <p:nvSpPr>
          <p:cNvPr id="14" name="Rectangle 13"/>
          <p:cNvSpPr/>
          <p:nvPr/>
        </p:nvSpPr>
        <p:spPr>
          <a:xfrm>
            <a:off x="5457011" y="1386967"/>
            <a:ext cx="5957444"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57011"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21603" y="1460119"/>
            <a:ext cx="5683124"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Known limitations (Security Model)</a:t>
            </a:r>
          </a:p>
        </p:txBody>
      </p:sp>
      <p:sp>
        <p:nvSpPr>
          <p:cNvPr id="17" name="TextBox 16"/>
          <p:cNvSpPr txBox="1"/>
          <p:nvPr/>
        </p:nvSpPr>
        <p:spPr>
          <a:xfrm>
            <a:off x="5457011" y="1899031"/>
            <a:ext cx="5957444" cy="4346321"/>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A51C30"/>
                </a:solidFill>
                <a:latin typeface="Calibri"/>
              </a:rPr>
              <a:t>▪  </a:t>
            </a:r>
            <a:r>
              <a:rPr sz="1200" b="0">
                <a:solidFill>
                  <a:srgbClr val="1A1A1A"/>
                </a:solidFill>
                <a:latin typeface="Calibri"/>
              </a:rPr>
              <a:t>Prompts have no per-user permissions</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Data file resources have no per-user permissions</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OAuth scopes</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Tenant records are not enforced</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Studio access is all-or-nothing</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Account lockout can be triggered by anyone who knows a user ID</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JWTs cannot be revoked</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No SSO for the web UI</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Rate limits and OAuth state are per process with state.backend: memory</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MCP sessions record the user but are not re-checked against the caller on later requests</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Sandbox strength depends on the host</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CSP allows 'unsafe-inline' for scripts and styles</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The request size limit relies on Content-Length</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The WebSocket transport does not check Origin</a:t>
            </a:r>
          </a:p>
          <a:p>
            <a:pPr>
              <a:lnSpc>
                <a:spcPct val="120000"/>
              </a:lnSpc>
              <a:spcBef>
                <a:spcPts val="600"/>
              </a:spcBef>
              <a:spcAft>
                <a:spcPts val="0"/>
              </a:spcAft>
            </a:pPr>
            <a:r>
              <a:rPr sz="1200" b="1">
                <a:solidFill>
                  <a:srgbClr val="A51C30"/>
                </a:solidFill>
                <a:latin typeface="Calibri"/>
              </a:rPr>
              <a:t>▪  </a:t>
            </a:r>
            <a:r>
              <a:rPr sz="1200" b="0">
                <a:solidFill>
                  <a:srgbClr val="1A1A1A"/>
                </a:solidFill>
                <a:latin typeface="Calibri"/>
              </a:rPr>
              <a:t>Demo credentials are tracked in git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TO START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Where to start, by who you are</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9 · How it compares, honestly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55</a:t>
            </a:r>
          </a:p>
        </p:txBody>
      </p:sp>
      <p:sp>
        <p:nvSpPr>
          <p:cNvPr id="10" name="Rectangle 9"/>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Every guide named here is in docs/ and is also served inside the app under Help.</a:t>
            </a:r>
          </a:p>
        </p:txBody>
      </p:sp>
      <p:graphicFrame>
        <p:nvGraphicFramePr>
          <p:cNvPr id="12" name="Table 11"/>
          <p:cNvGraphicFramePr>
            <a:graphicFrameLocks noGrp="1"/>
          </p:cNvGraphicFramePr>
          <p:nvPr/>
        </p:nvGraphicFramePr>
        <p:xfrm>
          <a:off x="777240" y="1386967"/>
          <a:ext cx="10637213" cy="3451034"/>
        </p:xfrm>
        <a:graphic>
          <a:graphicData uri="http://schemas.openxmlformats.org/drawingml/2006/table">
            <a:tbl>
              <a:tblPr firstRow="1">
                <a:tableStyleId>{5C22544A-7EE6-4342-B048-85BDC9FD1C3A}</a:tableStyleId>
              </a:tblPr>
              <a:tblGrid>
                <a:gridCol w="2299938"/>
                <a:gridCol w="4599876"/>
                <a:gridCol w="3737399"/>
              </a:tblGrid>
              <a:tr h="318579">
                <a:tc>
                  <a:txBody>
                    <a:bodyPr wrap="square"/>
                    <a:lstStyle/>
                    <a:p>
                      <a:r>
                        <a:rPr sz="1300" b="1">
                          <a:solidFill>
                            <a:srgbClr val="FFFFFF"/>
                          </a:solidFill>
                          <a:latin typeface="Calibri"/>
                        </a:rPr>
                        <a:t>You are</a:t>
                      </a:r>
                    </a:p>
                  </a:txBody>
                  <a:tcPr marL="82296" marR="64008" marT="32004" marB="32004" anchor="ctr">
                    <a:solidFill>
                      <a:srgbClr val="A51C30"/>
                    </a:solidFill>
                  </a:tcPr>
                </a:tc>
                <a:tc>
                  <a:txBody>
                    <a:bodyPr wrap="square"/>
                    <a:lstStyle/>
                    <a:p>
                      <a:r>
                        <a:rPr sz="1300" b="1">
                          <a:solidFill>
                            <a:srgbClr val="FFFFFF"/>
                          </a:solidFill>
                          <a:latin typeface="Calibri"/>
                        </a:rPr>
                        <a:t>Do this first</a:t>
                      </a:r>
                    </a:p>
                  </a:txBody>
                  <a:tcPr marL="82296" marR="64008" marT="32004" marB="32004" anchor="ctr">
                    <a:solidFill>
                      <a:srgbClr val="A51C30"/>
                    </a:solidFill>
                  </a:tcPr>
                </a:tc>
                <a:tc>
                  <a:txBody>
                    <a:bodyPr wrap="square"/>
                    <a:lstStyle/>
                    <a:p>
                      <a:r>
                        <a:rPr sz="1300" b="1">
                          <a:solidFill>
                            <a:srgbClr val="FFFFFF"/>
                          </a:solidFill>
                          <a:latin typeface="Calibri"/>
                        </a:rPr>
                        <a:t>Then read</a:t>
                      </a:r>
                    </a:p>
                  </a:txBody>
                  <a:tcPr marL="82296" marR="64008" marT="32004" marB="32004" anchor="ctr">
                    <a:solidFill>
                      <a:srgbClr val="A51C30"/>
                    </a:solidFill>
                  </a:tcPr>
                </a:tc>
              </a:tr>
              <a:tr h="559562">
                <a:tc>
                  <a:txBody>
                    <a:bodyPr wrap="square"/>
                    <a:lstStyle/>
                    <a:p>
                      <a:r>
                        <a:rPr sz="1400" b="1">
                          <a:solidFill>
                            <a:srgbClr val="6E1120"/>
                          </a:solidFill>
                          <a:latin typeface="Calibri"/>
                        </a:rPr>
                        <a:t>Trying it</a:t>
                      </a:r>
                    </a:p>
                  </a:txBody>
                  <a:tcPr marL="82296" marR="64008" marT="32004" marB="32004" anchor="ctr">
                    <a:solidFill>
                      <a:srgbClr val="FFFFFF"/>
                    </a:solidFill>
                  </a:tcPr>
                </a:tc>
                <a:tc>
                  <a:txBody>
                    <a:bodyPr wrap="square"/>
                    <a:lstStyle/>
                    <a:p>
                      <a:r>
                        <a:rPr sz="1400" b="0">
                          <a:solidFill>
                            <a:srgbClr val="1A1A1A"/>
                          </a:solidFill>
                          <a:latin typeface="Calibri"/>
                        </a:rPr>
                        <a:t>pip install -r requirements.txt; python run_server.py; open localhost:3002</a:t>
                      </a:r>
                    </a:p>
                  </a:txBody>
                  <a:tcPr marL="82296" marR="64008" marT="32004" marB="32004" anchor="ctr">
                    <a:solidFill>
                      <a:srgbClr val="FFFFFF"/>
                    </a:solidFill>
                  </a:tcPr>
                </a:tc>
                <a:tc>
                  <a:txBody>
                    <a:bodyPr wrap="square"/>
                    <a:lstStyle/>
                    <a:p>
                      <a:r>
                        <a:rPr sz="1400" b="0">
                          <a:solidFill>
                            <a:srgbClr val="1A1A1A"/>
                          </a:solidFill>
                          <a:latin typeface="Calibri"/>
                        </a:rPr>
                        <a:t>Quick Start; the tutorials in order</a:t>
                      </a:r>
                    </a:p>
                  </a:txBody>
                  <a:tcPr marL="82296" marR="64008" marT="32004" marB="32004" anchor="ctr">
                    <a:solidFill>
                      <a:srgbClr val="FFFFFF"/>
                    </a:solidFill>
                  </a:tcPr>
                </a:tc>
              </a:tr>
              <a:tr h="559562">
                <a:tc>
                  <a:txBody>
                    <a:bodyPr wrap="square"/>
                    <a:lstStyle/>
                    <a:p>
                      <a:r>
                        <a:rPr sz="1400" b="1">
                          <a:solidFill>
                            <a:srgbClr val="6E1120"/>
                          </a:solidFill>
                          <a:latin typeface="Calibri"/>
                        </a:rPr>
                        <a:t>Connecting a client</a:t>
                      </a:r>
                    </a:p>
                  </a:txBody>
                  <a:tcPr marL="82296" marR="64008" marT="32004" marB="32004" anchor="ctr">
                    <a:solidFill>
                      <a:srgbClr val="F7F5F2"/>
                    </a:solidFill>
                  </a:tcPr>
                </a:tc>
                <a:tc>
                  <a:txBody>
                    <a:bodyPr wrap="square"/>
                    <a:lstStyle/>
                    <a:p>
                      <a:r>
                        <a:rPr sz="1400" b="0">
                          <a:solidFill>
                            <a:srgbClr val="1A1A1A"/>
                          </a:solidFill>
                          <a:latin typeface="Calibri"/>
                        </a:rPr>
                        <a:t>Point it at /mcp, or run python run_server.py --stdio for a desktop client</a:t>
                      </a:r>
                    </a:p>
                  </a:txBody>
                  <a:tcPr marL="82296" marR="64008" marT="32004" marB="32004" anchor="ctr">
                    <a:solidFill>
                      <a:srgbClr val="F7F5F2"/>
                    </a:solidFill>
                  </a:tcPr>
                </a:tc>
                <a:tc>
                  <a:txBody>
                    <a:bodyPr wrap="square"/>
                    <a:lstStyle/>
                    <a:p>
                      <a:r>
                        <a:rPr sz="1400" b="0">
                          <a:solidFill>
                            <a:srgbClr val="1A1A1A"/>
                          </a:solidFill>
                          <a:latin typeface="Calibri"/>
                        </a:rPr>
                        <a:t>MCP Protocol Guide; Command Line</a:t>
                      </a:r>
                    </a:p>
                  </a:txBody>
                  <a:tcPr marL="82296" marR="64008" marT="32004" marB="32004" anchor="ctr">
                    <a:solidFill>
                      <a:srgbClr val="F7F5F2"/>
                    </a:solidFill>
                  </a:tcPr>
                </a:tc>
              </a:tr>
              <a:tr h="559562">
                <a:tc>
                  <a:txBody>
                    <a:bodyPr wrap="square"/>
                    <a:lstStyle/>
                    <a:p>
                      <a:r>
                        <a:rPr sz="1400" b="1">
                          <a:solidFill>
                            <a:srgbClr val="6E1120"/>
                          </a:solidFill>
                          <a:latin typeface="Calibri"/>
                        </a:rPr>
                        <a:t>Reviewing security</a:t>
                      </a:r>
                    </a:p>
                  </a:txBody>
                  <a:tcPr marL="82296" marR="64008" marT="32004" marB="32004" anchor="ctr">
                    <a:solidFill>
                      <a:srgbClr val="FFFFFF"/>
                    </a:solidFill>
                  </a:tcPr>
                </a:tc>
                <a:tc>
                  <a:txBody>
                    <a:bodyPr wrap="square"/>
                    <a:lstStyle/>
                    <a:p>
                      <a:r>
                        <a:rPr sz="1400" b="0">
                          <a:solidFill>
                            <a:srgbClr val="1A1A1A"/>
                          </a:solidFill>
                          <a:latin typeface="Calibri"/>
                        </a:rPr>
                        <a:t>Read the access policy, then try a rule on the Policies test bench</a:t>
                      </a:r>
                    </a:p>
                  </a:txBody>
                  <a:tcPr marL="82296" marR="64008" marT="32004" marB="32004" anchor="ctr">
                    <a:solidFill>
                      <a:srgbClr val="FFFFFF"/>
                    </a:solidFill>
                  </a:tcPr>
                </a:tc>
                <a:tc>
                  <a:txBody>
                    <a:bodyPr wrap="square"/>
                    <a:lstStyle/>
                    <a:p>
                      <a:r>
                        <a:rPr sz="1400" b="0">
                          <a:solidFill>
                            <a:srgbClr val="1A1A1A"/>
                          </a:solidFill>
                          <a:latin typeface="Calibri"/>
                        </a:rPr>
                        <a:t>Security Model; Policy and Audit; OAuth Guide</a:t>
                      </a:r>
                    </a:p>
                  </a:txBody>
                  <a:tcPr marL="82296" marR="64008" marT="32004" marB="32004" anchor="ctr">
                    <a:solidFill>
                      <a:srgbClr val="FFFFFF"/>
                    </a:solidFill>
                  </a:tcPr>
                </a:tc>
              </a:tr>
              <a:tr h="559562">
                <a:tc>
                  <a:txBody>
                    <a:bodyPr wrap="square"/>
                    <a:lstStyle/>
                    <a:p>
                      <a:r>
                        <a:rPr sz="1400" b="1">
                          <a:solidFill>
                            <a:srgbClr val="6E1120"/>
                          </a:solidFill>
                          <a:latin typeface="Calibri"/>
                        </a:rPr>
                        <a:t>Adding tools</a:t>
                      </a:r>
                    </a:p>
                  </a:txBody>
                  <a:tcPr marL="82296" marR="64008" marT="32004" marB="32004" anchor="ctr">
                    <a:solidFill>
                      <a:srgbClr val="F7F5F2"/>
                    </a:solidFill>
                  </a:tcPr>
                </a:tc>
                <a:tc>
                  <a:txBody>
                    <a:bodyPr wrap="square"/>
                    <a:lstStyle/>
                    <a:p>
                      <a:r>
                        <a:rPr sz="1400" b="0">
                          <a:solidFill>
                            <a:srgbClr val="1A1A1A"/>
                          </a:solidFill>
                          <a:latin typeface="Calibri"/>
                        </a:rPr>
                        <a:t>Describe one, import an API, or connect a database in Studio</a:t>
                      </a:r>
                    </a:p>
                  </a:txBody>
                  <a:tcPr marL="82296" marR="64008" marT="32004" marB="32004" anchor="ctr">
                    <a:solidFill>
                      <a:srgbClr val="F7F5F2"/>
                    </a:solidFill>
                  </a:tcPr>
                </a:tc>
                <a:tc>
                  <a:txBody>
                    <a:bodyPr wrap="square"/>
                    <a:lstStyle/>
                    <a:p>
                      <a:r>
                        <a:rPr sz="1400" b="0">
                          <a:solidFill>
                            <a:srgbClr val="1A1A1A"/>
                          </a:solidFill>
                          <a:latin typeface="Calibri"/>
                        </a:rPr>
                        <a:t>MCP Studio User Guide; Tool Generation</a:t>
                      </a:r>
                    </a:p>
                  </a:txBody>
                  <a:tcPr marL="82296" marR="64008" marT="32004" marB="32004" anchor="ctr">
                    <a:solidFill>
                      <a:srgbClr val="F7F5F2"/>
                    </a:solidFill>
                  </a:tcPr>
                </a:tc>
              </a:tr>
              <a:tr h="559562">
                <a:tc>
                  <a:txBody>
                    <a:bodyPr wrap="square"/>
                    <a:lstStyle/>
                    <a:p>
                      <a:r>
                        <a:rPr sz="1400" b="1">
                          <a:solidFill>
                            <a:srgbClr val="6E1120"/>
                          </a:solidFill>
                          <a:latin typeface="Calibri"/>
                        </a:rPr>
                        <a:t>Running it</a:t>
                      </a:r>
                    </a:p>
                  </a:txBody>
                  <a:tcPr marL="82296" marR="64008" marT="32004" marB="32004" anchor="ctr">
                    <a:solidFill>
                      <a:srgbClr val="FFFFFF"/>
                    </a:solidFill>
                  </a:tcPr>
                </a:tc>
                <a:tc>
                  <a:txBody>
                    <a:bodyPr wrap="square"/>
                    <a:lstStyle/>
                    <a:p>
                      <a:r>
                        <a:rPr sz="1400" b="0">
                          <a:solidFill>
                            <a:srgbClr val="1A1A1A"/>
                          </a:solidFill>
                          <a:latin typeface="Calibri"/>
                        </a:rPr>
                        <a:t>Install the Helm chart with a redis or database state backend</a:t>
                      </a:r>
                    </a:p>
                  </a:txBody>
                  <a:tcPr marL="82296" marR="64008" marT="32004" marB="32004" anchor="ctr">
                    <a:solidFill>
                      <a:srgbClr val="FFFFFF"/>
                    </a:solidFill>
                  </a:tcPr>
                </a:tc>
                <a:tc>
                  <a:txBody>
                    <a:bodyPr wrap="square"/>
                    <a:lstStyle/>
                    <a:p>
                      <a:r>
                        <a:rPr sz="1400" b="0">
                          <a:solidFill>
                            <a:srgbClr val="1A1A1A"/>
                          </a:solidFill>
                          <a:latin typeface="Calibri"/>
                        </a:rPr>
                        <a:t>Kubernetes Deployment; Scaling and State</a:t>
                      </a:r>
                    </a:p>
                  </a:txBody>
                  <a:tcPr marL="82296" marR="64008" marT="32004" marB="32004" anchor="ctr">
                    <a:solidFill>
                      <a:srgbClr val="FFFFFF"/>
                    </a:solidFill>
                  </a:tcPr>
                </a:tc>
              </a:tr>
              <a:tr h="334645">
                <a:tc>
                  <a:txBody>
                    <a:bodyPr wrap="square"/>
                    <a:lstStyle/>
                    <a:p>
                      <a:r>
                        <a:rPr sz="1400" b="1">
                          <a:solidFill>
                            <a:srgbClr val="6E1120"/>
                          </a:solidFill>
                          <a:latin typeface="Calibri"/>
                        </a:rPr>
                        <a:t>Choosing</a:t>
                      </a:r>
                    </a:p>
                  </a:txBody>
                  <a:tcPr marL="82296" marR="64008" marT="32004" marB="32004" anchor="ctr">
                    <a:solidFill>
                      <a:srgbClr val="F7F5F2"/>
                    </a:solidFill>
                  </a:tcPr>
                </a:tc>
                <a:tc>
                  <a:txBody>
                    <a:bodyPr wrap="square"/>
                    <a:lstStyle/>
                    <a:p>
                      <a:r>
                        <a:rPr sz="1400" b="0">
                          <a:solidFill>
                            <a:srgbClr val="1A1A1A"/>
                          </a:solidFill>
                          <a:latin typeface="Calibri"/>
                        </a:rPr>
                        <a:t>Open /comparison and read the sources</a:t>
                      </a:r>
                    </a:p>
                  </a:txBody>
                  <a:tcPr marL="82296" marR="64008" marT="32004" marB="32004" anchor="ctr">
                    <a:solidFill>
                      <a:srgbClr val="F7F5F2"/>
                    </a:solidFill>
                  </a:tcPr>
                </a:tc>
                <a:tc>
                  <a:txBody>
                    <a:bodyPr wrap="square"/>
                    <a:lstStyle/>
                    <a:p>
                      <a:r>
                        <a:rPr sz="1400" b="0">
                          <a:solidFill>
                            <a:srgbClr val="1A1A1A"/>
                          </a:solidFill>
                          <a:latin typeface="Calibri"/>
                        </a:rPr>
                        <a:t>How SAJHA Fits Together</a:t>
                      </a:r>
                    </a:p>
                  </a:txBody>
                  <a:tcPr marL="82296" marR="64008" marT="32004" marB="32004" anchor="ctr">
                    <a:solidFill>
                      <a:srgbClr val="F7F5F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SAJHA — One Governed Catalog of Tools for Every Agent</dc:title>
  <dc:subject>Why agents stall at the tools layer, what SAJHA does about it, and the evidence</dc:subject>
  <dc:creator>Ashutosh Sinha</dc:creator>
  <cp:keywords>SAJHA; MCP; tools; governance</cp:keywords>
  <dc:description>Copyright All rights Reserved 2025-2030, Ashutosh Sinha.</dc:description>
  <cp:lastModifiedBy>Ashutosh Sinha</cp:lastModifiedBy>
  <cp:revision>1</cp:revision>
  <dcterms:created xsi:type="dcterms:W3CDTF">2026-10-06T12:00:00Z</dcterms:created>
  <dcterms:modified xsi:type="dcterms:W3CDTF">2026-10-06T12:00:00Z</dcterms:modified>
  <cp:category/>
</cp:coreProperties>
</file>