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MCP governance: https://www.anthropic.com/news/donating-the-model-context-protocol-and-establishing-of-the-agentic-ai-foundation (9 Dec 2025, read 2026-10-06). Tool count: the live registry; eras: sajha.core.mcp_modern; creators: the Studio routes; conformance: docs/protocol/MCP 2026-07-28 Compliance.md §5; all read at build time. Where it is going: the first open items of docs/architecture/Roadmap.md, parsed at build time. Licence: SAJHA is proprietary (docs/architecture/Roadmap.md §6, 'No open-source licence'; the LICENSE file).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Introduction: https://www.anthropic.com/news/model-context-protocol (25 Nov 2024). Foundation, adopters and the server count: https://www.anthropic.com/news/donating-the-model-context-protocol-and-establishing-of-the-agentic-ai-foundation (9 Dec 2025, read 2026-10-06). Linear versus quadratic integration effort: https://www.bcg.com/publications/2025/put-ai-to-work-faster-using-model-context-protocol (1 Aug 2025, read 2026-10-06). Eras: sajha.core.mcp_modern MODERN_PROTOCOL_VERSIONS and HANDSHAKE_PROTOCOL_VERSIONS, read at build time. Application and tool names in the drawing are generic.</a:t>
            </a:r>
          </a:p>
          <a:p/>
          <a:p>
            <a:r>
              <a:t>Speaker notes: Think of MCP as one plug for every tool: write the server once, and every MCP-capable application can use it. Without a shared protocol every application needs its own integration with every tool, so the work grows with the product of the two; with one, each side implements the protocol once and the work grows with the sum. Anthropic introduced MCP in November 2024. In December 2025 it donated MCP to the Agentic AI Foundation, a directed fund under the Linux Foundation co-founded by Anthropic, Block and OpenAI; the announcement names ChatGPT, Cursor, Gemini, Microsoft Copilot and Visual Studio Code among the products using it, and more than 10,000 active public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Principles 1, 2, 4: https://www.anthropic.com/news/donating-the-model-context-protocol-and-establishing-of-the-agentic-ai-foundation (9 Dec 2025, read 2026-10-06); https://www.bcg.com/publications/2025/put-ai-to-work-faster-using-model-context-protocol (1 Aug 2025, read 2026-10-06). Principle 6: the MCP authorization specification (https://modelcontextprotocol.io/specification (server features: tools, resources, prompts; transports)). Principles 3, 5, 7–10 follow from the protocol's design; principle 10 is what MCP Studio does in SAJHA (Section 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Altman: https://techcrunch.com/2025/03/26/openai-adopts-rival-anthropics-standard-for-connecting-ai-models-to-data/ (26 Mar 2025, read 2026-10-06). Hassabis: https://techcrunch.com/2025/04/09/google-says-itll-embrace-anthropics-standard-for-connecting-ai-models-to-data/ (9 Apr 2025, read 2026-10-06). BCG: https://www.bcg.com/publications/2025/put-ai-to-work-faster-using-model-context-protocol (1 Aug 2025, read 2026-10-06). Anthropic: https://www.anthropic.com/news/donating-the-model-context-protocol-and-establishing-of-the-agentic-ai-foundation (9 Dec 2025, read 2026-10-06). Dropped as unverifiable: a quotation attributed to a security executive's interview, found only in secondary write-ups.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Primitives and who controls them: https://modelcontextprotocol.io/specification (server features: tools, resources, prompts; transports). SAJHA: sajha/core/mcp_handler.py (resources/list, resources/templates/list, completion/complete, logging/setLevel); tool counts from the registry and prompt templates counted in config/prompts at build time.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Host, client and server roles: https://modelcontextprotocol.io/specification (server features: tools, resources, prompts; transports) (architecture overview). SAJHA is one such server.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protocol flow in https://modelcontextprotocol.io/specification (server features: tools, resources, prompts; transports) (lifecycle, tools/list, tools/call). SAJHA's own loop (Ask SAJHA, Section 7) follows the same five steps.</a:t>
            </a:r>
          </a:p>
          <a:p/>
          <a:p>
            <a:r>
              <a:t>Speaker notes: Discovery: the host starts a client, the client connects, and the server lists its tools with JSON Schemas. Selection: the model sees the tools in its context and decides which one the request needs. Invocation: the model emits a structured call; the client sends it as JSON-RPC; the server validates and runs it. Result: the server returns a structured result and the host feeds it back into the model's context. Iteration: the model chains further calls, across tools and servers, until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MCP benefits: https://modelcontextprotocol.io/specification (server features: tools, resources, prompts; transports); server count: https://www.anthropic.com/news/donating-the-model-context-protocol-and-establishing-of-the-agentic-ai-foundation (9 Dec 2025, read 2026-10-06). SAJHA column: sajha/web/competitive.py (SAJHA cells), docs/architecture/Federation.md, docs/architecture/Policy and Audit.md.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architecture (after the earlier deck). Server A's tool families are real groups in SAJHA's registry (fred, olap, duckdb, yahoo); policy and audit: docs/architecture/Policy and Audit.md.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SDK languages: https://modelcontextprotocol.io/docs/sdk (read 2026-10-06). Eras: sajha.core.mcp_modern (read at build time); docs/protocol/MCP Protocol Guide.md for how SAJHA recognises each.</a:t>
            </a:r>
          </a:p>
          <a:p/>
          <a:p>
            <a:r>
              <a:t>Speaker notes: Session era: an initialize handshake negotiates capabilities and opens a session, whose id later requests carry. Stateless era: every request names its protocol version, and a client may ask server/discover first. Then, in both, the client asks for the tool catalog, each tool carrying a JSON Schema, so the model knows exactly what it can call and how; the model emits a structured call, the client sends it as JSON-RPC and receives a structured result; results return to the model's context and it chains further calls until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transports: https://modelcontextprotocol.io/specification (server features: tools, resources, prompts; transports) (Transports: stdio and Streamable HTTP; HTTP+SSE was the 2024-11-05 transport). SAJHA: sajha/routes/mcp_routes.py, sajha/routes/ws_routes.py, sajha/cli/stdio.py; the SAJHA cells of sajha/web/competitive.py.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sajha/core/mcp_modern.py (MODERN_PROTOCOL_VERSIONS, HANDSHAKE_PROTOCOL_VERSIONS, read at build time), sajha/core/mcp_2025_11_25.py; GLOSSARY.md 'Era detection', 'Client SDK'.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Results: the table in section 5 of docs/protocol/MCP 2026-07-28 Compliance.md, parsed at build time (32/32 scenarios on the 2025-11-25 path agree with docs/protocol/MCP 2025-11-25 Compliance.md). Matrix and branches: .github/workflows/mcp-conformance.yml.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names checked against the live registry at build time (evidence.require_tools). Parallel steps: docs/architecture/Intelligence Layer.md §6 (plan_execute).</a:t>
            </a:r>
          </a:p>
          <a:p/>
          <a:p>
            <a:r>
              <a:t>Speaker notes: Single call: one tool and one result, and the model keeps reasoning. Chained: edgar_company_search finds the company, edgar_company_facts reads its facts, calc_percentage_change computes the growth. Parallel: fred_2yr_treasury, fred_10yr_treasury and yahoo_get_quote together; SAJHA's plan_execute planner runs independent steps side by side. Multi-turn: list the tables, describe one, then refine the query over several requests.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GLOSSARY.md §3 (MRTR, Tasks extension, MCP Apps, Mcp-Param-{Name}); sajha/core/mcp_mrtr.py, mcp_tasks.py, mcp_apps.py, mcp_tool_context.py; docs/protocol/MCP 2026-07-28 Compliance.md §4.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tool-use loop in https://modelcontextprotocol.io/specification (server features: tools, resources, prompts; transports) (tools). SAJHA's own instance of this pipeline is Ask SAJHA (sajha/ai/intelligence.py), captured in Section 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512 tools in 41 groups, 0 load errors. Protocol versions: sajha.core.mcp_modern (2026-07-28; 2025-11-25, 2025-06-18, 2025-03-26 and 2024-11-05). Tests: pytest --collect-only over tests and clientsdk/tests at build time.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512 tools in 41 groups, 0 load errors. Creators: the MCP Studio pages in sajha/routes/studio_routes.py plus describe_routes.py and api_import_routes.py, read at build time. Providers: sajha.ai.llm.registry.registered_providers().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512 tools in 41 groups, 0 load errors. Grouping into categories: tools/deck/deck_part2.py CATEGORIES; a group it does not name fails the build.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Studio pages served by sajha/routes/studio_routes.py (@pages.get), plus Describe a tool (describe_routes.py) and Import an API (api_import_routes.py), read at build time; the decorator is sajha/studio/decorator.py (sajhamcptool). docs/studio/MCP Studio User Guide.md. The earlier deck's creator list is replaced by this derived one.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docs/architecture/Tool Generation.md; sajha/studio/describe.py; sajha/ai/llm/mock_toolsmith.py. The example sentence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Connector kinds: sajha/connectors/model.py KINDS and PER_USER_KINDS, read at build time. docs/architecture/API Import.md and Data Connectors.md.</a:t>
            </a:r>
          </a:p>
          <a:p/>
          <a:p>
            <a:r>
              <a:t>Speaker notes: Import an API: an OpenAPI 3.x, Swagger 2.0 or GraphQL description becomes a preview of every operation, with its name, JSON Schema in and out, and read-only and destructive hints; an administrator chooses, tests one call and deploys. Credentials are kept only as secret references, every call passes an SSRF guard, and a re-import shows a diff. Data connectors: SQL databases (postgresql, pgvector, redshift, mysql, mariadb, sqlserver, oracle, snowflake, bigquery, databricks, sqlite and duckdb) and search stores (qdrant, elasticsearch and opensearch) are read through a statement guard, a read-only session and the login's own grants; curated views become typed tools, named with the connector's prefix.</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docs/architecture/Federation.md (§4 names, §6 approval, §9 security, §10 the mcpServers file); sajha/federation/; GLOSSARY.md 'Federation', 'Tool poisoning'. federation.enabled read from the shipped config/application.yml at build time. The upstream names are illustrative.</a:t>
            </a:r>
          </a:p>
          <a:p/>
          <a:p>
            <a:r>
              <a:t>Speaker notes: SAJHA can front another MCP server, a proxied MCP server: its tools appear as prefix, two underscores, tool, and every call to them passes SAJHA's access policy, rules, cache, circuit breakers and audit. Upstreams come from application.yml, the console, or the mcpServers file that Claude Desktop, Cursor and VS Code use, so an administrator can paste a block they already have; secrets come from the environment. An upstream's tools wait for an administrator's approval, and a changed definition waits again. Descriptions and results are screened for injected instructions; flagged items wait for a person. Section 5 shows how an external server's tools enter a SAJHA Net under its vendor's prefix.</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sajha/app.py (FastAPI application), sajha/routes/ (38 route modules), sajha/auth/, sajha/policy/, sajha/audit/, sajha/ai/, sajha/tools/, sajha/workflows/, sajha/federation/, sajha/connectors/, sajha/sandbox/; state, storage and schema lists read at build time. docs/architecture/Architecture.md.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Page count: sajha.web.page_help.PAGE_HELP (pages with an 'About this page' panel, the error page excluded), read at build time. Menus: sajha/web/templates/common/_nav.html. Themes: sajha/web/static/css/tokens.css. docs/architecture/Architecture.md §10.</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tests and lint: docs/architecture/Tool Quality.md; hot reload: ToolsRegistry file monitor (sajha/tools/tools_registry.py); evals: sajha/quality/evals.py. After the earlier deck's SDLC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Seeded roles and permissions: db/scripts/sqlite/seed.sql, parsed at build time. API key modes and anonymous policy: sajha/auth/access.py; docs/security/Security Model.md §1 'Tool access'.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§1–§3 (credentials, tool access, transport protections, rate limiting: 'per-user and per-key limits exist but are not called'), §5, §7; docs/architecture/Policy and Audit.md.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sajha/auth/__init__.py AuthManager.authenticate_request; sajha/routes/auth_routes.py; sajha/auth/sso.py; sajha/auth/revocation.py; sajha/core/config.py (auth.jwt.algorithm, auth.jwt.expiry_minutes); docs/security/Security Model.md §1–§2.</a:t>
            </a:r>
          </a:p>
          <a:p/>
          <a:p>
            <a:r>
              <a:t>Speaker notes: A person signs in with the form, or with an OpenID Connect provider when single sign-on is on, and gets the sajha_token cookie (HttpOnly, SameSite=Lax). A script posts a user id and password to /api/auth/login and gets a SAJHA JWT (default HS256, 60 minutes). An automation uses an API key that an administrator issued or a user created for themselves. An OAuth client brings an access token from SAJHA's own authorization server or yours, accepted on the MCP endpoints only. Whichever way, the same access policy decides which tools the caller may see and run, on REST, MCP in both eras, SSE, WebSocket, stdio and A2A. Sign-out records the token id in the state store; sign out everywhere raises the user's token version, which every token carries.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docs/protocol/OAuth Guide.md §1–§2; sajha/auth/oauth/settings.py (DEFAULT_SCOPES), resource_server.py, authorization_server.py; sajha/routes/oauth_routes.py.</a:t>
            </a:r>
          </a:p>
          <a:p/>
          <a:p>
            <a:r>
              <a:t>Speaker notes: An authorization server issues tokens; a resource server accepts them. SAJHA can be both, or only the resource server behind your identity provider. A client that calls /mcp without a token gets 401 with a pointer to the protected-resource metadata (RFC 9728), which names the authorization server. The client runs the authorization-code flow with PKCE S256 and the resource indicator (RFC 8707), so the token's audience is SAJHA's /mcp and a token issued for another API is refused. SAJHA's built-in server supports client ID metadata documents, optional dynamic registration, and rotating refresh tokens with reuse detection. After the token checks, the user's own tool access applies as for any caller.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§1 ('Credential storage and files', 'Test admin key', 'Console single sign-on', 'Revocable sign-in'), §3 (security headers and CSP, CSRF, Origin allow-list), §8 (known limitations: plain storage by default, the test admin key ships on). auth.credential_storage and sajhanet.test_admin_key.enabled read from the shipped config/application.yml at build time.</a:t>
            </a:r>
          </a:p>
          <a:p/>
          <a:p>
            <a:r>
              <a:t>Speaker notes: Users and API keys live in the database, and administrators can also keep them in two credential files beside it. config/users.json wins: it is applied to the users table at start-up and whenever it changes. For an API key, config/apikeys.json is checked first and wins for every key it holds; then the database, read on every request so a revoked key stops at once; and only when the database does not know the key or does not answer, the periodic dump config/apikeys_db.json. Passwords and API keys are stored plain by default: that is the owner's decision for intranet use, and a warning notice stays up while it is on. Setting auth.credential_storage to hashed and running the rehash command switches every stored value to a hash; both forms keep working across the switch. The test admin key ships on for development and testing and shows a critical notice while active; turn it off before production. Single sign-on with an OpenID Connect provider works beside passwords. In the browser, a Content-Security-Policy with a nonce per response, a cross-site check on every state-changing cookie request, and an Origin allow-list on /mcp; TLS ends at the proxy or ingress.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sajha/routes/auth_routes.py (login_form, _set_session_cookie); sajha/auth/password.py (verify_password accepts plain or bcrypt; auth.credential_storage); sajha/security.py (login throttle); docs/security/Security Model.md §1 'Web login', 'Session cookie'.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sajha/routes/auth_routes.py api_login; sajha/auth/jwt_handler.py; sajha/auth/__init__.py authenticate_request; docs/security/Security Model.md §1 'SAJHA JWT'.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sajha/routes/apikeys_routes.py; sajha/db/dao/__init__.py ApiKeyDAO.hash_key (SHA-256) and validate_key; sajha/auth/access.py apikey_policy; docs/security/Security Model.md §1 'API keys'. The allowlist example is illustrative; fred_gdp and yf_fast_info are registry tools.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docs/protocol/OAuth Guide.md §1; sajha/routes/oauth_routes.py (PRM_PATH, /oauth/authorize, /oauth/token, /oauth/register, /oauth/jwks); sajha/auth/oauth/resource_server.py (WWW-Authenticate challenge).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sajha/core/mcp_handler.py (has_tool_access before tools/call; -32602 on schema failure); sajha/tools/base_mcp_tool.py execute_with_tracking (policy enforce, validate_arguments, cache, circuit breaker); docs/architecture/Policy and Audit.md.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rule is read verbatim from config/policies/example-guardrails.yaml at build time (disabled in the shipped configuration). docs/architecture/Policy and Audit.md §3; sajha/policy/model.py, engine.py.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Evaluated while the deck was built (tools/deck/evidence.py, policy_example): sajha.policy.engine.PolicyEngine.evaluate over the shipped files in config/policies, disabled examples included (include_disabled=True, as the Policies page's test bench offers); nothing was run.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while the deck was built (tools/deck/evidence.py, audit_example): sajha.audit.chain.ChainWriter on a temporary SQLite file with a throwaway RSA key, then sajha.audit.verify.verify before and after one UPDATE. SIEM: sajha/audit/sinks.py TYPES and FLAVORS, sajha/audit/formats.py FORMATS. The tampered record is drawn in red.</a:t>
            </a:r>
          </a:p>
          <a:p/>
          <a:p>
            <a:r>
              <a:t>Speaker notes: Each record's SHA-256 covers its fields and the previous record's hash, so changing any stored field makes that record's hash wrong, and deleting, inserting or reordering records breaks the links. The head of the chain is signed with RS256 every N records, every few minutes and at shutdown. The verifier names the record and the field that changed, as the captured run on the left shows. Records stream to a SIEM over syslog, http and file (splunk_hec, datadog and generic).</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the 'Fixes since …' table and 'Known limitations', parsed at build time (evidence.security_fixes, limitations). The rows shown are the eight shortest, chosen mechanically.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 recipes in deployment/ (aws, baremetal, hetzner, k8s, local-lab, observability and sajhanet-demo, listed at build time); storage and state backends read at build time; docs/getting-started/Storage Guide.md; docs/architecture/Scaling and State.md.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deployment/aws/README.md (architecture, 'Several tasks', 'What CDK Creates') and deployment/aws/cdk/sajha_stack.py (SAJHA_STATE_BACKEND=database). Drawn in the style of the earlier deck's AWS slide, with only what the recipe creates (no Cognito, API Gateway or WAF).</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deployment/baremetal/README.md (nginx, systemd, PostgreSQL), deployment/baremetal/nginx.conf; deployment/observability/ (Prometheus, Grafana dashboard, alerts); sajha/audit/sinks.py; docs/architecture/Scaling and State.md. 'Your data centre' replaces the earlier deck's named data centre.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Tests: pytest --collect-only. Conformance: docs/protocol/MCP 2026-07-28 Compliance.md §5. Tables: db/scripts/postgresql/schema.sql and sqlite/schema.sql (same set, checked at build time). Helm: charts/sajha/templates/*.yaml. The earlier deck's '100+ users, 1,000+ rps, &lt;200 ms p95' were never measured and are not carried over.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families shown are live groups (fred, edgar, the central-bank groups, duckdb, olap, tavily). Governance path: sajha/tools/base_mcp_tool.py execute_with_tracking. After the earlier deck's agent slide.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no run is claimed. Every tool name is checked against the live registry at build time (evidence.require_tools). After the earlier deck's risk-analysis table, with names that exist.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access per API key: sajha/auth/access.py apikey_policy; A2A: sajha/routes/a2a_routes.py; workers: docs/architecture/Scaling and State.md. The key patterns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docs/architecture/Composition Framework.md (status, mapping syntax); sajha/tools/composite_tool.py (arrangements 'sibling' and 'parent_child'; every step runs as the caller through sajha/core/inner_calls.py); tables composite_tools and composite_tool_steps in db/scripts/*/schema.sql. Tool names checked against the live registry at build time; the arrangement is illustrative.</a:t>
            </a:r>
          </a:p>
          <a:p/>
          <a:p>
            <a:r>
              <a:t>Speaker notes: A composite is the smallest unit of orchestration in SAJHA. In a sibling composite the master tool runs once and the steps run side by side on its output; in a parent-child composite the master returns records and the children run once per record. Either way the caller sees one tool and gets one result, with a _composition block that says how confident the result is, how much entropy the chain carries, and a trace of every step with its time. Because the composite is itself a registry tool, the access check, schema validation, policy rules, cache and the audit record wrap the whole chain, and each inner step is checked again as the caller.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at build time (evidence.composition_compare): EntropyGuard.record_step, begin_parallel and end_parallel over get_tool_confidence for four registry tools; nothing is called. Pillars: docs/architecture/Composition Framework.md (StepResult, ParamLens, EntropyGuard in sajha/core/composition.py; TransportCoalgebra in clientsdk/sajhaclient/mcp_client.py).</a:t>
            </a:r>
          </a:p>
          <a:p/>
          <a:p>
            <a:r>
              <a:t>Speaker notes: The framework borrows four ideas from category theory and keeps them practical. The StepResult envelope is Kleisli composition: once a step fails, nothing downstream runs, and the trace and timing accumulate. Lenses isolate parameters, so a field renamed in a master tool cannot silently feed a child. The EntropyGuard is a simplified Giry monad: it turns the chain's confidence into bits of entropy and refuses a composite that would pass the limit, before it runs. Sequential steps multiply, because each depends on the last; parallel steps take the weakest link, because they are independent. The fourth pillar is on the client side: the SDK's HTTP, SSE and WebSocket transports are checked to behave alike. Ask SAJHA uses the same priors for the confidence it attaches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sajha/workflows/model.py STEP_KINDS, TRIGGER_TYPES and JOINS, and the example definition in section 2 of docs/architecture/Workflows.md parsed by model.normalize and ordered by model.topo_order, all at build time; its tool names checked against the registry. docs/architecture/Workflows.md §4 (triggers), §5 (run as the owner), §6 (published as a tool).</a:t>
            </a:r>
          </a:p>
          <a:p/>
          <a:p>
            <a:r>
              <a:t>Speaker notes: The example on the slide is rates_watch from the Workflows guide: it reads the ten-year yield, checks whether it moved, asks Ask SAJHA to explain a move or waits quietly, and then finishes with any branch that succeeded. Step kinds: a tool, a composite, an Ask SAJHA question, a condition with branches, a loop over a list (foreach, whose body is a tool, composite or ask call), a wait, and a human approval. Triggers: a five-field cron in an IANA timezone, a webhook signed with HMAC-SHA256 and a timestamp, a file appearing on the storage backend, a change-bus event, or a person. A cron slot fires once across every worker, claimed in the state store. Every step runs as the workflow's owner, with the owner's current roles, so policy, usage and audit see the owner. Only an administrator may publish a workflow as a tool, because callers of the tool would run its steps with the owner's rights.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sajha/workflows/store.py RUN_ACTIVE and RUN_DONE (the run states, read at build time); sajha/workflows/engine.py (RunExecutor: retries, timeouts, parking, resume); docs/architecture/Workflows.md §3.</a:t>
            </a:r>
          </a:p>
          <a:p/>
          <a:p>
            <a:r>
              <a:t>Speaker notes: A new run is queued and starts when the workflow has fewer active runs than its concurrency limit, counted across workers. A wait longer than the inline limit, an approval step, or a tool call a policy holds for approval parks the run as waiting and frees the worker; the scheduler wakes it. If a worker dies mid-run, its heartbeat stops; another worker claims the run with a conditional update, so exactly one wins, reuses every finished step and re-runs an interrupted step only if it is idempotent. Cancel sets a flag that any worker's executor sees within half a second. Re-run from a step starts a new run that copies the results before the chosen step.</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docs/architecture/Workflows.md §1 and §6 (step kinds tool, composite, ask; published as a tool, usable from Ask SAJHA and composites); docs/architecture/Composition Framework.md; docs/architecture/SAJHA Net.md §2 (a remote tool is called like a local one by composites and workflows) and §5.6; docs/architecture/Federation.md §4 (names, proxies all the way down). The separator is sajha/tools/naming.py SEPARATOR, read at build time.</a:t>
            </a:r>
          </a:p>
          <a:p/>
          <a:p>
            <a:r>
              <a:t>Speaker notes: The four levels nest. A tool is one registry entry. A composite chains tools into one call. A workflow is a graph whose steps are tools, composites and Ask SAJHA questions, with conditions, loops, waits and approvals. An administrator can publish a workflow as a tool, and then it is a tool again: a composite or another workflow or Ask SAJHA can call it. At every level each call takes the same governed path, so it makes no difference whether the tool is local, belongs to a proxied MCP server (published with its vendor prefix), or lives on another SAJHA Net member (reached by its qualified name, where the host checks the call again). A proxied server may proxy others; the names compose and one call-chain budget bounds the nesting, so cycles are refused rather than followed.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sajha/tools/base_mcp_tool.py (BaseMCPTool); sajha/core/plugins.py (plugin.json manifest, discover, load_plugin; /api/plugins in sajha/routes/ops_routes.py); Studio pages in sajha/routes/studio_routes.py.</a:t>
            </a:r>
          </a:p>
          <a:p/>
          <a:p>
            <a:r>
              <a:t>Speaker notes: No code: the REST, database query, script, Power BI, SharePoint, LiveLink and OLAP creators, or describe the tool in a sentence; import an OpenAPI or GraphQL description; connect a database; deploy with one click and the tool is live without a restart. Full code: subclass BaseMCPTool, implement execute and declare the input schema, with the whole Python ecosystem available; a JSON config in config/tools loads it, and a plugin packages several. Both produce ordinary MCP tools.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sajha/tools/tools_registry.py (start_monitoring, _monitor_files); sajha/core/reload_manager.py (object-store polling); sajha/policy/loader.py (policy.reload_seconds); sajha/core/mcp_handler.py (listChanged on push channels; subscriptions/listen in mcp_modern); docs/security/Security Model.md §1 (user reloaded per request); docs/architecture/Intelligence Layer.md (tool index sync).</a:t>
            </a:r>
          </a:p>
          <a:p/>
          <a:p>
            <a:r>
              <a:t>Speaker notes: A JSON config added or changed in config/tools is picked up by the registry's file monitor; with an object store, its poller does the same. Deploying from Studio, an import or a connector registers the tool in the running server at once. Policy files reload when they change. Users, roles and keys changed in the console apply to the next request, because the user is reloaded on every request. Clients on SSE or WebSocket, and 2026-07-28 clients through subscriptions/listen, receive list-changed notifications.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sajha/routes/studio_routes.py (pages, /preview and /deploy actions per creator); docs/studio/MCP Studio User Guide.md. The tool name and parameters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sajha/tools/base_mcp_tool.py; sajha/tools/tools_registry.py; sajha/core/plugins.py (manifest format in its docstring); docs/architecture/Tool Quality.md (tests, cassettes, lint). The class name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 (why), §2 (what it guarantees and what it does not do); sajhanet.enabled read from the shipped config/application.yml at build time. Instance names are the guide's illustrative ones.</a:t>
            </a:r>
          </a:p>
          <a:p/>
          <a:p>
            <a:r>
              <a:t>Speaker notes: Large organisations rarely have one place where all data may live: business lines, legal entities and regions own their data and the rules for it. A net puts a SAJHA server inside each boundary. Each one holds the tools that touch its data and the credentials those tools use, applies its own access rules, policy, approvals and audit, runs its own models, budgets and planners, and keeps its own users' memory. What crosses is a tool call and its result, and only when both sides' rules allow it. A question that spans domains is answered by a planner on one server using tools on several, without copying either domain's data. SAJHA Net does not share state between servers, elect a leader, move data in bulk, or join nets together except through a bridge an administrator turns 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§5.1 (three kinds of participant), §6.2–6.3 (coming and going, gossip), §7 (catalogs), §8.1 (proxies). Membership plug-ins registered at build time: gossip and static (sajha/net/plugins.py).</a:t>
            </a:r>
          </a:p>
          <a:p/>
          <a:p>
            <a:r>
              <a:t>Speaker notes: Every member pings one other at random every second; if there is no answer it asks three others to try, so one broken link does not condemn a healthy member. A member that does not answer becomes suspect and, after a timeout without refuting, dead, and its tools are removed everywhere. Gossip carries only digests of catalogs, key directories, blocks, conflicts and revocations; a changed digest makes peers pull that part point to point. Gossip never carries tools, schemas or keys. All of it is small signed HTTP on SAJHA's normal port, no UDP and no second port. A member may be a SAJHA instance, any MCP server with the SAJHA Net agent beside it, or an MCP server a SAJHA server sponsors; callers cannot tell them apart.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§6.4 (admission modes), §6.5 (the built-in CA, manual mode), §21.3. Modes: the admission plug-ins registered in sajha/net/plugins.py and sajha/net/trust.py; the code default from sajha/net/integration/config.py Shared.admission; the shipped mode from config/application.yml sajhanet.plugins.admission; all read at build time.</a:t>
            </a:r>
          </a:p>
          <a:p/>
          <a:p>
            <a:r>
              <a:t>Speaker notes: Whatever the mode, every request between participants is signed (RFC 9421 HTTP message signatures with a body digest, a creation time and a nonce), names are held to a key, and the host still authorizes every user it is sent. Open mode: each server makes a self-signed certificate per net at first start; the first key seen for an instance name is remembered and later held to it, so another key claiming the name is refused as a name conflict; there is no revocation, an administrator forgets a remembered key. Built-in CA: SAJHA runs the CA for the net; a single-use, short-lived token enrolls a named server, certificates are short-lived and renew themselves, and revocation spreads by gossip. The CA is not on the call path. Manual: self-signed certificates whose thumbprints each administrator pins.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§8.7 (one name, one contract: quarantine, -32018 and -32011, lifting, escape hatch) and §5.6 (vendors and external servers); separator sajha/tools/naming.py SEPARATOR, read at build time.</a:t>
            </a:r>
          </a:p>
          <a:p/>
          <a:p>
            <a:r>
              <a:t>Speaker notes: A contract is the tool's name, input and output schemas and annotations, compared by hash. When hosts in a net offer one name with different hashes there is no winner: every member logs an error, raises a notice, audits it and evicts the name, so no copy is listed, callable or a fallback target anywhere, including on the hosts that offer it. The quarantine lifts by itself when every host offers one contract again. To change a contract, change every host together or ship it under a new name. Servers from unrelated organisations that happen to share a name are kept apart by defining them as external servers: a member proxies each one and publishes its tools under the vendor's prefix, so acme's search and globex's search never meet.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§9 (what happens on a call; the host's order is protocol §15.4), §11.1 (both sides decide). Every refusal before execution carries executed: false.</a:t>
            </a:r>
          </a:p>
          <a:p/>
          <a:p>
            <a:r>
              <a:t>Speaker notes: The home resolves the name, runs the call through execute_with_tracking like any tool (access, schema, policy), checks its import rules for this user and tool, checks residency on the arguments, then the per-peer breaker, rate limit, hop and call-chain budget, and attaches the user's identity. The request is signed and carries a trace id, the hop count and the visited list. The host verifies the signature, checks blocks on the sender, hops and loops, verifies the user, maps the user to its own account, checks blocks on the user and the tool, applies its export rules and its own access, policy and approvals, executes and audits, and checks residency on the result. The answer is signed too. A refusal reaches the caller as an ordinary tool result with isError, saying which side refused and why. Forwarded calls use the 2026-07-28 era; proxy results are never cached; a destructive remote tool still needs confirmation at home.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§8.2 (names and resolution order), §9.1 (waterfall fallback). Routing strategies: the plug-ins registered in sajha/net/plugins.py; max_fallbacks from the shipped config/application.yml; both read at build time.</a:t>
            </a:r>
          </a:p>
          <a:p/>
          <a:p>
            <a:r>
              <a:t>Speaker notes: A qualified name, net__instance__tool, always reaches exactly the tool it names. A plain name goes first to a local tool of that name, then to the tool's preference list, then to the nets in configured order, where the routing strategy orders the hosts. A host is eligible when it offers the tool, is not suspect or blocked, the name is not quarantined, and this caller's import and residency rules allow it; why each host ranked where it did is recorded. Fallback moves to the next eligible host only after a failure that certainly did not run the tool, or, for read-only or idempotent non-destructive tools, after a failure that may have. A refusal by a host's access, policy, identity or block is that host's decision and is returned. A residency refusal at the home for one host is the exception: the call moves to a host that may receive the data.</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§10.2 (identity resolvers; the home's key order; the test admin key), §10.3 (the net key directory), §11.3 (users across instances); docs/security/Security Model.md 'Test admin key'. Resolvers: the identity plug-ins registered by sajha/net/integration/authz.py and identity.py; shipped resolver, unknown-user rule and test admin key switch from config/application.yml; all read at build time.</a:t>
            </a:r>
          </a:p>
          <a:p/>
          <a:p>
            <a:r>
              <a:t>Speaker notes: Without the user, a host could authorize only the server, and any user of that server would get whatever it may do: the confused deputy. So the user travels with every call. With api_key the home sends a key, only over HTTPS and only on the first hop; the host hashes it, finds its signed record in the net key directory (hashes only, never keys), and refuses it unless it came from its own home. With assertion only a key id crosses, in an assertion the home signs with its net certificate, valid for seconds and used once. With token_exchange the home swaps an assertion for an opaque token bound to the net and the home. Every server has its own users; the net never merges accounts. The host decides who alice@risk-eu is there: an explicit link, else the same login name, else refuse or a guest with mapped roles. The test admin key ships on by owner decision for development and testing; a critical notice shows on every page while it is active.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§5.6 (vendors and external servers, proxies all the way down); docs/architecture/Federation.md §4 (names, proxies all the way down) and §10 (the mcpServers file, config/mcp_servers.json, external by default); separator sajha/tools/naming.py SEPARATOR, read at build time. Federation ships off (federation.enabled).</a:t>
            </a:r>
          </a:p>
          <a:p/>
          <a:p>
            <a:r>
              <a:t>Speaker notes: A proxied MCP server is one a SAJHA server embeds through federation and offers as its own tools. In the mcpServers file, the same JSON Claude Desktop, Cursor and VS Code use, an entry is external unless it says external false. An external server is not a member: it has no member record, certificate or instance name and never gossips. The SAJHA server that defines it is its proxy; its tools are published as vendor__tool, its endpoint and credentials never leave that server, and every call runs with that server's full governance before federation calls the upstream. Every member lists the tool as external, via risk-eu. An internal proxied server's tools stay local. Members themselves are always internal and keep their tool names. A proxied server may itself proxy others; names compose and each level governs its own calls.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§12 (data classes, residency rules, arguments, results, on arrival, residency-aware shortlists, audit, memory); docs/architecture/Policy and Audit.md §3.5 (residency rule conditions). The field and values are illustrative.</a:t>
            </a:r>
          </a:p>
          <a:p/>
          <a:p>
            <a:r>
              <a:t>Speaker notes: Data classes come from x-sajha-data-class marks on schema properties (they are part of the contract hash), a tool's own data_classes, or classification by configuration. Residency rules are policy rules with conditions on data classes, the flow (arguments or results) and the destination (net, instance, region, labels). Before a call leaves, the home checks the classes of the fields present against the host's region and labels; the host checks its result against the home's; the home applies its own rules on arrival. A rule can deny or redact: redaction replaces the fields with [REDACTED:class] in structured content, JSON text and wherever a removed value is quoted. A remote tool whose host may not receive the classes every call sends is left out of tools/list and Ask SAJHA's shortlist for that caller. Every decision is a net.residency audit record, never with values. Conversation memory can keep an answer that used remote results with every figure replaced by [remote figure].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§13 (locality-aware shortlists, remote LLM tools, memory, budgets) and §14 (hops, the call-chain budget); max_call_chain and max_hops read from the shipped config/application.yml at build time. The chain shown is illustrative.</a:t>
            </a:r>
          </a:p>
          <a:p/>
          <a:p>
            <a:r>
              <a:t>Speaker notes: Every shortlist entry records where the tool runs and why it ranked where it did. Local tools rank first, then remote hosts named in the tool's preferences, in this server's region, healthy, and with lower latency, as small nudges so the right remote tool is still offered. An ask can be restricted to local tools or one net. An LLM tool is exported like any tool; called from another instance it runs on its host as the mapped user, on the host's models and budgets, and the host reports the spend, which the home records and never charges again. Conversation memory lives only on the server the user talks to. A chain that crosses instances and nests planners, LLM tools, composites and sajha_ask is bounded end to end: each forwarded call is one hop (at most 1 by default), and the depth travels with the call.</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§14 (re-export within one net, bridges between nets) and §10.2 (a call to a re-exported tool and a bridge's call always use assertion); tests/net/test_net_reexport_identity.py.</a:t>
            </a:r>
          </a:p>
          <a:p/>
          <a:p>
            <a:r>
              <a:t>Speaker notes: With re-export on for a net, an imported tool goes onward only when a re-export rule names it. It keeps its origin and contract, is never offered back to its host or origin, and the home ranks direct offers first. The home sends an assertion whose audience is the origin, never a key. The intermediary verifies it, maps and authorizes the caller under its re-export rules, and relays the assertion unchanged with the hop count raised, so residency, hops and the chain budget apply on every step. A bridge is a server in two nets that offers one net's tools in the other, only when re-export is on for the net it offers into. A call from N runs as the local account the caller maps to, which calls into M with an assertion the bridge signs there; a guest mapping cannot cross a bridge, and loops through several nets are caught by the visited list.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§5.1 (three ways to take part), §5.7 (sponsored servers), §5.8 (the agent and the reference library), §5.9 (conformance; tests/net/test_net_mixed_conformance.py); docs/clients/SAJHA Net Agent.md.</a:t>
            </a:r>
          </a:p>
          <a:p/>
          <a:p>
            <a:r>
              <a:t>Speaker notes: The agent, python -m sajhanet_agent, puts any MCP server, over stdio or Streamable HTTP, into a net as a member of kind agent: it holds the certificate, gossips, publishes the server's tools, verifies forwarded keys against the net key directory, applies a small export policy and passes allowed calls on. It only hosts. The reference library is the same participant inside a Python server. A sponsored server is one that cannot have anything beside it, a vendor's or SaaS endpoint: a SAJHA server runs a node for it under its own instance name and enforces everything for it. The conformance runner checks any target from outside and runs the library cases against the protocol's vectors; SAJHA's own suite covers the S cases. The agent is part of SAJHA, which is proprietary: running or redistributing it needs a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§11.4 (blocking) and §17 (the console: pages, topology map, admission panel, notices). Tinted pages are for every signed-in user, the others for administrators.</a:t>
            </a:r>
          </a:p>
          <a:p/>
          <a:p>
            <a:r>
              <a:t>Speaker notes: An administrator blocks, per net, at five levels: an instance entirely (stop calling it, refuse its calls, ignore its updates), inbound only, outbound only, one tool, or one remote user. A block takes effect on the next request, may expire, carries a reason and is audited. Removing a server from the whole net is a revocation or a removed pin, not a block. The topology map draws this server in the centre and the others on a ring, coloured by state and labelled in words when not alive, with edges for offers, re-exports and observed calls; a table under it lists the same. Instances and Your net access are for every signed-in user; Net overview, Remote tools and the admin page for administrators. Every page has JSON behind it and the sajha net commands do the same over HTTP.</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first sentences of the descriptions from the live registry at build time (evidence.describe_tools, cut by evidence.short_description over tavily_, wiki_, crawl_, extract_; ir_ counted).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descriptions from the live registry at build time (duckdb_, olap_, sqlselect_). Guards: the 'Fixes since' table of docs/security/Security Model.md (duckdb_sql, OLAP SQL injection).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descriptions from the live registry at build time (calc_). Confidence: sajha.core.composition.get_tool_confidence for the calc group, 1.0.</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docs/architecture/Data Connectors.md (the guard, limits, masking, §14 'Limits of this design'); sajha/connectors/model.py PER_USER_KINDS, read at build time.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no run is claimed. Tool names checked against the live registry at build time. After the earlier deck's combined-workflow slide.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sajha.ai.llm.registry.registered_providers() after ensure_builtins(), read at build time; config/application.yml ai.aliases; docs/architecture/Intelligence Layer.md §1 (shape, the public API, the boundary), §5 (the factory and governed models); tests/test_llm_boundary.py.</a:t>
            </a:r>
          </a:p>
          <a:p/>
          <a:p>
            <a:r>
              <a:t>Speaker notes: Everything LLM lives in one package. A consumer asks the factory for a model by alias (an ordered list of candidates) or provider/model and gets a GovernedModel, which speaks the OpenAI Chat Completions format as typed models. The governed model resolves the alias against the user's preference, the system default and the alias list, skipping providers that are down, circuits that are open and models the caller's role may not use; applies per-role policy and token caps and daily budgets; retries with backoff and falls back to the next candidate; caches deterministic answers; and records audit, usage, cost and one OpenTelemetry span per call. Each provider module translates the canonical format to its vendor at the edge, over HTTP; only Bedrock needs an SDK, loaded lazily. A test enforces the boundary.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sajha/ai/llm_tools/config.py MODES, read at build time; docs/architecture/LLM Tools.md §6 (modes), §13.4 (SAJHA as an OpenAI-compatible endpoint; sajha/ai/openai_api.py, sajha/routes/openai_routes.py); docs/architecture/SAJHA Net.md §13 (remote LLM tools); ai.openai_api.enabled from the shipped config/application.yml.</a:t>
            </a:r>
          </a:p>
          <a:p/>
          <a:p>
            <a:r>
              <a:t>Speaker notes: answer plans, calls tools and composes an answer with citations and confidence, which is what sajha_ask does. complete fills a prompt without tools; extract returns JSON validated against the output schema, retrying once; classify picks one label from a fixed set; grounded answers only from document search, citing each passage; narrate runs a named composite or workflow and has the model write only the prose; judge scores against a rubric. Each runs as the caller, with depth and budgets shared down the chain, so an LLM tool that calls another cannot escape its limits. The shipped examples are disabled by default. With the OpenAI-compatible endpoint on, any OpenAI SDK reaches SAJHA's gateway with a SAJHA API key as the bearer token, and each enabled LLM tool appears as a model.</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sajha/ai/intelligence.py (stream_ask), sajha/ai/tool_resolver.py and lexical.py (BM25 without an embedder). A real run captured while the deck was built (tools/deck/evidence.py, ask_run): IntelligenceService.stream_ask over the full registry (512 tools) on the offline mock provider (mock/mock-planner), planner react, question 'What is the percentage change from 80 to 100?'.</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(512 tools) on the offline mock provider (mock/mock-planner), planner react, question 'What is the percentage change from 80 to 100?'. Shortlist size: AskSettings().shortlist.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(512 tools) on the offline mock provider (mock/mock-planner), planner react, question 'What is the percentage change from 80 to 100?'. Safeguards: IntelligenceService._run_call and SYSTEM_PROMPT (sajha/ai/intelligence.py); BaseMCPTool.execute_with_tracking.</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(512 tools) on the offline mock provider (mock/mock-planner), planner react, question 'What is the percentage change from 80 to 100?'. Confidence rules: IntelligenceService._confidence, UNVERIFIED_CONFIDENCE, get_tool_confidence, read at build time. Evals: sajha.quality.evals.run_set over config/evals/calculators.yaml.</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sajha.ai.planners.registered_planners() at build time; docs/architecture/Intelligence Layer.md §6.</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docs/architecture/Intelligence Layer.md §6 'Document search (RAG)' and 'Stores' (sqlite_vec is the default when the extension loads, else memory; pgvector on PostgreSQL), 'Conversation memory', §9; sajha/ai/memory.py, sajha/ai/rag/ (stores: sajha.ai.rag.registry.registered_stores(), read at build time).</a:t>
            </a:r>
          </a:p>
          <a:p/>
          <a:p>
            <a:r>
              <a:t>Speaker notes: sajha_search_docs is an ordinary tool over a document index: SAJHA's own guides, each passage citing its help page and section; folders of the storage backend an administrator names; and uploads. PDF and Word are read when their optional packages are installed; a scanned PDF has no text layer and is reported as such. Passages keep their section path. The default store, sqlite_vec, keeps passages, vectors and a full-text index in a SQLite file of its own; the memory store holds everything in the process; pgvector uses PostgreSQL. When the chosen store cannot run, the index falls back to memory and raises a system notice. Search fuses the vector ranking with a BM25 keyword ranking. Conversation memory is off unless an ask names a conversation: a follow-up gets the recent turns and a summary of older ones and is rewritten to stand alone; memory is per user, never shared, expires after ai.memory.retention_days, and users delete their own history.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at build time (evidence.eval_runs) with sajha.quality.evals over config/evals/calculators.yaml; docs/architecture/Tool Quality.md.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docs/architecture/Tool Quality.md; sajha/quality/; sajha/core/tool_versioning.py.</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docs/architecture/Observability.md §2–§5; sajha/observability/metrics.py, tracing.py, usage.py, alerts.py; deployment/observability/.</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sajha/sandbox/backends.py BACKENDS and sajha/accounts/providers.py TEMPLATES, read at build time; docs/architecture/Sandbox.md, Connected Accounts.md; Security Model §8.</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StorageBackend subclasses in sajha/core/storage.py; sajha.core.state.BACKENDS; db/scripts/*/; deployment/*/, all listed at build time; docs/architecture/Scaling and State.md.</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clientsdk/sajhaclient (standard.py SajhaMCPClient, a2a_client.py, auth.py); CLI commands parsed from clientsdk/sajhaclient/cli/main.py at build time; sajha/routes/a2a_routes.py; docs/clients/Command Line.md.</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sajha/core/config.py _get; CLAUDE.md 'Code facts'; docs/getting-started/Configuration Reference.md (which keys resolve how; storage and ${...} in tool configs use PropertiesConfigurator); docs/security/Security Model.md §6.</a:t>
            </a:r>
          </a:p>
          <a:p/>
          <a:p>
            <a:r>
              <a:t>Speaker notes: Most keys resolve the environment variable SAJHA_ followed by the dotted key in capitals, then config/application.yml (which may itself say ${ENV:default}), then the code's default. Not every subsystem reads through that path: storage and the ${...} placeholders in tool configs use the properties configurator, and the Configuration Reference records which keys behave how. The intelligence layer resolves SAJHA_AI_&lt;SECTION&gt;_&lt;FIELD&gt;, then the vendor's own variable such as OPENAI_API_KEY, then YAML, then the database, then the default. application.yml is tracked, so secrets go in the environment. Laptop, Docker, Kubernetes and the cloud recipes all start from the same file.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db/scripts/postgresql/schema.sql and db/scripts/sqlite/schema.sql, parsed at build time (the same set in both); grouping: tools/deck/deck_part4.py TABLE_GROUPS (an unknown table fails the build); tests/test_db_schema.py; docs/getting-started/Database Setup.md.</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Left column and the note: the open items of docs/architecture/Roadmap.md sections 2 to 4, parsed at build time (evidence.roadmap). Right column: bold heads of 'Known limitations' in docs/security/Security Model.md, parsed at build time and filtered by name. Built features are on the capability slides, not here.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sajha/web/competitive.py (the data behind /comparison), read at build time; competitor verdicts come from each vendor's public pages as of 2026-10-08, each with a source URL; tests/test_competitive.py checks it. The ten columns are chosen to show differences.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sajha/web/competitive.py (the data behind /comparison), read at build time; competitor verdicts come from each vendor's public pages as of 2026-10-08, each with a source URL; tests/test_competitive.py checks it. Groupings computed from each competitor's kind and its isolation, managed and open_source verdicts.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'Quick start'; docs/README.md reading order; guide names as in docs/.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config/application.yml app.version, app.author and app.email, read at build time; the licence position: the LICENSE file and docs/architecture/Roadmap.md §6.</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1122045" y="944879"/>
            <a:ext cx="226695" cy="226696"/>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348740" y="944879"/>
            <a:ext cx="226695" cy="226696"/>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219200" y="1268730"/>
            <a:ext cx="259080" cy="0"/>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251585" y="750570"/>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890" y="1171575"/>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78280" y="1171575"/>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20240" y="713232"/>
            <a:ext cx="5486400" cy="457200"/>
          </a:xfrm>
          <a:prstGeom prst="rect">
            <a:avLst/>
          </a:prstGeom>
          <a:noFill/>
        </p:spPr>
        <p:txBody>
          <a:bodyPr wrap="square" lIns="0" rIns="0" tIns="0" bIns="0" anchor="t">
            <a:spAutoFit/>
          </a:bodyPr>
          <a:lstStyle/>
          <a:p>
            <a:pPr algn="l">
              <a:lnSpc>
                <a:spcPct val="120000"/>
              </a:lnSpc>
              <a:spcBef>
                <a:spcPts val="0"/>
              </a:spcBef>
              <a:spcAft>
                <a:spcPts val="0"/>
              </a:spcAft>
            </a:pPr>
            <a:r>
              <a:rPr sz="2600" b="1" i="0">
                <a:solidFill>
                  <a:srgbClr val="FFFFFF"/>
                </a:solidFill>
                <a:latin typeface="Georgia"/>
              </a:rPr>
              <a:t>SAJHA</a:t>
            </a:r>
          </a:p>
        </p:txBody>
      </p:sp>
      <p:sp>
        <p:nvSpPr>
          <p:cNvPr id="11" name="TextBox 10"/>
          <p:cNvSpPr txBox="1"/>
          <p:nvPr/>
        </p:nvSpPr>
        <p:spPr>
          <a:xfrm>
            <a:off x="1920240" y="1143000"/>
            <a:ext cx="5486400" cy="36576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F3C6CF"/>
                </a:solidFill>
                <a:latin typeface="Calibri"/>
              </a:rPr>
              <a:t>साझा  ·  shared</a:t>
            </a:r>
          </a:p>
        </p:txBody>
      </p:sp>
      <p:sp>
        <p:nvSpPr>
          <p:cNvPr id="12" name="TextBox 11"/>
          <p:cNvSpPr txBox="1"/>
          <p:nvPr/>
        </p:nvSpPr>
        <p:spPr>
          <a:xfrm>
            <a:off x="960120" y="2057400"/>
            <a:ext cx="9573493" cy="914400"/>
          </a:xfrm>
          <a:prstGeom prst="rect">
            <a:avLst/>
          </a:prstGeom>
          <a:noFill/>
        </p:spPr>
        <p:txBody>
          <a:bodyPr wrap="square" lIns="0" rIns="0" tIns="0" bIns="0" anchor="t">
            <a:spAutoFit/>
          </a:bodyPr>
          <a:lstStyle/>
          <a:p>
            <a:pPr algn="l">
              <a:lnSpc>
                <a:spcPct val="110000"/>
              </a:lnSpc>
              <a:spcBef>
                <a:spcPts val="0"/>
              </a:spcBef>
              <a:spcAft>
                <a:spcPts val="0"/>
              </a:spcAft>
            </a:pPr>
            <a:r>
              <a:rPr sz="4400" b="0" i="0">
                <a:solidFill>
                  <a:srgbClr val="FFFFFF"/>
                </a:solidFill>
                <a:latin typeface="Georgia"/>
              </a:rPr>
              <a:t>SAJHA MCP Server</a:t>
            </a:r>
          </a:p>
        </p:txBody>
      </p:sp>
      <p:sp>
        <p:nvSpPr>
          <p:cNvPr id="13" name="TextBox 12"/>
          <p:cNvSpPr txBox="1"/>
          <p:nvPr/>
        </p:nvSpPr>
        <p:spPr>
          <a:xfrm>
            <a:off x="960120" y="2971800"/>
            <a:ext cx="9573493" cy="548640"/>
          </a:xfrm>
          <a:prstGeom prst="rect">
            <a:avLst/>
          </a:prstGeom>
          <a:noFill/>
        </p:spPr>
        <p:txBody>
          <a:bodyPr wrap="square" lIns="0" rIns="0" tIns="0" bIns="0" anchor="t">
            <a:spAutoFit/>
          </a:bodyPr>
          <a:lstStyle/>
          <a:p>
            <a:pPr algn="l">
              <a:lnSpc>
                <a:spcPct val="120000"/>
              </a:lnSpc>
              <a:spcBef>
                <a:spcPts val="0"/>
              </a:spcBef>
              <a:spcAft>
                <a:spcPts val="0"/>
              </a:spcAft>
            </a:pPr>
            <a:r>
              <a:rPr sz="2400" b="0" i="1">
                <a:solidFill>
                  <a:srgbClr val="FBEEF0"/>
                </a:solidFill>
                <a:latin typeface="Georgia"/>
              </a:rPr>
              <a:t>One Protocol, Infinite Possibilities</a:t>
            </a:r>
          </a:p>
        </p:txBody>
      </p:sp>
      <p:sp>
        <p:nvSpPr>
          <p:cNvPr id="14" name="TextBox 13"/>
          <p:cNvSpPr txBox="1"/>
          <p:nvPr/>
        </p:nvSpPr>
        <p:spPr>
          <a:xfrm>
            <a:off x="960120" y="3566160"/>
            <a:ext cx="9573493" cy="411480"/>
          </a:xfrm>
          <a:prstGeom prst="rect">
            <a:avLst/>
          </a:prstGeom>
          <a:noFill/>
        </p:spPr>
        <p:txBody>
          <a:bodyPr wrap="square" lIns="0" rIns="0" tIns="0" bIns="0" anchor="t">
            <a:spAutoFit/>
          </a:bodyPr>
          <a:lstStyle/>
          <a:p>
            <a:pPr algn="l">
              <a:lnSpc>
                <a:spcPct val="120000"/>
              </a:lnSpc>
              <a:spcBef>
                <a:spcPts val="0"/>
              </a:spcBef>
              <a:spcAft>
                <a:spcPts val="0"/>
              </a:spcAft>
            </a:pPr>
            <a:r>
              <a:rPr sz="1600" b="0" i="0">
                <a:solidFill>
                  <a:srgbClr val="F3C6CF"/>
                </a:solidFill>
                <a:latin typeface="Calibri"/>
              </a:rPr>
              <a:t>One governed catalog of tools for every agent</a:t>
            </a:r>
          </a:p>
        </p:txBody>
      </p:sp>
      <p:sp>
        <p:nvSpPr>
          <p:cNvPr id="15" name="Rectangle 14"/>
          <p:cNvSpPr/>
          <p:nvPr/>
        </p:nvSpPr>
        <p:spPr>
          <a:xfrm>
            <a:off x="960120" y="4160520"/>
            <a:ext cx="155448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389120"/>
            <a:ext cx="5318607" cy="1188720"/>
          </a:xfrm>
          <a:prstGeom prst="rect">
            <a:avLst/>
          </a:prstGeom>
          <a:noFill/>
        </p:spPr>
        <p:txBody>
          <a:bodyPr wrap="square" lIns="0" rIns="0" tIns="0" bIns="0" anchor="t">
            <a:spAutoFit/>
          </a:bodyPr>
          <a:lstStyle/>
          <a:p>
            <a:pPr algn="l">
              <a:lnSpc>
                <a:spcPct val="120000"/>
              </a:lnSpc>
              <a:spcBef>
                <a:spcPts val="0"/>
              </a:spcBef>
              <a:spcAft>
                <a:spcPts val="400"/>
              </a:spcAft>
            </a:pPr>
            <a:r>
              <a:rPr sz="2000" b="1" i="0">
                <a:solidFill>
                  <a:srgbClr val="FFFFFF"/>
                </a:solidFill>
                <a:latin typeface="Georgia"/>
              </a:rPr>
              <a:t>Ashutosh Sinha</a:t>
            </a:r>
          </a:p>
          <a:p>
            <a:pPr>
              <a:lnSpc>
                <a:spcPct val="120000"/>
              </a:lnSpc>
              <a:spcBef>
                <a:spcPts val="0"/>
              </a:spcBef>
              <a:spcAft>
                <a:spcPts val="200"/>
              </a:spcAft>
            </a:pPr>
            <a:r>
              <a:rPr sz="1300" b="0" i="0">
                <a:solidFill>
                  <a:srgbClr val="FBEEF0"/>
                </a:solidFill>
                <a:latin typeface="Calibri"/>
              </a:rPr>
              <a:t>October 2026</a:t>
            </a:r>
          </a:p>
          <a:p>
            <a:pPr>
              <a:lnSpc>
                <a:spcPct val="120000"/>
              </a:lnSpc>
              <a:spcBef>
                <a:spcPts val="0"/>
              </a:spcBef>
              <a:spcAft>
                <a:spcPts val="0"/>
              </a:spcAft>
            </a:pPr>
            <a:r>
              <a:rPr sz="1100" b="0" i="0">
                <a:solidFill>
                  <a:srgbClr val="F3C6CF"/>
                </a:solidFill>
                <a:latin typeface="Calibri"/>
              </a:rPr>
              <a:t>SAJHA 8.0.0 (app.version)</a:t>
            </a:r>
          </a:p>
        </p:txBody>
      </p:sp>
      <p:sp>
        <p:nvSpPr>
          <p:cNvPr id="17" name="TextBox 16"/>
          <p:cNvSpPr txBox="1"/>
          <p:nvPr/>
        </p:nvSpPr>
        <p:spPr>
          <a:xfrm>
            <a:off x="6308591" y="4389120"/>
            <a:ext cx="5105863" cy="1463040"/>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FBEEF0"/>
                </a:solidFill>
                <a:latin typeface="Calibri"/>
              </a:rPr>
              <a:t>SAJHA is proprietary software owned by Ashutosh Sinha. © 2025-2030 Ashutosh Sinha. All rights reserved. This presentation grants no licence to use, copy, modify or distribute SAJHA or any part of it. Enquiries: ajsinha@gmail.com.</a:t>
            </a:r>
          </a:p>
        </p:txBody>
      </p:sp>
      <p:sp>
        <p:nvSpPr>
          <p:cNvPr id="18" name="Rectangle 17"/>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20" name="TextBox 19"/>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TL;DR</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Executive summary: five questions, five answers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a:t>
            </a:r>
          </a:p>
        </p:txBody>
      </p:sp>
      <p:sp>
        <p:nvSpPr>
          <p:cNvPr id="17" name="Rectangle 16"/>
          <p:cNvSpPr/>
          <p:nvPr/>
        </p:nvSpPr>
        <p:spPr>
          <a:xfrm>
            <a:off x="777240" y="1386967"/>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86967"/>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8408" y="1460119"/>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is MCP?</a:t>
            </a:r>
          </a:p>
        </p:txBody>
      </p:sp>
      <p:sp>
        <p:nvSpPr>
          <p:cNvPr id="20" name="TextBox 19"/>
          <p:cNvSpPr txBox="1"/>
          <p:nvPr/>
        </p:nvSpPr>
        <p:spPr>
          <a:xfrm>
            <a:off x="3429000" y="1460119"/>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An open standard, now under the Linux Foundation's Agentic AI Foundation, that lets AI applications connect to any tool or data source through one protocol instead of one integration per pair.</a:t>
            </a:r>
          </a:p>
        </p:txBody>
      </p:sp>
      <p:sp>
        <p:nvSpPr>
          <p:cNvPr id="21" name="Rectangle 20"/>
          <p:cNvSpPr/>
          <p:nvPr/>
        </p:nvSpPr>
        <p:spPr>
          <a:xfrm>
            <a:off x="777240" y="2380589"/>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2380589"/>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8408" y="2453741"/>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is the SAJHA MCP server?</a:t>
            </a:r>
          </a:p>
        </p:txBody>
      </p:sp>
      <p:sp>
        <p:nvSpPr>
          <p:cNvPr id="24" name="TextBox 23"/>
          <p:cNvSpPr txBox="1"/>
          <p:nvPr/>
        </p:nvSpPr>
        <p:spPr>
          <a:xfrm>
            <a:off x="3429000" y="2453741"/>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A proprietary, self-hosted MCP server with 512 built-in tools, browser tool builders, composites and workflows, an intelligence layer, and governance: access control, OAuth 2.1, policy rules, approvals and a tamper-evident audit.</a:t>
            </a:r>
          </a:p>
        </p:txBody>
      </p:sp>
      <p:sp>
        <p:nvSpPr>
          <p:cNvPr id="25" name="Rectangle 24"/>
          <p:cNvSpPr/>
          <p:nvPr/>
        </p:nvSpPr>
        <p:spPr>
          <a:xfrm>
            <a:off x="777240" y="3374212"/>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3374212"/>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3447364"/>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Why does it matter?</a:t>
            </a:r>
          </a:p>
        </p:txBody>
      </p:sp>
      <p:sp>
        <p:nvSpPr>
          <p:cNvPr id="28" name="TextBox 27"/>
          <p:cNvSpPr txBox="1"/>
          <p:nvPr/>
        </p:nvSpPr>
        <p:spPr>
          <a:xfrm>
            <a:off x="3429000" y="3447364"/>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It removes bespoke integration code: any agent discovers and calls tools at run time, and every call, whoever makes it, passes one set of identities, rules and records.</a:t>
            </a:r>
          </a:p>
        </p:txBody>
      </p:sp>
      <p:sp>
        <p:nvSpPr>
          <p:cNvPr id="29" name="Rectangle 28"/>
          <p:cNvSpPr/>
          <p:nvPr/>
        </p:nvSpPr>
        <p:spPr>
          <a:xfrm>
            <a:off x="777240" y="4367834"/>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4367834"/>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78408" y="4440986"/>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can it do today?</a:t>
            </a:r>
          </a:p>
        </p:txBody>
      </p:sp>
      <p:sp>
        <p:nvSpPr>
          <p:cNvPr id="32" name="TextBox 31"/>
          <p:cNvSpPr txBox="1"/>
          <p:nvPr/>
        </p:nvSpPr>
        <p:spPr>
          <a:xfrm>
            <a:off x="3429000" y="4440986"/>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Serve both MCP eras (2026-07-28 and 2025-11-25) on one endpoint over four transports; 11 ways to make a tool; data connectors, proxied MCP servers, SAJHA Net across boundaries; 242 conformance checks passed, 0 failed.</a:t>
            </a:r>
          </a:p>
        </p:txBody>
      </p:sp>
      <p:sp>
        <p:nvSpPr>
          <p:cNvPr id="33" name="Rectangle 32"/>
          <p:cNvSpPr/>
          <p:nvPr/>
        </p:nvSpPr>
        <p:spPr>
          <a:xfrm>
            <a:off x="777240" y="5361457"/>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5361457"/>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8408" y="5434609"/>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Where is it going?</a:t>
            </a:r>
          </a:p>
        </p:txBody>
      </p:sp>
      <p:sp>
        <p:nvSpPr>
          <p:cNvPr id="36" name="TextBox 35"/>
          <p:cNvSpPr txBox="1"/>
          <p:nvPr/>
        </p:nvSpPr>
        <p:spPr>
          <a:xfrm>
            <a:off x="3429000" y="5434609"/>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Next: Per-user access to prompts and data resources; Ask SAJHA over MCP, finished; Document connectors as RAG sources; and more (Section 8, from the Roadmap).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01</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The Model Context Protocol</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MCP from nothing: what it is, why every AI application should speak it, and how a host, a client and a server divide the work.</a:t>
            </a:r>
          </a:p>
        </p:txBody>
      </p:sp>
      <p:sp>
        <p:nvSpPr>
          <p:cNvPr id="15" name="TextBox 14"/>
          <p:cNvSpPr txBox="1"/>
          <p:nvPr/>
        </p:nvSpPr>
        <p:spPr>
          <a:xfrm>
            <a:off x="1143000" y="4410964"/>
            <a:ext cx="9905695" cy="18069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What MCP is   ·   Ten principles   ·   Industry voices   ·   Primitives   ·   Host, client, server   ·   Five steps   ·   Benefits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IS MCP?</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MCP is one open standard for connecting AI applications to tools and data</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a:t>
            </a:r>
          </a:p>
        </p:txBody>
      </p:sp>
      <p:sp>
        <p:nvSpPr>
          <p:cNvPr id="17" name="Rectangle 16"/>
          <p:cNvSpPr/>
          <p:nvPr/>
        </p:nvSpPr>
        <p:spPr>
          <a:xfrm>
            <a:off x="777240" y="1611884"/>
            <a:ext cx="4893118" cy="2807431"/>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675892"/>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B7480"/>
                </a:solidFill>
                <a:latin typeface="Calibri"/>
              </a:rPr>
              <a:t>WITHOUT A SHARED PROTOCOL: N × M INTEGRATIONS</a:t>
            </a:r>
          </a:p>
        </p:txBody>
      </p:sp>
      <p:sp>
        <p:nvSpPr>
          <p:cNvPr id="19" name="Rectangle 18"/>
          <p:cNvSpPr/>
          <p:nvPr/>
        </p:nvSpPr>
        <p:spPr>
          <a:xfrm>
            <a:off x="6414964" y="1611884"/>
            <a:ext cx="4999491" cy="280743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4692" y="1675892"/>
            <a:ext cx="4780035"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WITH MCP: N + M</a:t>
            </a:r>
          </a:p>
        </p:txBody>
      </p:sp>
      <p:sp>
        <p:nvSpPr>
          <p:cNvPr id="21" name="Rounded Rectangle 20"/>
          <p:cNvSpPr/>
          <p:nvPr/>
        </p:nvSpPr>
        <p:spPr>
          <a:xfrm>
            <a:off x="1096356" y="2130648"/>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Chat app</a:t>
            </a:r>
          </a:p>
        </p:txBody>
      </p:sp>
      <p:sp>
        <p:nvSpPr>
          <p:cNvPr id="22" name="Rounded Rectangle 21"/>
          <p:cNvSpPr/>
          <p:nvPr/>
        </p:nvSpPr>
        <p:spPr>
          <a:xfrm>
            <a:off x="1096356" y="2893537"/>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IDE</a:t>
            </a:r>
          </a:p>
        </p:txBody>
      </p:sp>
      <p:sp>
        <p:nvSpPr>
          <p:cNvPr id="23" name="Rounded Rectangle 22"/>
          <p:cNvSpPr/>
          <p:nvPr/>
        </p:nvSpPr>
        <p:spPr>
          <a:xfrm>
            <a:off x="1096356" y="3656426"/>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Agent</a:t>
            </a:r>
          </a:p>
        </p:txBody>
      </p:sp>
      <p:sp>
        <p:nvSpPr>
          <p:cNvPr id="24" name="Rounded Rectangle 23"/>
          <p:cNvSpPr/>
          <p:nvPr/>
        </p:nvSpPr>
        <p:spPr>
          <a:xfrm>
            <a:off x="4074776" y="1978070"/>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Database</a:t>
            </a:r>
          </a:p>
        </p:txBody>
      </p:sp>
      <p:sp>
        <p:nvSpPr>
          <p:cNvPr id="25" name="Rounded Rectangle 24"/>
          <p:cNvSpPr/>
          <p:nvPr/>
        </p:nvSpPr>
        <p:spPr>
          <a:xfrm>
            <a:off x="4074776" y="2588381"/>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Search</a:t>
            </a:r>
          </a:p>
        </p:txBody>
      </p:sp>
      <p:sp>
        <p:nvSpPr>
          <p:cNvPr id="26" name="Rounded Rectangle 25"/>
          <p:cNvSpPr/>
          <p:nvPr/>
        </p:nvSpPr>
        <p:spPr>
          <a:xfrm>
            <a:off x="4074776" y="3198693"/>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CRM</a:t>
            </a:r>
          </a:p>
        </p:txBody>
      </p:sp>
      <p:sp>
        <p:nvSpPr>
          <p:cNvPr id="27" name="Rounded Rectangle 26"/>
          <p:cNvSpPr/>
          <p:nvPr/>
        </p:nvSpPr>
        <p:spPr>
          <a:xfrm>
            <a:off x="4074776" y="3809004"/>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Files</a:t>
            </a:r>
          </a:p>
        </p:txBody>
      </p:sp>
      <p:sp>
        <p:nvSpPr>
          <p:cNvPr id="28" name="Rounded Rectangle 27"/>
          <p:cNvSpPr/>
          <p:nvPr/>
        </p:nvSpPr>
        <p:spPr>
          <a:xfrm>
            <a:off x="6734080" y="2130648"/>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Chat app</a:t>
            </a:r>
          </a:p>
        </p:txBody>
      </p:sp>
      <p:sp>
        <p:nvSpPr>
          <p:cNvPr id="29" name="Rounded Rectangle 28"/>
          <p:cNvSpPr/>
          <p:nvPr/>
        </p:nvSpPr>
        <p:spPr>
          <a:xfrm>
            <a:off x="6734080" y="2893537"/>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IDE</a:t>
            </a:r>
          </a:p>
        </p:txBody>
      </p:sp>
      <p:sp>
        <p:nvSpPr>
          <p:cNvPr id="30" name="Rounded Rectangle 29"/>
          <p:cNvSpPr/>
          <p:nvPr/>
        </p:nvSpPr>
        <p:spPr>
          <a:xfrm>
            <a:off x="6734080" y="3656426"/>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Agent</a:t>
            </a:r>
          </a:p>
        </p:txBody>
      </p:sp>
      <p:sp>
        <p:nvSpPr>
          <p:cNvPr id="31" name="Rounded Rectangle 30"/>
          <p:cNvSpPr/>
          <p:nvPr/>
        </p:nvSpPr>
        <p:spPr>
          <a:xfrm>
            <a:off x="10031617" y="1978070"/>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Database</a:t>
            </a:r>
          </a:p>
        </p:txBody>
      </p:sp>
      <p:sp>
        <p:nvSpPr>
          <p:cNvPr id="32" name="Rounded Rectangle 31"/>
          <p:cNvSpPr/>
          <p:nvPr/>
        </p:nvSpPr>
        <p:spPr>
          <a:xfrm>
            <a:off x="10031617" y="2588381"/>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Search</a:t>
            </a:r>
          </a:p>
        </p:txBody>
      </p:sp>
      <p:sp>
        <p:nvSpPr>
          <p:cNvPr id="33" name="Rounded Rectangle 32"/>
          <p:cNvSpPr/>
          <p:nvPr/>
        </p:nvSpPr>
        <p:spPr>
          <a:xfrm>
            <a:off x="10031617" y="3198693"/>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CRM</a:t>
            </a:r>
          </a:p>
        </p:txBody>
      </p:sp>
      <p:sp>
        <p:nvSpPr>
          <p:cNvPr id="34" name="Rounded Rectangle 33"/>
          <p:cNvSpPr/>
          <p:nvPr/>
        </p:nvSpPr>
        <p:spPr>
          <a:xfrm>
            <a:off x="10031617" y="3809004"/>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Files</a:t>
            </a:r>
          </a:p>
        </p:txBody>
      </p:sp>
      <p:sp>
        <p:nvSpPr>
          <p:cNvPr id="35" name="Oval 34"/>
          <p:cNvSpPr/>
          <p:nvPr/>
        </p:nvSpPr>
        <p:spPr>
          <a:xfrm>
            <a:off x="8382848" y="2618897"/>
            <a:ext cx="1170093" cy="976497"/>
          </a:xfrm>
          <a:prstGeom prst="ellips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MCP</a:t>
            </a:r>
          </a:p>
          <a:p>
            <a:pPr algn="ctr">
              <a:lnSpc>
                <a:spcPct val="105000"/>
              </a:lnSpc>
              <a:spcBef>
                <a:spcPts val="0"/>
              </a:spcBef>
              <a:spcAft>
                <a:spcPts val="0"/>
              </a:spcAft>
            </a:pPr>
            <a:r>
              <a:rPr sz="1550" b="0" i="0">
                <a:solidFill>
                  <a:srgbClr val="FFFFFF"/>
                </a:solidFill>
                <a:latin typeface="Calibri"/>
              </a:rPr>
              <a:t>one protocol</a:t>
            </a:r>
          </a:p>
        </p:txBody>
      </p:sp>
      <p:cxnSp>
        <p:nvCxnSpPr>
          <p:cNvPr id="36" name="Connector 35"/>
          <p:cNvCxnSpPr/>
          <p:nvPr/>
        </p:nvCxnSpPr>
        <p:spPr>
          <a:xfrm flipV="1">
            <a:off x="2400210" y="2213929"/>
            <a:ext cx="1647178" cy="92820"/>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399956" y="2443104"/>
            <a:ext cx="1647686" cy="244781"/>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364770" y="2567008"/>
            <a:ext cx="1761224" cy="622543"/>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141089" y="2571240"/>
            <a:ext cx="2192745" cy="1224390"/>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2399005" y="2382955"/>
            <a:ext cx="1653075" cy="516568"/>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2400096" y="2858327"/>
            <a:ext cx="1647406" cy="177225"/>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400125" y="3171924"/>
            <a:ext cx="1647348" cy="160341"/>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399081" y="3307984"/>
            <a:ext cx="1649436" cy="498532"/>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2134092" y="2388332"/>
            <a:ext cx="2206247" cy="1254534"/>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347663" y="2994460"/>
            <a:ext cx="1794222" cy="652589"/>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2399914" y="3502701"/>
            <a:ext cx="1647770" cy="261676"/>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400225" y="3900724"/>
            <a:ext cx="1647148" cy="75942"/>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60324" y="2577587"/>
            <a:ext cx="558686" cy="267123"/>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56266" y="3107146"/>
            <a:ext cx="280862" cy="0"/>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7860324" y="3369582"/>
            <a:ext cx="558686" cy="267122"/>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9497355" y="2396709"/>
            <a:ext cx="769669" cy="420898"/>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9583532" y="2915346"/>
            <a:ext cx="403154" cy="75899"/>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9586195" y="3212462"/>
            <a:ext cx="400351" cy="68193"/>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502467" y="3389895"/>
            <a:ext cx="751961" cy="397732"/>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777240" y="4828032"/>
            <a:ext cx="10637215" cy="1417320"/>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Calibri"/>
              </a:rPr>
              <a:t>▪  </a:t>
            </a:r>
            <a:r>
              <a:rPr sz="1300" b="1">
                <a:solidFill>
                  <a:srgbClr val="1A1A1A"/>
                </a:solidFill>
                <a:latin typeface="Calibri"/>
              </a:rPr>
              <a:t>An open standard, neutrally governed</a:t>
            </a:r>
          </a:p>
          <a:p>
            <a:pPr lvl="1">
              <a:lnSpc>
                <a:spcPct val="120000"/>
              </a:lnSpc>
              <a:spcBef>
                <a:spcPts val="0"/>
              </a:spcBef>
              <a:spcAft>
                <a:spcPts val="0"/>
              </a:spcAft>
            </a:pPr>
            <a:r>
              <a:rPr sz="1150" b="0">
                <a:solidFill>
                  <a:srgbClr val="6B7480"/>
                </a:solidFill>
                <a:latin typeface="Calibri"/>
              </a:rPr>
              <a:t>Introduced by Anthropic in November 2024; in December 2025 donated to the Agentic AI Foundation under the Linux Foundation.</a:t>
            </a:r>
          </a:p>
          <a:p>
            <a:pPr>
              <a:lnSpc>
                <a:spcPct val="120000"/>
              </a:lnSpc>
              <a:spcBef>
                <a:spcPts val="500"/>
              </a:spcBef>
              <a:spcAft>
                <a:spcPts val="100"/>
              </a:spcAft>
            </a:pPr>
            <a:r>
              <a:rPr sz="1300" b="1">
                <a:solidFill>
                  <a:srgbClr val="A51C30"/>
                </a:solidFill>
                <a:latin typeface="Calibri"/>
              </a:rPr>
              <a:t>▪  </a:t>
            </a:r>
            <a:r>
              <a:rPr sz="1300" b="1">
                <a:solidFill>
                  <a:srgbClr val="1A1A1A"/>
                </a:solidFill>
                <a:latin typeface="Calibri"/>
              </a:rPr>
              <a:t>JSON-RPC 2.0 over a transport</a:t>
            </a:r>
          </a:p>
          <a:p>
            <a:pPr lvl="1">
              <a:lnSpc>
                <a:spcPct val="120000"/>
              </a:lnSpc>
              <a:spcBef>
                <a:spcPts val="0"/>
              </a:spcBef>
              <a:spcAft>
                <a:spcPts val="0"/>
              </a:spcAft>
            </a:pPr>
            <a:r>
              <a:rPr sz="1150" b="0">
                <a:solidFill>
                  <a:srgbClr val="6B7480"/>
                </a:solidFill>
                <a:latin typeface="Calibri"/>
              </a:rPr>
              <a:t>An application lists a server's tools, calls one, and reads its resources and prompts as JSON messages.</a:t>
            </a:r>
          </a:p>
          <a:p>
            <a:pPr>
              <a:lnSpc>
                <a:spcPct val="120000"/>
              </a:lnSpc>
              <a:spcBef>
                <a:spcPts val="500"/>
              </a:spcBef>
              <a:spcAft>
                <a:spcPts val="100"/>
              </a:spcAft>
            </a:pPr>
            <a:r>
              <a:rPr sz="1300" b="1">
                <a:solidFill>
                  <a:srgbClr val="A51C30"/>
                </a:solidFill>
                <a:latin typeface="Calibri"/>
              </a:rPr>
              <a:t>▪  </a:t>
            </a:r>
            <a:r>
              <a:rPr sz="1300" b="1">
                <a:solidFill>
                  <a:srgbClr val="1A1A1A"/>
                </a:solidFill>
                <a:latin typeface="Calibri"/>
              </a:rPr>
              <a:t>Two eras in use today</a:t>
            </a:r>
          </a:p>
          <a:p>
            <a:pPr lvl="1">
              <a:lnSpc>
                <a:spcPct val="120000"/>
              </a:lnSpc>
              <a:spcBef>
                <a:spcPts val="0"/>
              </a:spcBef>
              <a:spcAft>
                <a:spcPts val="0"/>
              </a:spcAft>
            </a:pPr>
            <a:r>
              <a:rPr sz="1150" b="0">
                <a:solidFill>
                  <a:srgbClr val="6B7480"/>
                </a:solidFill>
                <a:latin typeface="Calibri"/>
              </a:rPr>
              <a:t>Session-based revisions up to 2025-11-25, and the stateless 2026-07-28 revision (Section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IT MATTERS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Ten principles: why every AI application should use MCP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a:t>
            </a:r>
          </a:p>
        </p:txBody>
      </p:sp>
      <p:sp>
        <p:nvSpPr>
          <p:cNvPr id="17" name="Oval 16"/>
          <p:cNvSpPr/>
          <p:nvPr/>
        </p:nvSpPr>
        <p:spPr>
          <a:xfrm>
            <a:off x="777240"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a:t>
            </a:r>
          </a:p>
        </p:txBody>
      </p:sp>
      <p:sp>
        <p:nvSpPr>
          <p:cNvPr id="18" name="TextBox 17"/>
          <p:cNvSpPr txBox="1"/>
          <p:nvPr/>
        </p:nvSpPr>
        <p:spPr>
          <a:xfrm>
            <a:off x="1325880" y="1386967"/>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800" b="1" i="0">
                <a:solidFill>
                  <a:srgbClr val="1A1A1A"/>
                </a:solidFill>
                <a:latin typeface="Calibri"/>
              </a:rPr>
              <a:t>Eliminate integration sprawl</a:t>
            </a:r>
          </a:p>
          <a:p>
            <a:pPr>
              <a:lnSpc>
                <a:spcPct val="115000"/>
              </a:lnSpc>
              <a:spcBef>
                <a:spcPts val="0"/>
              </a:spcBef>
              <a:spcAft>
                <a:spcPts val="0"/>
              </a:spcAft>
            </a:pPr>
            <a:r>
              <a:rPr sz="1600" b="0" i="0">
                <a:solidFill>
                  <a:srgbClr val="6B7480"/>
                </a:solidFill>
                <a:latin typeface="Calibri"/>
              </a:rPr>
              <a:t>N tools × M applications need N × M connectors; with MCP, N + M.</a:t>
            </a:r>
          </a:p>
        </p:txBody>
      </p:sp>
      <p:sp>
        <p:nvSpPr>
          <p:cNvPr id="19" name="Oval 18"/>
          <p:cNvSpPr/>
          <p:nvPr/>
        </p:nvSpPr>
        <p:spPr>
          <a:xfrm>
            <a:off x="777240" y="2395220"/>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2</a:t>
            </a:r>
          </a:p>
        </p:txBody>
      </p:sp>
      <p:sp>
        <p:nvSpPr>
          <p:cNvPr id="20" name="TextBox 19"/>
          <p:cNvSpPr txBox="1"/>
          <p:nvPr/>
        </p:nvSpPr>
        <p:spPr>
          <a:xfrm>
            <a:off x="1325880" y="2358644"/>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00" b="1" i="0">
                <a:solidFill>
                  <a:srgbClr val="1A1A1A"/>
                </a:solidFill>
                <a:latin typeface="Calibri"/>
              </a:rPr>
              <a:t>Reduce AI development cost</a:t>
            </a:r>
          </a:p>
          <a:p>
            <a:pPr>
              <a:lnSpc>
                <a:spcPct val="115000"/>
              </a:lnSpc>
              <a:spcBef>
                <a:spcPts val="0"/>
              </a:spcBef>
              <a:spcAft>
                <a:spcPts val="0"/>
              </a:spcAft>
            </a:pPr>
            <a:r>
              <a:rPr sz="1300" b="0" i="0">
                <a:solidFill>
                  <a:srgbClr val="6B7480"/>
                </a:solidFill>
                <a:latin typeface="Calibri"/>
              </a:rPr>
              <a:t>Build an integration once and reuse it everywhere; over 10,000 public servers already exist.</a:t>
            </a:r>
          </a:p>
        </p:txBody>
      </p:sp>
      <p:sp>
        <p:nvSpPr>
          <p:cNvPr id="21" name="Oval 20"/>
          <p:cNvSpPr/>
          <p:nvPr/>
        </p:nvSpPr>
        <p:spPr>
          <a:xfrm>
            <a:off x="777240" y="33668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3</a:t>
            </a:r>
          </a:p>
        </p:txBody>
      </p:sp>
      <p:sp>
        <p:nvSpPr>
          <p:cNvPr id="22" name="TextBox 21"/>
          <p:cNvSpPr txBox="1"/>
          <p:nvPr/>
        </p:nvSpPr>
        <p:spPr>
          <a:xfrm>
            <a:off x="1325880" y="3330321"/>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Separate the concerns</a:t>
            </a:r>
          </a:p>
          <a:p>
            <a:pPr>
              <a:lnSpc>
                <a:spcPct val="115000"/>
              </a:lnSpc>
              <a:spcBef>
                <a:spcPts val="0"/>
              </a:spcBef>
              <a:spcAft>
                <a:spcPts val="0"/>
              </a:spcAft>
            </a:pPr>
            <a:r>
              <a:rPr sz="1350" b="0" i="0">
                <a:solidFill>
                  <a:srgbClr val="6B7480"/>
                </a:solidFill>
                <a:latin typeface="Calibri"/>
              </a:rPr>
              <a:t>Tool developers and AI developers release independently; the tool's schema is the contract.</a:t>
            </a:r>
          </a:p>
        </p:txBody>
      </p:sp>
      <p:sp>
        <p:nvSpPr>
          <p:cNvPr id="23" name="Oval 22"/>
          <p:cNvSpPr/>
          <p:nvPr/>
        </p:nvSpPr>
        <p:spPr>
          <a:xfrm>
            <a:off x="777240" y="433857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4</a:t>
            </a:r>
          </a:p>
        </p:txBody>
      </p:sp>
      <p:sp>
        <p:nvSpPr>
          <p:cNvPr id="24" name="TextBox 23"/>
          <p:cNvSpPr txBox="1"/>
          <p:nvPr/>
        </p:nvSpPr>
        <p:spPr>
          <a:xfrm>
            <a:off x="1325880" y="4301998"/>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Future-proof the stack</a:t>
            </a:r>
          </a:p>
          <a:p>
            <a:pPr>
              <a:lnSpc>
                <a:spcPct val="115000"/>
              </a:lnSpc>
              <a:spcBef>
                <a:spcPts val="0"/>
              </a:spcBef>
              <a:spcAft>
                <a:spcPts val="0"/>
              </a:spcAft>
            </a:pPr>
            <a:r>
              <a:rPr sz="1350" b="0" i="0">
                <a:solidFill>
                  <a:srgbClr val="6B7480"/>
                </a:solidFill>
                <a:latin typeface="Calibri"/>
              </a:rPr>
              <a:t>An open standard under the Linux Foundation, used in products from OpenAI, Google and Microsoft.</a:t>
            </a:r>
          </a:p>
        </p:txBody>
      </p:sp>
      <p:sp>
        <p:nvSpPr>
          <p:cNvPr id="25" name="Oval 24"/>
          <p:cNvSpPr/>
          <p:nvPr/>
        </p:nvSpPr>
        <p:spPr>
          <a:xfrm>
            <a:off x="777240" y="5310251"/>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5</a:t>
            </a:r>
          </a:p>
        </p:txBody>
      </p:sp>
      <p:sp>
        <p:nvSpPr>
          <p:cNvPr id="26" name="TextBox 25"/>
          <p:cNvSpPr txBox="1"/>
          <p:nvPr/>
        </p:nvSpPr>
        <p:spPr>
          <a:xfrm>
            <a:off x="1325880" y="5273675"/>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600" b="1" i="0">
                <a:solidFill>
                  <a:srgbClr val="1A1A1A"/>
                </a:solidFill>
                <a:latin typeface="Calibri"/>
              </a:rPr>
              <a:t>Enable agentic workflows</a:t>
            </a:r>
          </a:p>
          <a:p>
            <a:pPr>
              <a:lnSpc>
                <a:spcPct val="115000"/>
              </a:lnSpc>
              <a:spcBef>
                <a:spcPts val="0"/>
              </a:spcBef>
              <a:spcAft>
                <a:spcPts val="0"/>
              </a:spcAft>
            </a:pPr>
            <a:r>
              <a:rPr sz="1400" b="0" i="0">
                <a:solidFill>
                  <a:srgbClr val="6B7480"/>
                </a:solidFill>
                <a:latin typeface="Calibri"/>
              </a:rPr>
              <a:t>Agents discover and call tools at run time, through one standard for discovery and results.</a:t>
            </a:r>
          </a:p>
        </p:txBody>
      </p:sp>
      <p:sp>
        <p:nvSpPr>
          <p:cNvPr id="27" name="Oval 26"/>
          <p:cNvSpPr/>
          <p:nvPr/>
        </p:nvSpPr>
        <p:spPr>
          <a:xfrm>
            <a:off x="6278727"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6</a:t>
            </a:r>
          </a:p>
        </p:txBody>
      </p:sp>
      <p:sp>
        <p:nvSpPr>
          <p:cNvPr id="28" name="TextBox 27"/>
          <p:cNvSpPr txBox="1"/>
          <p:nvPr/>
        </p:nvSpPr>
        <p:spPr>
          <a:xfrm>
            <a:off x="6827367" y="1386967"/>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Govern at one point</a:t>
            </a:r>
          </a:p>
          <a:p>
            <a:pPr>
              <a:lnSpc>
                <a:spcPct val="115000"/>
              </a:lnSpc>
              <a:spcBef>
                <a:spcPts val="0"/>
              </a:spcBef>
              <a:spcAft>
                <a:spcPts val="0"/>
              </a:spcAft>
            </a:pPr>
            <a:r>
              <a:rPr sz="1350" b="0" i="0">
                <a:solidFill>
                  <a:srgbClr val="6B7480"/>
                </a:solidFill>
                <a:latin typeface="Calibri"/>
              </a:rPr>
              <a:t>Remote servers authorize with OAuth 2.1; a server can enforce per-tool access and argument schemas.</a:t>
            </a:r>
          </a:p>
        </p:txBody>
      </p:sp>
      <p:sp>
        <p:nvSpPr>
          <p:cNvPr id="29" name="Oval 28"/>
          <p:cNvSpPr/>
          <p:nvPr/>
        </p:nvSpPr>
        <p:spPr>
          <a:xfrm>
            <a:off x="6278727" y="2395220"/>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7</a:t>
            </a:r>
          </a:p>
        </p:txBody>
      </p:sp>
      <p:sp>
        <p:nvSpPr>
          <p:cNvPr id="30" name="TextBox 29"/>
          <p:cNvSpPr txBox="1"/>
          <p:nvPr/>
        </p:nvSpPr>
        <p:spPr>
          <a:xfrm>
            <a:off x="6827367" y="2358644"/>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700" b="1" i="0">
                <a:solidFill>
                  <a:srgbClr val="1A1A1A"/>
                </a:solidFill>
                <a:latin typeface="Calibri"/>
              </a:rPr>
              <a:t>Accelerate time to value</a:t>
            </a:r>
          </a:p>
          <a:p>
            <a:pPr>
              <a:lnSpc>
                <a:spcPct val="115000"/>
              </a:lnSpc>
              <a:spcBef>
                <a:spcPts val="0"/>
              </a:spcBef>
              <a:spcAft>
                <a:spcPts val="0"/>
              </a:spcAft>
            </a:pPr>
            <a:r>
              <a:rPr sz="1500" b="0" i="0">
                <a:solidFill>
                  <a:srgbClr val="6B7480"/>
                </a:solidFill>
                <a:latin typeface="Calibri"/>
              </a:rPr>
              <a:t>Connect to servers for databases, APIs and SaaS instead of writing custom integrations.</a:t>
            </a:r>
          </a:p>
        </p:txBody>
      </p:sp>
      <p:sp>
        <p:nvSpPr>
          <p:cNvPr id="31" name="Oval 30"/>
          <p:cNvSpPr/>
          <p:nvPr/>
        </p:nvSpPr>
        <p:spPr>
          <a:xfrm>
            <a:off x="6278727" y="33668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8</a:t>
            </a:r>
          </a:p>
        </p:txBody>
      </p:sp>
      <p:sp>
        <p:nvSpPr>
          <p:cNvPr id="32" name="TextBox 31"/>
          <p:cNvSpPr txBox="1"/>
          <p:nvPr/>
        </p:nvSpPr>
        <p:spPr>
          <a:xfrm>
            <a:off x="6827367" y="3330321"/>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600" b="1" i="0">
                <a:solidFill>
                  <a:srgbClr val="1A1A1A"/>
                </a:solidFill>
                <a:latin typeface="Calibri"/>
              </a:rPr>
              <a:t>Stay vendor-neutral</a:t>
            </a:r>
          </a:p>
          <a:p>
            <a:pPr>
              <a:lnSpc>
                <a:spcPct val="115000"/>
              </a:lnSpc>
              <a:spcBef>
                <a:spcPts val="0"/>
              </a:spcBef>
              <a:spcAft>
                <a:spcPts val="0"/>
              </a:spcAft>
            </a:pPr>
            <a:r>
              <a:rPr sz="1400" b="0" i="0">
                <a:solidFill>
                  <a:srgbClr val="6B7480"/>
                </a:solidFill>
                <a:latin typeface="Calibri"/>
              </a:rPr>
              <a:t>The same servers work with any model or client; change the model and the integrations survive.</a:t>
            </a:r>
          </a:p>
        </p:txBody>
      </p:sp>
      <p:sp>
        <p:nvSpPr>
          <p:cNvPr id="33" name="Oval 32"/>
          <p:cNvSpPr/>
          <p:nvPr/>
        </p:nvSpPr>
        <p:spPr>
          <a:xfrm>
            <a:off x="6278727" y="433857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9</a:t>
            </a:r>
          </a:p>
        </p:txBody>
      </p:sp>
      <p:sp>
        <p:nvSpPr>
          <p:cNvPr id="34" name="TextBox 33"/>
          <p:cNvSpPr txBox="1"/>
          <p:nvPr/>
        </p:nvSpPr>
        <p:spPr>
          <a:xfrm>
            <a:off x="6827367" y="4301998"/>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Observe and audit</a:t>
            </a:r>
          </a:p>
          <a:p>
            <a:pPr>
              <a:lnSpc>
                <a:spcPct val="115000"/>
              </a:lnSpc>
              <a:spcBef>
                <a:spcPts val="0"/>
              </a:spcBef>
              <a:spcAft>
                <a:spcPts val="0"/>
              </a:spcAft>
            </a:pPr>
            <a:r>
              <a:rPr sz="1350" b="0" i="0">
                <a:solidFill>
                  <a:srgbClr val="6B7480"/>
                </a:solidFill>
                <a:latin typeface="Calibri"/>
              </a:rPr>
              <a:t>Every call is a structured message, so a server can record who called what, with which arguments.</a:t>
            </a:r>
          </a:p>
        </p:txBody>
      </p:sp>
      <p:sp>
        <p:nvSpPr>
          <p:cNvPr id="35" name="Oval 34"/>
          <p:cNvSpPr/>
          <p:nvPr/>
        </p:nvSpPr>
        <p:spPr>
          <a:xfrm>
            <a:off x="6278727" y="5310251"/>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10</a:t>
            </a:r>
          </a:p>
        </p:txBody>
      </p:sp>
      <p:sp>
        <p:nvSpPr>
          <p:cNvPr id="36" name="TextBox 35"/>
          <p:cNvSpPr txBox="1"/>
          <p:nvPr/>
        </p:nvSpPr>
        <p:spPr>
          <a:xfrm>
            <a:off x="6827367" y="5273675"/>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Democratise integration</a:t>
            </a:r>
          </a:p>
          <a:p>
            <a:pPr>
              <a:lnSpc>
                <a:spcPct val="115000"/>
              </a:lnSpc>
              <a:spcBef>
                <a:spcPts val="0"/>
              </a:spcBef>
              <a:spcAft>
                <a:spcPts val="0"/>
              </a:spcAft>
            </a:pPr>
            <a:r>
              <a:rPr sz="1350" b="0" i="0">
                <a:solidFill>
                  <a:srgbClr val="6B7480"/>
                </a:solidFill>
                <a:latin typeface="Calibri"/>
              </a:rPr>
              <a:t>No-code creators let analysts publish their expertise as tools without waiting for engineers.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INDUSTRY VOICES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Industry voices on MCP, each traced to its source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quotation was checked against the cited page; one the earlier deck carried could not be traced to a primary source and was left out.</a:t>
            </a:r>
          </a:p>
        </p:txBody>
      </p:sp>
      <p:sp>
        <p:nvSpPr>
          <p:cNvPr id="19" name="Rectangle 18"/>
          <p:cNvSpPr/>
          <p:nvPr/>
        </p:nvSpPr>
        <p:spPr>
          <a:xfrm>
            <a:off x="777240" y="1386967"/>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386967"/>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1533271"/>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“People love MCP and we are excited to add support across our products.”</a:t>
            </a:r>
          </a:p>
        </p:txBody>
      </p:sp>
      <p:sp>
        <p:nvSpPr>
          <p:cNvPr id="22" name="TextBox 21"/>
          <p:cNvSpPr txBox="1"/>
          <p:nvPr/>
        </p:nvSpPr>
        <p:spPr>
          <a:xfrm>
            <a:off x="1051560" y="2846895"/>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Sam Altman, CEO, OpenAI</a:t>
            </a:r>
          </a:p>
          <a:p>
            <a:pPr>
              <a:lnSpc>
                <a:spcPct val="120000"/>
              </a:lnSpc>
              <a:spcBef>
                <a:spcPts val="0"/>
              </a:spcBef>
              <a:spcAft>
                <a:spcPts val="0"/>
              </a:spcAft>
            </a:pPr>
            <a:r>
              <a:rPr sz="1050" b="0" i="0">
                <a:solidFill>
                  <a:srgbClr val="6B7480"/>
                </a:solidFill>
                <a:latin typeface="Calibri"/>
              </a:rPr>
              <a:t>On X, 26 March 2025, as reported by TechCrunch</a:t>
            </a:r>
          </a:p>
        </p:txBody>
      </p:sp>
      <p:sp>
        <p:nvSpPr>
          <p:cNvPr id="23" name="Rectangle 22"/>
          <p:cNvSpPr/>
          <p:nvPr/>
        </p:nvSpPr>
        <p:spPr>
          <a:xfrm>
            <a:off x="6178143" y="1386967"/>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8143" y="1386967"/>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2463" y="1533271"/>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“MCP is a good protocol and it's rapidly becoming an open standard for the AI agentic era.”</a:t>
            </a:r>
          </a:p>
        </p:txBody>
      </p:sp>
      <p:sp>
        <p:nvSpPr>
          <p:cNvPr id="26" name="TextBox 25"/>
          <p:cNvSpPr txBox="1"/>
          <p:nvPr/>
        </p:nvSpPr>
        <p:spPr>
          <a:xfrm>
            <a:off x="6452463" y="2846895"/>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Demis Hassabis, CEO, Google DeepMind</a:t>
            </a:r>
          </a:p>
          <a:p>
            <a:pPr>
              <a:lnSpc>
                <a:spcPct val="120000"/>
              </a:lnSpc>
              <a:spcBef>
                <a:spcPts val="0"/>
              </a:spcBef>
              <a:spcAft>
                <a:spcPts val="0"/>
              </a:spcAft>
            </a:pPr>
            <a:r>
              <a:rPr sz="1050" b="0" i="0">
                <a:solidFill>
                  <a:srgbClr val="6B7480"/>
                </a:solidFill>
                <a:latin typeface="Calibri"/>
              </a:rPr>
              <a:t>On X, 9 April 2025, as reported by TechCrunch</a:t>
            </a:r>
          </a:p>
        </p:txBody>
      </p:sp>
      <p:sp>
        <p:nvSpPr>
          <p:cNvPr id="27" name="Rectangle 26"/>
          <p:cNvSpPr/>
          <p:nvPr/>
        </p:nvSpPr>
        <p:spPr>
          <a:xfrm>
            <a:off x="777240" y="3614991"/>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614991"/>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3761295"/>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“The solution is a deceptively simple idea with outsized implications: the Model Context Protocol (MCP).”</a:t>
            </a:r>
          </a:p>
        </p:txBody>
      </p:sp>
      <p:sp>
        <p:nvSpPr>
          <p:cNvPr id="30" name="TextBox 29"/>
          <p:cNvSpPr txBox="1"/>
          <p:nvPr/>
        </p:nvSpPr>
        <p:spPr>
          <a:xfrm>
            <a:off x="1051560" y="5074920"/>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Boston Consulting Group</a:t>
            </a:r>
          </a:p>
          <a:p>
            <a:pPr>
              <a:lnSpc>
                <a:spcPct val="120000"/>
              </a:lnSpc>
              <a:spcBef>
                <a:spcPts val="0"/>
              </a:spcBef>
              <a:spcAft>
                <a:spcPts val="0"/>
              </a:spcAft>
            </a:pPr>
            <a:r>
              <a:rPr sz="1050" b="0" i="0">
                <a:solidFill>
                  <a:srgbClr val="6B7480"/>
                </a:solidFill>
                <a:latin typeface="Calibri"/>
              </a:rPr>
              <a:t>Put AI Agents to Work Faster Using MCP, 1 August 2025</a:t>
            </a:r>
          </a:p>
        </p:txBody>
      </p:sp>
      <p:sp>
        <p:nvSpPr>
          <p:cNvPr id="31" name="Rectangle 30"/>
          <p:cNvSpPr/>
          <p:nvPr/>
        </p:nvSpPr>
        <p:spPr>
          <a:xfrm>
            <a:off x="6178143" y="3614991"/>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78143" y="3614991"/>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52463" y="3761295"/>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“There are now more than 10,000 active public MCP servers, covering everything from developer tools to Fortune 500 deployments.”</a:t>
            </a:r>
          </a:p>
        </p:txBody>
      </p:sp>
      <p:sp>
        <p:nvSpPr>
          <p:cNvPr id="34" name="TextBox 33"/>
          <p:cNvSpPr txBox="1"/>
          <p:nvPr/>
        </p:nvSpPr>
        <p:spPr>
          <a:xfrm>
            <a:off x="6452463" y="5074920"/>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150" b="1" i="0">
                <a:solidFill>
                  <a:srgbClr val="6E1120"/>
                </a:solidFill>
                <a:latin typeface="Calibri"/>
              </a:rPr>
              <a:t>— Anthropic</a:t>
            </a:r>
          </a:p>
          <a:p>
            <a:pPr>
              <a:lnSpc>
                <a:spcPct val="120000"/>
              </a:lnSpc>
              <a:spcBef>
                <a:spcPts val="0"/>
              </a:spcBef>
              <a:spcAft>
                <a:spcPts val="0"/>
              </a:spcAft>
            </a:pPr>
            <a:r>
              <a:rPr sz="1000" b="0" i="0">
                <a:solidFill>
                  <a:srgbClr val="6B7480"/>
                </a:solidFill>
                <a:latin typeface="Calibri"/>
              </a:rPr>
              <a:t>Donating MCP and establishing the Agentic AI Foundation, 9 December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CORE PRIMITIVES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Three primitives: tools act, resources inform, prompts guide</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Tools are the action layer, resources the data layer, prompts the guidance layer; all three are described with JSON Schema, so a model can discover them.</a:t>
            </a:r>
          </a:p>
        </p:txBody>
      </p:sp>
      <p:graphicFrame>
        <p:nvGraphicFramePr>
          <p:cNvPr id="19" name="Table 18"/>
          <p:cNvGraphicFramePr>
            <a:graphicFrameLocks noGrp="1"/>
          </p:cNvGraphicFramePr>
          <p:nvPr/>
        </p:nvGraphicFramePr>
        <p:xfrm>
          <a:off x="777240" y="1354836"/>
          <a:ext cx="10637214" cy="4235670"/>
        </p:xfrm>
        <a:graphic>
          <a:graphicData uri="http://schemas.openxmlformats.org/drawingml/2006/table">
            <a:tbl>
              <a:tblPr firstRow="1">
                <a:tableStyleId>{5C22544A-7EE6-4342-B048-85BDC9FD1C3A}</a:tableStyleId>
              </a:tblPr>
              <a:tblGrid>
                <a:gridCol w="1467202"/>
                <a:gridCol w="3668005"/>
                <a:gridCol w="1834002"/>
                <a:gridCol w="3668005"/>
              </a:tblGrid>
              <a:tr h="350710">
                <a:tc>
                  <a:txBody>
                    <a:bodyPr wrap="square"/>
                    <a:lstStyle/>
                    <a:p>
                      <a:r>
                        <a:rPr sz="1500" b="1">
                          <a:solidFill>
                            <a:srgbClr val="FFFFFF"/>
                          </a:solidFill>
                          <a:latin typeface="Calibri"/>
                        </a:rPr>
                        <a:t>Primitive</a:t>
                      </a:r>
                    </a:p>
                  </a:txBody>
                  <a:tcPr marL="82296" marR="64008" marT="32004" marB="32004" anchor="ctr">
                    <a:solidFill>
                      <a:srgbClr val="A51C30"/>
                    </a:solidFill>
                  </a:tcPr>
                </a:tc>
                <a:tc>
                  <a:txBody>
                    <a:bodyPr wrap="square"/>
                    <a:lstStyle/>
                    <a:p>
                      <a:r>
                        <a:rPr sz="1500" b="1">
                          <a:solidFill>
                            <a:srgbClr val="FFFFFF"/>
                          </a:solidFill>
                          <a:latin typeface="Calibri"/>
                        </a:rPr>
                        <a:t>What it is</a:t>
                      </a:r>
                    </a:p>
                  </a:txBody>
                  <a:tcPr marL="82296" marR="64008" marT="32004" marB="32004" anchor="ctr">
                    <a:solidFill>
                      <a:srgbClr val="A51C30"/>
                    </a:solidFill>
                  </a:tcPr>
                </a:tc>
                <a:tc>
                  <a:txBody>
                    <a:bodyPr wrap="square"/>
                    <a:lstStyle/>
                    <a:p>
                      <a:r>
                        <a:rPr sz="1500" b="1">
                          <a:solidFill>
                            <a:srgbClr val="FFFFFF"/>
                          </a:solidFill>
                          <a:latin typeface="Calibri"/>
                        </a:rPr>
                        <a:t>Who decides</a:t>
                      </a:r>
                    </a:p>
                  </a:txBody>
                  <a:tcPr marL="82296" marR="64008" marT="32004" marB="32004" anchor="ctr">
                    <a:solidFill>
                      <a:srgbClr val="A51C30"/>
                    </a:solidFill>
                  </a:tcPr>
                </a:tc>
                <a:tc>
                  <a:txBody>
                    <a:bodyPr wrap="square"/>
                    <a:lstStyle/>
                    <a:p>
                      <a:r>
                        <a:rPr sz="1500" b="1">
                          <a:solidFill>
                            <a:srgbClr val="FFFFFF"/>
                          </a:solidFill>
                          <a:latin typeface="Calibri"/>
                        </a:rPr>
                        <a:t>In SAJHA</a:t>
                      </a:r>
                    </a:p>
                  </a:txBody>
                  <a:tcPr marL="82296" marR="64008" marT="32004" marB="32004" anchor="ctr">
                    <a:solidFill>
                      <a:srgbClr val="A51C30"/>
                    </a:solidFill>
                  </a:tcPr>
                </a:tc>
              </a:tr>
              <a:tr h="904970">
                <a:tc>
                  <a:txBody>
                    <a:bodyPr wrap="square"/>
                    <a:lstStyle/>
                    <a:p>
                      <a:r>
                        <a:rPr sz="1650" b="1">
                          <a:solidFill>
                            <a:srgbClr val="6E1120"/>
                          </a:solidFill>
                          <a:latin typeface="Calibri"/>
                        </a:rPr>
                        <a:t>Tools</a:t>
                      </a:r>
                    </a:p>
                  </a:txBody>
                  <a:tcPr marL="82296" marR="64008" marT="32004" marB="32004" anchor="ctr">
                    <a:solidFill>
                      <a:srgbClr val="FFFFFF"/>
                    </a:solidFill>
                  </a:tcPr>
                </a:tc>
                <a:tc>
                  <a:txBody>
                    <a:bodyPr wrap="square"/>
                    <a:lstStyle/>
                    <a:p>
                      <a:r>
                        <a:rPr sz="1650" b="0">
                          <a:solidFill>
                            <a:srgbClr val="1A1A1A"/>
                          </a:solidFill>
                          <a:latin typeface="Calibri"/>
                        </a:rPr>
                        <a:t>Functions the model can invoke: search, query a database, call an API</a:t>
                      </a:r>
                    </a:p>
                  </a:txBody>
                  <a:tcPr marL="82296" marR="64008" marT="32004" marB="32004" anchor="ctr">
                    <a:solidFill>
                      <a:srgbClr val="FFFFFF"/>
                    </a:solidFill>
                  </a:tcPr>
                </a:tc>
                <a:tc>
                  <a:txBody>
                    <a:bodyPr wrap="square"/>
                    <a:lstStyle/>
                    <a:p>
                      <a:r>
                        <a:rPr sz="1650" b="0">
                          <a:solidFill>
                            <a:srgbClr val="1A1A1A"/>
                          </a:solidFill>
                          <a:latin typeface="Calibri"/>
                        </a:rPr>
                        <a:t>The model</a:t>
                      </a:r>
                    </a:p>
                  </a:txBody>
                  <a:tcPr marL="82296" marR="64008" marT="32004" marB="32004" anchor="ctr">
                    <a:solidFill>
                      <a:srgbClr val="FFFFFF"/>
                    </a:solidFill>
                  </a:tcPr>
                </a:tc>
                <a:tc>
                  <a:txBody>
                    <a:bodyPr wrap="square"/>
                    <a:lstStyle/>
                    <a:p>
                      <a:r>
                        <a:rPr sz="1650" b="0">
                          <a:solidFill>
                            <a:srgbClr val="1A1A1A"/>
                          </a:solidFill>
                          <a:latin typeface="Calibri"/>
                        </a:rPr>
                        <a:t>512 tools in 41 groups, each with a JSON Schema</a:t>
                      </a:r>
                    </a:p>
                  </a:txBody>
                  <a:tcPr marL="82296" marR="64008" marT="32004" marB="32004" anchor="ctr">
                    <a:solidFill>
                      <a:srgbClr val="FFFFFF"/>
                    </a:solidFill>
                  </a:tcPr>
                </a:tc>
              </a:tr>
              <a:tr h="1170050">
                <a:tc>
                  <a:txBody>
                    <a:bodyPr wrap="square"/>
                    <a:lstStyle/>
                    <a:p>
                      <a:r>
                        <a:rPr sz="1650" b="1">
                          <a:solidFill>
                            <a:srgbClr val="6E1120"/>
                          </a:solidFill>
                          <a:latin typeface="Calibri"/>
                        </a:rPr>
                        <a:t>Resources</a:t>
                      </a:r>
                    </a:p>
                  </a:txBody>
                  <a:tcPr marL="82296" marR="64008" marT="32004" marB="32004" anchor="ctr">
                    <a:solidFill>
                      <a:srgbClr val="F7F5F2"/>
                    </a:solidFill>
                  </a:tcPr>
                </a:tc>
                <a:tc>
                  <a:txBody>
                    <a:bodyPr wrap="square"/>
                    <a:lstStyle/>
                    <a:p>
                      <a:r>
                        <a:rPr sz="1650" b="0">
                          <a:solidFill>
                            <a:srgbClr val="1A1A1A"/>
                          </a:solidFill>
                          <a:latin typeface="Calibri"/>
                        </a:rPr>
                        <a:t>Data the server makes readable by URI: files, records, schemas</a:t>
                      </a:r>
                    </a:p>
                  </a:txBody>
                  <a:tcPr marL="82296" marR="64008" marT="32004" marB="32004" anchor="ctr">
                    <a:solidFill>
                      <a:srgbClr val="F7F5F2"/>
                    </a:solidFill>
                  </a:tcPr>
                </a:tc>
                <a:tc>
                  <a:txBody>
                    <a:bodyPr wrap="square"/>
                    <a:lstStyle/>
                    <a:p>
                      <a:r>
                        <a:rPr sz="1650" b="0">
                          <a:solidFill>
                            <a:srgbClr val="1A1A1A"/>
                          </a:solidFill>
                          <a:latin typeface="Calibri"/>
                        </a:rPr>
                        <a:t>The application</a:t>
                      </a:r>
                    </a:p>
                  </a:txBody>
                  <a:tcPr marL="82296" marR="64008" marT="32004" marB="32004" anchor="ctr">
                    <a:solidFill>
                      <a:srgbClr val="F7F5F2"/>
                    </a:solidFill>
                  </a:tcPr>
                </a:tc>
                <a:tc>
                  <a:txBody>
                    <a:bodyPr wrap="square"/>
                    <a:lstStyle/>
                    <a:p>
                      <a:r>
                        <a:rPr sz="1650" b="0">
                          <a:solidFill>
                            <a:srgbClr val="1A1A1A"/>
                          </a:solidFill>
                          <a:latin typeface="Calibri"/>
                        </a:rPr>
                        <a:t>sajha://tools/catalog, sajha://prompts/catalog, sajha://data/{filename}, tool schemas</a:t>
                      </a:r>
                    </a:p>
                  </a:txBody>
                  <a:tcPr marL="82296" marR="64008" marT="32004" marB="32004" anchor="ctr">
                    <a:solidFill>
                      <a:srgbClr val="F7F5F2"/>
                    </a:solidFill>
                  </a:tcPr>
                </a:tc>
              </a:tr>
              <a:tr h="904970">
                <a:tc>
                  <a:txBody>
                    <a:bodyPr wrap="square"/>
                    <a:lstStyle/>
                    <a:p>
                      <a:r>
                        <a:rPr sz="1650" b="1">
                          <a:solidFill>
                            <a:srgbClr val="6E1120"/>
                          </a:solidFill>
                          <a:latin typeface="Calibri"/>
                        </a:rPr>
                        <a:t>Prompts</a:t>
                      </a:r>
                    </a:p>
                  </a:txBody>
                  <a:tcPr marL="82296" marR="64008" marT="32004" marB="32004" anchor="ctr">
                    <a:solidFill>
                      <a:srgbClr val="FFFFFF"/>
                    </a:solidFill>
                  </a:tcPr>
                </a:tc>
                <a:tc>
                  <a:txBody>
                    <a:bodyPr wrap="square"/>
                    <a:lstStyle/>
                    <a:p>
                      <a:r>
                        <a:rPr sz="1650" b="0">
                          <a:solidFill>
                            <a:srgbClr val="1A1A1A"/>
                          </a:solidFill>
                          <a:latin typeface="Calibri"/>
                        </a:rPr>
                        <a:t>Reusable prompt templates with arguments</a:t>
                      </a:r>
                    </a:p>
                  </a:txBody>
                  <a:tcPr marL="82296" marR="64008" marT="32004" marB="32004" anchor="ctr">
                    <a:solidFill>
                      <a:srgbClr val="FFFFFF"/>
                    </a:solidFill>
                  </a:tcPr>
                </a:tc>
                <a:tc>
                  <a:txBody>
                    <a:bodyPr wrap="square"/>
                    <a:lstStyle/>
                    <a:p>
                      <a:r>
                        <a:rPr sz="1650" b="0">
                          <a:solidFill>
                            <a:srgbClr val="1A1A1A"/>
                          </a:solidFill>
                          <a:latin typeface="Calibri"/>
                        </a:rPr>
                        <a:t>The user</a:t>
                      </a:r>
                    </a:p>
                  </a:txBody>
                  <a:tcPr marL="82296" marR="64008" marT="32004" marB="32004" anchor="ctr">
                    <a:solidFill>
                      <a:srgbClr val="FFFFFF"/>
                    </a:solidFill>
                  </a:tcPr>
                </a:tc>
                <a:tc>
                  <a:txBody>
                    <a:bodyPr wrap="square"/>
                    <a:lstStyle/>
                    <a:p>
                      <a:r>
                        <a:rPr sz="1650" b="0">
                          <a:solidFill>
                            <a:srgbClr val="1A1A1A"/>
                          </a:solidFill>
                          <a:latin typeface="Calibri"/>
                        </a:rPr>
                        <a:t>6 shipped templates in config/prompts, more from the console</a:t>
                      </a:r>
                    </a:p>
                  </a:txBody>
                  <a:tcPr marL="82296" marR="64008" marT="32004" marB="32004" anchor="ctr">
                    <a:solidFill>
                      <a:srgbClr val="FFFFFF"/>
                    </a:solidFill>
                  </a:tcPr>
                </a:tc>
              </a:tr>
              <a:tr h="904970">
                <a:tc>
                  <a:txBody>
                    <a:bodyPr wrap="square"/>
                    <a:lstStyle/>
                    <a:p>
                      <a:r>
                        <a:rPr sz="1650" b="1">
                          <a:solidFill>
                            <a:srgbClr val="6E1120"/>
                          </a:solidFill>
                          <a:latin typeface="Calibri"/>
                        </a:rPr>
                        <a:t>Utilities</a:t>
                      </a:r>
                    </a:p>
                  </a:txBody>
                  <a:tcPr marL="82296" marR="64008" marT="32004" marB="32004" anchor="ctr">
                    <a:solidFill>
                      <a:srgbClr val="F7F5F2"/>
                    </a:solidFill>
                  </a:tcPr>
                </a:tc>
                <a:tc>
                  <a:txBody>
                    <a:bodyPr wrap="square"/>
                    <a:lstStyle/>
                    <a:p>
                      <a:r>
                        <a:rPr sz="1650" b="0">
                          <a:solidFill>
                            <a:srgbClr val="1A1A1A"/>
                          </a:solidFill>
                          <a:latin typeface="Calibri"/>
                        </a:rPr>
                        <a:t>Completion, logging, progress, cancellation</a:t>
                      </a:r>
                    </a:p>
                  </a:txBody>
                  <a:tcPr marL="82296" marR="64008" marT="32004" marB="32004" anchor="ctr">
                    <a:solidFill>
                      <a:srgbClr val="F7F5F2"/>
                    </a:solidFill>
                  </a:tcPr>
                </a:tc>
                <a:tc>
                  <a:txBody>
                    <a:bodyPr wrap="square"/>
                    <a:lstStyle/>
                    <a:p>
                      <a:r>
                        <a:rPr sz="1650" b="0">
                          <a:solidFill>
                            <a:srgbClr val="1A1A1A"/>
                          </a:solidFill>
                          <a:latin typeface="Calibri"/>
                        </a:rPr>
                        <a:t>Either side</a:t>
                      </a:r>
                    </a:p>
                  </a:txBody>
                  <a:tcPr marL="82296" marR="64008" marT="32004" marB="32004" anchor="ctr">
                    <a:solidFill>
                      <a:srgbClr val="F7F5F2"/>
                    </a:solidFill>
                  </a:tcPr>
                </a:tc>
                <a:tc>
                  <a:txBody>
                    <a:bodyPr wrap="square"/>
                    <a:lstStyle/>
                    <a:p>
                      <a:r>
                        <a:rPr sz="1650" b="0">
                          <a:solidFill>
                            <a:srgbClr val="1A1A1A"/>
                          </a:solidFill>
                          <a:latin typeface="Calibri"/>
                        </a:rPr>
                        <a:t>completion/complete, logging/setLevel, progress and cancellation</a:t>
                      </a:r>
                    </a:p>
                  </a:txBody>
                  <a:tcPr marL="82296" marR="64008" marT="32004" marB="32004" anchor="ctr">
                    <a:solidFill>
                      <a:srgbClr val="F7F5F2"/>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ARCHITECTURE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 host runs one client per server; each server wraps capabilities</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a:t>
            </a:r>
          </a:p>
        </p:txBody>
      </p:sp>
      <p:sp>
        <p:nvSpPr>
          <p:cNvPr id="17" name="Rectangle 16"/>
          <p:cNvSpPr/>
          <p:nvPr/>
        </p:nvSpPr>
        <p:spPr>
          <a:xfrm>
            <a:off x="777240" y="1322705"/>
            <a:ext cx="10637215" cy="130141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7569"/>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HOST: the AI application (chat app, IDE, agent)</a:t>
            </a:r>
          </a:p>
        </p:txBody>
      </p:sp>
      <p:cxnSp>
        <p:nvCxnSpPr>
          <p:cNvPr id="19" name="Connector 18"/>
          <p:cNvCxnSpPr/>
          <p:nvPr/>
        </p:nvCxnSpPr>
        <p:spPr>
          <a:xfrm>
            <a:off x="2691938"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691938"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755946"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cxnSp>
        <p:nvCxnSpPr>
          <p:cNvPr id="22" name="Connector 21"/>
          <p:cNvCxnSpPr/>
          <p:nvPr/>
        </p:nvCxnSpPr>
        <p:spPr>
          <a:xfrm>
            <a:off x="6095847"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095847"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159855"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cxnSp>
        <p:nvCxnSpPr>
          <p:cNvPr id="25" name="Connector 24"/>
          <p:cNvCxnSpPr/>
          <p:nvPr/>
        </p:nvCxnSpPr>
        <p:spPr>
          <a:xfrm>
            <a:off x="9499756"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9499756"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9563764"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sp>
        <p:nvSpPr>
          <p:cNvPr id="28" name="Rounded Rectangle 27"/>
          <p:cNvSpPr/>
          <p:nvPr/>
        </p:nvSpPr>
        <p:spPr>
          <a:xfrm>
            <a:off x="1415472"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1</a:t>
            </a:r>
          </a:p>
        </p:txBody>
      </p:sp>
      <p:sp>
        <p:nvSpPr>
          <p:cNvPr id="29" name="Rounded Rectangle 28"/>
          <p:cNvSpPr/>
          <p:nvPr/>
        </p:nvSpPr>
        <p:spPr>
          <a:xfrm>
            <a:off x="4819381"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2</a:t>
            </a:r>
          </a:p>
        </p:txBody>
      </p:sp>
      <p:sp>
        <p:nvSpPr>
          <p:cNvPr id="30" name="Rounded Rectangle 29"/>
          <p:cNvSpPr/>
          <p:nvPr/>
        </p:nvSpPr>
        <p:spPr>
          <a:xfrm>
            <a:off x="8223290"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N</a:t>
            </a:r>
          </a:p>
        </p:txBody>
      </p:sp>
      <p:sp>
        <p:nvSpPr>
          <p:cNvPr id="31" name="Rounded Rectangle 30"/>
          <p:cNvSpPr/>
          <p:nvPr/>
        </p:nvSpPr>
        <p:spPr>
          <a:xfrm>
            <a:off x="1415472" y="3419436"/>
            <a:ext cx="2552931" cy="723011"/>
          </a:xfrm>
          <a:prstGeom prst="roundRect">
            <a:avLst>
              <a:gd name="adj" fmla="val 101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a governed catalog of tools</a:t>
            </a:r>
          </a:p>
        </p:txBody>
      </p:sp>
      <p:sp>
        <p:nvSpPr>
          <p:cNvPr id="32" name="Rounded Rectangle 31"/>
          <p:cNvSpPr/>
          <p:nvPr/>
        </p:nvSpPr>
        <p:spPr>
          <a:xfrm>
            <a:off x="4819381" y="3419436"/>
            <a:ext cx="2552931" cy="723011"/>
          </a:xfrm>
          <a:prstGeom prst="roundRect">
            <a:avLst>
              <a:gd name="adj" fmla="val 101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Search server</a:t>
            </a:r>
          </a:p>
          <a:p>
            <a:pPr algn="ctr">
              <a:lnSpc>
                <a:spcPct val="105000"/>
              </a:lnSpc>
              <a:spcBef>
                <a:spcPts val="0"/>
              </a:spcBef>
              <a:spcAft>
                <a:spcPts val="0"/>
              </a:spcAft>
            </a:pPr>
            <a:r>
              <a:rPr sz="1250" b="0" i="0">
                <a:solidFill>
                  <a:srgbClr val="1A1A1A"/>
                </a:solidFill>
                <a:latin typeface="Calibri"/>
              </a:rPr>
              <a:t>web and news</a:t>
            </a:r>
          </a:p>
        </p:txBody>
      </p:sp>
      <p:sp>
        <p:nvSpPr>
          <p:cNvPr id="33" name="Rounded Rectangle 32"/>
          <p:cNvSpPr/>
          <p:nvPr/>
        </p:nvSpPr>
        <p:spPr>
          <a:xfrm>
            <a:off x="8223290" y="3419436"/>
            <a:ext cx="2552931" cy="723011"/>
          </a:xfrm>
          <a:prstGeom prst="roundRect">
            <a:avLst>
              <a:gd name="adj" fmla="val 101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Database server</a:t>
            </a:r>
          </a:p>
          <a:p>
            <a:pPr algn="ctr">
              <a:lnSpc>
                <a:spcPct val="105000"/>
              </a:lnSpc>
              <a:spcBef>
                <a:spcPts val="0"/>
              </a:spcBef>
              <a:spcAft>
                <a:spcPts val="0"/>
              </a:spcAft>
            </a:pPr>
            <a:r>
              <a:rPr sz="1250" b="0" i="0">
                <a:solidFill>
                  <a:srgbClr val="1A1A1A"/>
                </a:solidFill>
                <a:latin typeface="Calibri"/>
              </a:rPr>
              <a:t>SQL over your data</a:t>
            </a:r>
          </a:p>
        </p:txBody>
      </p:sp>
      <p:sp>
        <p:nvSpPr>
          <p:cNvPr id="34" name="TextBox 33"/>
          <p:cNvSpPr txBox="1"/>
          <p:nvPr/>
        </p:nvSpPr>
        <p:spPr>
          <a:xfrm>
            <a:off x="777240" y="5102352"/>
            <a:ext cx="10637215" cy="114300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A1A1A"/>
                </a:solidFill>
                <a:latin typeface="Calibri"/>
              </a:rPr>
              <a:t>Host</a:t>
            </a:r>
          </a:p>
          <a:p>
            <a:pPr lvl="1">
              <a:lnSpc>
                <a:spcPct val="120000"/>
              </a:lnSpc>
              <a:spcBef>
                <a:spcPts val="0"/>
              </a:spcBef>
              <a:spcAft>
                <a:spcPts val="0"/>
              </a:spcAft>
            </a:pPr>
            <a:r>
              <a:rPr sz="1450" b="0">
                <a:solidFill>
                  <a:srgbClr val="6B7480"/>
                </a:solidFill>
                <a:latin typeface="Calibri"/>
              </a:rPr>
              <a:t>The application the user works in; it runs the model and coordinates its clients.</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Client and server</a:t>
            </a:r>
          </a:p>
          <a:p>
            <a:pPr lvl="1">
              <a:lnSpc>
                <a:spcPct val="120000"/>
              </a:lnSpc>
              <a:spcBef>
                <a:spcPts val="0"/>
              </a:spcBef>
              <a:spcAft>
                <a:spcPts val="0"/>
              </a:spcAft>
            </a:pPr>
            <a:r>
              <a:rPr sz="1450" b="0">
                <a:solidFill>
                  <a:srgbClr val="6B7480"/>
                </a:solidFill>
                <a:latin typeface="Calibri"/>
              </a:rPr>
              <a:t>Each client holds one connection to one server; a server exposes tools, resources and prompts.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AI APPLICATIONS USE MCP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Five steps, from discovery to the next tool call</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model discovers capabilities at run time; no tool knowledge is hard-coded in the application.</a:t>
            </a:r>
          </a:p>
        </p:txBody>
      </p:sp>
      <p:sp>
        <p:nvSpPr>
          <p:cNvPr id="19" name="Rectangle 18"/>
          <p:cNvSpPr/>
          <p:nvPr/>
        </p:nvSpPr>
        <p:spPr>
          <a:xfrm>
            <a:off x="777240"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HOST AND MODEL</a:t>
            </a:r>
          </a:p>
        </p:txBody>
      </p:sp>
      <p:sp>
        <p:nvSpPr>
          <p:cNvPr id="21" name="Rectangle 20"/>
          <p:cNvSpPr/>
          <p:nvPr/>
        </p:nvSpPr>
        <p:spPr>
          <a:xfrm>
            <a:off x="4500265"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09993"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CLIENT</a:t>
            </a:r>
          </a:p>
        </p:txBody>
      </p:sp>
      <p:sp>
        <p:nvSpPr>
          <p:cNvPr id="23" name="Rectangle 22"/>
          <p:cNvSpPr/>
          <p:nvPr/>
        </p:nvSpPr>
        <p:spPr>
          <a:xfrm>
            <a:off x="8223290"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33018"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a:t>
            </a:r>
          </a:p>
        </p:txBody>
      </p:sp>
      <p:sp>
        <p:nvSpPr>
          <p:cNvPr id="25" name="Rounded Rectangle 24"/>
          <p:cNvSpPr/>
          <p:nvPr/>
        </p:nvSpPr>
        <p:spPr>
          <a:xfrm>
            <a:off x="4819381" y="1791303"/>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  Discovery</a:t>
            </a:r>
          </a:p>
          <a:p>
            <a:pPr algn="ctr">
              <a:lnSpc>
                <a:spcPct val="105000"/>
              </a:lnSpc>
              <a:spcBef>
                <a:spcPts val="0"/>
              </a:spcBef>
              <a:spcAft>
                <a:spcPts val="0"/>
              </a:spcAft>
            </a:pPr>
            <a:r>
              <a:rPr sz="1050" b="0" i="0">
                <a:solidFill>
                  <a:srgbClr val="1A1A1A"/>
                </a:solidFill>
                <a:latin typeface="Calibri"/>
              </a:rPr>
              <a:t>connect; ask for tools/list</a:t>
            </a:r>
          </a:p>
        </p:txBody>
      </p:sp>
      <p:sp>
        <p:nvSpPr>
          <p:cNvPr id="26" name="Rounded Rectangle 25"/>
          <p:cNvSpPr/>
          <p:nvPr/>
        </p:nvSpPr>
        <p:spPr>
          <a:xfrm>
            <a:off x="8542407" y="1791303"/>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tools with JSON Schemas</a:t>
            </a:r>
          </a:p>
        </p:txBody>
      </p:sp>
      <p:sp>
        <p:nvSpPr>
          <p:cNvPr id="27" name="Rounded Rectangle 26"/>
          <p:cNvSpPr/>
          <p:nvPr/>
        </p:nvSpPr>
        <p:spPr>
          <a:xfrm>
            <a:off x="1096356" y="2599975"/>
            <a:ext cx="255293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2  Selection</a:t>
            </a:r>
          </a:p>
          <a:p>
            <a:pPr algn="ctr">
              <a:lnSpc>
                <a:spcPct val="105000"/>
              </a:lnSpc>
              <a:spcBef>
                <a:spcPts val="0"/>
              </a:spcBef>
              <a:spcAft>
                <a:spcPts val="0"/>
              </a:spcAft>
            </a:pPr>
            <a:r>
              <a:rPr sz="1050" b="0" i="0">
                <a:solidFill>
                  <a:srgbClr val="1A1A1A"/>
                </a:solidFill>
                <a:latin typeface="Calibri"/>
              </a:rPr>
              <a:t>the model picks the tool the request needs</a:t>
            </a:r>
          </a:p>
        </p:txBody>
      </p:sp>
      <p:sp>
        <p:nvSpPr>
          <p:cNvPr id="28" name="Rounded Rectangle 27"/>
          <p:cNvSpPr/>
          <p:nvPr/>
        </p:nvSpPr>
        <p:spPr>
          <a:xfrm>
            <a:off x="4819381" y="3453574"/>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3  Invocation</a:t>
            </a:r>
          </a:p>
          <a:p>
            <a:pPr algn="ctr">
              <a:lnSpc>
                <a:spcPct val="105000"/>
              </a:lnSpc>
              <a:spcBef>
                <a:spcPts val="0"/>
              </a:spcBef>
              <a:spcAft>
                <a:spcPts val="0"/>
              </a:spcAft>
            </a:pPr>
            <a:r>
              <a:rPr sz="1050" b="0" i="0">
                <a:solidFill>
                  <a:srgbClr val="1A1A1A"/>
                </a:solidFill>
                <a:latin typeface="Calibri"/>
              </a:rPr>
              <a:t>tools/call as JSON-RPC</a:t>
            </a:r>
          </a:p>
        </p:txBody>
      </p:sp>
      <p:sp>
        <p:nvSpPr>
          <p:cNvPr id="29" name="Rounded Rectangle 28"/>
          <p:cNvSpPr/>
          <p:nvPr/>
        </p:nvSpPr>
        <p:spPr>
          <a:xfrm>
            <a:off x="8542407" y="3453574"/>
            <a:ext cx="2552931" cy="584041"/>
          </a:xfrm>
          <a:prstGeom prst="roundRect">
            <a:avLst>
              <a:gd name="adj" fmla="val 125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validates and runs it</a:t>
            </a:r>
          </a:p>
        </p:txBody>
      </p:sp>
      <p:sp>
        <p:nvSpPr>
          <p:cNvPr id="30" name="Rounded Rectangle 29"/>
          <p:cNvSpPr/>
          <p:nvPr/>
        </p:nvSpPr>
        <p:spPr>
          <a:xfrm>
            <a:off x="1096356" y="4262247"/>
            <a:ext cx="255293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4  Result</a:t>
            </a:r>
          </a:p>
          <a:p>
            <a:pPr algn="ctr">
              <a:lnSpc>
                <a:spcPct val="105000"/>
              </a:lnSpc>
              <a:spcBef>
                <a:spcPts val="0"/>
              </a:spcBef>
              <a:spcAft>
                <a:spcPts val="0"/>
              </a:spcAft>
            </a:pPr>
            <a:r>
              <a:rPr sz="1050" b="0" i="0">
                <a:solidFill>
                  <a:srgbClr val="1A1A1A"/>
                </a:solidFill>
                <a:latin typeface="Calibri"/>
              </a:rPr>
              <a:t>fed back into the model's context</a:t>
            </a:r>
          </a:p>
        </p:txBody>
      </p:sp>
      <p:sp>
        <p:nvSpPr>
          <p:cNvPr id="31" name="Rounded Rectangle 30"/>
          <p:cNvSpPr/>
          <p:nvPr/>
        </p:nvSpPr>
        <p:spPr>
          <a:xfrm>
            <a:off x="1096356" y="5160772"/>
            <a:ext cx="2552931" cy="584041"/>
          </a:xfrm>
          <a:prstGeom prst="roundRect">
            <a:avLst>
              <a:gd name="adj" fmla="val 1252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5  Iteration</a:t>
            </a:r>
          </a:p>
          <a:p>
            <a:pPr algn="ctr">
              <a:lnSpc>
                <a:spcPct val="105000"/>
              </a:lnSpc>
              <a:spcBef>
                <a:spcPts val="0"/>
              </a:spcBef>
              <a:spcAft>
                <a:spcPts val="0"/>
              </a:spcAft>
            </a:pPr>
            <a:r>
              <a:rPr sz="1050" b="0" i="0">
                <a:solidFill>
                  <a:srgbClr val="FFFFFF"/>
                </a:solidFill>
                <a:latin typeface="Calibri"/>
              </a:rPr>
              <a:t>another call, or the answer</a:t>
            </a:r>
          </a:p>
        </p:txBody>
      </p:sp>
      <p:cxnSp>
        <p:nvCxnSpPr>
          <p:cNvPr id="32" name="Connector 31"/>
          <p:cNvCxnSpPr/>
          <p:nvPr/>
        </p:nvCxnSpPr>
        <p:spPr>
          <a:xfrm>
            <a:off x="7418033" y="2083323"/>
            <a:ext cx="107865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3694725" y="2230876"/>
            <a:ext cx="4802244" cy="5360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693909" y="3209381"/>
            <a:ext cx="1080851" cy="24129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418033" y="3745595"/>
            <a:ext cx="107865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694725" y="3893147"/>
            <a:ext cx="4802244" cy="5360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372822" y="4936934"/>
            <a:ext cx="0" cy="17811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695008" y="5452792"/>
            <a:ext cx="2400839"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6095847" y="4083335"/>
            <a:ext cx="0" cy="1369457"/>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219787" y="5215048"/>
            <a:ext cx="153416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chain the next call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BENEFITS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What MCP gives an application, and what SAJHA adds on top</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a:t>
            </a:r>
          </a:p>
        </p:txBody>
      </p:sp>
      <p:graphicFrame>
        <p:nvGraphicFramePr>
          <p:cNvPr id="17" name="Table 16"/>
          <p:cNvGraphicFramePr>
            <a:graphicFrameLocks noGrp="1"/>
          </p:cNvGraphicFramePr>
          <p:nvPr/>
        </p:nvGraphicFramePr>
        <p:xfrm>
          <a:off x="777240" y="1370901"/>
          <a:ext cx="10637213" cy="4190044"/>
        </p:xfrm>
        <a:graphic>
          <a:graphicData uri="http://schemas.openxmlformats.org/drawingml/2006/table">
            <a:tbl>
              <a:tblPr firstRow="1">
                <a:tableStyleId>{5C22544A-7EE6-4342-B048-85BDC9FD1C3A}</a:tableStyleId>
              </a:tblPr>
              <a:tblGrid>
                <a:gridCol w="2526338"/>
                <a:gridCol w="4121920"/>
                <a:gridCol w="3988955"/>
              </a:tblGrid>
              <a:tr h="350710">
                <a:tc>
                  <a:txBody>
                    <a:bodyPr wrap="square"/>
                    <a:lstStyle/>
                    <a:p>
                      <a:r>
                        <a:rPr sz="1500" b="1">
                          <a:solidFill>
                            <a:srgbClr val="FFFFFF"/>
                          </a:solidFill>
                          <a:latin typeface="Calibri"/>
                        </a:rPr>
                        <a:t>Benefit</a:t>
                      </a:r>
                    </a:p>
                  </a:txBody>
                  <a:tcPr marL="82296" marR="64008" marT="32004" marB="32004" anchor="ctr">
                    <a:solidFill>
                      <a:srgbClr val="A51C30"/>
                    </a:solidFill>
                  </a:tcPr>
                </a:tc>
                <a:tc>
                  <a:txBody>
                    <a:bodyPr wrap="square"/>
                    <a:lstStyle/>
                    <a:p>
                      <a:r>
                        <a:rPr sz="1500" b="1">
                          <a:solidFill>
                            <a:srgbClr val="FFFFFF"/>
                          </a:solidFill>
                          <a:latin typeface="Calibri"/>
                        </a:rPr>
                        <a:t>What it means</a:t>
                      </a:r>
                    </a:p>
                  </a:txBody>
                  <a:tcPr marL="82296" marR="64008" marT="32004" marB="32004" anchor="ctr">
                    <a:solidFill>
                      <a:srgbClr val="A51C30"/>
                    </a:solidFill>
                  </a:tcPr>
                </a:tc>
                <a:tc>
                  <a:txBody>
                    <a:bodyPr wrap="square"/>
                    <a:lstStyle/>
                    <a:p>
                      <a:r>
                        <a:rPr sz="1500" b="1">
                          <a:solidFill>
                            <a:srgbClr val="FFFFFF"/>
                          </a:solidFill>
                          <a:latin typeface="Calibri"/>
                        </a:rPr>
                        <a:t>In SAJHA</a:t>
                      </a:r>
                    </a:p>
                  </a:txBody>
                  <a:tcPr marL="82296" marR="64008" marT="32004" marB="32004" anchor="ctr">
                    <a:solidFill>
                      <a:srgbClr val="A51C30"/>
                    </a:solidFill>
                  </a:tcPr>
                </a:tc>
              </a:tr>
              <a:tr h="639889">
                <a:tc>
                  <a:txBody>
                    <a:bodyPr wrap="square"/>
                    <a:lstStyle/>
                    <a:p>
                      <a:r>
                        <a:rPr sz="1650" b="1">
                          <a:solidFill>
                            <a:srgbClr val="6E1120"/>
                          </a:solidFill>
                          <a:latin typeface="Calibri"/>
                        </a:rPr>
                        <a:t>Interoperability</a:t>
                      </a:r>
                    </a:p>
                  </a:txBody>
                  <a:tcPr marL="82296" marR="64008" marT="32004" marB="32004" anchor="ctr">
                    <a:solidFill>
                      <a:srgbClr val="FFFFFF"/>
                    </a:solidFill>
                  </a:tcPr>
                </a:tc>
                <a:tc>
                  <a:txBody>
                    <a:bodyPr wrap="square"/>
                    <a:lstStyle/>
                    <a:p>
                      <a:r>
                        <a:rPr sz="1650" b="0">
                          <a:solidFill>
                            <a:srgbClr val="1A1A1A"/>
                          </a:solidFill>
                          <a:latin typeface="Calibri"/>
                        </a:rPr>
                        <a:t>Any MCP client talks to any MCP server</a:t>
                      </a:r>
                    </a:p>
                  </a:txBody>
                  <a:tcPr marL="82296" marR="64008" marT="32004" marB="32004" anchor="ctr">
                    <a:solidFill>
                      <a:srgbClr val="FFFFFF"/>
                    </a:solidFill>
                  </a:tcPr>
                </a:tc>
                <a:tc>
                  <a:txBody>
                    <a:bodyPr wrap="square"/>
                    <a:lstStyle/>
                    <a:p>
                      <a:r>
                        <a:rPr sz="1650" b="0">
                          <a:solidFill>
                            <a:srgbClr val="1A1A1A"/>
                          </a:solidFill>
                          <a:latin typeface="Calibri"/>
                        </a:rPr>
                        <a:t>Both protocol eras on one endpoint</a:t>
                      </a:r>
                    </a:p>
                  </a:txBody>
                  <a:tcPr marL="82296" marR="64008" marT="32004" marB="32004" anchor="ctr">
                    <a:solidFill>
                      <a:srgbClr val="FFFFFF"/>
                    </a:solidFill>
                  </a:tcPr>
                </a:tc>
              </a:tr>
              <a:tr h="639889">
                <a:tc>
                  <a:txBody>
                    <a:bodyPr wrap="square"/>
                    <a:lstStyle/>
                    <a:p>
                      <a:r>
                        <a:rPr sz="1650" b="1">
                          <a:solidFill>
                            <a:srgbClr val="6E1120"/>
                          </a:solidFill>
                          <a:latin typeface="Calibri"/>
                        </a:rPr>
                        <a:t>Dynamic discovery</a:t>
                      </a:r>
                    </a:p>
                  </a:txBody>
                  <a:tcPr marL="82296" marR="64008" marT="32004" marB="32004" anchor="ctr">
                    <a:solidFill>
                      <a:srgbClr val="F7F5F2"/>
                    </a:solidFill>
                  </a:tcPr>
                </a:tc>
                <a:tc>
                  <a:txBody>
                    <a:bodyPr wrap="square"/>
                    <a:lstStyle/>
                    <a:p>
                      <a:r>
                        <a:rPr sz="1650" b="0">
                          <a:solidFill>
                            <a:srgbClr val="1A1A1A"/>
                          </a:solidFill>
                          <a:latin typeface="Calibri"/>
                        </a:rPr>
                        <a:t>Agents learn tools at run time, not at compile time</a:t>
                      </a:r>
                    </a:p>
                  </a:txBody>
                  <a:tcPr marL="82296" marR="64008" marT="32004" marB="32004" anchor="ctr">
                    <a:solidFill>
                      <a:srgbClr val="F7F5F2"/>
                    </a:solidFill>
                  </a:tcPr>
                </a:tc>
                <a:tc>
                  <a:txBody>
                    <a:bodyPr wrap="square"/>
                    <a:lstStyle/>
                    <a:p>
                      <a:r>
                        <a:rPr sz="1650" b="0">
                          <a:solidFill>
                            <a:srgbClr val="1A1A1A"/>
                          </a:solidFill>
                          <a:latin typeface="Calibri"/>
                        </a:rPr>
                        <a:t>A caller sees only the tools it may run</a:t>
                      </a:r>
                    </a:p>
                  </a:txBody>
                  <a:tcPr marL="82296" marR="64008" marT="32004" marB="32004" anchor="ctr">
                    <a:solidFill>
                      <a:srgbClr val="F7F5F2"/>
                    </a:solidFill>
                  </a:tcPr>
                </a:tc>
              </a:tr>
              <a:tr h="639889">
                <a:tc>
                  <a:txBody>
                    <a:bodyPr wrap="square"/>
                    <a:lstStyle/>
                    <a:p>
                      <a:r>
                        <a:rPr sz="1650" b="1">
                          <a:solidFill>
                            <a:srgbClr val="6E1120"/>
                          </a:solidFill>
                          <a:latin typeface="Calibri"/>
                        </a:rPr>
                        <a:t>Transport choice</a:t>
                      </a:r>
                    </a:p>
                  </a:txBody>
                  <a:tcPr marL="82296" marR="64008" marT="32004" marB="32004" anchor="ctr">
                    <a:solidFill>
                      <a:srgbClr val="FFFFFF"/>
                    </a:solidFill>
                  </a:tcPr>
                </a:tc>
                <a:tc>
                  <a:txBody>
                    <a:bodyPr wrap="square"/>
                    <a:lstStyle/>
                    <a:p>
                      <a:r>
                        <a:rPr sz="1650" b="0">
                          <a:solidFill>
                            <a:srgbClr val="1A1A1A"/>
                          </a:solidFill>
                          <a:latin typeface="Calibri"/>
                        </a:rPr>
                        <a:t>Local (stdio) or remote (Streamable HTTP)</a:t>
                      </a:r>
                    </a:p>
                  </a:txBody>
                  <a:tcPr marL="82296" marR="64008" marT="32004" marB="32004" anchor="ctr">
                    <a:solidFill>
                      <a:srgbClr val="FFFFFF"/>
                    </a:solidFill>
                  </a:tcPr>
                </a:tc>
                <a:tc>
                  <a:txBody>
                    <a:bodyPr wrap="square"/>
                    <a:lstStyle/>
                    <a:p>
                      <a:r>
                        <a:rPr sz="1650" b="0">
                          <a:solidFill>
                            <a:srgbClr val="1A1A1A"/>
                          </a:solidFill>
                          <a:latin typeface="Calibri"/>
                        </a:rPr>
                        <a:t>Also legacy SSE and WebSocket</a:t>
                      </a:r>
                    </a:p>
                  </a:txBody>
                  <a:tcPr marL="82296" marR="64008" marT="32004" marB="32004" anchor="ctr">
                    <a:solidFill>
                      <a:srgbClr val="FFFFFF"/>
                    </a:solidFill>
                  </a:tcPr>
                </a:tc>
              </a:tr>
              <a:tr h="639889">
                <a:tc>
                  <a:txBody>
                    <a:bodyPr wrap="square"/>
                    <a:lstStyle/>
                    <a:p>
                      <a:r>
                        <a:rPr sz="1650" b="1">
                          <a:solidFill>
                            <a:srgbClr val="6E1120"/>
                          </a:solidFill>
                          <a:latin typeface="Calibri"/>
                        </a:rPr>
                        <a:t>Decoupled evolution</a:t>
                      </a:r>
                    </a:p>
                  </a:txBody>
                  <a:tcPr marL="82296" marR="64008" marT="32004" marB="32004" anchor="ctr">
                    <a:solidFill>
                      <a:srgbClr val="F7F5F2"/>
                    </a:solidFill>
                  </a:tcPr>
                </a:tc>
                <a:tc>
                  <a:txBody>
                    <a:bodyPr wrap="square"/>
                    <a:lstStyle/>
                    <a:p>
                      <a:r>
                        <a:rPr sz="1650" b="0">
                          <a:solidFill>
                            <a:srgbClr val="1A1A1A"/>
                          </a:solidFill>
                          <a:latin typeface="Calibri"/>
                        </a:rPr>
                        <a:t>Servers add tools without changing clients</a:t>
                      </a:r>
                    </a:p>
                  </a:txBody>
                  <a:tcPr marL="82296" marR="64008" marT="32004" marB="32004" anchor="ctr">
                    <a:solidFill>
                      <a:srgbClr val="F7F5F2"/>
                    </a:solidFill>
                  </a:tcPr>
                </a:tc>
                <a:tc>
                  <a:txBody>
                    <a:bodyPr wrap="square"/>
                    <a:lstStyle/>
                    <a:p>
                      <a:r>
                        <a:rPr sz="1650" b="0">
                          <a:solidFill>
                            <a:srgbClr val="1A1A1A"/>
                          </a:solidFill>
                          <a:latin typeface="Calibri"/>
                        </a:rPr>
                        <a:t>Tools added while it runs; clients told on push channels</a:t>
                      </a:r>
                    </a:p>
                  </a:txBody>
                  <a:tcPr marL="82296" marR="64008" marT="32004" marB="32004" anchor="ctr">
                    <a:solidFill>
                      <a:srgbClr val="F7F5F2"/>
                    </a:solidFill>
                  </a:tcPr>
                </a:tc>
              </a:tr>
              <a:tr h="639889">
                <a:tc>
                  <a:txBody>
                    <a:bodyPr wrap="square"/>
                    <a:lstStyle/>
                    <a:p>
                      <a:r>
                        <a:rPr sz="1650" b="1">
                          <a:solidFill>
                            <a:srgbClr val="6E1120"/>
                          </a:solidFill>
                          <a:latin typeface="Calibri"/>
                        </a:rPr>
                        <a:t>Ecosystem scale</a:t>
                      </a:r>
                    </a:p>
                  </a:txBody>
                  <a:tcPr marL="82296" marR="64008" marT="32004" marB="32004" anchor="ctr">
                    <a:solidFill>
                      <a:srgbClr val="FFFFFF"/>
                    </a:solidFill>
                  </a:tcPr>
                </a:tc>
                <a:tc>
                  <a:txBody>
                    <a:bodyPr wrap="square"/>
                    <a:lstStyle/>
                    <a:p>
                      <a:r>
                        <a:rPr sz="1650" b="0">
                          <a:solidFill>
                            <a:srgbClr val="1A1A1A"/>
                          </a:solidFill>
                          <a:latin typeface="Calibri"/>
                        </a:rPr>
                        <a:t>Over 10,000 public servers to connect to</a:t>
                      </a:r>
                    </a:p>
                  </a:txBody>
                  <a:tcPr marL="82296" marR="64008" marT="32004" marB="32004" anchor="ctr">
                    <a:solidFill>
                      <a:srgbClr val="FFFFFF"/>
                    </a:solidFill>
                  </a:tcPr>
                </a:tc>
                <a:tc>
                  <a:txBody>
                    <a:bodyPr wrap="square"/>
                    <a:lstStyle/>
                    <a:p>
                      <a:r>
                        <a:rPr sz="1650" b="0">
                          <a:solidFill>
                            <a:srgbClr val="1A1A1A"/>
                          </a:solidFill>
                          <a:latin typeface="Calibri"/>
                        </a:rPr>
                        <a:t>Federation fronts other servers under its rules</a:t>
                      </a:r>
                    </a:p>
                  </a:txBody>
                  <a:tcPr marL="82296" marR="64008" marT="32004" marB="32004" anchor="ctr">
                    <a:solidFill>
                      <a:srgbClr val="FFFFFF"/>
                    </a:solidFill>
                  </a:tcPr>
                </a:tc>
              </a:tr>
              <a:tr h="639889">
                <a:tc>
                  <a:txBody>
                    <a:bodyPr wrap="square"/>
                    <a:lstStyle/>
                    <a:p>
                      <a:r>
                        <a:rPr sz="1650" b="1">
                          <a:solidFill>
                            <a:srgbClr val="6E1120"/>
                          </a:solidFill>
                          <a:latin typeface="Calibri"/>
                        </a:rPr>
                        <a:t>One control point</a:t>
                      </a:r>
                    </a:p>
                  </a:txBody>
                  <a:tcPr marL="82296" marR="64008" marT="32004" marB="32004" anchor="ctr">
                    <a:solidFill>
                      <a:srgbClr val="F7F5F2"/>
                    </a:solidFill>
                  </a:tcPr>
                </a:tc>
                <a:tc>
                  <a:txBody>
                    <a:bodyPr wrap="square"/>
                    <a:lstStyle/>
                    <a:p>
                      <a:r>
                        <a:rPr sz="1650" b="0">
                          <a:solidFill>
                            <a:srgbClr val="1A1A1A"/>
                          </a:solidFill>
                          <a:latin typeface="Calibri"/>
                        </a:rPr>
                        <a:t>Authentication and authorization at the server</a:t>
                      </a:r>
                    </a:p>
                  </a:txBody>
                  <a:tcPr marL="82296" marR="64008" marT="32004" marB="32004" anchor="ctr">
                    <a:solidFill>
                      <a:srgbClr val="F7F5F2"/>
                    </a:solidFill>
                  </a:tcPr>
                </a:tc>
                <a:tc>
                  <a:txBody>
                    <a:bodyPr wrap="square"/>
                    <a:lstStyle/>
                    <a:p>
                      <a:r>
                        <a:rPr sz="1650" b="0">
                          <a:solidFill>
                            <a:srgbClr val="1A1A1A"/>
                          </a:solidFill>
                          <a:latin typeface="Calibri"/>
                        </a:rPr>
                        <a:t>Access policy, rules, approvals and a tamper-evident audit</a:t>
                      </a:r>
                    </a:p>
                  </a:txBody>
                  <a:tcPr marL="82296" marR="64008" marT="32004" marB="32004" anchor="ctr">
                    <a:solidFill>
                      <a:srgbClr val="F7F5F2"/>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02</a:t>
            </a:r>
          </a:p>
        </p:txBody>
      </p:sp>
      <p:sp>
        <p:nvSpPr>
          <p:cNvPr id="12" name="TextBox 11"/>
          <p:cNvSpPr txBox="1"/>
          <p:nvPr/>
        </p:nvSpPr>
        <p:spPr>
          <a:xfrm>
            <a:off x="1521845" y="2487168"/>
            <a:ext cx="9148005" cy="591947"/>
          </a:xfrm>
          <a:prstGeom prst="rect">
            <a:avLst/>
          </a:prstGeom>
          <a:noFill/>
        </p:spPr>
        <p:txBody>
          <a:bodyPr wrap="square" lIns="0" rIns="0" tIns="0" bIns="0" anchor="t">
            <a:spAutoFit/>
          </a:bodyPr>
          <a:lstStyle/>
          <a:p>
            <a:pPr algn="ctr">
              <a:lnSpc>
                <a:spcPct val="110000"/>
              </a:lnSpc>
              <a:spcBef>
                <a:spcPts val="0"/>
              </a:spcBef>
              <a:spcAft>
                <a:spcPts val="0"/>
              </a:spcAft>
            </a:pPr>
            <a:r>
              <a:rPr sz="3400" b="0" i="0">
                <a:solidFill>
                  <a:srgbClr val="FFFFFF"/>
                </a:solidFill>
                <a:latin typeface="Georgia"/>
              </a:rPr>
              <a:t>MCP integration with AI applications</a:t>
            </a:r>
          </a:p>
        </p:txBody>
      </p:sp>
      <p:sp>
        <p:nvSpPr>
          <p:cNvPr id="13" name="Rectangle 12"/>
          <p:cNvSpPr/>
          <p:nvPr/>
        </p:nvSpPr>
        <p:spPr>
          <a:xfrm>
            <a:off x="5364327" y="3234563"/>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63163"/>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Where MCP sits inside an AI application, how an application connects, the transports and the two eras in use today, and the patterns agents use to call tools.</a:t>
            </a:r>
          </a:p>
        </p:txBody>
      </p:sp>
      <p:sp>
        <p:nvSpPr>
          <p:cNvPr id="15" name="TextBox 14"/>
          <p:cNvSpPr txBox="1"/>
          <p:nvPr/>
        </p:nvSpPr>
        <p:spPr>
          <a:xfrm>
            <a:off x="1143000" y="4593971"/>
            <a:ext cx="9905695" cy="1623948"/>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Indicative architecture   ·   Connecting   ·   Transports   ·   Two eras   ·   Conformance   ·   Interaction patterns   ·   Beyond list and call   ·   LLM pipelines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INDICATIVE ARCHITECTURE</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An MCP-enabled application keeps its AI layer apart from its integrations</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12</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application connects to several MCP servers at once. Agents, workflows and the model coordinate through the orchestrator; MCP clients carry all tool traffic.</a:t>
            </a:r>
          </a:p>
        </p:txBody>
      </p:sp>
      <p:sp>
        <p:nvSpPr>
          <p:cNvPr id="19" name="Rectangle 18"/>
          <p:cNvSpPr/>
          <p:nvPr/>
        </p:nvSpPr>
        <p:spPr>
          <a:xfrm>
            <a:off x="777240" y="1611884"/>
            <a:ext cx="4680374"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666748"/>
            <a:ext cx="446091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APPLICATION</a:t>
            </a:r>
          </a:p>
        </p:txBody>
      </p:sp>
      <p:sp>
        <p:nvSpPr>
          <p:cNvPr id="21" name="Rectangle 20"/>
          <p:cNvSpPr/>
          <p:nvPr/>
        </p:nvSpPr>
        <p:spPr>
          <a:xfrm>
            <a:off x="6521336" y="1611884"/>
            <a:ext cx="4893118" cy="191127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31064" y="1666748"/>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 A: SAJHA</a:t>
            </a:r>
          </a:p>
        </p:txBody>
      </p:sp>
      <p:sp>
        <p:nvSpPr>
          <p:cNvPr id="23" name="Rectangle 22"/>
          <p:cNvSpPr/>
          <p:nvPr/>
        </p:nvSpPr>
        <p:spPr>
          <a:xfrm>
            <a:off x="6521336" y="3767150"/>
            <a:ext cx="4893118" cy="191127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31064" y="3822014"/>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 B: SEARCH</a:t>
            </a:r>
          </a:p>
        </p:txBody>
      </p:sp>
      <p:cxnSp>
        <p:nvCxnSpPr>
          <p:cNvPr id="25" name="Connector 24"/>
          <p:cNvCxnSpPr/>
          <p:nvPr/>
        </p:nvCxnSpPr>
        <p:spPr>
          <a:xfrm>
            <a:off x="3047631" y="2262530"/>
            <a:ext cx="13959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000519" y="2543098"/>
            <a:ext cx="0" cy="2521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34334" y="2543098"/>
            <a:ext cx="0" cy="2521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00519" y="3356406"/>
            <a:ext cx="0" cy="4554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000519" y="4373041"/>
            <a:ext cx="0" cy="4554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281446" y="3075838"/>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5281446" y="3075838"/>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748229" y="2874670"/>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cxnSp>
        <p:nvCxnSpPr>
          <p:cNvPr id="33" name="Connector 32"/>
          <p:cNvCxnSpPr/>
          <p:nvPr/>
        </p:nvCxnSpPr>
        <p:spPr>
          <a:xfrm>
            <a:off x="5281446" y="4702454"/>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5281446" y="4702454"/>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748229" y="4501286"/>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sp>
        <p:nvSpPr>
          <p:cNvPr id="36" name="Rounded Rectangle 35"/>
          <p:cNvSpPr/>
          <p:nvPr/>
        </p:nvSpPr>
        <p:spPr>
          <a:xfrm>
            <a:off x="989984" y="2018538"/>
            <a:ext cx="2021070"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Chat interface</a:t>
            </a:r>
          </a:p>
        </p:txBody>
      </p:sp>
      <p:sp>
        <p:nvSpPr>
          <p:cNvPr id="37" name="Rounded Rectangle 36"/>
          <p:cNvSpPr/>
          <p:nvPr/>
        </p:nvSpPr>
        <p:spPr>
          <a:xfrm>
            <a:off x="3223799" y="2018538"/>
            <a:ext cx="2021070" cy="487984"/>
          </a:xfrm>
          <a:prstGeom prst="roundRect">
            <a:avLst>
              <a:gd name="adj" fmla="val 1499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FFFFFF"/>
                </a:solidFill>
                <a:latin typeface="Calibri"/>
              </a:rPr>
              <a:t>Agent orchestrator</a:t>
            </a:r>
          </a:p>
        </p:txBody>
      </p:sp>
      <p:sp>
        <p:nvSpPr>
          <p:cNvPr id="38" name="Rounded Rectangle 37"/>
          <p:cNvSpPr/>
          <p:nvPr/>
        </p:nvSpPr>
        <p:spPr>
          <a:xfrm>
            <a:off x="989984" y="2831846"/>
            <a:ext cx="2021070" cy="487984"/>
          </a:xfrm>
          <a:prstGeom prst="roundRect">
            <a:avLst>
              <a:gd name="adj" fmla="val 1499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LLM</a:t>
            </a:r>
          </a:p>
        </p:txBody>
      </p:sp>
      <p:sp>
        <p:nvSpPr>
          <p:cNvPr id="39" name="Rounded Rectangle 38"/>
          <p:cNvSpPr/>
          <p:nvPr/>
        </p:nvSpPr>
        <p:spPr>
          <a:xfrm>
            <a:off x="3223799" y="2831846"/>
            <a:ext cx="2021070" cy="487984"/>
          </a:xfrm>
          <a:prstGeom prst="roundRect">
            <a:avLst>
              <a:gd name="adj" fmla="val 1499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 A</a:t>
            </a:r>
          </a:p>
        </p:txBody>
      </p:sp>
      <p:sp>
        <p:nvSpPr>
          <p:cNvPr id="40" name="Rounded Rectangle 39"/>
          <p:cNvSpPr/>
          <p:nvPr/>
        </p:nvSpPr>
        <p:spPr>
          <a:xfrm>
            <a:off x="989984" y="3848481"/>
            <a:ext cx="2021070" cy="487984"/>
          </a:xfrm>
          <a:prstGeom prst="roundRect">
            <a:avLst>
              <a:gd name="adj" fmla="val 1499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Workflow engine</a:t>
            </a:r>
          </a:p>
        </p:txBody>
      </p:sp>
      <p:sp>
        <p:nvSpPr>
          <p:cNvPr id="41" name="Rounded Rectangle 40"/>
          <p:cNvSpPr/>
          <p:nvPr/>
        </p:nvSpPr>
        <p:spPr>
          <a:xfrm>
            <a:off x="3223799" y="4458461"/>
            <a:ext cx="2021070" cy="487984"/>
          </a:xfrm>
          <a:prstGeom prst="roundRect">
            <a:avLst>
              <a:gd name="adj" fmla="val 1499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 B</a:t>
            </a:r>
          </a:p>
        </p:txBody>
      </p:sp>
      <p:sp>
        <p:nvSpPr>
          <p:cNvPr id="42" name="Rounded Rectangle 41"/>
          <p:cNvSpPr/>
          <p:nvPr/>
        </p:nvSpPr>
        <p:spPr>
          <a:xfrm>
            <a:off x="989984" y="4865116"/>
            <a:ext cx="2021070"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Memory and context</a:t>
            </a:r>
          </a:p>
        </p:txBody>
      </p:sp>
      <p:sp>
        <p:nvSpPr>
          <p:cNvPr id="43" name="Rounded Rectangle 42"/>
          <p:cNvSpPr/>
          <p:nvPr/>
        </p:nvSpPr>
        <p:spPr>
          <a:xfrm>
            <a:off x="6680894"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FRED</a:t>
            </a:r>
          </a:p>
        </p:txBody>
      </p:sp>
      <p:sp>
        <p:nvSpPr>
          <p:cNvPr id="44" name="Rounded Rectangle 43"/>
          <p:cNvSpPr/>
          <p:nvPr/>
        </p:nvSpPr>
        <p:spPr>
          <a:xfrm>
            <a:off x="7850988"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a:t>
            </a:r>
          </a:p>
        </p:txBody>
      </p:sp>
      <p:sp>
        <p:nvSpPr>
          <p:cNvPr id="45" name="Rounded Rectangle 44"/>
          <p:cNvSpPr/>
          <p:nvPr/>
        </p:nvSpPr>
        <p:spPr>
          <a:xfrm>
            <a:off x="9021081"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DuckDB</a:t>
            </a:r>
          </a:p>
        </p:txBody>
      </p:sp>
      <p:sp>
        <p:nvSpPr>
          <p:cNvPr id="46" name="Rounded Rectangle 45"/>
          <p:cNvSpPr/>
          <p:nvPr/>
        </p:nvSpPr>
        <p:spPr>
          <a:xfrm>
            <a:off x="10191175"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Yahoo</a:t>
            </a:r>
          </a:p>
        </p:txBody>
      </p:sp>
      <p:sp>
        <p:nvSpPr>
          <p:cNvPr id="47" name="Rounded Rectangle 46"/>
          <p:cNvSpPr/>
          <p:nvPr/>
        </p:nvSpPr>
        <p:spPr>
          <a:xfrm>
            <a:off x="6680894" y="2831846"/>
            <a:ext cx="2233815" cy="487984"/>
          </a:xfrm>
          <a:prstGeom prst="roundRect">
            <a:avLst>
              <a:gd name="adj" fmla="val 1499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Access · policy · audit</a:t>
            </a:r>
          </a:p>
        </p:txBody>
      </p:sp>
      <p:sp>
        <p:nvSpPr>
          <p:cNvPr id="48" name="Rounded Rectangle 47"/>
          <p:cNvSpPr/>
          <p:nvPr/>
        </p:nvSpPr>
        <p:spPr>
          <a:xfrm>
            <a:off x="9021081" y="2791180"/>
            <a:ext cx="2233815" cy="569315"/>
          </a:xfrm>
          <a:prstGeom prst="roundRect">
            <a:avLst>
              <a:gd name="adj" fmla="val 12849"/>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Databases</a:t>
            </a:r>
          </a:p>
          <a:p>
            <a:pPr algn="ctr">
              <a:lnSpc>
                <a:spcPct val="105000"/>
              </a:lnSpc>
              <a:spcBef>
                <a:spcPts val="0"/>
              </a:spcBef>
              <a:spcAft>
                <a:spcPts val="0"/>
              </a:spcAft>
            </a:pPr>
            <a:r>
              <a:rPr sz="850" b="0" i="0">
                <a:solidFill>
                  <a:srgbClr val="1A1A1A"/>
                </a:solidFill>
                <a:latin typeface="Calibri"/>
              </a:rPr>
              <a:t>PostgreSQL, DuckDB</a:t>
            </a:r>
          </a:p>
        </p:txBody>
      </p:sp>
      <p:sp>
        <p:nvSpPr>
          <p:cNvPr id="49" name="Rounded Rectangle 48"/>
          <p:cNvSpPr/>
          <p:nvPr/>
        </p:nvSpPr>
        <p:spPr>
          <a:xfrm>
            <a:off x="6680894"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Search</a:t>
            </a:r>
          </a:p>
        </p:txBody>
      </p:sp>
      <p:sp>
        <p:nvSpPr>
          <p:cNvPr id="50" name="Rounded Rectangle 49"/>
          <p:cNvSpPr/>
          <p:nvPr/>
        </p:nvSpPr>
        <p:spPr>
          <a:xfrm>
            <a:off x="7850988"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Extract</a:t>
            </a:r>
          </a:p>
        </p:txBody>
      </p:sp>
      <p:sp>
        <p:nvSpPr>
          <p:cNvPr id="51" name="Rounded Rectangle 50"/>
          <p:cNvSpPr/>
          <p:nvPr/>
        </p:nvSpPr>
        <p:spPr>
          <a:xfrm>
            <a:off x="9021081"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Crawl</a:t>
            </a:r>
          </a:p>
        </p:txBody>
      </p:sp>
      <p:sp>
        <p:nvSpPr>
          <p:cNvPr id="52" name="Rounded Rectangle 51"/>
          <p:cNvSpPr/>
          <p:nvPr/>
        </p:nvSpPr>
        <p:spPr>
          <a:xfrm>
            <a:off x="10191175"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Research</a:t>
            </a:r>
          </a:p>
        </p:txBody>
      </p:sp>
      <p:sp>
        <p:nvSpPr>
          <p:cNvPr id="53" name="Rounded Rectangle 52"/>
          <p:cNvSpPr/>
          <p:nvPr/>
        </p:nvSpPr>
        <p:spPr>
          <a:xfrm>
            <a:off x="6680894" y="4987112"/>
            <a:ext cx="4574002" cy="528650"/>
          </a:xfrm>
          <a:prstGeom prst="roundRect">
            <a:avLst>
              <a:gd name="adj" fmla="val 1383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External APIs</a:t>
            </a:r>
          </a:p>
          <a:p>
            <a:pPr algn="ctr">
              <a:lnSpc>
                <a:spcPct val="105000"/>
              </a:lnSpc>
              <a:spcBef>
                <a:spcPts val="0"/>
              </a:spcBef>
              <a:spcAft>
                <a:spcPts val="0"/>
              </a:spcAft>
            </a:pPr>
            <a:r>
              <a:rPr sz="850" b="0" i="0">
                <a:solidFill>
                  <a:srgbClr val="1A1A1A"/>
                </a:solidFill>
                <a:latin typeface="Calibri"/>
              </a:rPr>
              <a:t>REST, GraphQL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APPLICATIONS CONNECT</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Connect, discover, invoke, iterate: the same four moves in either era</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13</a:t>
            </a:r>
          </a:p>
        </p:txBody>
      </p:sp>
      <p:sp>
        <p:nvSpPr>
          <p:cNvPr id="17" name="Rectangle 16"/>
          <p:cNvSpPr/>
          <p:nvPr/>
        </p:nvSpPr>
        <p:spPr>
          <a:xfrm>
            <a:off x="777240" y="1290574"/>
            <a:ext cx="5105863" cy="352977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5458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SESSION ERA (UP TO 2025-11-25)</a:t>
            </a:r>
          </a:p>
        </p:txBody>
      </p:sp>
      <p:sp>
        <p:nvSpPr>
          <p:cNvPr id="19" name="Rectangle 18"/>
          <p:cNvSpPr/>
          <p:nvPr/>
        </p:nvSpPr>
        <p:spPr>
          <a:xfrm>
            <a:off x="6308591" y="1290574"/>
            <a:ext cx="5105863" cy="352977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8319" y="135458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STATELESS ERA (2026-07-28)</a:t>
            </a:r>
          </a:p>
        </p:txBody>
      </p:sp>
      <p:sp>
        <p:nvSpPr>
          <p:cNvPr id="21" name="Rounded Rectangle 20"/>
          <p:cNvSpPr/>
          <p:nvPr/>
        </p:nvSpPr>
        <p:spPr>
          <a:xfrm>
            <a:off x="1096356" y="1742056"/>
            <a:ext cx="2127443" cy="656701"/>
          </a:xfrm>
          <a:prstGeom prst="roundRect">
            <a:avLst>
              <a:gd name="adj" fmla="val 1113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initialize</a:t>
            </a:r>
          </a:p>
          <a:p>
            <a:pPr algn="ctr">
              <a:lnSpc>
                <a:spcPct val="105000"/>
              </a:lnSpc>
              <a:spcBef>
                <a:spcPts val="0"/>
              </a:spcBef>
              <a:spcAft>
                <a:spcPts val="0"/>
              </a:spcAft>
            </a:pPr>
            <a:r>
              <a:rPr sz="1150" b="0" i="0">
                <a:solidFill>
                  <a:srgbClr val="FFFFFF"/>
                </a:solidFill>
                <a:latin typeface="Calibri"/>
              </a:rPr>
              <a:t>negotiates capabilities</a:t>
            </a:r>
          </a:p>
        </p:txBody>
      </p:sp>
      <p:sp>
        <p:nvSpPr>
          <p:cNvPr id="22" name="Rounded Rectangle 21"/>
          <p:cNvSpPr/>
          <p:nvPr/>
        </p:nvSpPr>
        <p:spPr>
          <a:xfrm>
            <a:off x="3542915" y="1742056"/>
            <a:ext cx="2021070" cy="656701"/>
          </a:xfrm>
          <a:prstGeom prst="roundRect">
            <a:avLst>
              <a:gd name="adj" fmla="val 11139"/>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Mcp-Session-Id</a:t>
            </a:r>
          </a:p>
          <a:p>
            <a:pPr algn="ctr">
              <a:lnSpc>
                <a:spcPct val="105000"/>
              </a:lnSpc>
              <a:spcBef>
                <a:spcPts val="0"/>
              </a:spcBef>
              <a:spcAft>
                <a:spcPts val="0"/>
              </a:spcAft>
            </a:pPr>
            <a:r>
              <a:rPr sz="1050" b="0" i="0">
                <a:solidFill>
                  <a:srgbClr val="1A1A1A"/>
                </a:solidFill>
                <a:latin typeface="Calibri"/>
              </a:rPr>
              <a:t>the server opens a session</a:t>
            </a:r>
          </a:p>
        </p:txBody>
      </p:sp>
      <p:sp>
        <p:nvSpPr>
          <p:cNvPr id="23" name="Rounded Rectangle 22"/>
          <p:cNvSpPr/>
          <p:nvPr/>
        </p:nvSpPr>
        <p:spPr>
          <a:xfrm>
            <a:off x="1096356" y="2850240"/>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tools/list</a:t>
            </a:r>
          </a:p>
          <a:p>
            <a:pPr algn="ctr">
              <a:lnSpc>
                <a:spcPct val="105000"/>
              </a:lnSpc>
              <a:spcBef>
                <a:spcPts val="0"/>
              </a:spcBef>
              <a:spcAft>
                <a:spcPts val="0"/>
              </a:spcAft>
            </a:pPr>
            <a:r>
              <a:rPr sz="1150" b="0" i="0">
                <a:solidFill>
                  <a:srgbClr val="1A1A1A"/>
                </a:solidFill>
                <a:latin typeface="Calibri"/>
              </a:rPr>
              <a:t>on the session</a:t>
            </a:r>
          </a:p>
        </p:txBody>
      </p:sp>
      <p:sp>
        <p:nvSpPr>
          <p:cNvPr id="24" name="Rounded Rectangle 23"/>
          <p:cNvSpPr/>
          <p:nvPr/>
        </p:nvSpPr>
        <p:spPr>
          <a:xfrm>
            <a:off x="1096356" y="3835293"/>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tools/call</a:t>
            </a:r>
          </a:p>
          <a:p>
            <a:pPr algn="ctr">
              <a:lnSpc>
                <a:spcPct val="105000"/>
              </a:lnSpc>
              <a:spcBef>
                <a:spcPts val="0"/>
              </a:spcBef>
              <a:spcAft>
                <a:spcPts val="0"/>
              </a:spcAft>
            </a:pPr>
            <a:r>
              <a:rPr sz="1150" b="0" i="0">
                <a:solidFill>
                  <a:srgbClr val="1A1A1A"/>
                </a:solidFill>
                <a:latin typeface="Calibri"/>
              </a:rPr>
              <a:t>on the session</a:t>
            </a:r>
          </a:p>
        </p:txBody>
      </p:sp>
      <p:sp>
        <p:nvSpPr>
          <p:cNvPr id="25" name="Rounded Rectangle 24"/>
          <p:cNvSpPr/>
          <p:nvPr/>
        </p:nvSpPr>
        <p:spPr>
          <a:xfrm>
            <a:off x="3542915" y="3835293"/>
            <a:ext cx="2021070" cy="574614"/>
          </a:xfrm>
          <a:prstGeom prst="roundRect">
            <a:avLst>
              <a:gd name="adj" fmla="val 12730"/>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iterate</a:t>
            </a:r>
          </a:p>
          <a:p>
            <a:pPr algn="ctr">
              <a:lnSpc>
                <a:spcPct val="105000"/>
              </a:lnSpc>
              <a:spcBef>
                <a:spcPts val="0"/>
              </a:spcBef>
              <a:spcAft>
                <a:spcPts val="0"/>
              </a:spcAft>
            </a:pPr>
            <a:r>
              <a:rPr sz="1050" b="0" i="0">
                <a:solidFill>
                  <a:srgbClr val="1A1A1A"/>
                </a:solidFill>
                <a:latin typeface="Calibri"/>
              </a:rPr>
              <a:t>until the model can answer</a:t>
            </a:r>
          </a:p>
        </p:txBody>
      </p:sp>
      <p:sp>
        <p:nvSpPr>
          <p:cNvPr id="26" name="Rounded Rectangle 25"/>
          <p:cNvSpPr/>
          <p:nvPr/>
        </p:nvSpPr>
        <p:spPr>
          <a:xfrm>
            <a:off x="6627708" y="1742056"/>
            <a:ext cx="2127443" cy="656701"/>
          </a:xfrm>
          <a:prstGeom prst="roundRect">
            <a:avLst>
              <a:gd name="adj" fmla="val 11139"/>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6E1120"/>
                </a:solidFill>
                <a:latin typeface="Calibri"/>
              </a:rPr>
              <a:t>server/discover</a:t>
            </a:r>
          </a:p>
          <a:p>
            <a:pPr algn="ctr">
              <a:lnSpc>
                <a:spcPct val="105000"/>
              </a:lnSpc>
              <a:spcBef>
                <a:spcPts val="0"/>
              </a:spcBef>
              <a:spcAft>
                <a:spcPts val="0"/>
              </a:spcAft>
            </a:pPr>
            <a:r>
              <a:rPr sz="1150" b="0" i="0">
                <a:solidFill>
                  <a:srgbClr val="6E1120"/>
                </a:solidFill>
                <a:latin typeface="Calibri"/>
              </a:rPr>
              <a:t>optional: what the server offers</a:t>
            </a:r>
          </a:p>
        </p:txBody>
      </p:sp>
      <p:sp>
        <p:nvSpPr>
          <p:cNvPr id="27" name="Rounded Rectangle 26"/>
          <p:cNvSpPr/>
          <p:nvPr/>
        </p:nvSpPr>
        <p:spPr>
          <a:xfrm>
            <a:off x="6627708" y="2850240"/>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tools/list</a:t>
            </a:r>
          </a:p>
          <a:p>
            <a:pPr algn="ctr">
              <a:lnSpc>
                <a:spcPct val="105000"/>
              </a:lnSpc>
              <a:spcBef>
                <a:spcPts val="0"/>
              </a:spcBef>
              <a:spcAft>
                <a:spcPts val="0"/>
              </a:spcAft>
            </a:pPr>
            <a:r>
              <a:rPr sz="1100" b="0" i="0">
                <a:solidFill>
                  <a:srgbClr val="1A1A1A"/>
                </a:solidFill>
                <a:latin typeface="Calibri"/>
              </a:rPr>
              <a:t>names its version in _meta</a:t>
            </a:r>
          </a:p>
        </p:txBody>
      </p:sp>
      <p:sp>
        <p:nvSpPr>
          <p:cNvPr id="28" name="Rounded Rectangle 27"/>
          <p:cNvSpPr/>
          <p:nvPr/>
        </p:nvSpPr>
        <p:spPr>
          <a:xfrm>
            <a:off x="6627708" y="3835293"/>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tools/call</a:t>
            </a:r>
          </a:p>
          <a:p>
            <a:pPr algn="ctr">
              <a:lnSpc>
                <a:spcPct val="105000"/>
              </a:lnSpc>
              <a:spcBef>
                <a:spcPts val="0"/>
              </a:spcBef>
              <a:spcAft>
                <a:spcPts val="0"/>
              </a:spcAft>
            </a:pPr>
            <a:r>
              <a:rPr sz="1100" b="0" i="0">
                <a:solidFill>
                  <a:srgbClr val="1A1A1A"/>
                </a:solidFill>
                <a:latin typeface="Calibri"/>
              </a:rPr>
              <a:t>every request stands alone</a:t>
            </a:r>
          </a:p>
        </p:txBody>
      </p:sp>
      <p:sp>
        <p:nvSpPr>
          <p:cNvPr id="29" name="Rounded Rectangle 28"/>
          <p:cNvSpPr/>
          <p:nvPr/>
        </p:nvSpPr>
        <p:spPr>
          <a:xfrm>
            <a:off x="9074267" y="3835293"/>
            <a:ext cx="2021070" cy="574614"/>
          </a:xfrm>
          <a:prstGeom prst="roundRect">
            <a:avLst>
              <a:gd name="adj" fmla="val 12730"/>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iterate</a:t>
            </a:r>
          </a:p>
          <a:p>
            <a:pPr algn="ctr">
              <a:lnSpc>
                <a:spcPct val="105000"/>
              </a:lnSpc>
              <a:spcBef>
                <a:spcPts val="0"/>
              </a:spcBef>
              <a:spcAft>
                <a:spcPts val="0"/>
              </a:spcAft>
            </a:pPr>
            <a:r>
              <a:rPr sz="1050" b="0" i="0">
                <a:solidFill>
                  <a:srgbClr val="1A1A1A"/>
                </a:solidFill>
                <a:latin typeface="Calibri"/>
              </a:rPr>
              <a:t>no session to keep</a:t>
            </a:r>
          </a:p>
        </p:txBody>
      </p:sp>
      <p:cxnSp>
        <p:nvCxnSpPr>
          <p:cNvPr id="30" name="Connector 29"/>
          <p:cNvCxnSpPr/>
          <p:nvPr/>
        </p:nvCxnSpPr>
        <p:spPr>
          <a:xfrm>
            <a:off x="3269519" y="2070407"/>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160077" y="2444478"/>
            <a:ext cx="0" cy="36004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160077" y="3470574"/>
            <a:ext cx="0" cy="3189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269519" y="4122600"/>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553451" y="2444478"/>
            <a:ext cx="0" cy="134509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691429" y="2444478"/>
            <a:ext cx="0" cy="36004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691429" y="3470574"/>
            <a:ext cx="0" cy="3189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800871" y="4122600"/>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77240" y="5559552"/>
            <a:ext cx="10637215" cy="685800"/>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Calibri"/>
              </a:rPr>
              <a:t>▪  </a:t>
            </a:r>
            <a:r>
              <a:rPr sz="1400" b="0">
                <a:solidFill>
                  <a:srgbClr val="1A1A1A"/>
                </a:solidFill>
                <a:latin typeface="Calibri"/>
              </a:rPr>
              <a:t>Official SDKs exist for TypeScript, Python, C#, Go, Rust, Ruby, Java, Swift, PHP and Kotlin, with the same pattern in each; one SAJHA endpoint serves both eras.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TRANSPORTS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Four transports in SAJHA; two of them are the MCP standard</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Every transport reaches the same catalog through the same access policy, rules and audit.</a:t>
            </a:r>
          </a:p>
        </p:txBody>
      </p:sp>
      <p:graphicFrame>
        <p:nvGraphicFramePr>
          <p:cNvPr id="19" name="Table 18"/>
          <p:cNvGraphicFramePr>
            <a:graphicFrameLocks noGrp="1"/>
          </p:cNvGraphicFramePr>
          <p:nvPr/>
        </p:nvGraphicFramePr>
        <p:xfrm>
          <a:off x="777240" y="1354836"/>
          <a:ext cx="10637213" cy="3175347"/>
        </p:xfrm>
        <a:graphic>
          <a:graphicData uri="http://schemas.openxmlformats.org/drawingml/2006/table">
            <a:tbl>
              <a:tblPr firstRow="1">
                <a:tableStyleId>{5C22544A-7EE6-4342-B048-85BDC9FD1C3A}</a:tableStyleId>
              </a:tblPr>
              <a:tblGrid>
                <a:gridCol w="1979016"/>
                <a:gridCol w="3463279"/>
                <a:gridCol w="2226393"/>
                <a:gridCol w="2968525"/>
              </a:tblGrid>
              <a:tr h="350710">
                <a:tc>
                  <a:txBody>
                    <a:bodyPr wrap="square"/>
                    <a:lstStyle/>
                    <a:p>
                      <a:r>
                        <a:rPr sz="1500" b="1">
                          <a:solidFill>
                            <a:srgbClr val="FFFFFF"/>
                          </a:solidFill>
                          <a:latin typeface="Calibri"/>
                        </a:rPr>
                        <a:t>Transport</a:t>
                      </a:r>
                    </a:p>
                  </a:txBody>
                  <a:tcPr marL="82296" marR="64008" marT="32004" marB="32004" anchor="ctr">
                    <a:solidFill>
                      <a:srgbClr val="A51C30"/>
                    </a:solidFill>
                  </a:tcPr>
                </a:tc>
                <a:tc>
                  <a:txBody>
                    <a:bodyPr wrap="square"/>
                    <a:lstStyle/>
                    <a:p>
                      <a:r>
                        <a:rPr sz="1500" b="1">
                          <a:solidFill>
                            <a:srgbClr val="FFFFFF"/>
                          </a:solidFill>
                          <a:latin typeface="Calibri"/>
                        </a:rPr>
                        <a:t>How it works</a:t>
                      </a:r>
                    </a:p>
                  </a:txBody>
                  <a:tcPr marL="82296" marR="64008" marT="32004" marB="32004" anchor="ctr">
                    <a:solidFill>
                      <a:srgbClr val="A51C30"/>
                    </a:solidFill>
                  </a:tcPr>
                </a:tc>
                <a:tc>
                  <a:txBody>
                    <a:bodyPr wrap="square"/>
                    <a:lstStyle/>
                    <a:p>
                      <a:r>
                        <a:rPr sz="1500" b="1">
                          <a:solidFill>
                            <a:srgbClr val="FFFFFF"/>
                          </a:solidFill>
                          <a:latin typeface="Calibri"/>
                        </a:rPr>
                        <a:t>In the MCP spec</a:t>
                      </a:r>
                    </a:p>
                  </a:txBody>
                  <a:tcPr marL="82296" marR="64008" marT="32004" marB="32004" anchor="ctr">
                    <a:solidFill>
                      <a:srgbClr val="A51C30"/>
                    </a:solidFill>
                  </a:tcPr>
                </a:tc>
                <a:tc>
                  <a:txBody>
                    <a:bodyPr wrap="square"/>
                    <a:lstStyle/>
                    <a:p>
                      <a:r>
                        <a:rPr sz="1500" b="1">
                          <a:solidFill>
                            <a:srgbClr val="FFFFFF"/>
                          </a:solidFill>
                          <a:latin typeface="Calibri"/>
                        </a:rPr>
                        <a:t>In SAJHA</a:t>
                      </a:r>
                    </a:p>
                  </a:txBody>
                  <a:tcPr marL="82296" marR="64008" marT="32004" marB="32004" anchor="ctr">
                    <a:solidFill>
                      <a:srgbClr val="A51C30"/>
                    </a:solidFill>
                  </a:tcPr>
                </a:tc>
              </a:tr>
              <a:tr h="639889">
                <a:tc>
                  <a:txBody>
                    <a:bodyPr wrap="square"/>
                    <a:lstStyle/>
                    <a:p>
                      <a:r>
                        <a:rPr sz="1650" b="1">
                          <a:solidFill>
                            <a:srgbClr val="6E1120"/>
                          </a:solidFill>
                          <a:latin typeface="Calibri"/>
                        </a:rPr>
                        <a:t>Streamable HTTP</a:t>
                      </a:r>
                    </a:p>
                  </a:txBody>
                  <a:tcPr marL="82296" marR="64008" marT="32004" marB="32004" anchor="ctr">
                    <a:solidFill>
                      <a:srgbClr val="FFFFFF"/>
                    </a:solidFill>
                  </a:tcPr>
                </a:tc>
                <a:tc>
                  <a:txBody>
                    <a:bodyPr wrap="square"/>
                    <a:lstStyle/>
                    <a:p>
                      <a:r>
                        <a:rPr sz="1650" b="0">
                          <a:solidFill>
                            <a:srgbClr val="1A1A1A"/>
                          </a:solidFill>
                          <a:latin typeface="Calibri"/>
                        </a:rPr>
                        <a:t>HTTP POST, answered with JSON or a streamed (SSE) response</a:t>
                      </a:r>
                    </a:p>
                  </a:txBody>
                  <a:tcPr marL="82296" marR="64008" marT="32004" marB="32004" anchor="ctr">
                    <a:solidFill>
                      <a:srgbClr val="FFFFFF"/>
                    </a:solidFill>
                  </a:tcPr>
                </a:tc>
                <a:tc>
                  <a:txBody>
                    <a:bodyPr wrap="square"/>
                    <a:lstStyle/>
                    <a:p>
                      <a:r>
                        <a:rPr sz="1650" b="0">
                          <a:solidFill>
                            <a:srgbClr val="1A1A1A"/>
                          </a:solidFill>
                          <a:latin typeface="Calibri"/>
                        </a:rPr>
                        <a:t>Yes: the remote transport</a:t>
                      </a:r>
                    </a:p>
                  </a:txBody>
                  <a:tcPr marL="82296" marR="64008" marT="32004" marB="32004" anchor="ctr">
                    <a:solidFill>
                      <a:srgbClr val="FFFFFF"/>
                    </a:solidFill>
                  </a:tcPr>
                </a:tc>
                <a:tc>
                  <a:txBody>
                    <a:bodyPr wrap="square"/>
                    <a:lstStyle/>
                    <a:p>
                      <a:r>
                        <a:rPr sz="1650" b="0">
                          <a:solidFill>
                            <a:srgbClr val="1A1A1A"/>
                          </a:solidFill>
                          <a:latin typeface="Calibri"/>
                        </a:rPr>
                        <a:t>POST /mcp, both eras</a:t>
                      </a:r>
                    </a:p>
                  </a:txBody>
                  <a:tcPr marL="82296" marR="64008" marT="32004" marB="32004" anchor="ctr">
                    <a:solidFill>
                      <a:srgbClr val="FFFFFF"/>
                    </a:solidFill>
                  </a:tcPr>
                </a:tc>
              </a:tr>
              <a:tr h="904970">
                <a:tc>
                  <a:txBody>
                    <a:bodyPr wrap="square"/>
                    <a:lstStyle/>
                    <a:p>
                      <a:r>
                        <a:rPr sz="1650" b="1">
                          <a:solidFill>
                            <a:srgbClr val="6E1120"/>
                          </a:solidFill>
                          <a:latin typeface="Calibri"/>
                        </a:rPr>
                        <a:t>stdio</a:t>
                      </a:r>
                    </a:p>
                  </a:txBody>
                  <a:tcPr marL="82296" marR="64008" marT="32004" marB="32004" anchor="ctr">
                    <a:solidFill>
                      <a:srgbClr val="F7F5F2"/>
                    </a:solidFill>
                  </a:tcPr>
                </a:tc>
                <a:tc>
                  <a:txBody>
                    <a:bodyPr wrap="square"/>
                    <a:lstStyle/>
                    <a:p>
                      <a:r>
                        <a:rPr sz="1650" b="0">
                          <a:solidFill>
                            <a:srgbClr val="1A1A1A"/>
                          </a:solidFill>
                          <a:latin typeface="Calibri"/>
                        </a:rPr>
                        <a:t>The server runs as a child process; messages on stdin and stdout</a:t>
                      </a:r>
                    </a:p>
                  </a:txBody>
                  <a:tcPr marL="82296" marR="64008" marT="32004" marB="32004" anchor="ctr">
                    <a:solidFill>
                      <a:srgbClr val="F7F5F2"/>
                    </a:solidFill>
                  </a:tcPr>
                </a:tc>
                <a:tc>
                  <a:txBody>
                    <a:bodyPr wrap="square"/>
                    <a:lstStyle/>
                    <a:p>
                      <a:r>
                        <a:rPr sz="1650" b="0">
                          <a:solidFill>
                            <a:srgbClr val="1A1A1A"/>
                          </a:solidFill>
                          <a:latin typeface="Calibri"/>
                        </a:rPr>
                        <a:t>Yes: the local transport</a:t>
                      </a:r>
                    </a:p>
                  </a:txBody>
                  <a:tcPr marL="82296" marR="64008" marT="32004" marB="32004" anchor="ctr">
                    <a:solidFill>
                      <a:srgbClr val="F7F5F2"/>
                    </a:solidFill>
                  </a:tcPr>
                </a:tc>
                <a:tc>
                  <a:txBody>
                    <a:bodyPr wrap="square"/>
                    <a:lstStyle/>
                    <a:p>
                      <a:r>
                        <a:rPr sz="1650" b="0">
                          <a:solidFill>
                            <a:srgbClr val="1A1A1A"/>
                          </a:solidFill>
                          <a:latin typeface="Calibri"/>
                        </a:rPr>
                        <a:t>sajha serve --stdio, for desktop clients</a:t>
                      </a:r>
                    </a:p>
                  </a:txBody>
                  <a:tcPr marL="82296" marR="64008" marT="32004" marB="32004" anchor="ctr">
                    <a:solidFill>
                      <a:srgbClr val="F7F5F2"/>
                    </a:solidFill>
                  </a:tcPr>
                </a:tc>
              </a:tr>
              <a:tr h="639889">
                <a:tc>
                  <a:txBody>
                    <a:bodyPr wrap="square"/>
                    <a:lstStyle/>
                    <a:p>
                      <a:r>
                        <a:rPr sz="1650" b="1">
                          <a:solidFill>
                            <a:srgbClr val="6E1120"/>
                          </a:solidFill>
                          <a:latin typeface="Calibri"/>
                        </a:rPr>
                        <a:t>HTTP + SSE</a:t>
                      </a:r>
                    </a:p>
                  </a:txBody>
                  <a:tcPr marL="82296" marR="64008" marT="32004" marB="32004" anchor="ctr">
                    <a:solidFill>
                      <a:srgbClr val="FFFFFF"/>
                    </a:solidFill>
                  </a:tcPr>
                </a:tc>
                <a:tc>
                  <a:txBody>
                    <a:bodyPr wrap="square"/>
                    <a:lstStyle/>
                    <a:p>
                      <a:r>
                        <a:rPr sz="1650" b="0">
                          <a:solidFill>
                            <a:srgbClr val="1A1A1A"/>
                          </a:solidFill>
                          <a:latin typeface="Calibri"/>
                        </a:rPr>
                        <a:t>A long-lived event stream plus a POST endpoint</a:t>
                      </a:r>
                    </a:p>
                  </a:txBody>
                  <a:tcPr marL="82296" marR="64008" marT="32004" marB="32004" anchor="ctr">
                    <a:solidFill>
                      <a:srgbClr val="FFFFFF"/>
                    </a:solidFill>
                  </a:tcPr>
                </a:tc>
                <a:tc>
                  <a:txBody>
                    <a:bodyPr wrap="square"/>
                    <a:lstStyle/>
                    <a:p>
                      <a:r>
                        <a:rPr sz="1650" b="0">
                          <a:solidFill>
                            <a:srgbClr val="1A1A1A"/>
                          </a:solidFill>
                          <a:latin typeface="Calibri"/>
                        </a:rPr>
                        <a:t>Replaced by Streamable HTTP</a:t>
                      </a:r>
                    </a:p>
                  </a:txBody>
                  <a:tcPr marL="82296" marR="64008" marT="32004" marB="32004" anchor="ctr">
                    <a:solidFill>
                      <a:srgbClr val="FFFFFF"/>
                    </a:solidFill>
                  </a:tcPr>
                </a:tc>
                <a:tc>
                  <a:txBody>
                    <a:bodyPr wrap="square"/>
                    <a:lstStyle/>
                    <a:p>
                      <a:r>
                        <a:rPr sz="1650" b="0">
                          <a:solidFill>
                            <a:srgbClr val="1A1A1A"/>
                          </a:solidFill>
                          <a:latin typeface="Calibri"/>
                        </a:rPr>
                        <a:t>/mcp/sse, for older clients</a:t>
                      </a:r>
                    </a:p>
                  </a:txBody>
                  <a:tcPr marL="82296" marR="64008" marT="32004" marB="32004" anchor="ctr">
                    <a:solidFill>
                      <a:srgbClr val="FFFFFF"/>
                    </a:solidFill>
                  </a:tcPr>
                </a:tc>
              </a:tr>
              <a:tr h="639889">
                <a:tc>
                  <a:txBody>
                    <a:bodyPr wrap="square"/>
                    <a:lstStyle/>
                    <a:p>
                      <a:r>
                        <a:rPr sz="1650" b="1">
                          <a:solidFill>
                            <a:srgbClr val="6E1120"/>
                          </a:solidFill>
                          <a:latin typeface="Calibri"/>
                        </a:rPr>
                        <a:t>WebSocket</a:t>
                      </a:r>
                    </a:p>
                  </a:txBody>
                  <a:tcPr marL="82296" marR="64008" marT="32004" marB="32004" anchor="ctr">
                    <a:solidFill>
                      <a:srgbClr val="F7F5F2"/>
                    </a:solidFill>
                  </a:tcPr>
                </a:tc>
                <a:tc>
                  <a:txBody>
                    <a:bodyPr wrap="square"/>
                    <a:lstStyle/>
                    <a:p>
                      <a:r>
                        <a:rPr sz="1650" b="0">
                          <a:solidFill>
                            <a:srgbClr val="1A1A1A"/>
                          </a:solidFill>
                          <a:latin typeface="Calibri"/>
                        </a:rPr>
                        <a:t>A full-duplex persistent connection</a:t>
                      </a:r>
                    </a:p>
                  </a:txBody>
                  <a:tcPr marL="82296" marR="64008" marT="32004" marB="32004" anchor="ctr">
                    <a:solidFill>
                      <a:srgbClr val="F7F5F2"/>
                    </a:solidFill>
                  </a:tcPr>
                </a:tc>
                <a:tc>
                  <a:txBody>
                    <a:bodyPr wrap="square"/>
                    <a:lstStyle/>
                    <a:p>
                      <a:r>
                        <a:rPr sz="1650" b="0">
                          <a:solidFill>
                            <a:srgbClr val="1A1A1A"/>
                          </a:solidFill>
                          <a:latin typeface="Calibri"/>
                        </a:rPr>
                        <a:t>No: an extension</a:t>
                      </a:r>
                    </a:p>
                  </a:txBody>
                  <a:tcPr marL="82296" marR="64008" marT="32004" marB="32004" anchor="ctr">
                    <a:solidFill>
                      <a:srgbClr val="F7F5F2"/>
                    </a:solidFill>
                  </a:tcPr>
                </a:tc>
                <a:tc>
                  <a:txBody>
                    <a:bodyPr wrap="square"/>
                    <a:lstStyle/>
                    <a:p>
                      <a:r>
                        <a:rPr sz="1650" b="0">
                          <a:solidFill>
                            <a:srgbClr val="1A1A1A"/>
                          </a:solidFill>
                          <a:latin typeface="Calibri"/>
                        </a:rPr>
                        <a:t>/mcp/ws, for browsers and long-lived links</a:t>
                      </a:r>
                    </a:p>
                  </a:txBody>
                  <a:tcPr marL="82296" marR="64008" marT="32004" marB="32004" anchor="ctr">
                    <a:solidFill>
                      <a:srgbClr val="F7F5F2"/>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TWO ERAS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Two eras on one endpoint, recognised request by request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Session state, task records, rate limits and OAuth codes go through a shared store, so either era works across several workers.</a:t>
            </a:r>
          </a:p>
        </p:txBody>
      </p:sp>
      <p:graphicFrame>
        <p:nvGraphicFramePr>
          <p:cNvPr id="19" name="Table 18"/>
          <p:cNvGraphicFramePr>
            <a:graphicFrameLocks noGrp="1"/>
          </p:cNvGraphicFramePr>
          <p:nvPr/>
        </p:nvGraphicFramePr>
        <p:xfrm>
          <a:off x="777240" y="1386967"/>
          <a:ext cx="10637214" cy="4125941"/>
        </p:xfrm>
        <a:graphic>
          <a:graphicData uri="http://schemas.openxmlformats.org/drawingml/2006/table">
            <a:tbl>
              <a:tblPr firstRow="1">
                <a:tableStyleId>{5C22544A-7EE6-4342-B048-85BDC9FD1C3A}</a:tableStyleId>
              </a:tblPr>
              <a:tblGrid>
                <a:gridCol w="1728547"/>
                <a:gridCol w="2260408"/>
                <a:gridCol w="4254886"/>
                <a:gridCol w="2393373"/>
              </a:tblGrid>
              <a:tr h="350710">
                <a:tc>
                  <a:txBody>
                    <a:bodyPr wrap="square"/>
                    <a:lstStyle/>
                    <a:p>
                      <a:r>
                        <a:rPr sz="1500" b="1">
                          <a:solidFill>
                            <a:srgbClr val="FFFFFF"/>
                          </a:solidFill>
                          <a:latin typeface="Calibri"/>
                        </a:rPr>
                        <a:t>Era</a:t>
                      </a:r>
                    </a:p>
                  </a:txBody>
                  <a:tcPr marL="82296" marR="64008" marT="32004" marB="32004" anchor="ctr">
                    <a:solidFill>
                      <a:srgbClr val="A51C30"/>
                    </a:solidFill>
                  </a:tcPr>
                </a:tc>
                <a:tc>
                  <a:txBody>
                    <a:bodyPr wrap="square"/>
                    <a:lstStyle/>
                    <a:p>
                      <a:r>
                        <a:rPr sz="1500" b="1">
                          <a:solidFill>
                            <a:srgbClr val="FFFFFF"/>
                          </a:solidFill>
                          <a:latin typeface="Calibri"/>
                        </a:rPr>
                        <a:t>Versions</a:t>
                      </a:r>
                    </a:p>
                  </a:txBody>
                  <a:tcPr marL="82296" marR="64008" marT="32004" marB="32004" anchor="ctr">
                    <a:solidFill>
                      <a:srgbClr val="A51C30"/>
                    </a:solidFill>
                  </a:tcPr>
                </a:tc>
                <a:tc>
                  <a:txBody>
                    <a:bodyPr wrap="square"/>
                    <a:lstStyle/>
                    <a:p>
                      <a:r>
                        <a:rPr sz="1500" b="1">
                          <a:solidFill>
                            <a:srgbClr val="FFFFFF"/>
                          </a:solidFill>
                          <a:latin typeface="Calibri"/>
                        </a:rPr>
                        <a:t>How SAJHA recognises it</a:t>
                      </a:r>
                    </a:p>
                  </a:txBody>
                  <a:tcPr marL="82296" marR="64008" marT="32004" marB="32004" anchor="ctr">
                    <a:solidFill>
                      <a:srgbClr val="A51C30"/>
                    </a:solidFill>
                  </a:tcPr>
                </a:tc>
                <a:tc>
                  <a:txBody>
                    <a:bodyPr wrap="square"/>
                    <a:lstStyle/>
                    <a:p>
                      <a:r>
                        <a:rPr sz="1500" b="1">
                          <a:solidFill>
                            <a:srgbClr val="FFFFFF"/>
                          </a:solidFill>
                          <a:latin typeface="Calibri"/>
                        </a:rPr>
                        <a:t>Who sends it</a:t>
                      </a:r>
                    </a:p>
                  </a:txBody>
                  <a:tcPr marL="82296" marR="64008" marT="32004" marB="32004" anchor="ctr">
                    <a:solidFill>
                      <a:srgbClr val="A51C30"/>
                    </a:solidFill>
                  </a:tcPr>
                </a:tc>
              </a:tr>
              <a:tr h="1170050">
                <a:tc>
                  <a:txBody>
                    <a:bodyPr wrap="square"/>
                    <a:lstStyle/>
                    <a:p>
                      <a:r>
                        <a:rPr sz="1650" b="1">
                          <a:solidFill>
                            <a:srgbClr val="6E1120"/>
                          </a:solidFill>
                          <a:latin typeface="Calibri"/>
                        </a:rPr>
                        <a:t>Stateless</a:t>
                      </a:r>
                    </a:p>
                  </a:txBody>
                  <a:tcPr marL="82296" marR="64008" marT="32004" marB="32004" anchor="ctr">
                    <a:solidFill>
                      <a:srgbClr val="FFFFFF"/>
                    </a:solidFill>
                  </a:tcPr>
                </a:tc>
                <a:tc>
                  <a:txBody>
                    <a:bodyPr wrap="square"/>
                    <a:lstStyle/>
                    <a:p>
                      <a:r>
                        <a:rPr sz="1650" b="0">
                          <a:solidFill>
                            <a:srgbClr val="1A1A1A"/>
                          </a:solidFill>
                          <a:latin typeface="Calibri"/>
                        </a:rPr>
                        <a:t>2026-07-28</a:t>
                      </a:r>
                    </a:p>
                  </a:txBody>
                  <a:tcPr marL="82296" marR="64008" marT="32004" marB="32004" anchor="ctr">
                    <a:solidFill>
                      <a:srgbClr val="FFFFFF"/>
                    </a:solidFill>
                  </a:tcPr>
                </a:tc>
                <a:tc>
                  <a:txBody>
                    <a:bodyPr wrap="square"/>
                    <a:lstStyle/>
                    <a:p>
                      <a:r>
                        <a:rPr sz="1650" b="0">
                          <a:solidFill>
                            <a:srgbClr val="1A1A1A"/>
                          </a:solidFill>
                          <a:latin typeface="Calibri"/>
                        </a:rPr>
                        <a:t>The request names its protocol version in _meta (or a non-handshake MCP-Protocol-Version header); there is no session.</a:t>
                      </a:r>
                    </a:p>
                  </a:txBody>
                  <a:tcPr marL="82296" marR="64008" marT="32004" marB="32004" anchor="ctr">
                    <a:solidFill>
                      <a:srgbClr val="FFFFFF"/>
                    </a:solidFill>
                  </a:tcPr>
                </a:tc>
                <a:tc>
                  <a:txBody>
                    <a:bodyPr wrap="square"/>
                    <a:lstStyle/>
                    <a:p>
                      <a:r>
                        <a:rPr sz="1650" b="0">
                          <a:solidFill>
                            <a:srgbClr val="1A1A1A"/>
                          </a:solidFill>
                          <a:latin typeface="Calibri"/>
                        </a:rPr>
                        <a:t>Clients on current SDKs</a:t>
                      </a:r>
                    </a:p>
                  </a:txBody>
                  <a:tcPr marL="82296" marR="64008" marT="32004" marB="32004" anchor="ctr">
                    <a:solidFill>
                      <a:srgbClr val="FFFFFF"/>
                    </a:solidFill>
                  </a:tcPr>
                </a:tc>
              </a:tr>
              <a:tr h="1170050">
                <a:tc>
                  <a:txBody>
                    <a:bodyPr wrap="square"/>
                    <a:lstStyle/>
                    <a:p>
                      <a:r>
                        <a:rPr sz="1650" b="1">
                          <a:solidFill>
                            <a:srgbClr val="6E1120"/>
                          </a:solidFill>
                          <a:latin typeface="Calibri"/>
                        </a:rPr>
                        <a:t>Session-based</a:t>
                      </a:r>
                    </a:p>
                  </a:txBody>
                  <a:tcPr marL="82296" marR="64008" marT="32004" marB="32004" anchor="ctr">
                    <a:solidFill>
                      <a:srgbClr val="F7F5F2"/>
                    </a:solidFill>
                  </a:tcPr>
                </a:tc>
                <a:tc>
                  <a:txBody>
                    <a:bodyPr wrap="square"/>
                    <a:lstStyle/>
                    <a:p>
                      <a:r>
                        <a:rPr sz="1650" b="0">
                          <a:solidFill>
                            <a:srgbClr val="1A1A1A"/>
                          </a:solidFill>
                          <a:latin typeface="Calibri"/>
                        </a:rPr>
                        <a:t>2025-11-25, 2025-06-18, 2025-03-26 and 2024-11-05</a:t>
                      </a:r>
                    </a:p>
                  </a:txBody>
                  <a:tcPr marL="82296" marR="64008" marT="32004" marB="32004" anchor="ctr">
                    <a:solidFill>
                      <a:srgbClr val="F7F5F2"/>
                    </a:solidFill>
                  </a:tcPr>
                </a:tc>
                <a:tc>
                  <a:txBody>
                    <a:bodyPr wrap="square"/>
                    <a:lstStyle/>
                    <a:p>
                      <a:r>
                        <a:rPr sz="1650" b="0">
                          <a:solidFill>
                            <a:srgbClr val="1A1A1A"/>
                          </a:solidFill>
                          <a:latin typeface="Calibri"/>
                        </a:rPr>
                        <a:t>An initialize handshake opens a session (Mcp-Session-Id) that later requests carry.</a:t>
                      </a:r>
                    </a:p>
                  </a:txBody>
                  <a:tcPr marL="82296" marR="64008" marT="32004" marB="32004" anchor="ctr">
                    <a:solidFill>
                      <a:srgbClr val="F7F5F2"/>
                    </a:solidFill>
                  </a:tcPr>
                </a:tc>
                <a:tc>
                  <a:txBody>
                    <a:bodyPr wrap="square"/>
                    <a:lstStyle/>
                    <a:p>
                      <a:r>
                        <a:rPr sz="1650" b="0">
                          <a:solidFill>
                            <a:srgbClr val="1A1A1A"/>
                          </a:solidFill>
                          <a:latin typeface="Calibri"/>
                        </a:rPr>
                        <a:t>Most clients in the field</a:t>
                      </a:r>
                    </a:p>
                  </a:txBody>
                  <a:tcPr marL="82296" marR="64008" marT="32004" marB="32004" anchor="ctr">
                    <a:solidFill>
                      <a:srgbClr val="F7F5F2"/>
                    </a:solidFill>
                  </a:tcPr>
                </a:tc>
              </a:tr>
              <a:tr h="1435131">
                <a:tc>
                  <a:txBody>
                    <a:bodyPr wrap="square"/>
                    <a:lstStyle/>
                    <a:p>
                      <a:r>
                        <a:rPr sz="1650" b="1">
                          <a:solidFill>
                            <a:srgbClr val="6E1120"/>
                          </a:solidFill>
                          <a:latin typeface="Calibri"/>
                        </a:rPr>
                        <a:t>Either</a:t>
                      </a:r>
                    </a:p>
                  </a:txBody>
                  <a:tcPr marL="82296" marR="64008" marT="32004" marB="32004" anchor="ctr">
                    <a:solidFill>
                      <a:srgbClr val="FFFFFF"/>
                    </a:solidFill>
                  </a:tcPr>
                </a:tc>
                <a:tc>
                  <a:txBody>
                    <a:bodyPr wrap="square"/>
                    <a:lstStyle/>
                    <a:p>
                      <a:r>
                        <a:rPr sz="1650" b="0">
                          <a:solidFill>
                            <a:srgbClr val="1A1A1A"/>
                          </a:solidFill>
                          <a:latin typeface="Calibri"/>
                        </a:rPr>
                        <a:t>—</a:t>
                      </a:r>
                    </a:p>
                  </a:txBody>
                  <a:tcPr marL="82296" marR="64008" marT="32004" marB="32004" anchor="ctr">
                    <a:solidFill>
                      <a:srgbClr val="FFFFFF"/>
                    </a:solidFill>
                  </a:tcPr>
                </a:tc>
                <a:tc>
                  <a:txBody>
                    <a:bodyPr wrap="square"/>
                    <a:lstStyle/>
                    <a:p>
                      <a:r>
                        <a:rPr sz="1650" b="0">
                          <a:solidFill>
                            <a:srgbClr val="1A1A1A"/>
                          </a:solidFill>
                          <a:latin typeface="Calibri"/>
                        </a:rPr>
                        <a:t>Decided per request on POST /mcp, so one deployment serves a mixed fleet; the Python client probes server/discover and adopts the newest.</a:t>
                      </a:r>
                    </a:p>
                  </a:txBody>
                  <a:tcPr marL="82296" marR="64008" marT="32004" marB="32004" anchor="ctr">
                    <a:solidFill>
                      <a:srgbClr val="FFFFFF"/>
                    </a:solidFill>
                  </a:tcPr>
                </a:tc>
                <a:tc>
                  <a:txBody>
                    <a:bodyPr wrap="square"/>
                    <a:lstStyle/>
                    <a:p>
                      <a:r>
                        <a:rPr sz="1650" b="0">
                          <a:solidFill>
                            <a:srgbClr val="1A1A1A"/>
                          </a:solidFill>
                          <a:latin typeface="Calibri"/>
                        </a:rPr>
                        <a:t>Mixed estates</a:t>
                      </a:r>
                    </a:p>
                  </a:txBody>
                  <a:tcPr marL="82296" marR="64008" marT="32004" marB="32004"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The official conformance suite: 242 checks passed, 0 failed</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16</a:t>
            </a:r>
          </a:p>
        </p:txBody>
      </p:sp>
      <p:sp>
        <p:nvSpPr>
          <p:cNvPr id="17" name="TextBox 16"/>
          <p:cNvSpPr txBox="1"/>
          <p:nvPr/>
        </p:nvSpPr>
        <p:spPr>
          <a:xfrm>
            <a:off x="777240" y="1354836"/>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CI starts a live SAJHA and runs the official MCP conformance suite once per era, 2025-11-25 (suite 0.1.16) and 2026-07-28 (suite 0.2.0-alpha.12), on every push to develop and main. The compliance report records those runs and two more suites against the same server, for tasks and for the built-in authorization server.</a:t>
            </a:r>
          </a:p>
        </p:txBody>
      </p:sp>
      <p:sp>
        <p:nvSpPr>
          <p:cNvPr id="18" name="Rectangle 17"/>
          <p:cNvSpPr/>
          <p:nvPr/>
        </p:nvSpPr>
        <p:spPr>
          <a:xfrm>
            <a:off x="777240" y="2252853"/>
            <a:ext cx="3411626"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2252853"/>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380869"/>
            <a:ext cx="3100730"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242</a:t>
            </a:r>
          </a:p>
        </p:txBody>
      </p:sp>
      <p:sp>
        <p:nvSpPr>
          <p:cNvPr id="21" name="TextBox 20"/>
          <p:cNvSpPr txBox="1"/>
          <p:nvPr/>
        </p:nvSpPr>
        <p:spPr>
          <a:xfrm>
            <a:off x="978408" y="2856357"/>
            <a:ext cx="3100730"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checks passed, over the suites below</a:t>
            </a:r>
          </a:p>
        </p:txBody>
      </p:sp>
      <p:sp>
        <p:nvSpPr>
          <p:cNvPr id="22" name="Rectangle 21"/>
          <p:cNvSpPr/>
          <p:nvPr/>
        </p:nvSpPr>
        <p:spPr>
          <a:xfrm>
            <a:off x="4390034" y="2252853"/>
            <a:ext cx="3411626"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90034" y="2252853"/>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91202" y="2380869"/>
            <a:ext cx="3100730"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0</a:t>
            </a:r>
          </a:p>
        </p:txBody>
      </p:sp>
      <p:sp>
        <p:nvSpPr>
          <p:cNvPr id="25" name="TextBox 24"/>
          <p:cNvSpPr txBox="1"/>
          <p:nvPr/>
        </p:nvSpPr>
        <p:spPr>
          <a:xfrm>
            <a:off x="4591202" y="2856357"/>
            <a:ext cx="3100730"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checks failed</a:t>
            </a:r>
          </a:p>
        </p:txBody>
      </p:sp>
      <p:sp>
        <p:nvSpPr>
          <p:cNvPr id="26" name="Rectangle 25"/>
          <p:cNvSpPr/>
          <p:nvPr/>
        </p:nvSpPr>
        <p:spPr>
          <a:xfrm>
            <a:off x="8002828" y="2252853"/>
            <a:ext cx="3411626"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2828" y="2252853"/>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03996" y="2380869"/>
            <a:ext cx="3100730"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a:t>
            </a:r>
          </a:p>
        </p:txBody>
      </p:sp>
      <p:sp>
        <p:nvSpPr>
          <p:cNvPr id="29" name="TextBox 28"/>
          <p:cNvSpPr txBox="1"/>
          <p:nvPr/>
        </p:nvSpPr>
        <p:spPr>
          <a:xfrm>
            <a:off x="8203996" y="2856357"/>
            <a:ext cx="3100730"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eras in the CI matrix, each with a pinned suite</a:t>
            </a:r>
          </a:p>
        </p:txBody>
      </p:sp>
      <p:graphicFrame>
        <p:nvGraphicFramePr>
          <p:cNvPr id="30" name="Table 29"/>
          <p:cNvGraphicFramePr>
            <a:graphicFrameLocks noGrp="1"/>
          </p:cNvGraphicFramePr>
          <p:nvPr/>
        </p:nvGraphicFramePr>
        <p:xfrm>
          <a:off x="777240" y="3606165"/>
          <a:ext cx="10637214" cy="2074862"/>
        </p:xfrm>
        <a:graphic>
          <a:graphicData uri="http://schemas.openxmlformats.org/drawingml/2006/table">
            <a:tbl>
              <a:tblPr firstRow="1">
                <a:tableStyleId>{5C22544A-7EE6-4342-B048-85BDC9FD1C3A}</a:tableStyleId>
              </a:tblPr>
              <a:tblGrid>
                <a:gridCol w="6292437"/>
                <a:gridCol w="1498199"/>
                <a:gridCol w="1648019"/>
                <a:gridCol w="1198559"/>
              </a:tblGrid>
              <a:tr h="350710">
                <a:tc>
                  <a:txBody>
                    <a:bodyPr wrap="square"/>
                    <a:lstStyle/>
                    <a:p>
                      <a:r>
                        <a:rPr sz="1500" b="1">
                          <a:solidFill>
                            <a:srgbClr val="FFFFFF"/>
                          </a:solidFill>
                          <a:latin typeface="Calibri"/>
                        </a:rPr>
                        <a:t>Suite</a:t>
                      </a:r>
                    </a:p>
                  </a:txBody>
                  <a:tcPr marL="82296" marR="64008" marT="32004" marB="32004" anchor="ctr">
                    <a:solidFill>
                      <a:srgbClr val="A51C30"/>
                    </a:solidFill>
                  </a:tcPr>
                </a:tc>
                <a:tc>
                  <a:txBody>
                    <a:bodyPr wrap="square"/>
                    <a:lstStyle/>
                    <a:p>
                      <a:r>
                        <a:rPr sz="1500" b="1">
                          <a:solidFill>
                            <a:srgbClr val="FFFFFF"/>
                          </a:solidFill>
                          <a:latin typeface="Calibri"/>
                        </a:rPr>
                        <a:t>Scenarios</a:t>
                      </a:r>
                    </a:p>
                  </a:txBody>
                  <a:tcPr marL="82296" marR="64008" marT="32004" marB="32004" anchor="ctr">
                    <a:solidFill>
                      <a:srgbClr val="A51C30"/>
                    </a:solidFill>
                  </a:tcPr>
                </a:tc>
                <a:tc>
                  <a:txBody>
                    <a:bodyPr wrap="square"/>
                    <a:lstStyle/>
                    <a:p>
                      <a:r>
                        <a:rPr sz="1500" b="1">
                          <a:solidFill>
                            <a:srgbClr val="FFFFFF"/>
                          </a:solidFill>
                          <a:latin typeface="Calibri"/>
                        </a:rPr>
                        <a:t>Checks passed</a:t>
                      </a:r>
                    </a:p>
                  </a:txBody>
                  <a:tcPr marL="82296" marR="64008" marT="32004" marB="32004" anchor="ctr">
                    <a:solidFill>
                      <a:srgbClr val="A51C30"/>
                    </a:solidFill>
                  </a:tcPr>
                </a:tc>
                <a:tc>
                  <a:txBody>
                    <a:bodyPr wrap="square"/>
                    <a:lstStyle/>
                    <a:p>
                      <a:r>
                        <a:rPr sz="1500" b="1">
                          <a:solidFill>
                            <a:srgbClr val="FFFFFF"/>
                          </a:solidFill>
                          <a:latin typeface="Calibri"/>
                        </a:rPr>
                        <a:t>Failed</a:t>
                      </a:r>
                    </a:p>
                  </a:txBody>
                  <a:tcPr marL="82296" marR="64008" marT="32004" marB="32004" anchor="ctr">
                    <a:solidFill>
                      <a:srgbClr val="A51C30"/>
                    </a:solidFill>
                  </a:tcPr>
                </a:tc>
              </a:tr>
              <a:tr h="366776">
                <a:tc>
                  <a:txBody>
                    <a:bodyPr wrap="square"/>
                    <a:lstStyle/>
                    <a:p>
                      <a:r>
                        <a:rPr sz="1600" b="1">
                          <a:solidFill>
                            <a:srgbClr val="6E1120"/>
                          </a:solidFill>
                          <a:latin typeface="Calibri"/>
                        </a:rPr>
                        <a:t>2025-11-25 (legacy path, 0.1.16)</a:t>
                      </a:r>
                    </a:p>
                  </a:txBody>
                  <a:tcPr marL="82296" marR="64008" marT="32004" marB="32004" anchor="ctr">
                    <a:solidFill>
                      <a:srgbClr val="FFFFFF"/>
                    </a:solidFill>
                  </a:tcPr>
                </a:tc>
                <a:tc>
                  <a:txBody>
                    <a:bodyPr wrap="square"/>
                    <a:lstStyle/>
                    <a:p>
                      <a:r>
                        <a:rPr sz="1600" b="0">
                          <a:solidFill>
                            <a:srgbClr val="1A1A1A"/>
                          </a:solidFill>
                          <a:latin typeface="Calibri"/>
                        </a:rPr>
                        <a:t>32/32</a:t>
                      </a:r>
                    </a:p>
                  </a:txBody>
                  <a:tcPr marL="82296" marR="64008" marT="32004" marB="32004" anchor="ctr">
                    <a:solidFill>
                      <a:srgbClr val="FFFFFF"/>
                    </a:solidFill>
                  </a:tcPr>
                </a:tc>
                <a:tc>
                  <a:txBody>
                    <a:bodyPr wrap="square"/>
                    <a:lstStyle/>
                    <a:p>
                      <a:r>
                        <a:rPr sz="1600" b="0">
                          <a:solidFill>
                            <a:srgbClr val="1A1A1A"/>
                          </a:solidFill>
                          <a:latin typeface="Calibri"/>
                        </a:rPr>
                        <a:t>43</a:t>
                      </a:r>
                    </a:p>
                  </a:txBody>
                  <a:tcPr marL="82296" marR="64008" marT="32004" marB="32004" anchor="ctr">
                    <a:solidFill>
                      <a:srgbClr val="FFFFFF"/>
                    </a:solidFill>
                  </a:tcPr>
                </a:tc>
                <a:tc>
                  <a:txBody>
                    <a:bodyPr wrap="square"/>
                    <a:lstStyle/>
                    <a:p>
                      <a:r>
                        <a:rPr sz="1600" b="0">
                          <a:solidFill>
                            <a:srgbClr val="1A1A1A"/>
                          </a:solidFill>
                          <a:latin typeface="Calibri"/>
                        </a:rPr>
                        <a:t>0</a:t>
                      </a:r>
                    </a:p>
                  </a:txBody>
                  <a:tcPr marL="82296" marR="64008" marT="32004" marB="32004" anchor="ctr">
                    <a:solidFill>
                      <a:srgbClr val="FFFFFF"/>
                    </a:solidFill>
                  </a:tcPr>
                </a:tc>
              </a:tr>
              <a:tr h="366776">
                <a:tc>
                  <a:txBody>
                    <a:bodyPr wrap="square"/>
                    <a:lstStyle/>
                    <a:p>
                      <a:r>
                        <a:rPr sz="1600" b="1">
                          <a:solidFill>
                            <a:srgbClr val="6E1120"/>
                          </a:solidFill>
                          <a:latin typeface="Calibri"/>
                        </a:rPr>
                        <a:t>2026-07-28 --suite all (0.2.0-alpha.12)</a:t>
                      </a:r>
                    </a:p>
                  </a:txBody>
                  <a:tcPr marL="82296" marR="64008" marT="32004" marB="32004" anchor="ctr">
                    <a:solidFill>
                      <a:srgbClr val="F7F5F2"/>
                    </a:solidFill>
                  </a:tcPr>
                </a:tc>
                <a:tc>
                  <a:txBody>
                    <a:bodyPr wrap="square"/>
                    <a:lstStyle/>
                    <a:p>
                      <a:r>
                        <a:rPr sz="1600" b="0">
                          <a:solidFill>
                            <a:srgbClr val="1A1A1A"/>
                          </a:solidFill>
                          <a:latin typeface="Calibri"/>
                        </a:rPr>
                        <a:t>40/40</a:t>
                      </a:r>
                    </a:p>
                  </a:txBody>
                  <a:tcPr marL="82296" marR="64008" marT="32004" marB="32004" anchor="ctr">
                    <a:solidFill>
                      <a:srgbClr val="F7F5F2"/>
                    </a:solidFill>
                  </a:tcPr>
                </a:tc>
                <a:tc>
                  <a:txBody>
                    <a:bodyPr wrap="square"/>
                    <a:lstStyle/>
                    <a:p>
                      <a:r>
                        <a:rPr sz="1600" b="0">
                          <a:solidFill>
                            <a:srgbClr val="1A1A1A"/>
                          </a:solidFill>
                          <a:latin typeface="Calibri"/>
                        </a:rPr>
                        <a:t>152</a:t>
                      </a:r>
                    </a:p>
                  </a:txBody>
                  <a:tcPr marL="82296" marR="64008" marT="32004" marB="32004" anchor="ctr">
                    <a:solidFill>
                      <a:srgbClr val="F7F5F2"/>
                    </a:solidFill>
                  </a:tcPr>
                </a:tc>
                <a:tc>
                  <a:txBody>
                    <a:bodyPr wrap="square"/>
                    <a:lstStyle/>
                    <a:p>
                      <a:r>
                        <a:rPr sz="1600" b="0">
                          <a:solidFill>
                            <a:srgbClr val="1A1A1A"/>
                          </a:solidFill>
                          <a:latin typeface="Calibri"/>
                        </a:rPr>
                        <a:t>0</a:t>
                      </a:r>
                    </a:p>
                  </a:txBody>
                  <a:tcPr marL="82296" marR="64008" marT="32004" marB="32004" anchor="ctr">
                    <a:solidFill>
                      <a:srgbClr val="F7F5F2"/>
                    </a:solidFill>
                  </a:tcPr>
                </a:tc>
              </a:tr>
              <a:tr h="366776">
                <a:tc>
                  <a:txBody>
                    <a:bodyPr wrap="square"/>
                    <a:lstStyle/>
                    <a:p>
                      <a:r>
                        <a:rPr sz="1600" b="1">
                          <a:solidFill>
                            <a:srgbClr val="6E1120"/>
                          </a:solidFill>
                          <a:latin typeface="Calibri"/>
                        </a:rPr>
                        <a:t>tasks extension scenarios (--force)</a:t>
                      </a:r>
                    </a:p>
                  </a:txBody>
                  <a:tcPr marL="82296" marR="64008" marT="32004" marB="32004" anchor="ctr">
                    <a:solidFill>
                      <a:srgbClr val="FFFFFF"/>
                    </a:solidFill>
                  </a:tcPr>
                </a:tc>
                <a:tc>
                  <a:txBody>
                    <a:bodyPr wrap="square"/>
                    <a:lstStyle/>
                    <a:p>
                      <a:r>
                        <a:rPr sz="1600" b="0">
                          <a:solidFill>
                            <a:srgbClr val="1A1A1A"/>
                          </a:solidFill>
                          <a:latin typeface="Calibri"/>
                        </a:rPr>
                        <a:t>10/10</a:t>
                      </a:r>
                    </a:p>
                  </a:txBody>
                  <a:tcPr marL="82296" marR="64008" marT="32004" marB="32004" anchor="ctr">
                    <a:solidFill>
                      <a:srgbClr val="FFFFFF"/>
                    </a:solidFill>
                  </a:tcPr>
                </a:tc>
                <a:tc>
                  <a:txBody>
                    <a:bodyPr wrap="square"/>
                    <a:lstStyle/>
                    <a:p>
                      <a:r>
                        <a:rPr sz="1600" b="0">
                          <a:solidFill>
                            <a:srgbClr val="1A1A1A"/>
                          </a:solidFill>
                          <a:latin typeface="Calibri"/>
                        </a:rPr>
                        <a:t>44</a:t>
                      </a:r>
                    </a:p>
                  </a:txBody>
                  <a:tcPr marL="82296" marR="64008" marT="32004" marB="32004" anchor="ctr">
                    <a:solidFill>
                      <a:srgbClr val="FFFFFF"/>
                    </a:solidFill>
                  </a:tcPr>
                </a:tc>
                <a:tc>
                  <a:txBody>
                    <a:bodyPr wrap="square"/>
                    <a:lstStyle/>
                    <a:p>
                      <a:r>
                        <a:rPr sz="1600" b="0">
                          <a:solidFill>
                            <a:srgbClr val="1A1A1A"/>
                          </a:solidFill>
                          <a:latin typeface="Calibri"/>
                        </a:rPr>
                        <a:t>0</a:t>
                      </a:r>
                    </a:p>
                  </a:txBody>
                  <a:tcPr marL="82296" marR="64008" marT="32004" marB="32004" anchor="ctr">
                    <a:solidFill>
                      <a:srgbClr val="FFFFFF"/>
                    </a:solidFill>
                  </a:tcPr>
                </a:tc>
              </a:tr>
              <a:tr h="623824">
                <a:tc>
                  <a:txBody>
                    <a:bodyPr wrap="square"/>
                    <a:lstStyle/>
                    <a:p>
                      <a:r>
                        <a:rPr sz="1600" b="1">
                          <a:solidFill>
                            <a:srgbClr val="6E1120"/>
                          </a:solidFill>
                          <a:latin typeface="Calibri"/>
                        </a:rPr>
                        <a:t>authorization (built-in AS, --spec-version 2026-07-28 and 2025-11-25)</a:t>
                      </a:r>
                    </a:p>
                  </a:txBody>
                  <a:tcPr marL="82296" marR="64008" marT="32004" marB="32004" anchor="ctr">
                    <a:solidFill>
                      <a:srgbClr val="F7F5F2"/>
                    </a:solidFill>
                  </a:tcPr>
                </a:tc>
                <a:tc>
                  <a:txBody>
                    <a:bodyPr wrap="square"/>
                    <a:lstStyle/>
                    <a:p>
                      <a:r>
                        <a:rPr sz="1600" b="0">
                          <a:solidFill>
                            <a:srgbClr val="1A1A1A"/>
                          </a:solidFill>
                          <a:latin typeface="Calibri"/>
                        </a:rPr>
                        <a:t>2/2</a:t>
                      </a:r>
                    </a:p>
                  </a:txBody>
                  <a:tcPr marL="82296" marR="64008" marT="32004" marB="32004" anchor="ctr">
                    <a:solidFill>
                      <a:srgbClr val="F7F5F2"/>
                    </a:solidFill>
                  </a:tcPr>
                </a:tc>
                <a:tc>
                  <a:txBody>
                    <a:bodyPr wrap="square"/>
                    <a:lstStyle/>
                    <a:p>
                      <a:r>
                        <a:rPr sz="1600" b="0">
                          <a:solidFill>
                            <a:srgbClr val="1A1A1A"/>
                          </a:solidFill>
                          <a:latin typeface="Calibri"/>
                        </a:rPr>
                        <a:t>3</a:t>
                      </a:r>
                    </a:p>
                  </a:txBody>
                  <a:tcPr marL="82296" marR="64008" marT="32004" marB="32004" anchor="ctr">
                    <a:solidFill>
                      <a:srgbClr val="F7F5F2"/>
                    </a:solidFill>
                  </a:tcPr>
                </a:tc>
                <a:tc>
                  <a:txBody>
                    <a:bodyPr wrap="square"/>
                    <a:lstStyle/>
                    <a:p>
                      <a:r>
                        <a:rPr sz="1600" b="0">
                          <a:solidFill>
                            <a:srgbClr val="1A1A1A"/>
                          </a:solidFill>
                          <a:latin typeface="Calibri"/>
                        </a:rPr>
                        <a:t>0</a:t>
                      </a:r>
                    </a:p>
                  </a:txBody>
                  <a:tcPr marL="82296" marR="64008" marT="32004" marB="32004" anchor="ctr">
                    <a:solidFill>
                      <a:srgbClr val="F7F5F2"/>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INTERACTION PATTERNS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Four ways an agent calls tools, shown with tools SAJHA ships</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17</a:t>
            </a:r>
          </a:p>
        </p:txBody>
      </p:sp>
      <p:sp>
        <p:nvSpPr>
          <p:cNvPr id="17" name="Rectangle 16"/>
          <p:cNvSpPr/>
          <p:nvPr/>
        </p:nvSpPr>
        <p:spPr>
          <a:xfrm>
            <a:off x="777240" y="1354836"/>
            <a:ext cx="5105863" cy="224963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18844"/>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SINGLE CALL: one tool, keep reasoning</a:t>
            </a:r>
          </a:p>
        </p:txBody>
      </p:sp>
      <p:sp>
        <p:nvSpPr>
          <p:cNvPr id="19" name="Rectangle 18"/>
          <p:cNvSpPr/>
          <p:nvPr/>
        </p:nvSpPr>
        <p:spPr>
          <a:xfrm>
            <a:off x="6202219" y="1354836"/>
            <a:ext cx="5212235" cy="224963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1947" y="1418844"/>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CHAINED: one result feeds the next</a:t>
            </a:r>
          </a:p>
        </p:txBody>
      </p:sp>
      <p:sp>
        <p:nvSpPr>
          <p:cNvPr id="21" name="Rectangle 20"/>
          <p:cNvSpPr/>
          <p:nvPr/>
        </p:nvSpPr>
        <p:spPr>
          <a:xfrm>
            <a:off x="777240" y="3800094"/>
            <a:ext cx="5105863" cy="244525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86410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PARALLEL: independent calls at once</a:t>
            </a:r>
          </a:p>
        </p:txBody>
      </p:sp>
      <p:sp>
        <p:nvSpPr>
          <p:cNvPr id="23" name="Rectangle 22"/>
          <p:cNvSpPr/>
          <p:nvPr/>
        </p:nvSpPr>
        <p:spPr>
          <a:xfrm>
            <a:off x="6202219" y="3800094"/>
            <a:ext cx="5212235" cy="244525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11947" y="3864102"/>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MULTI-TURN: explore, then refine</a:t>
            </a:r>
          </a:p>
        </p:txBody>
      </p:sp>
      <p:sp>
        <p:nvSpPr>
          <p:cNvPr id="25" name="Oval 24"/>
          <p:cNvSpPr/>
          <p:nvPr/>
        </p:nvSpPr>
        <p:spPr>
          <a:xfrm>
            <a:off x="989984" y="2088413"/>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26" name="Rounded Rectangle 25"/>
          <p:cNvSpPr/>
          <p:nvPr/>
        </p:nvSpPr>
        <p:spPr>
          <a:xfrm>
            <a:off x="2479194" y="2137318"/>
            <a:ext cx="2127443"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27" name="Oval 26"/>
          <p:cNvSpPr/>
          <p:nvPr/>
        </p:nvSpPr>
        <p:spPr>
          <a:xfrm>
            <a:off x="6414964" y="2088413"/>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28" name="Rounded Rectangle 27"/>
          <p:cNvSpPr/>
          <p:nvPr/>
        </p:nvSpPr>
        <p:spPr>
          <a:xfrm>
            <a:off x="7638243" y="174607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edgar_company_search</a:t>
            </a:r>
          </a:p>
        </p:txBody>
      </p:sp>
      <p:sp>
        <p:nvSpPr>
          <p:cNvPr id="29" name="Rounded Rectangle 28"/>
          <p:cNvSpPr/>
          <p:nvPr/>
        </p:nvSpPr>
        <p:spPr>
          <a:xfrm>
            <a:off x="7638243" y="2577465"/>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edgar_company_facts</a:t>
            </a:r>
          </a:p>
        </p:txBody>
      </p:sp>
      <p:sp>
        <p:nvSpPr>
          <p:cNvPr id="30" name="Rounded Rectangle 29"/>
          <p:cNvSpPr/>
          <p:nvPr/>
        </p:nvSpPr>
        <p:spPr>
          <a:xfrm>
            <a:off x="9606128" y="2161771"/>
            <a:ext cx="1701954"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calc_percentage_change</a:t>
            </a:r>
          </a:p>
        </p:txBody>
      </p:sp>
      <p:sp>
        <p:nvSpPr>
          <p:cNvPr id="31" name="Oval 30"/>
          <p:cNvSpPr/>
          <p:nvPr/>
        </p:nvSpPr>
        <p:spPr>
          <a:xfrm>
            <a:off x="989984" y="4729292"/>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32" name="Rounded Rectangle 31"/>
          <p:cNvSpPr/>
          <p:nvPr/>
        </p:nvSpPr>
        <p:spPr>
          <a:xfrm>
            <a:off x="2904683" y="4142430"/>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fred_2yr_treasury</a:t>
            </a:r>
          </a:p>
        </p:txBody>
      </p:sp>
      <p:sp>
        <p:nvSpPr>
          <p:cNvPr id="33" name="Rounded Rectangle 32"/>
          <p:cNvSpPr/>
          <p:nvPr/>
        </p:nvSpPr>
        <p:spPr>
          <a:xfrm>
            <a:off x="2904683" y="487600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fred_10yr_treasury</a:t>
            </a:r>
          </a:p>
        </p:txBody>
      </p:sp>
      <p:sp>
        <p:nvSpPr>
          <p:cNvPr id="34" name="Rounded Rectangle 33"/>
          <p:cNvSpPr/>
          <p:nvPr/>
        </p:nvSpPr>
        <p:spPr>
          <a:xfrm>
            <a:off x="2904683" y="5609584"/>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yahoo_get_quote</a:t>
            </a:r>
          </a:p>
        </p:txBody>
      </p:sp>
      <p:sp>
        <p:nvSpPr>
          <p:cNvPr id="35" name="Oval 34"/>
          <p:cNvSpPr/>
          <p:nvPr/>
        </p:nvSpPr>
        <p:spPr>
          <a:xfrm>
            <a:off x="6414964" y="4729292"/>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turns</a:t>
            </a:r>
          </a:p>
        </p:txBody>
      </p:sp>
      <p:sp>
        <p:nvSpPr>
          <p:cNvPr id="36" name="Rounded Rectangle 35"/>
          <p:cNvSpPr/>
          <p:nvPr/>
        </p:nvSpPr>
        <p:spPr>
          <a:xfrm>
            <a:off x="7797802" y="4142430"/>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duckdb_list_tables</a:t>
            </a:r>
          </a:p>
        </p:txBody>
      </p:sp>
      <p:sp>
        <p:nvSpPr>
          <p:cNvPr id="37" name="Rounded Rectangle 36"/>
          <p:cNvSpPr/>
          <p:nvPr/>
        </p:nvSpPr>
        <p:spPr>
          <a:xfrm>
            <a:off x="7797802" y="487600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duckdb_describe_table</a:t>
            </a:r>
          </a:p>
        </p:txBody>
      </p:sp>
      <p:sp>
        <p:nvSpPr>
          <p:cNvPr id="38" name="Rounded Rectangle 37"/>
          <p:cNvSpPr/>
          <p:nvPr/>
        </p:nvSpPr>
        <p:spPr>
          <a:xfrm>
            <a:off x="7797802" y="5609584"/>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duckdb_sql</a:t>
            </a:r>
          </a:p>
        </p:txBody>
      </p:sp>
      <p:sp>
        <p:nvSpPr>
          <p:cNvPr id="39" name="TextBox 38"/>
          <p:cNvSpPr txBox="1"/>
          <p:nvPr/>
        </p:nvSpPr>
        <p:spPr>
          <a:xfrm>
            <a:off x="2479194" y="2919801"/>
            <a:ext cx="3191164" cy="489051"/>
          </a:xfrm>
          <a:prstGeom prst="rect">
            <a:avLst/>
          </a:prstGeom>
          <a:noFill/>
        </p:spPr>
        <p:txBody>
          <a:bodyPr wrap="square" lIns="0" rIns="0" tIns="0" bIns="0" anchor="t">
            <a:spAutoFit/>
          </a:bodyPr>
          <a:lstStyle/>
          <a:p>
            <a:pPr algn="l">
              <a:lnSpc>
                <a:spcPct val="110000"/>
              </a:lnSpc>
              <a:spcBef>
                <a:spcPts val="0"/>
              </a:spcBef>
              <a:spcAft>
                <a:spcPts val="100"/>
              </a:spcAft>
            </a:pPr>
            <a:r>
              <a:rPr sz="1200" b="0" i="1">
                <a:solidFill>
                  <a:srgbClr val="6B7480"/>
                </a:solidFill>
                <a:latin typeface="Calibri"/>
              </a:rPr>
              <a:t>“What is the change from 80 to 100?”</a:t>
            </a:r>
          </a:p>
        </p:txBody>
      </p:sp>
      <p:sp>
        <p:nvSpPr>
          <p:cNvPr id="40" name="TextBox 39"/>
          <p:cNvSpPr txBox="1"/>
          <p:nvPr/>
        </p:nvSpPr>
        <p:spPr>
          <a:xfrm>
            <a:off x="4713009" y="4582576"/>
            <a:ext cx="1063721" cy="1222629"/>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plan_execute</a:t>
            </a:r>
          </a:p>
          <a:p>
            <a:pPr algn="l">
              <a:lnSpc>
                <a:spcPct val="110000"/>
              </a:lnSpc>
              <a:spcBef>
                <a:spcPts val="0"/>
              </a:spcBef>
              <a:spcAft>
                <a:spcPts val="100"/>
              </a:spcAft>
            </a:pPr>
            <a:r>
              <a:rPr sz="1100" b="0" i="0">
                <a:solidFill>
                  <a:srgbClr val="6B7480"/>
                </a:solidFill>
                <a:latin typeface="Calibri"/>
              </a:rPr>
              <a:t>runs them</a:t>
            </a:r>
          </a:p>
          <a:p>
            <a:pPr algn="l">
              <a:lnSpc>
                <a:spcPct val="110000"/>
              </a:lnSpc>
              <a:spcBef>
                <a:spcPts val="0"/>
              </a:spcBef>
              <a:spcAft>
                <a:spcPts val="100"/>
              </a:spcAft>
            </a:pPr>
            <a:r>
              <a:rPr sz="1100" b="0" i="0">
                <a:solidFill>
                  <a:srgbClr val="6B7480"/>
                </a:solidFill>
                <a:latin typeface="Calibri"/>
              </a:rPr>
              <a:t>side by side</a:t>
            </a:r>
          </a:p>
        </p:txBody>
      </p:sp>
      <p:cxnSp>
        <p:nvCxnSpPr>
          <p:cNvPr id="41" name="Connector 40"/>
          <p:cNvCxnSpPr/>
          <p:nvPr/>
        </p:nvCxnSpPr>
        <p:spPr>
          <a:xfrm>
            <a:off x="1886681" y="2381844"/>
            <a:ext cx="546793"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7287015" y="2222834"/>
            <a:ext cx="307154" cy="8472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8436034" y="2280848"/>
            <a:ext cx="0" cy="25089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500042" y="2314856"/>
            <a:ext cx="993648" cy="201168"/>
          </a:xfrm>
          <a:prstGeom prst="rect">
            <a:avLst/>
          </a:prstGeom>
          <a:noFill/>
        </p:spPr>
        <p:txBody>
          <a:bodyPr wrap="square" lIns="0" rIns="0" tIns="0" bIns="0" anchor="t">
            <a:spAutoFit/>
          </a:bodyPr>
          <a:lstStyle/>
          <a:p>
            <a:pPr algn="l">
              <a:lnSpc>
                <a:spcPct val="120000"/>
              </a:lnSpc>
              <a:spcBef>
                <a:spcPts val="0"/>
              </a:spcBef>
              <a:spcAft>
                <a:spcPts val="0"/>
              </a:spcAft>
            </a:pPr>
            <a:r>
              <a:rPr sz="950" b="0" i="1">
                <a:solidFill>
                  <a:srgbClr val="6B7480"/>
                </a:solidFill>
                <a:latin typeface="Calibri"/>
              </a:rPr>
              <a:t>result feeds</a:t>
            </a:r>
          </a:p>
        </p:txBody>
      </p:sp>
      <p:cxnSp>
        <p:nvCxnSpPr>
          <p:cNvPr id="45" name="Connector 44"/>
          <p:cNvCxnSpPr/>
          <p:nvPr/>
        </p:nvCxnSpPr>
        <p:spPr>
          <a:xfrm flipV="1">
            <a:off x="9278608" y="2590536"/>
            <a:ext cx="282738" cy="58154"/>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858049" y="4638907"/>
            <a:ext cx="1002834" cy="30022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886520" y="5081701"/>
            <a:ext cx="972453" cy="2079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850286" y="5220396"/>
            <a:ext cx="1094242" cy="37438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7265907" y="4648097"/>
            <a:ext cx="660256" cy="25756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595593" y="4677201"/>
            <a:ext cx="0" cy="15308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595593" y="5410779"/>
            <a:ext cx="0" cy="15308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BEYOND LIST AND CALL</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Streaming, cancellation, input mid-call, long tasks and views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18</a:t>
            </a:r>
          </a:p>
        </p:txBody>
      </p:sp>
      <p:sp>
        <p:nvSpPr>
          <p:cNvPr id="17" name="Rectangle 16"/>
          <p:cNvSpPr/>
          <p:nvPr/>
        </p:nvSpPr>
        <p:spPr>
          <a:xfrm>
            <a:off x="777240" y="1338770"/>
            <a:ext cx="3436010" cy="2370994"/>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38770"/>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503362"/>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STREAMING</a:t>
            </a:r>
          </a:p>
        </p:txBody>
      </p:sp>
      <p:sp>
        <p:nvSpPr>
          <p:cNvPr id="20" name="TextBox 19"/>
          <p:cNvSpPr txBox="1"/>
          <p:nvPr/>
        </p:nvSpPr>
        <p:spPr>
          <a:xfrm>
            <a:off x="960120" y="1759394"/>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Progress and logs while a tool runs</a:t>
            </a:r>
          </a:p>
        </p:txBody>
      </p:sp>
      <p:sp>
        <p:nvSpPr>
          <p:cNvPr id="21" name="TextBox 20"/>
          <p:cNvSpPr txBox="1"/>
          <p:nvPr/>
        </p:nvSpPr>
        <p:spPr>
          <a:xfrm>
            <a:off x="960120" y="2461323"/>
            <a:ext cx="3070250" cy="1120425"/>
          </a:xfrm>
          <a:prstGeom prst="rect">
            <a:avLst/>
          </a:prstGeom>
          <a:noFill/>
        </p:spPr>
        <p:txBody>
          <a:bodyPr wrap="square" lIns="0" rIns="0" tIns="0" bIns="0" anchor="t">
            <a:spAutoFit/>
          </a:bodyPr>
          <a:lstStyle/>
          <a:p>
            <a:pPr algn="l">
              <a:lnSpc>
                <a:spcPct val="120000"/>
              </a:lnSpc>
              <a:spcBef>
                <a:spcPts val="0"/>
              </a:spcBef>
              <a:spcAft>
                <a:spcPts val="0"/>
              </a:spcAft>
            </a:pPr>
            <a:r>
              <a:rPr sz="1650" b="0" i="0">
                <a:solidFill>
                  <a:srgbClr val="6B7480"/>
                </a:solidFill>
                <a:latin typeface="Calibri"/>
              </a:rPr>
              <a:t>A tool reports progress and log lines; a client that asked receives them on the streamed response.</a:t>
            </a:r>
          </a:p>
        </p:txBody>
      </p:sp>
      <p:sp>
        <p:nvSpPr>
          <p:cNvPr id="22" name="Rectangle 21"/>
          <p:cNvSpPr/>
          <p:nvPr/>
        </p:nvSpPr>
        <p:spPr>
          <a:xfrm>
            <a:off x="4377842" y="1338770"/>
            <a:ext cx="3436010" cy="2370994"/>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7842" y="1338770"/>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60722" y="1503362"/>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CANCELLATION</a:t>
            </a:r>
          </a:p>
        </p:txBody>
      </p:sp>
      <p:sp>
        <p:nvSpPr>
          <p:cNvPr id="25" name="TextBox 24"/>
          <p:cNvSpPr txBox="1"/>
          <p:nvPr/>
        </p:nvSpPr>
        <p:spPr>
          <a:xfrm>
            <a:off x="4560722" y="1759394"/>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A client can stop a call</a:t>
            </a:r>
          </a:p>
        </p:txBody>
      </p:sp>
      <p:sp>
        <p:nvSpPr>
          <p:cNvPr id="26" name="TextBox 25"/>
          <p:cNvSpPr txBox="1"/>
          <p:nvPr/>
        </p:nvSpPr>
        <p:spPr>
          <a:xfrm>
            <a:off x="4560722" y="2461323"/>
            <a:ext cx="3070250" cy="1120425"/>
          </a:xfrm>
          <a:prstGeom prst="rect">
            <a:avLst/>
          </a:prstGeom>
          <a:noFill/>
        </p:spPr>
        <p:txBody>
          <a:bodyPr wrap="square" lIns="0" rIns="0" tIns="0" bIns="0" anchor="t">
            <a:spAutoFit/>
          </a:bodyPr>
          <a:lstStyle/>
          <a:p>
            <a:pPr algn="l">
              <a:lnSpc>
                <a:spcPct val="120000"/>
              </a:lnSpc>
              <a:spcBef>
                <a:spcPts val="0"/>
              </a:spcBef>
              <a:spcAft>
                <a:spcPts val="0"/>
              </a:spcAft>
            </a:pPr>
            <a:r>
              <a:rPr sz="1650" b="0" i="0">
                <a:solidFill>
                  <a:srgbClr val="6B7480"/>
                </a:solidFill>
                <a:latin typeface="Calibri"/>
              </a:rPr>
              <a:t>A cancelled request is visible to the running tool (is_cancelled), which can stop early.</a:t>
            </a:r>
          </a:p>
        </p:txBody>
      </p:sp>
      <p:sp>
        <p:nvSpPr>
          <p:cNvPr id="27" name="Rectangle 26"/>
          <p:cNvSpPr/>
          <p:nvPr/>
        </p:nvSpPr>
        <p:spPr>
          <a:xfrm>
            <a:off x="7978444" y="1338770"/>
            <a:ext cx="3436010" cy="2370994"/>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978444" y="1338770"/>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61324" y="1503362"/>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MRTR</a:t>
            </a:r>
          </a:p>
        </p:txBody>
      </p:sp>
      <p:sp>
        <p:nvSpPr>
          <p:cNvPr id="30" name="TextBox 29"/>
          <p:cNvSpPr txBox="1"/>
          <p:nvPr/>
        </p:nvSpPr>
        <p:spPr>
          <a:xfrm>
            <a:off x="8161324" y="1759394"/>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Multi Round-Trip Requests</a:t>
            </a:r>
          </a:p>
        </p:txBody>
      </p:sp>
      <p:sp>
        <p:nvSpPr>
          <p:cNvPr id="31" name="TextBox 30"/>
          <p:cNvSpPr txBox="1"/>
          <p:nvPr/>
        </p:nvSpPr>
        <p:spPr>
          <a:xfrm>
            <a:off x="8161324" y="2461323"/>
            <a:ext cx="3070250" cy="1120425"/>
          </a:xfrm>
          <a:prstGeom prst="rect">
            <a:avLst/>
          </a:prstGeom>
          <a:noFill/>
        </p:spPr>
        <p:txBody>
          <a:bodyPr wrap="square" lIns="0" rIns="0" tIns="0" bIns="0" anchor="t">
            <a:spAutoFit/>
          </a:bodyPr>
          <a:lstStyle/>
          <a:p>
            <a:pPr algn="l">
              <a:lnSpc>
                <a:spcPct val="120000"/>
              </a:lnSpc>
              <a:spcBef>
                <a:spcPts val="0"/>
              </a:spcBef>
              <a:spcAft>
                <a:spcPts val="0"/>
              </a:spcAft>
            </a:pPr>
            <a:r>
              <a:rPr sz="1650" b="0" i="0">
                <a:solidFill>
                  <a:srgbClr val="6B7480"/>
                </a:solidFill>
                <a:latin typeface="Calibri"/>
              </a:rPr>
              <a:t>A stateless server asks for input mid-call by answering input_required; the client retries with the answers.</a:t>
            </a:r>
          </a:p>
        </p:txBody>
      </p:sp>
      <p:sp>
        <p:nvSpPr>
          <p:cNvPr id="32" name="Rectangle 31"/>
          <p:cNvSpPr/>
          <p:nvPr/>
        </p:nvSpPr>
        <p:spPr>
          <a:xfrm>
            <a:off x="777240" y="3874357"/>
            <a:ext cx="3436010" cy="2370994"/>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387435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0120" y="403894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TASKS</a:t>
            </a:r>
          </a:p>
        </p:txBody>
      </p:sp>
      <p:sp>
        <p:nvSpPr>
          <p:cNvPr id="35" name="TextBox 34"/>
          <p:cNvSpPr txBox="1"/>
          <p:nvPr/>
        </p:nvSpPr>
        <p:spPr>
          <a:xfrm>
            <a:off x="960120" y="429498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Long calls become tasks</a:t>
            </a:r>
          </a:p>
        </p:txBody>
      </p:sp>
      <p:sp>
        <p:nvSpPr>
          <p:cNvPr id="36" name="TextBox 35"/>
          <p:cNvSpPr txBox="1"/>
          <p:nvPr/>
        </p:nvSpPr>
        <p:spPr>
          <a:xfrm>
            <a:off x="960120" y="4996910"/>
            <a:ext cx="3070250" cy="1120425"/>
          </a:xfrm>
          <a:prstGeom prst="rect">
            <a:avLst/>
          </a:prstGeom>
          <a:noFill/>
        </p:spPr>
        <p:txBody>
          <a:bodyPr wrap="square" lIns="0" rIns="0" tIns="0" bIns="0" anchor="t">
            <a:spAutoFit/>
          </a:bodyPr>
          <a:lstStyle/>
          <a:p>
            <a:pPr algn="l">
              <a:lnSpc>
                <a:spcPct val="120000"/>
              </a:lnSpc>
              <a:spcBef>
                <a:spcPts val="0"/>
              </a:spcBef>
              <a:spcAft>
                <a:spcPts val="0"/>
              </a:spcAft>
            </a:pPr>
            <a:r>
              <a:rPr sz="1650" b="0" i="0">
                <a:solidFill>
                  <a:srgbClr val="6B7480"/>
                </a:solidFill>
                <a:latin typeface="Calibri"/>
              </a:rPr>
              <a:t>A task-capable tool returns a task id; the client polls tasks/get, answers input or cancels.</a:t>
            </a:r>
          </a:p>
        </p:txBody>
      </p:sp>
      <p:sp>
        <p:nvSpPr>
          <p:cNvPr id="37" name="Rectangle 36"/>
          <p:cNvSpPr/>
          <p:nvPr/>
        </p:nvSpPr>
        <p:spPr>
          <a:xfrm>
            <a:off x="4377842" y="3874357"/>
            <a:ext cx="3436010" cy="2370994"/>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377842" y="387435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60722" y="403894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MCP APPS</a:t>
            </a:r>
          </a:p>
        </p:txBody>
      </p:sp>
      <p:sp>
        <p:nvSpPr>
          <p:cNvPr id="40" name="TextBox 39"/>
          <p:cNvSpPr txBox="1"/>
          <p:nvPr/>
        </p:nvSpPr>
        <p:spPr>
          <a:xfrm>
            <a:off x="4560722" y="429498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A tool can ship its own view</a:t>
            </a:r>
          </a:p>
        </p:txBody>
      </p:sp>
      <p:sp>
        <p:nvSpPr>
          <p:cNvPr id="41" name="TextBox 40"/>
          <p:cNvSpPr txBox="1"/>
          <p:nvPr/>
        </p:nvSpPr>
        <p:spPr>
          <a:xfrm>
            <a:off x="4560722" y="4996910"/>
            <a:ext cx="3070250" cy="1120425"/>
          </a:xfrm>
          <a:prstGeom prst="rect">
            <a:avLst/>
          </a:prstGeom>
          <a:noFill/>
        </p:spPr>
        <p:txBody>
          <a:bodyPr wrap="square" lIns="0" rIns="0" tIns="0" bIns="0" anchor="t">
            <a:spAutoFit/>
          </a:bodyPr>
          <a:lstStyle/>
          <a:p>
            <a:pPr algn="l">
              <a:lnSpc>
                <a:spcPct val="120000"/>
              </a:lnSpc>
              <a:spcBef>
                <a:spcPts val="0"/>
              </a:spcBef>
              <a:spcAft>
                <a:spcPts val="0"/>
              </a:spcAft>
            </a:pPr>
            <a:r>
              <a:rPr sz="1550" b="0" i="0">
                <a:solidFill>
                  <a:srgbClr val="6B7480"/>
                </a:solidFill>
                <a:latin typeface="Calibri"/>
              </a:rPr>
              <a:t>An HTML view (ui://) rendered beside the result, such as calc_loan_amortization's schedule chart.</a:t>
            </a:r>
          </a:p>
        </p:txBody>
      </p:sp>
      <p:sp>
        <p:nvSpPr>
          <p:cNvPr id="42" name="Rectangle 41"/>
          <p:cNvSpPr/>
          <p:nvPr/>
        </p:nvSpPr>
        <p:spPr>
          <a:xfrm>
            <a:off x="7978444" y="3874357"/>
            <a:ext cx="3436010" cy="2370994"/>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978444" y="387435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61324" y="403894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HEADERS</a:t>
            </a:r>
          </a:p>
        </p:txBody>
      </p:sp>
      <p:sp>
        <p:nvSpPr>
          <p:cNvPr id="45" name="TextBox 44"/>
          <p:cNvSpPr txBox="1"/>
          <p:nvPr/>
        </p:nvSpPr>
        <p:spPr>
          <a:xfrm>
            <a:off x="8161324" y="429498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Routing without reading the body</a:t>
            </a:r>
          </a:p>
        </p:txBody>
      </p:sp>
      <p:sp>
        <p:nvSpPr>
          <p:cNvPr id="46" name="TextBox 45"/>
          <p:cNvSpPr txBox="1"/>
          <p:nvPr/>
        </p:nvSpPr>
        <p:spPr>
          <a:xfrm>
            <a:off x="8161324" y="4996910"/>
            <a:ext cx="3070250" cy="1120425"/>
          </a:xfrm>
          <a:prstGeom prst="rect">
            <a:avLst/>
          </a:prstGeom>
          <a:noFill/>
        </p:spPr>
        <p:txBody>
          <a:bodyPr wrap="square" lIns="0" rIns="0" tIns="0" bIns="0" anchor="t">
            <a:spAutoFit/>
          </a:bodyPr>
          <a:lstStyle/>
          <a:p>
            <a:pPr algn="l">
              <a:lnSpc>
                <a:spcPct val="120000"/>
              </a:lnSpc>
              <a:spcBef>
                <a:spcPts val="0"/>
              </a:spcBef>
              <a:spcAft>
                <a:spcPts val="0"/>
              </a:spcAft>
            </a:pPr>
            <a:r>
              <a:rPr sz="1650" b="0" i="0">
                <a:solidFill>
                  <a:srgbClr val="6B7480"/>
                </a:solidFill>
                <a:latin typeface="Calibri"/>
              </a:rPr>
              <a:t>Mcp-Method, Mcp-Name and Mcp-Param-* headers let a gateway route 2026-07-28 traffic.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MCP IN LLM PIPELINES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model decides when to call a tool; MCP carries the call and the result</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19</a:t>
            </a:r>
          </a:p>
        </p:txBody>
      </p:sp>
      <p:cxnSp>
        <p:nvCxnSpPr>
          <p:cNvPr id="17" name="Connector 16"/>
          <p:cNvCxnSpPr/>
          <p:nvPr/>
        </p:nvCxnSpPr>
        <p:spPr>
          <a:xfrm>
            <a:off x="2409398"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696399"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710639" y="1782389"/>
            <a:ext cx="58978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tool call</a:t>
            </a:r>
          </a:p>
        </p:txBody>
      </p:sp>
      <p:cxnSp>
        <p:nvCxnSpPr>
          <p:cNvPr id="20" name="Connector 19"/>
          <p:cNvCxnSpPr/>
          <p:nvPr/>
        </p:nvCxnSpPr>
        <p:spPr>
          <a:xfrm>
            <a:off x="6983400"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024310" y="1782389"/>
            <a:ext cx="5364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JSON-RPC</a:t>
            </a:r>
          </a:p>
        </p:txBody>
      </p:sp>
      <p:cxnSp>
        <p:nvCxnSpPr>
          <p:cNvPr id="22" name="Connector 21"/>
          <p:cNvCxnSpPr/>
          <p:nvPr/>
        </p:nvCxnSpPr>
        <p:spPr>
          <a:xfrm>
            <a:off x="9270402"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436034" y="2391806"/>
            <a:ext cx="0" cy="73214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500042" y="2675580"/>
            <a:ext cx="42976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result</a:t>
            </a:r>
          </a:p>
        </p:txBody>
      </p:sp>
      <p:cxnSp>
        <p:nvCxnSpPr>
          <p:cNvPr id="25" name="Connector 24"/>
          <p:cNvCxnSpPr/>
          <p:nvPr/>
        </p:nvCxnSpPr>
        <p:spPr>
          <a:xfrm flipH="1">
            <a:off x="4696399" y="3501222"/>
            <a:ext cx="290526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77240" y="1611884"/>
            <a:ext cx="1595582" cy="743346"/>
          </a:xfrm>
          <a:prstGeom prst="roundRect">
            <a:avLst>
              <a:gd name="adj" fmla="val 984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 query</a:t>
            </a:r>
          </a:p>
        </p:txBody>
      </p:sp>
      <p:sp>
        <p:nvSpPr>
          <p:cNvPr id="27" name="Rounded Rectangle 26"/>
          <p:cNvSpPr/>
          <p:nvPr/>
        </p:nvSpPr>
        <p:spPr>
          <a:xfrm>
            <a:off x="3064241" y="1611884"/>
            <a:ext cx="1595582" cy="743346"/>
          </a:xfrm>
          <a:prstGeom prst="roundRect">
            <a:avLst>
              <a:gd name="adj" fmla="val 984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LLM agent</a:t>
            </a:r>
          </a:p>
        </p:txBody>
      </p:sp>
      <p:sp>
        <p:nvSpPr>
          <p:cNvPr id="28" name="Rounded Rectangle 27"/>
          <p:cNvSpPr/>
          <p:nvPr/>
        </p:nvSpPr>
        <p:spPr>
          <a:xfrm>
            <a:off x="5351242" y="1611884"/>
            <a:ext cx="1595582" cy="743346"/>
          </a:xfrm>
          <a:prstGeom prst="roundRect">
            <a:avLst>
              <a:gd name="adj" fmla="val 984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a:t>
            </a:r>
          </a:p>
        </p:txBody>
      </p:sp>
      <p:sp>
        <p:nvSpPr>
          <p:cNvPr id="29" name="Rounded Rectangle 28"/>
          <p:cNvSpPr/>
          <p:nvPr/>
        </p:nvSpPr>
        <p:spPr>
          <a:xfrm>
            <a:off x="7638243" y="1611884"/>
            <a:ext cx="1595582" cy="743346"/>
          </a:xfrm>
          <a:prstGeom prst="roundRect">
            <a:avLst>
              <a:gd name="adj" fmla="val 984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server</a:t>
            </a:r>
          </a:p>
          <a:p>
            <a:pPr algn="ctr">
              <a:lnSpc>
                <a:spcPct val="105000"/>
              </a:lnSpc>
              <a:spcBef>
                <a:spcPts val="0"/>
              </a:spcBef>
              <a:spcAft>
                <a:spcPts val="0"/>
              </a:spcAft>
            </a:pPr>
            <a:r>
              <a:rPr sz="1250" b="0" i="0">
                <a:solidFill>
                  <a:srgbClr val="FFFFFF"/>
                </a:solidFill>
                <a:latin typeface="Calibri"/>
              </a:rPr>
              <a:t>SAJHA</a:t>
            </a:r>
          </a:p>
        </p:txBody>
      </p:sp>
      <p:sp>
        <p:nvSpPr>
          <p:cNvPr id="30" name="Rounded Rectangle 29"/>
          <p:cNvSpPr/>
          <p:nvPr/>
        </p:nvSpPr>
        <p:spPr>
          <a:xfrm>
            <a:off x="9925245" y="1611884"/>
            <a:ext cx="1489210" cy="743346"/>
          </a:xfrm>
          <a:prstGeom prst="roundRect">
            <a:avLst>
              <a:gd name="adj" fmla="val 9840"/>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API · database · file</a:t>
            </a:r>
          </a:p>
        </p:txBody>
      </p:sp>
      <p:sp>
        <p:nvSpPr>
          <p:cNvPr id="31" name="Rounded Rectangle 30"/>
          <p:cNvSpPr/>
          <p:nvPr/>
        </p:nvSpPr>
        <p:spPr>
          <a:xfrm>
            <a:off x="7638243" y="3160522"/>
            <a:ext cx="1595582" cy="681400"/>
          </a:xfrm>
          <a:prstGeom prst="roundRect">
            <a:avLst>
              <a:gd name="adj" fmla="val 1073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Structured result</a:t>
            </a:r>
          </a:p>
        </p:txBody>
      </p:sp>
      <p:sp>
        <p:nvSpPr>
          <p:cNvPr id="32" name="Rounded Rectangle 31"/>
          <p:cNvSpPr/>
          <p:nvPr/>
        </p:nvSpPr>
        <p:spPr>
          <a:xfrm>
            <a:off x="3064241" y="3160522"/>
            <a:ext cx="1595582" cy="681400"/>
          </a:xfrm>
          <a:prstGeom prst="roundRect">
            <a:avLst>
              <a:gd name="adj" fmla="val 1073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LLM → final answer</a:t>
            </a:r>
          </a:p>
        </p:txBody>
      </p:sp>
      <p:sp>
        <p:nvSpPr>
          <p:cNvPr id="33" name="TextBox 32"/>
          <p:cNvSpPr txBox="1"/>
          <p:nvPr/>
        </p:nvSpPr>
        <p:spPr>
          <a:xfrm>
            <a:off x="777240" y="4873752"/>
            <a:ext cx="10637215" cy="1371600"/>
          </a:xfrm>
          <a:prstGeom prst="rect">
            <a:avLst/>
          </a:prstGeom>
          <a:noFill/>
        </p:spPr>
        <p:txBody>
          <a:bodyPr wrap="square" lIns="0" rIns="0" tIns="0" bIns="0" anchor="t">
            <a:spAutoFit/>
          </a:bodyPr>
          <a:lstStyle/>
          <a:p>
            <a:pPr algn="l">
              <a:lnSpc>
                <a:spcPct val="120000"/>
              </a:lnSpc>
              <a:spcBef>
                <a:spcPts val="0"/>
              </a:spcBef>
              <a:spcAft>
                <a:spcPts val="0"/>
              </a:spcAft>
            </a:pPr>
            <a:r>
              <a:rPr sz="1700" b="1">
                <a:solidFill>
                  <a:srgbClr val="A51C30"/>
                </a:solidFill>
                <a:latin typeface="Calibri"/>
              </a:rPr>
              <a:t>▪  </a:t>
            </a:r>
            <a:r>
              <a:rPr sz="1700" b="0">
                <a:solidFill>
                  <a:srgbClr val="1A1A1A"/>
                </a:solidFill>
                <a:latin typeface="Calibri"/>
              </a:rPr>
              <a:t>Tool schemas go into the model's context when the prompt is built; the model, not hard-coded logic, decides when and which tool to call.</a:t>
            </a:r>
          </a:p>
          <a:p>
            <a:pPr>
              <a:lnSpc>
                <a:spcPct val="120000"/>
              </a:lnSpc>
              <a:spcBef>
                <a:spcPts val="600"/>
              </a:spcBef>
              <a:spcAft>
                <a:spcPts val="0"/>
              </a:spcAft>
            </a:pPr>
            <a:r>
              <a:rPr sz="1700" b="1">
                <a:solidFill>
                  <a:srgbClr val="A51C30"/>
                </a:solidFill>
                <a:latin typeface="Calibri"/>
              </a:rPr>
              <a:t>▪  </a:t>
            </a:r>
            <a:r>
              <a:rPr sz="1700" b="0">
                <a:solidFill>
                  <a:srgbClr val="1A1A1A"/>
                </a:solidFill>
                <a:latin typeface="Calibri"/>
              </a:rPr>
              <a:t>Results come back as structured data, not raw HTML; agent frameworks with an MCP client plug in the same way.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03</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The SAJHA MCP server</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SAJHA (साझा, Hindi for “shared”): one self-hosted server that holds the tools an organisation's agents use, serves them to any MCP client, and applies one set of identities, permissions, rules and records to every call.</a:t>
            </a:r>
          </a:p>
        </p:txBody>
      </p:sp>
      <p:sp>
        <p:nvSpPr>
          <p:cNvPr id="15" name="TextBox 14"/>
          <p:cNvSpPr txBox="1"/>
          <p:nvPr/>
        </p:nvSpPr>
        <p:spPr>
          <a:xfrm>
            <a:off x="1143000" y="4969764"/>
            <a:ext cx="9905695" cy="12481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Overview   ·   Tools in the box   ·   MCP Studio   ·   Federation   ·   Architecture   ·   Web console   ·   Access and authentication   ·   Credentials   ·   Policy and audit   ·   Deploy anywhere</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OVERVIEW</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One catalog of tools, one address, one set of rules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21</a:t>
            </a:r>
          </a:p>
        </p:txBody>
      </p:sp>
      <p:sp>
        <p:nvSpPr>
          <p:cNvPr id="17" name="TextBox 16"/>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A production Python MCP server on FastAPI, serving both protocol eras on /mcp, with its own intelligence layer, browser tool builders and governance.</a:t>
            </a:r>
          </a:p>
        </p:txBody>
      </p:sp>
      <p:sp>
        <p:nvSpPr>
          <p:cNvPr id="18" name="Rectangle 17"/>
          <p:cNvSpPr/>
          <p:nvPr/>
        </p:nvSpPr>
        <p:spPr>
          <a:xfrm>
            <a:off x="777240"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512</a:t>
            </a:r>
          </a:p>
        </p:txBody>
      </p:sp>
      <p:sp>
        <p:nvSpPr>
          <p:cNvPr id="21" name="TextBox 20"/>
          <p:cNvSpPr txBox="1"/>
          <p:nvPr/>
        </p:nvSpPr>
        <p:spPr>
          <a:xfrm>
            <a:off x="978408"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tools in the catalog when this deck was built</a:t>
            </a:r>
          </a:p>
        </p:txBody>
      </p:sp>
      <p:sp>
        <p:nvSpPr>
          <p:cNvPr id="22" name="Rectangle 21"/>
          <p:cNvSpPr/>
          <p:nvPr/>
        </p:nvSpPr>
        <p:spPr>
          <a:xfrm>
            <a:off x="3486835"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486835"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88003"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41</a:t>
            </a:r>
          </a:p>
        </p:txBody>
      </p:sp>
      <p:sp>
        <p:nvSpPr>
          <p:cNvPr id="25" name="TextBox 24"/>
          <p:cNvSpPr txBox="1"/>
          <p:nvPr/>
        </p:nvSpPr>
        <p:spPr>
          <a:xfrm>
            <a:off x="3688003"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tool groups, the largest fmp (100 tools)</a:t>
            </a:r>
          </a:p>
        </p:txBody>
      </p:sp>
      <p:sp>
        <p:nvSpPr>
          <p:cNvPr id="26" name="Rectangle 25"/>
          <p:cNvSpPr/>
          <p:nvPr/>
        </p:nvSpPr>
        <p:spPr>
          <a:xfrm>
            <a:off x="6196431"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96431"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97599"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5</a:t>
            </a:r>
          </a:p>
        </p:txBody>
      </p:sp>
      <p:sp>
        <p:nvSpPr>
          <p:cNvPr id="29" name="TextBox 28"/>
          <p:cNvSpPr txBox="1"/>
          <p:nvPr/>
        </p:nvSpPr>
        <p:spPr>
          <a:xfrm>
            <a:off x="6397599"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protocol versions served on one endpoint</a:t>
            </a:r>
          </a:p>
        </p:txBody>
      </p:sp>
      <p:sp>
        <p:nvSpPr>
          <p:cNvPr id="30" name="Rectangle 29"/>
          <p:cNvSpPr/>
          <p:nvPr/>
        </p:nvSpPr>
        <p:spPr>
          <a:xfrm>
            <a:off x="8906027"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906027"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07195"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3999</a:t>
            </a:r>
          </a:p>
        </p:txBody>
      </p:sp>
      <p:sp>
        <p:nvSpPr>
          <p:cNvPr id="33" name="TextBox 32"/>
          <p:cNvSpPr txBox="1"/>
          <p:nvPr/>
        </p:nvSpPr>
        <p:spPr>
          <a:xfrm>
            <a:off x="9107195"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automated tests in the suite</a:t>
            </a:r>
          </a:p>
        </p:txBody>
      </p:sp>
      <p:sp>
        <p:nvSpPr>
          <p:cNvPr id="34" name="TextBox 33"/>
          <p:cNvSpPr txBox="1"/>
          <p:nvPr/>
        </p:nvSpPr>
        <p:spPr>
          <a:xfrm>
            <a:off x="777240" y="3393821"/>
            <a:ext cx="10637215" cy="2851531"/>
          </a:xfrm>
          <a:prstGeom prst="rect">
            <a:avLst/>
          </a:prstGeom>
          <a:noFill/>
        </p:spPr>
        <p:txBody>
          <a:bodyPr wrap="square" lIns="0" rIns="0" tIns="0" bIns="0" anchor="t">
            <a:spAutoFit/>
          </a:bodyPr>
          <a:lstStyle/>
          <a:p>
            <a:pPr algn="l">
              <a:lnSpc>
                <a:spcPct val="120000"/>
              </a:lnSpc>
              <a:spcBef>
                <a:spcPts val="0"/>
              </a:spcBef>
              <a:spcAft>
                <a:spcPts val="100"/>
              </a:spcAft>
            </a:pPr>
            <a:r>
              <a:rPr sz="1850" b="1">
                <a:solidFill>
                  <a:srgbClr val="A51C30"/>
                </a:solidFill>
                <a:latin typeface="Calibri"/>
              </a:rPr>
              <a:t>▪  </a:t>
            </a:r>
            <a:r>
              <a:rPr sz="1850" b="1">
                <a:solidFill>
                  <a:srgbClr val="1A1A1A"/>
                </a:solidFill>
                <a:latin typeface="Calibri"/>
              </a:rPr>
              <a:t>Shared</a:t>
            </a:r>
          </a:p>
          <a:p>
            <a:pPr lvl="1">
              <a:lnSpc>
                <a:spcPct val="120000"/>
              </a:lnSpc>
              <a:spcBef>
                <a:spcPts val="0"/>
              </a:spcBef>
              <a:spcAft>
                <a:spcPts val="0"/>
              </a:spcAft>
            </a:pPr>
            <a:r>
              <a:rPr sz="1700" b="0">
                <a:solidFill>
                  <a:srgbClr val="6B7480"/>
                </a:solidFill>
                <a:latin typeface="Calibri"/>
              </a:rPr>
              <a:t>One catalog for every team and agent framework: a tool is built, governed and recorded once.</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Governed</a:t>
            </a:r>
          </a:p>
          <a:p>
            <a:pPr lvl="1">
              <a:lnSpc>
                <a:spcPct val="120000"/>
              </a:lnSpc>
              <a:spcBef>
                <a:spcPts val="0"/>
              </a:spcBef>
              <a:spcAft>
                <a:spcPts val="0"/>
              </a:spcAft>
            </a:pPr>
            <a:r>
              <a:rPr sz="1700" b="0">
                <a:solidFill>
                  <a:srgbClr val="6B7480"/>
                </a:solidFill>
                <a:latin typeface="Calibri"/>
              </a:rPr>
              <a:t>Every call, from any client or SAJHA's own assistant, passes the same access check, rules and tamper-evident record.</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Self-hosted</a:t>
            </a:r>
          </a:p>
          <a:p>
            <a:pPr lvl="1">
              <a:lnSpc>
                <a:spcPct val="120000"/>
              </a:lnSpc>
              <a:spcBef>
                <a:spcPts val="0"/>
              </a:spcBef>
              <a:spcAft>
                <a:spcPts val="0"/>
              </a:spcAft>
            </a:pPr>
            <a:r>
              <a:rPr sz="1700" b="0">
                <a:solidFill>
                  <a:srgbClr val="6B7480"/>
                </a:solidFill>
                <a:latin typeface="Calibri"/>
              </a:rPr>
              <a:t>One Python process on a laptop or several pods on Kubernetes; data leaves only when a tool sends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SAJHA</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What makes SAJHA different from a plain tool server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22</a:t>
            </a:r>
          </a:p>
        </p:txBody>
      </p:sp>
      <p:sp>
        <p:nvSpPr>
          <p:cNvPr id="17" name="TextBox 16"/>
          <p:cNvSpPr txBox="1"/>
          <p:nvPr/>
        </p:nvSpPr>
        <p:spPr>
          <a:xfrm>
            <a:off x="777240" y="1386967"/>
            <a:ext cx="10637215" cy="4858385"/>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A1A1A"/>
                </a:solidFill>
                <a:latin typeface="Calibri"/>
              </a:rPr>
              <a:t>A governed server, not a pipe</a:t>
            </a:r>
          </a:p>
          <a:p>
            <a:pPr lvl="1">
              <a:lnSpc>
                <a:spcPct val="120000"/>
              </a:lnSpc>
              <a:spcBef>
                <a:spcPts val="0"/>
              </a:spcBef>
              <a:spcAft>
                <a:spcPts val="0"/>
              </a:spcAft>
            </a:pPr>
            <a:r>
              <a:rPr sz="1450" b="0">
                <a:solidFill>
                  <a:srgbClr val="6B7480"/>
                </a:solidFill>
                <a:latin typeface="Calibri"/>
              </a:rPr>
              <a:t>Access policy, declarative rules, human approval and a hash-chained audit apply to every call on every path.</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512 tools from day one</a:t>
            </a:r>
          </a:p>
          <a:p>
            <a:pPr lvl="1">
              <a:lnSpc>
                <a:spcPct val="120000"/>
              </a:lnSpc>
              <a:spcBef>
                <a:spcPts val="0"/>
              </a:spcBef>
              <a:spcAft>
                <a:spcPts val="0"/>
              </a:spcAft>
            </a:pPr>
            <a:r>
              <a:rPr sz="1450" b="0">
                <a:solidFill>
                  <a:srgbClr val="6B7480"/>
                </a:solidFill>
                <a:latin typeface="Calibri"/>
              </a:rPr>
              <a:t>Markets, central banks, filings, public statistics, search, documents and calculators, ready to call.</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Zero code to full code</a:t>
            </a:r>
          </a:p>
          <a:p>
            <a:pPr lvl="1">
              <a:lnSpc>
                <a:spcPct val="120000"/>
              </a:lnSpc>
              <a:spcBef>
                <a:spcPts val="0"/>
              </a:spcBef>
              <a:spcAft>
                <a:spcPts val="0"/>
              </a:spcAft>
            </a:pPr>
            <a:r>
              <a:rPr sz="1450" b="0">
                <a:solidFill>
                  <a:srgbClr val="6B7480"/>
                </a:solidFill>
                <a:latin typeface="Calibri"/>
              </a:rPr>
              <a:t>11 ways to make a tool in the browser, or a Python class; the same MCP tool either way.</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An intelligence layer inside</a:t>
            </a:r>
          </a:p>
          <a:p>
            <a:pPr lvl="1">
              <a:lnSpc>
                <a:spcPct val="120000"/>
              </a:lnSpc>
              <a:spcBef>
                <a:spcPts val="0"/>
              </a:spcBef>
              <a:spcAft>
                <a:spcPts val="0"/>
              </a:spcAft>
            </a:pPr>
            <a:r>
              <a:rPr sz="1450" b="0">
                <a:solidFill>
                  <a:srgbClr val="6B7480"/>
                </a:solidFill>
                <a:latin typeface="Calibri"/>
              </a:rPr>
              <a:t>19 provider types behind one gateway, planners, memory, document search and evals; the offline mock is the default.</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Every client's language</a:t>
            </a:r>
          </a:p>
          <a:p>
            <a:pPr lvl="1">
              <a:lnSpc>
                <a:spcPct val="120000"/>
              </a:lnSpc>
              <a:spcBef>
                <a:spcPts val="0"/>
              </a:spcBef>
              <a:spcAft>
                <a:spcPts val="0"/>
              </a:spcAft>
            </a:pPr>
            <a:r>
              <a:rPr sz="1450" b="0">
                <a:solidFill>
                  <a:srgbClr val="6B7480"/>
                </a:solidFill>
                <a:latin typeface="Calibri"/>
              </a:rPr>
              <a:t>Both MCP eras, four transports, its own OAuth 2.1 server, and the official conformance suite in CI.</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Many servers, one net</a:t>
            </a:r>
          </a:p>
          <a:p>
            <a:pPr lvl="1">
              <a:lnSpc>
                <a:spcPct val="120000"/>
              </a:lnSpc>
              <a:spcBef>
                <a:spcPts val="0"/>
              </a:spcBef>
              <a:spcAft>
                <a:spcPts val="0"/>
              </a:spcAft>
            </a:pPr>
            <a:r>
              <a:rPr sz="1450" b="0">
                <a:solidFill>
                  <a:srgbClr val="6B7480"/>
                </a:solidFill>
                <a:latin typeface="Calibri"/>
              </a:rPr>
              <a:t>SAJHA Net joins servers across boundaries; each keeps its own data, rules and models, and only governed calls cross.</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Runs where your data is</a:t>
            </a:r>
          </a:p>
          <a:p>
            <a:pPr lvl="1">
              <a:lnSpc>
                <a:spcPct val="120000"/>
              </a:lnSpc>
              <a:spcBef>
                <a:spcPts val="0"/>
              </a:spcBef>
              <a:spcAft>
                <a:spcPts val="0"/>
              </a:spcAft>
            </a:pPr>
            <a:r>
              <a:rPr sz="1450" b="0">
                <a:solidFill>
                  <a:srgbClr val="6B7480"/>
                </a:solidFill>
                <a:latin typeface="Calibri"/>
              </a:rPr>
              <a:t>Laptop, VM, Docker, Kubernetes; SQLite or PostgreSQL; local disk or an object store.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TOOLS IN THE BOX</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512 built-in tools, from market data to calculators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live list is tools/list or the Tools page; a caller sees only the tools it may run.</a:t>
            </a:r>
          </a:p>
        </p:txBody>
      </p:sp>
      <p:graphicFrame>
        <p:nvGraphicFramePr>
          <p:cNvPr id="19" name="Table 18"/>
          <p:cNvGraphicFramePr>
            <a:graphicFrameLocks noGrp="1"/>
          </p:cNvGraphicFramePr>
          <p:nvPr/>
        </p:nvGraphicFramePr>
        <p:xfrm>
          <a:off x="777240" y="1386967"/>
          <a:ext cx="10637213" cy="4484366"/>
        </p:xfrm>
        <a:graphic>
          <a:graphicData uri="http://schemas.openxmlformats.org/drawingml/2006/table">
            <a:tbl>
              <a:tblPr firstRow="1">
                <a:tableStyleId>{5C22544A-7EE6-4342-B048-85BDC9FD1C3A}</a:tableStyleId>
              </a:tblPr>
              <a:tblGrid>
                <a:gridCol w="2691343"/>
                <a:gridCol w="3716617"/>
                <a:gridCol w="897114"/>
                <a:gridCol w="3332139"/>
              </a:tblGrid>
              <a:tr h="302514">
                <a:tc>
                  <a:txBody>
                    <a:bodyPr wrap="square"/>
                    <a:lstStyle/>
                    <a:p>
                      <a:r>
                        <a:rPr sz="1200" b="1">
                          <a:solidFill>
                            <a:srgbClr val="FFFFFF"/>
                          </a:solidFill>
                          <a:latin typeface="Calibri"/>
                        </a:rPr>
                        <a:t>Category</a:t>
                      </a:r>
                    </a:p>
                  </a:txBody>
                  <a:tcPr marL="82296" marR="64008" marT="32004" marB="32004" anchor="ctr">
                    <a:solidFill>
                      <a:srgbClr val="A51C30"/>
                    </a:solidFill>
                  </a:tcPr>
                </a:tc>
                <a:tc>
                  <a:txBody>
                    <a:bodyPr wrap="square"/>
                    <a:lstStyle/>
                    <a:p>
                      <a:r>
                        <a:rPr sz="1200" b="1">
                          <a:solidFill>
                            <a:srgbClr val="FFFFFF"/>
                          </a:solidFill>
                          <a:latin typeface="Calibri"/>
                        </a:rPr>
                        <a:t>Groups</a:t>
                      </a:r>
                    </a:p>
                  </a:txBody>
                  <a:tcPr marL="82296" marR="64008" marT="32004" marB="32004" anchor="ctr">
                    <a:solidFill>
                      <a:srgbClr val="A51C30"/>
                    </a:solidFill>
                  </a:tcPr>
                </a:tc>
                <a:tc>
                  <a:txBody>
                    <a:bodyPr wrap="square"/>
                    <a:lstStyle/>
                    <a:p>
                      <a:r>
                        <a:rPr sz="1200" b="1">
                          <a:solidFill>
                            <a:srgbClr val="FFFFFF"/>
                          </a:solidFill>
                          <a:latin typeface="Calibri"/>
                        </a:rPr>
                        <a:t>Tools</a:t>
                      </a:r>
                    </a:p>
                  </a:txBody>
                  <a:tcPr marL="82296" marR="64008" marT="32004" marB="32004" anchor="ctr">
                    <a:solidFill>
                      <a:srgbClr val="A51C30"/>
                    </a:solidFill>
                  </a:tcPr>
                </a:tc>
                <a:tc>
                  <a:txBody>
                    <a:bodyPr wrap="square"/>
                    <a:lstStyle/>
                    <a:p>
                      <a:r>
                        <a:rPr sz="1200" b="1">
                          <a:solidFill>
                            <a:srgbClr val="FFFFFF"/>
                          </a:solidFill>
                          <a:latin typeface="Calibri"/>
                        </a:rPr>
                        <a:t>What for</a:t>
                      </a:r>
                    </a:p>
                  </a:txBody>
                  <a:tcPr marL="82296" marR="64008" marT="32004" marB="32004" anchor="ctr">
                    <a:solidFill>
                      <a:srgbClr val="A51C30"/>
                    </a:solidFill>
                  </a:tcPr>
                </a:tc>
              </a:tr>
              <a:tr h="302514">
                <a:tc>
                  <a:txBody>
                    <a:bodyPr wrap="square"/>
                    <a:lstStyle/>
                    <a:p>
                      <a:r>
                        <a:rPr sz="1200" b="1">
                          <a:solidFill>
                            <a:srgbClr val="6E1120"/>
                          </a:solidFill>
                          <a:latin typeface="Calibri"/>
                        </a:rPr>
                        <a:t>Markets and equities</a:t>
                      </a:r>
                    </a:p>
                  </a:txBody>
                  <a:tcPr marL="82296" marR="64008" marT="32004" marB="32004" anchor="ctr">
                    <a:solidFill>
                      <a:srgbClr val="FFFFFF"/>
                    </a:solidFill>
                  </a:tcPr>
                </a:tc>
                <a:tc>
                  <a:txBody>
                    <a:bodyPr wrap="square"/>
                    <a:lstStyle/>
                    <a:p>
                      <a:r>
                        <a:rPr sz="1200" b="0">
                          <a:solidFill>
                            <a:srgbClr val="1A1A1A"/>
                          </a:solidFill>
                          <a:latin typeface="Calibri"/>
                        </a:rPr>
                        <a:t>fmp, openbb, av, yf, yahoo, cg</a:t>
                      </a:r>
                    </a:p>
                  </a:txBody>
                  <a:tcPr marL="82296" marR="64008" marT="32004" marB="32004" anchor="ctr">
                    <a:solidFill>
                      <a:srgbClr val="FFFFFF"/>
                    </a:solidFill>
                  </a:tcPr>
                </a:tc>
                <a:tc>
                  <a:txBody>
                    <a:bodyPr wrap="square"/>
                    <a:lstStyle/>
                    <a:p>
                      <a:r>
                        <a:rPr sz="1200" b="0">
                          <a:solidFill>
                            <a:srgbClr val="1A1A1A"/>
                          </a:solidFill>
                          <a:latin typeface="Calibri"/>
                        </a:rPr>
                        <a:t>268</a:t>
                      </a:r>
                    </a:p>
                  </a:txBody>
                  <a:tcPr marL="82296" marR="64008" marT="32004" marB="32004" anchor="ctr">
                    <a:solidFill>
                      <a:srgbClr val="FFFFFF"/>
                    </a:solidFill>
                  </a:tcPr>
                </a:tc>
                <a:tc>
                  <a:txBody>
                    <a:bodyPr wrap="square"/>
                    <a:lstStyle/>
                    <a:p>
                      <a:r>
                        <a:rPr sz="1200" b="0">
                          <a:solidFill>
                            <a:srgbClr val="1A1A1A"/>
                          </a:solidFill>
                          <a:latin typeface="Calibri"/>
                        </a:rPr>
                        <a:t>Quotes, statements, crypto, indices</a:t>
                      </a:r>
                    </a:p>
                  </a:txBody>
                  <a:tcPr marL="82296" marR="64008" marT="32004" marB="32004" anchor="ctr">
                    <a:solidFill>
                      <a:srgbClr val="FFFFFF"/>
                    </a:solidFill>
                  </a:tcPr>
                </a:tc>
              </a:tr>
              <a:tr h="302514">
                <a:tc>
                  <a:txBody>
                    <a:bodyPr wrap="square"/>
                    <a:lstStyle/>
                    <a:p>
                      <a:r>
                        <a:rPr sz="1200" b="1">
                          <a:solidFill>
                            <a:srgbClr val="6E1120"/>
                          </a:solidFill>
                          <a:latin typeface="Calibri"/>
                        </a:rPr>
                        <a:t>Central banks</a:t>
                      </a:r>
                    </a:p>
                  </a:txBody>
                  <a:tcPr marL="82296" marR="64008" marT="32004" marB="32004" anchor="ctr">
                    <a:solidFill>
                      <a:srgbClr val="F7F5F2"/>
                    </a:solidFill>
                  </a:tcPr>
                </a:tc>
                <a:tc>
                  <a:txBody>
                    <a:bodyPr wrap="square"/>
                    <a:lstStyle/>
                    <a:p>
                      <a:r>
                        <a:rPr sz="1200" b="0">
                          <a:solidFill>
                            <a:srgbClr val="1A1A1A"/>
                          </a:solidFill>
                          <a:latin typeface="Calibri"/>
                        </a:rPr>
                        <a:t>fred, fed, ecb, boc, boj, pboc, rbi, bdf</a:t>
                      </a:r>
                    </a:p>
                  </a:txBody>
                  <a:tcPr marL="82296" marR="64008" marT="32004" marB="32004" anchor="ctr">
                    <a:solidFill>
                      <a:srgbClr val="F7F5F2"/>
                    </a:solidFill>
                  </a:tcPr>
                </a:tc>
                <a:tc>
                  <a:txBody>
                    <a:bodyPr wrap="square"/>
                    <a:lstStyle/>
                    <a:p>
                      <a:r>
                        <a:rPr sz="1200" b="0">
                          <a:solidFill>
                            <a:srgbClr val="1A1A1A"/>
                          </a:solidFill>
                          <a:latin typeface="Calibri"/>
                        </a:rPr>
                        <a:t>98</a:t>
                      </a:r>
                    </a:p>
                  </a:txBody>
                  <a:tcPr marL="82296" marR="64008" marT="32004" marB="32004" anchor="ctr">
                    <a:solidFill>
                      <a:srgbClr val="F7F5F2"/>
                    </a:solidFill>
                  </a:tcPr>
                </a:tc>
                <a:tc>
                  <a:txBody>
                    <a:bodyPr wrap="square"/>
                    <a:lstStyle/>
                    <a:p>
                      <a:r>
                        <a:rPr sz="1200" b="0">
                          <a:solidFill>
                            <a:srgbClr val="1A1A1A"/>
                          </a:solidFill>
                          <a:latin typeface="Calibri"/>
                        </a:rPr>
                        <a:t>Policy rates, yields, money supply</a:t>
                      </a:r>
                    </a:p>
                  </a:txBody>
                  <a:tcPr marL="82296" marR="64008" marT="32004" marB="32004" anchor="ctr">
                    <a:solidFill>
                      <a:srgbClr val="F7F5F2"/>
                    </a:solidFill>
                  </a:tcPr>
                </a:tc>
              </a:tr>
              <a:tr h="302514">
                <a:tc>
                  <a:txBody>
                    <a:bodyPr wrap="square"/>
                    <a:lstStyle/>
                    <a:p>
                      <a:r>
                        <a:rPr sz="1200" b="1">
                          <a:solidFill>
                            <a:srgbClr val="6E1120"/>
                          </a:solidFill>
                          <a:latin typeface="Calibri"/>
                        </a:rPr>
                        <a:t>International bodies</a:t>
                      </a:r>
                    </a:p>
                  </a:txBody>
                  <a:tcPr marL="82296" marR="64008" marT="32004" marB="32004" anchor="ctr">
                    <a:solidFill>
                      <a:srgbClr val="FFFFFF"/>
                    </a:solidFill>
                  </a:tcPr>
                </a:tc>
                <a:tc>
                  <a:txBody>
                    <a:bodyPr wrap="square"/>
                    <a:lstStyle/>
                    <a:p>
                      <a:r>
                        <a:rPr sz="1200" b="0">
                          <a:solidFill>
                            <a:srgbClr val="1A1A1A"/>
                          </a:solidFill>
                          <a:latin typeface="Calibri"/>
                        </a:rPr>
                        <a:t>imf, wb, un</a:t>
                      </a:r>
                    </a:p>
                  </a:txBody>
                  <a:tcPr marL="82296" marR="64008" marT="32004" marB="32004" anchor="ctr">
                    <a:solidFill>
                      <a:srgbClr val="FFFFFF"/>
                    </a:solidFill>
                  </a:tcPr>
                </a:tc>
                <a:tc>
                  <a:txBody>
                    <a:bodyPr wrap="square"/>
                    <a:lstStyle/>
                    <a:p>
                      <a:r>
                        <a:rPr sz="1200" b="0">
                          <a:solidFill>
                            <a:srgbClr val="1A1A1A"/>
                          </a:solidFill>
                          <a:latin typeface="Calibri"/>
                        </a:rPr>
                        <a:t>27</a:t>
                      </a:r>
                    </a:p>
                  </a:txBody>
                  <a:tcPr marL="82296" marR="64008" marT="32004" marB="32004" anchor="ctr">
                    <a:solidFill>
                      <a:srgbClr val="FFFFFF"/>
                    </a:solidFill>
                  </a:tcPr>
                </a:tc>
                <a:tc>
                  <a:txBody>
                    <a:bodyPr wrap="square"/>
                    <a:lstStyle/>
                    <a:p>
                      <a:r>
                        <a:rPr sz="1200" b="0">
                          <a:solidFill>
                            <a:srgbClr val="1A1A1A"/>
                          </a:solidFill>
                          <a:latin typeface="Calibri"/>
                        </a:rPr>
                        <a:t>Outlooks, development and trade data</a:t>
                      </a:r>
                    </a:p>
                  </a:txBody>
                  <a:tcPr marL="82296" marR="64008" marT="32004" marB="32004" anchor="ctr">
                    <a:solidFill>
                      <a:srgbClr val="FFFFFF"/>
                    </a:solidFill>
                  </a:tcPr>
                </a:tc>
              </a:tr>
              <a:tr h="495299">
                <a:tc>
                  <a:txBody>
                    <a:bodyPr wrap="square"/>
                    <a:lstStyle/>
                    <a:p>
                      <a:r>
                        <a:rPr sz="1200" b="1">
                          <a:solidFill>
                            <a:srgbClr val="6E1120"/>
                          </a:solidFill>
                          <a:latin typeface="Calibri"/>
                        </a:rPr>
                        <a:t>Filings and investor relations</a:t>
                      </a:r>
                    </a:p>
                  </a:txBody>
                  <a:tcPr marL="82296" marR="64008" marT="32004" marB="32004" anchor="ctr">
                    <a:solidFill>
                      <a:srgbClr val="F7F5F2"/>
                    </a:solidFill>
                  </a:tcPr>
                </a:tc>
                <a:tc>
                  <a:txBody>
                    <a:bodyPr wrap="square"/>
                    <a:lstStyle/>
                    <a:p>
                      <a:r>
                        <a:rPr sz="1200" b="0">
                          <a:solidFill>
                            <a:srgbClr val="1A1A1A"/>
                          </a:solidFill>
                          <a:latin typeface="Calibri"/>
                        </a:rPr>
                        <a:t>edgar, sec, ir</a:t>
                      </a:r>
                    </a:p>
                  </a:txBody>
                  <a:tcPr marL="82296" marR="64008" marT="32004" marB="32004" anchor="ctr">
                    <a:solidFill>
                      <a:srgbClr val="F7F5F2"/>
                    </a:solidFill>
                  </a:tcPr>
                </a:tc>
                <a:tc>
                  <a:txBody>
                    <a:bodyPr wrap="square"/>
                    <a:lstStyle/>
                    <a:p>
                      <a:r>
                        <a:rPr sz="1200" b="0">
                          <a:solidFill>
                            <a:srgbClr val="1A1A1A"/>
                          </a:solidFill>
                          <a:latin typeface="Calibri"/>
                        </a:rPr>
                        <a:t>34</a:t>
                      </a:r>
                    </a:p>
                  </a:txBody>
                  <a:tcPr marL="82296" marR="64008" marT="32004" marB="32004" anchor="ctr">
                    <a:solidFill>
                      <a:srgbClr val="F7F5F2"/>
                    </a:solidFill>
                  </a:tcPr>
                </a:tc>
                <a:tc>
                  <a:txBody>
                    <a:bodyPr wrap="square"/>
                    <a:lstStyle/>
                    <a:p>
                      <a:r>
                        <a:rPr sz="1200" b="0">
                          <a:solidFill>
                            <a:srgbClr val="1A1A1A"/>
                          </a:solidFill>
                          <a:latin typeface="Calibri"/>
                        </a:rPr>
                        <a:t>Filings, facts, insider trades, reports</a:t>
                      </a:r>
                    </a:p>
                  </a:txBody>
                  <a:tcPr marL="82296" marR="64008" marT="32004" marB="32004" anchor="ctr">
                    <a:solidFill>
                      <a:srgbClr val="F7F5F2"/>
                    </a:solidFill>
                  </a:tcPr>
                </a:tc>
              </a:tr>
              <a:tr h="495299">
                <a:tc>
                  <a:txBody>
                    <a:bodyPr wrap="square"/>
                    <a:lstStyle/>
                    <a:p>
                      <a:r>
                        <a:rPr sz="1200" b="1">
                          <a:solidFill>
                            <a:srgbClr val="6E1120"/>
                          </a:solidFill>
                          <a:latin typeface="Calibri"/>
                        </a:rPr>
                        <a:t>Analytics and SQL</a:t>
                      </a:r>
                    </a:p>
                  </a:txBody>
                  <a:tcPr marL="82296" marR="64008" marT="32004" marB="32004" anchor="ctr">
                    <a:solidFill>
                      <a:srgbClr val="FFFFFF"/>
                    </a:solidFill>
                  </a:tcPr>
                </a:tc>
                <a:tc>
                  <a:txBody>
                    <a:bodyPr wrap="square"/>
                    <a:lstStyle/>
                    <a:p>
                      <a:r>
                        <a:rPr sz="1200" b="0">
                          <a:solidFill>
                            <a:srgbClr val="1A1A1A"/>
                          </a:solidFill>
                          <a:latin typeface="Calibri"/>
                        </a:rPr>
                        <a:t>duckdb, olap, sqlselect, customer, calc</a:t>
                      </a:r>
                    </a:p>
                  </a:txBody>
                  <a:tcPr marL="82296" marR="64008" marT="32004" marB="32004" anchor="ctr">
                    <a:solidFill>
                      <a:srgbClr val="FFFFFF"/>
                    </a:solidFill>
                  </a:tcPr>
                </a:tc>
                <a:tc>
                  <a:txBody>
                    <a:bodyPr wrap="square"/>
                    <a:lstStyle/>
                    <a:p>
                      <a:r>
                        <a:rPr sz="1200" b="0">
                          <a:solidFill>
                            <a:srgbClr val="1A1A1A"/>
                          </a:solidFill>
                          <a:latin typeface="Calibri"/>
                        </a:rPr>
                        <a:t>36</a:t>
                      </a:r>
                    </a:p>
                  </a:txBody>
                  <a:tcPr marL="82296" marR="64008" marT="32004" marB="32004" anchor="ctr">
                    <a:solidFill>
                      <a:srgbClr val="FFFFFF"/>
                    </a:solidFill>
                  </a:tcPr>
                </a:tc>
                <a:tc>
                  <a:txBody>
                    <a:bodyPr wrap="square"/>
                    <a:lstStyle/>
                    <a:p>
                      <a:r>
                        <a:rPr sz="1200" b="0">
                          <a:solidFill>
                            <a:srgbClr val="1A1A1A"/>
                          </a:solidFill>
                          <a:latin typeface="Calibri"/>
                        </a:rPr>
                        <a:t>SQL over files, pivots, financial calculators</a:t>
                      </a:r>
                    </a:p>
                  </a:txBody>
                  <a:tcPr marL="82296" marR="64008" marT="32004" marB="32004" anchor="ctr">
                    <a:solidFill>
                      <a:srgbClr val="FFFFFF"/>
                    </a:solidFill>
                  </a:tcPr>
                </a:tc>
              </a:tr>
              <a:tr h="495299">
                <a:tc>
                  <a:txBody>
                    <a:bodyPr wrap="square"/>
                    <a:lstStyle/>
                    <a:p>
                      <a:r>
                        <a:rPr sz="1200" b="1">
                          <a:solidFill>
                            <a:srgbClr val="6E1120"/>
                          </a:solidFill>
                          <a:latin typeface="Calibri"/>
                        </a:rPr>
                        <a:t>Search and the web</a:t>
                      </a:r>
                    </a:p>
                  </a:txBody>
                  <a:tcPr marL="82296" marR="64008" marT="32004" marB="32004" anchor="ctr">
                    <a:solidFill>
                      <a:srgbClr val="F7F5F2"/>
                    </a:solidFill>
                  </a:tcPr>
                </a:tc>
                <a:tc>
                  <a:txBody>
                    <a:bodyPr wrap="square"/>
                    <a:lstStyle/>
                    <a:p>
                      <a:r>
                        <a:rPr sz="1200" b="0">
                          <a:solidFill>
                            <a:srgbClr val="1A1A1A"/>
                          </a:solidFill>
                          <a:latin typeface="Calibri"/>
                        </a:rPr>
                        <a:t>tavily, wiki, crawl, extract, check, get</a:t>
                      </a:r>
                    </a:p>
                  </a:txBody>
                  <a:tcPr marL="82296" marR="64008" marT="32004" marB="32004" anchor="ctr">
                    <a:solidFill>
                      <a:srgbClr val="F7F5F2"/>
                    </a:solidFill>
                  </a:tcPr>
                </a:tc>
                <a:tc>
                  <a:txBody>
                    <a:bodyPr wrap="square"/>
                    <a:lstStyle/>
                    <a:p>
                      <a:r>
                        <a:rPr sz="1200" b="0">
                          <a:solidFill>
                            <a:srgbClr val="1A1A1A"/>
                          </a:solidFill>
                          <a:latin typeface="Calibri"/>
                        </a:rPr>
                        <a:t>14</a:t>
                      </a:r>
                    </a:p>
                  </a:txBody>
                  <a:tcPr marL="82296" marR="64008" marT="32004" marB="32004" anchor="ctr">
                    <a:solidFill>
                      <a:srgbClr val="F7F5F2"/>
                    </a:solidFill>
                  </a:tcPr>
                </a:tc>
                <a:tc>
                  <a:txBody>
                    <a:bodyPr wrap="square"/>
                    <a:lstStyle/>
                    <a:p>
                      <a:r>
                        <a:rPr sz="1200" b="0">
                          <a:solidFill>
                            <a:srgbClr val="1A1A1A"/>
                          </a:solidFill>
                          <a:latin typeface="Calibri"/>
                        </a:rPr>
                        <a:t>Web and news search, extraction, crawling</a:t>
                      </a:r>
                    </a:p>
                  </a:txBody>
                  <a:tcPr marL="82296" marR="64008" marT="32004" marB="32004" anchor="ctr">
                    <a:solidFill>
                      <a:srgbClr val="F7F5F2"/>
                    </a:solidFill>
                  </a:tcPr>
                </a:tc>
              </a:tr>
              <a:tr h="495299">
                <a:tc>
                  <a:txBody>
                    <a:bodyPr wrap="square"/>
                    <a:lstStyle/>
                    <a:p>
                      <a:r>
                        <a:rPr sz="1200" b="1">
                          <a:solidFill>
                            <a:srgbClr val="6E1120"/>
                          </a:solidFill>
                          <a:latin typeface="Calibri"/>
                        </a:rPr>
                        <a:t>Documents</a:t>
                      </a:r>
                    </a:p>
                  </a:txBody>
                  <a:tcPr marL="82296" marR="64008" marT="32004" marB="32004" anchor="ctr">
                    <a:solidFill>
                      <a:srgbClr val="FFFFFF"/>
                    </a:solidFill>
                  </a:tcPr>
                </a:tc>
                <a:tc>
                  <a:txBody>
                    <a:bodyPr wrap="square"/>
                    <a:lstStyle/>
                    <a:p>
                      <a:r>
                        <a:rPr sz="1200" b="0">
                          <a:solidFill>
                            <a:srgbClr val="1A1A1A"/>
                          </a:solidFill>
                          <a:latin typeface="Calibri"/>
                        </a:rPr>
                        <a:t>msdoc, sharepoint, sajha</a:t>
                      </a:r>
                    </a:p>
                  </a:txBody>
                  <a:tcPr marL="82296" marR="64008" marT="32004" marB="32004" anchor="ctr">
                    <a:solidFill>
                      <a:srgbClr val="FFFFFF"/>
                    </a:solidFill>
                  </a:tcPr>
                </a:tc>
                <a:tc>
                  <a:txBody>
                    <a:bodyPr wrap="square"/>
                    <a:lstStyle/>
                    <a:p>
                      <a:r>
                        <a:rPr sz="1200" b="0">
                          <a:solidFill>
                            <a:srgbClr val="1A1A1A"/>
                          </a:solidFill>
                          <a:latin typeface="Calibri"/>
                        </a:rPr>
                        <a:t>15</a:t>
                      </a:r>
                    </a:p>
                  </a:txBody>
                  <a:tcPr marL="82296" marR="64008" marT="32004" marB="32004" anchor="ctr">
                    <a:solidFill>
                      <a:srgbClr val="FFFFFF"/>
                    </a:solidFill>
                  </a:tcPr>
                </a:tc>
                <a:tc>
                  <a:txBody>
                    <a:bodyPr wrap="square"/>
                    <a:lstStyle/>
                    <a:p>
                      <a:r>
                        <a:rPr sz="1200" b="0">
                          <a:solidFill>
                            <a:srgbClr val="1A1A1A"/>
                          </a:solidFill>
                          <a:latin typeface="Calibri"/>
                        </a:rPr>
                        <a:t>Word and Excel, SharePoint, SAJHA's own guides</a:t>
                      </a:r>
                    </a:p>
                  </a:txBody>
                  <a:tcPr marL="82296" marR="64008" marT="32004" marB="32004" anchor="ctr">
                    <a:solidFill>
                      <a:srgbClr val="FFFFFF"/>
                    </a:solidFill>
                  </a:tcPr>
                </a:tc>
              </a:tr>
              <a:tr h="302514">
                <a:tc>
                  <a:txBody>
                    <a:bodyPr wrap="square"/>
                    <a:lstStyle/>
                    <a:p>
                      <a:r>
                        <a:rPr sz="1200" b="1">
                          <a:solidFill>
                            <a:srgbClr val="6E1120"/>
                          </a:solidFill>
                          <a:latin typeface="Calibri"/>
                        </a:rPr>
                        <a:t>Connected accounts</a:t>
                      </a:r>
                    </a:p>
                  </a:txBody>
                  <a:tcPr marL="82296" marR="64008" marT="32004" marB="32004" anchor="ctr">
                    <a:solidFill>
                      <a:srgbClr val="F7F5F2"/>
                    </a:solidFill>
                  </a:tcPr>
                </a:tc>
                <a:tc>
                  <a:txBody>
                    <a:bodyPr wrap="square"/>
                    <a:lstStyle/>
                    <a:p>
                      <a:r>
                        <a:rPr sz="1200" b="0">
                          <a:solidFill>
                            <a:srgbClr val="1A1A1A"/>
                          </a:solidFill>
                          <a:latin typeface="Calibri"/>
                        </a:rPr>
                        <a:t>github, google, ms365, slack, connected</a:t>
                      </a:r>
                    </a:p>
                  </a:txBody>
                  <a:tcPr marL="82296" marR="64008" marT="32004" marB="32004" anchor="ctr">
                    <a:solidFill>
                      <a:srgbClr val="F7F5F2"/>
                    </a:solidFill>
                  </a:tcPr>
                </a:tc>
                <a:tc>
                  <a:txBody>
                    <a:bodyPr wrap="square"/>
                    <a:lstStyle/>
                    <a:p>
                      <a:r>
                        <a:rPr sz="1200" b="0">
                          <a:solidFill>
                            <a:srgbClr val="1A1A1A"/>
                          </a:solidFill>
                          <a:latin typeface="Calibri"/>
                        </a:rPr>
                        <a:t>7</a:t>
                      </a:r>
                    </a:p>
                  </a:txBody>
                  <a:tcPr marL="82296" marR="64008" marT="32004" marB="32004" anchor="ctr">
                    <a:solidFill>
                      <a:srgbClr val="F7F5F2"/>
                    </a:solidFill>
                  </a:tcPr>
                </a:tc>
                <a:tc>
                  <a:txBody>
                    <a:bodyPr wrap="square"/>
                    <a:lstStyle/>
                    <a:p>
                      <a:r>
                        <a:rPr sz="1200" b="0">
                          <a:solidFill>
                            <a:srgbClr val="1A1A1A"/>
                          </a:solidFill>
                          <a:latin typeface="Calibri"/>
                        </a:rPr>
                        <a:t>Act as the user in SaaS apps</a:t>
                      </a:r>
                    </a:p>
                  </a:txBody>
                  <a:tcPr marL="82296" marR="64008" marT="32004" marB="32004" anchor="ctr">
                    <a:solidFill>
                      <a:srgbClr val="F7F5F2"/>
                    </a:solidFill>
                  </a:tcPr>
                </a:tc>
              </a:tr>
              <a:tr h="302514">
                <a:tc>
                  <a:txBody>
                    <a:bodyPr wrap="square"/>
                    <a:lstStyle/>
                    <a:p>
                      <a:r>
                        <a:rPr sz="1200" b="1">
                          <a:solidFill>
                            <a:srgbClr val="6E1120"/>
                          </a:solidFill>
                          <a:latin typeface="Calibri"/>
                        </a:rPr>
                        <a:t>Public statistics</a:t>
                      </a:r>
                    </a:p>
                  </a:txBody>
                  <a:tcPr marL="82296" marR="64008" marT="32004" marB="32004" anchor="ctr">
                    <a:solidFill>
                      <a:srgbClr val="FFFFFF"/>
                    </a:solidFill>
                  </a:tcPr>
                </a:tc>
                <a:tc>
                  <a:txBody>
                    <a:bodyPr wrap="square"/>
                    <a:lstStyle/>
                    <a:p>
                      <a:r>
                        <a:rPr sz="1200" b="0">
                          <a:solidFill>
                            <a:srgbClr val="1A1A1A"/>
                          </a:solidFill>
                          <a:latin typeface="Calibri"/>
                        </a:rPr>
                        <a:t>fbi</a:t>
                      </a:r>
                    </a:p>
                  </a:txBody>
                  <a:tcPr marL="82296" marR="64008" marT="32004" marB="32004" anchor="ctr">
                    <a:solidFill>
                      <a:srgbClr val="FFFFFF"/>
                    </a:solidFill>
                  </a:tcPr>
                </a:tc>
                <a:tc>
                  <a:txBody>
                    <a:bodyPr wrap="square"/>
                    <a:lstStyle/>
                    <a:p>
                      <a:r>
                        <a:rPr sz="1200" b="0">
                          <a:solidFill>
                            <a:srgbClr val="1A1A1A"/>
                          </a:solidFill>
                          <a:latin typeface="Calibri"/>
                        </a:rPr>
                        <a:t>9</a:t>
                      </a:r>
                    </a:p>
                  </a:txBody>
                  <a:tcPr marL="82296" marR="64008" marT="32004" marB="32004" anchor="ctr">
                    <a:solidFill>
                      <a:srgbClr val="FFFFFF"/>
                    </a:solidFill>
                  </a:tcPr>
                </a:tc>
                <a:tc>
                  <a:txBody>
                    <a:bodyPr wrap="square"/>
                    <a:lstStyle/>
                    <a:p>
                      <a:r>
                        <a:rPr sz="1200" b="0">
                          <a:solidFill>
                            <a:srgbClr val="1A1A1A"/>
                          </a:solidFill>
                          <a:latin typeface="Calibri"/>
                        </a:rPr>
                        <a:t>Crime statistics</a:t>
                      </a:r>
                    </a:p>
                  </a:txBody>
                  <a:tcPr marL="82296" marR="64008" marT="32004" marB="32004" anchor="ctr">
                    <a:solidFill>
                      <a:srgbClr val="FFFFFF"/>
                    </a:solidFill>
                  </a:tcPr>
                </a:tc>
              </a:tr>
              <a:tr h="688086">
                <a:tc>
                  <a:txBody>
                    <a:bodyPr wrap="square"/>
                    <a:lstStyle/>
                    <a:p>
                      <a:r>
                        <a:rPr sz="1200" b="1">
                          <a:solidFill>
                            <a:srgbClr val="6E1120"/>
                          </a:solidFill>
                          <a:latin typeface="Calibri"/>
                        </a:rPr>
                        <a:t>LLM tools</a:t>
                      </a:r>
                    </a:p>
                  </a:txBody>
                  <a:tcPr marL="82296" marR="64008" marT="32004" marB="32004" anchor="ctr">
                    <a:solidFill>
                      <a:srgbClr val="F7F5F2"/>
                    </a:solidFill>
                  </a:tcPr>
                </a:tc>
                <a:tc>
                  <a:txBody>
                    <a:bodyPr wrap="square"/>
                    <a:lstStyle/>
                    <a:p>
                      <a:r>
                        <a:rPr sz="1200" b="0">
                          <a:solidFill>
                            <a:srgbClr val="1A1A1A"/>
                          </a:solidFill>
                          <a:latin typeface="Calibri"/>
                        </a:rPr>
                        <a:t>llm</a:t>
                      </a:r>
                    </a:p>
                  </a:txBody>
                  <a:tcPr marL="82296" marR="64008" marT="32004" marB="32004" anchor="ctr">
                    <a:solidFill>
                      <a:srgbClr val="F7F5F2"/>
                    </a:solidFill>
                  </a:tcPr>
                </a:tc>
                <a:tc>
                  <a:txBody>
                    <a:bodyPr wrap="square"/>
                    <a:lstStyle/>
                    <a:p>
                      <a:r>
                        <a:rPr sz="1200" b="0">
                          <a:solidFill>
                            <a:srgbClr val="1A1A1A"/>
                          </a:solidFill>
                          <a:latin typeface="Calibri"/>
                        </a:rPr>
                        <a:t>4</a:t>
                      </a:r>
                    </a:p>
                  </a:txBody>
                  <a:tcPr marL="82296" marR="64008" marT="32004" marB="32004" anchor="ctr">
                    <a:solidFill>
                      <a:srgbClr val="F7F5F2"/>
                    </a:solidFill>
                  </a:tcPr>
                </a:tc>
                <a:tc>
                  <a:txBody>
                    <a:bodyPr wrap="square"/>
                    <a:lstStyle/>
                    <a:p>
                      <a:r>
                        <a:rPr sz="1200" b="0">
                          <a:solidFill>
                            <a:srgbClr val="1A1A1A"/>
                          </a:solidFill>
                          <a:latin typeface="Calibri"/>
                        </a:rPr>
                        <a:t>Example LLM tools: assistant, summariser, triage, docs Q&amp;A (disabled by default)</a:t>
                      </a:r>
                    </a:p>
                  </a:txBody>
                  <a:tcPr marL="82296" marR="64008" marT="32004" marB="32004" anchor="ctr">
                    <a:solidFill>
                      <a:srgbClr val="F7F5F2"/>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MCP STUDIO</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MCP Studio: 11 ways to create a tool in the browser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creator deploys into the running server, with no restart; generated code and scripts run in the sandbox.</a:t>
            </a:r>
          </a:p>
        </p:txBody>
      </p:sp>
      <p:sp>
        <p:nvSpPr>
          <p:cNvPr id="19" name="Oval 18"/>
          <p:cNvSpPr/>
          <p:nvPr/>
        </p:nvSpPr>
        <p:spPr>
          <a:xfrm>
            <a:off x="777240"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a:t>
            </a:r>
          </a:p>
        </p:txBody>
      </p:sp>
      <p:sp>
        <p:nvSpPr>
          <p:cNvPr id="20" name="TextBox 19"/>
          <p:cNvSpPr txBox="1"/>
          <p:nvPr/>
        </p:nvSpPr>
        <p:spPr>
          <a:xfrm>
            <a:off x="1325880" y="1386967"/>
            <a:ext cx="4568799" cy="675618"/>
          </a:xfrm>
          <a:prstGeom prst="rect">
            <a:avLst/>
          </a:prstGeom>
          <a:noFill/>
        </p:spPr>
        <p:txBody>
          <a:bodyPr wrap="square" lIns="0" rIns="0" tIns="0" bIns="0" anchor="t">
            <a:spAutoFit/>
          </a:bodyPr>
          <a:lstStyle/>
          <a:p>
            <a:pPr algn="l">
              <a:lnSpc>
                <a:spcPct val="110000"/>
              </a:lnSpc>
              <a:spcBef>
                <a:spcPts val="0"/>
              </a:spcBef>
              <a:spcAft>
                <a:spcPts val="100"/>
              </a:spcAft>
            </a:pPr>
            <a:r>
              <a:rPr sz="1450" b="1" i="0">
                <a:solidFill>
                  <a:srgbClr val="1A1A1A"/>
                </a:solidFill>
                <a:latin typeface="Calibri"/>
              </a:rPr>
              <a:t>Python code</a:t>
            </a:r>
          </a:p>
          <a:p>
            <a:pPr>
              <a:lnSpc>
                <a:spcPct val="115000"/>
              </a:lnSpc>
              <a:spcBef>
                <a:spcPts val="0"/>
              </a:spcBef>
              <a:spcAft>
                <a:spcPts val="0"/>
              </a:spcAft>
            </a:pPr>
            <a:r>
              <a:rPr sz="1250" b="0" i="0">
                <a:solidFill>
                  <a:srgbClr val="6B7480"/>
                </a:solidFill>
                <a:latin typeface="Calibri"/>
              </a:rPr>
              <a:t>Write a function with the @sajhamcptool decorator; the schema comes from its type hints. Runs sandboxed.</a:t>
            </a:r>
          </a:p>
        </p:txBody>
      </p:sp>
      <p:sp>
        <p:nvSpPr>
          <p:cNvPr id="21" name="Oval 20"/>
          <p:cNvSpPr/>
          <p:nvPr/>
        </p:nvSpPr>
        <p:spPr>
          <a:xfrm>
            <a:off x="777240" y="217231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2</a:t>
            </a:r>
          </a:p>
        </p:txBody>
      </p:sp>
      <p:sp>
        <p:nvSpPr>
          <p:cNvPr id="22" name="TextBox 21"/>
          <p:cNvSpPr txBox="1"/>
          <p:nvPr/>
        </p:nvSpPr>
        <p:spPr>
          <a:xfrm>
            <a:off x="1325880" y="2135737"/>
            <a:ext cx="4568799" cy="675618"/>
          </a:xfrm>
          <a:prstGeom prst="rect">
            <a:avLst/>
          </a:prstGeom>
          <a:noFill/>
        </p:spPr>
        <p:txBody>
          <a:bodyPr wrap="square" lIns="0" rIns="0" tIns="0" bIns="0" anchor="t">
            <a:spAutoFit/>
          </a:bodyPr>
          <a:lstStyle/>
          <a:p>
            <a:pPr algn="l">
              <a:lnSpc>
                <a:spcPct val="110000"/>
              </a:lnSpc>
              <a:spcBef>
                <a:spcPts val="0"/>
              </a:spcBef>
              <a:spcAft>
                <a:spcPts val="100"/>
              </a:spcAft>
            </a:pPr>
            <a:r>
              <a:rPr sz="1500" b="1" i="0">
                <a:solidFill>
                  <a:srgbClr val="1A1A1A"/>
                </a:solidFill>
                <a:latin typeface="Calibri"/>
              </a:rPr>
              <a:t>REST service</a:t>
            </a:r>
          </a:p>
          <a:p>
            <a:pPr>
              <a:lnSpc>
                <a:spcPct val="115000"/>
              </a:lnSpc>
              <a:spcBef>
                <a:spcPts val="0"/>
              </a:spcBef>
              <a:spcAft>
                <a:spcPts val="0"/>
              </a:spcAft>
            </a:pPr>
            <a:r>
              <a:rPr sz="1300" b="0" i="0">
                <a:solidFill>
                  <a:srgbClr val="6B7480"/>
                </a:solidFill>
                <a:latin typeface="Calibri"/>
              </a:rPr>
              <a:t>Wrap an HTTP endpoint: method, URL template, headers, auth, response mapping.</a:t>
            </a:r>
          </a:p>
        </p:txBody>
      </p:sp>
      <p:sp>
        <p:nvSpPr>
          <p:cNvPr id="23" name="Oval 22"/>
          <p:cNvSpPr/>
          <p:nvPr/>
        </p:nvSpPr>
        <p:spPr>
          <a:xfrm>
            <a:off x="777240" y="292108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3</a:t>
            </a:r>
          </a:p>
        </p:txBody>
      </p:sp>
      <p:sp>
        <p:nvSpPr>
          <p:cNvPr id="24" name="TextBox 23"/>
          <p:cNvSpPr txBox="1"/>
          <p:nvPr/>
        </p:nvSpPr>
        <p:spPr>
          <a:xfrm>
            <a:off x="1325880" y="2884508"/>
            <a:ext cx="4568799" cy="675618"/>
          </a:xfrm>
          <a:prstGeom prst="rect">
            <a:avLst/>
          </a:prstGeom>
          <a:noFill/>
        </p:spPr>
        <p:txBody>
          <a:bodyPr wrap="square" lIns="0" rIns="0" tIns="0" bIns="0" anchor="t">
            <a:spAutoFit/>
          </a:bodyPr>
          <a:lstStyle/>
          <a:p>
            <a:pPr algn="l">
              <a:lnSpc>
                <a:spcPct val="110000"/>
              </a:lnSpc>
              <a:spcBef>
                <a:spcPts val="0"/>
              </a:spcBef>
              <a:spcAft>
                <a:spcPts val="100"/>
              </a:spcAft>
            </a:pPr>
            <a:r>
              <a:rPr sz="1700" b="1" i="0">
                <a:solidFill>
                  <a:srgbClr val="1A1A1A"/>
                </a:solidFill>
                <a:latin typeface="Calibri"/>
              </a:rPr>
              <a:t>Database query</a:t>
            </a:r>
          </a:p>
          <a:p>
            <a:pPr>
              <a:lnSpc>
                <a:spcPct val="115000"/>
              </a:lnSpc>
              <a:spcBef>
                <a:spcPts val="0"/>
              </a:spcBef>
              <a:spcAft>
                <a:spcPts val="0"/>
              </a:spcAft>
            </a:pPr>
            <a:r>
              <a:rPr sz="1500" b="0" i="0">
                <a:solidFill>
                  <a:srgbClr val="6B7480"/>
                </a:solidFill>
                <a:latin typeface="Calibri"/>
              </a:rPr>
              <a:t>A parameterised SQL template becomes a tool.</a:t>
            </a:r>
          </a:p>
        </p:txBody>
      </p:sp>
      <p:sp>
        <p:nvSpPr>
          <p:cNvPr id="25" name="Oval 24"/>
          <p:cNvSpPr/>
          <p:nvPr/>
        </p:nvSpPr>
        <p:spPr>
          <a:xfrm>
            <a:off x="777240" y="3669855"/>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4</a:t>
            </a:r>
          </a:p>
        </p:txBody>
      </p:sp>
      <p:sp>
        <p:nvSpPr>
          <p:cNvPr id="26" name="TextBox 25"/>
          <p:cNvSpPr txBox="1"/>
          <p:nvPr/>
        </p:nvSpPr>
        <p:spPr>
          <a:xfrm>
            <a:off x="1325880" y="3633279"/>
            <a:ext cx="4568799" cy="675618"/>
          </a:xfrm>
          <a:prstGeom prst="rect">
            <a:avLst/>
          </a:prstGeom>
          <a:noFill/>
        </p:spPr>
        <p:txBody>
          <a:bodyPr wrap="square" lIns="0" rIns="0" tIns="0" bIns="0" anchor="t">
            <a:spAutoFit/>
          </a:bodyPr>
          <a:lstStyle/>
          <a:p>
            <a:pPr algn="l">
              <a:lnSpc>
                <a:spcPct val="110000"/>
              </a:lnSpc>
              <a:spcBef>
                <a:spcPts val="0"/>
              </a:spcBef>
              <a:spcAft>
                <a:spcPts val="100"/>
              </a:spcAft>
            </a:pPr>
            <a:r>
              <a:rPr sz="1500" b="1" i="0">
                <a:solidFill>
                  <a:srgbClr val="1A1A1A"/>
                </a:solidFill>
                <a:latin typeface="Calibri"/>
              </a:rPr>
              <a:t>Script</a:t>
            </a:r>
          </a:p>
          <a:p>
            <a:pPr>
              <a:lnSpc>
                <a:spcPct val="115000"/>
              </a:lnSpc>
              <a:spcBef>
                <a:spcPts val="0"/>
              </a:spcBef>
              <a:spcAft>
                <a:spcPts val="0"/>
              </a:spcAft>
            </a:pPr>
            <a:r>
              <a:rPr sz="1300" b="0" i="0">
                <a:solidFill>
                  <a:srgbClr val="6B7480"/>
                </a:solidFill>
                <a:latin typeface="Calibri"/>
              </a:rPr>
              <a:t>A shell or Python script, arguments passed in; runs sandboxed.</a:t>
            </a:r>
          </a:p>
        </p:txBody>
      </p:sp>
      <p:sp>
        <p:nvSpPr>
          <p:cNvPr id="27" name="Oval 26"/>
          <p:cNvSpPr/>
          <p:nvPr/>
        </p:nvSpPr>
        <p:spPr>
          <a:xfrm>
            <a:off x="777240" y="4418626"/>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5</a:t>
            </a:r>
          </a:p>
        </p:txBody>
      </p:sp>
      <p:sp>
        <p:nvSpPr>
          <p:cNvPr id="28" name="TextBox 27"/>
          <p:cNvSpPr txBox="1"/>
          <p:nvPr/>
        </p:nvSpPr>
        <p:spPr>
          <a:xfrm>
            <a:off x="1325880" y="4382050"/>
            <a:ext cx="4568799" cy="675618"/>
          </a:xfrm>
          <a:prstGeom prst="rect">
            <a:avLst/>
          </a:prstGeom>
          <a:noFill/>
        </p:spPr>
        <p:txBody>
          <a:bodyPr wrap="square" lIns="0" rIns="0" tIns="0" bIns="0" anchor="t">
            <a:spAutoFit/>
          </a:bodyPr>
          <a:lstStyle/>
          <a:p>
            <a:pPr algn="l">
              <a:lnSpc>
                <a:spcPct val="110000"/>
              </a:lnSpc>
              <a:spcBef>
                <a:spcPts val="0"/>
              </a:spcBef>
              <a:spcAft>
                <a:spcPts val="100"/>
              </a:spcAft>
            </a:pPr>
            <a:r>
              <a:rPr sz="1500" b="1" i="0">
                <a:solidFill>
                  <a:srgbClr val="1A1A1A"/>
                </a:solidFill>
                <a:latin typeface="Calibri"/>
              </a:rPr>
              <a:t>OpenText LiveLink</a:t>
            </a:r>
          </a:p>
          <a:p>
            <a:pPr>
              <a:lnSpc>
                <a:spcPct val="115000"/>
              </a:lnSpc>
              <a:spcBef>
                <a:spcPts val="0"/>
              </a:spcBef>
              <a:spcAft>
                <a:spcPts val="0"/>
              </a:spcAft>
            </a:pPr>
            <a:r>
              <a:rPr sz="1300" b="0" i="0">
                <a:solidFill>
                  <a:srgbClr val="6B7480"/>
                </a:solidFill>
                <a:latin typeface="Calibri"/>
              </a:rPr>
              <a:t>Browse and fetch documents from a LiveLink repository.</a:t>
            </a:r>
          </a:p>
        </p:txBody>
      </p:sp>
      <p:sp>
        <p:nvSpPr>
          <p:cNvPr id="29" name="Oval 28"/>
          <p:cNvSpPr/>
          <p:nvPr/>
        </p:nvSpPr>
        <p:spPr>
          <a:xfrm>
            <a:off x="777240" y="51673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6</a:t>
            </a:r>
          </a:p>
        </p:txBody>
      </p:sp>
      <p:sp>
        <p:nvSpPr>
          <p:cNvPr id="30" name="TextBox 29"/>
          <p:cNvSpPr txBox="1"/>
          <p:nvPr/>
        </p:nvSpPr>
        <p:spPr>
          <a:xfrm>
            <a:off x="1325880" y="5130821"/>
            <a:ext cx="4568799" cy="675618"/>
          </a:xfrm>
          <a:prstGeom prst="rect">
            <a:avLst/>
          </a:prstGeom>
          <a:noFill/>
        </p:spPr>
        <p:txBody>
          <a:bodyPr wrap="square" lIns="0" rIns="0" tIns="0" bIns="0" anchor="t">
            <a:spAutoFit/>
          </a:bodyPr>
          <a:lstStyle/>
          <a:p>
            <a:pPr algn="l">
              <a:lnSpc>
                <a:spcPct val="110000"/>
              </a:lnSpc>
              <a:spcBef>
                <a:spcPts val="0"/>
              </a:spcBef>
              <a:spcAft>
                <a:spcPts val="100"/>
              </a:spcAft>
            </a:pPr>
            <a:r>
              <a:rPr sz="1500" b="1" i="0">
                <a:solidFill>
                  <a:srgbClr val="1A1A1A"/>
                </a:solidFill>
                <a:latin typeface="Calibri"/>
              </a:rPr>
              <a:t>OLAP dataset</a:t>
            </a:r>
          </a:p>
          <a:p>
            <a:pPr>
              <a:lnSpc>
                <a:spcPct val="115000"/>
              </a:lnSpc>
              <a:spcBef>
                <a:spcPts val="0"/>
              </a:spcBef>
              <a:spcAft>
                <a:spcPts val="0"/>
              </a:spcAft>
            </a:pPr>
            <a:r>
              <a:rPr sz="1300" b="0" i="0">
                <a:solidFill>
                  <a:srgbClr val="6B7480"/>
                </a:solidFill>
                <a:latin typeface="Calibri"/>
              </a:rPr>
              <a:t>Define a dataset, dimensions and measures for pivot-style analysis.</a:t>
            </a:r>
          </a:p>
        </p:txBody>
      </p:sp>
      <p:sp>
        <p:nvSpPr>
          <p:cNvPr id="31" name="Oval 30"/>
          <p:cNvSpPr/>
          <p:nvPr/>
        </p:nvSpPr>
        <p:spPr>
          <a:xfrm>
            <a:off x="6278727"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7</a:t>
            </a:r>
          </a:p>
        </p:txBody>
      </p:sp>
      <p:sp>
        <p:nvSpPr>
          <p:cNvPr id="32" name="TextBox 31"/>
          <p:cNvSpPr txBox="1"/>
          <p:nvPr/>
        </p:nvSpPr>
        <p:spPr>
          <a:xfrm>
            <a:off x="6827367" y="1386967"/>
            <a:ext cx="4568799" cy="675618"/>
          </a:xfrm>
          <a:prstGeom prst="rect">
            <a:avLst/>
          </a:prstGeom>
          <a:noFill/>
        </p:spPr>
        <p:txBody>
          <a:bodyPr wrap="square" lIns="0" rIns="0" tIns="0" bIns="0" anchor="t">
            <a:spAutoFit/>
          </a:bodyPr>
          <a:lstStyle/>
          <a:p>
            <a:pPr algn="l">
              <a:lnSpc>
                <a:spcPct val="110000"/>
              </a:lnSpc>
              <a:spcBef>
                <a:spcPts val="0"/>
              </a:spcBef>
              <a:spcAft>
                <a:spcPts val="100"/>
              </a:spcAft>
            </a:pPr>
            <a:r>
              <a:rPr sz="1800" b="1" i="0">
                <a:solidFill>
                  <a:srgbClr val="1A1A1A"/>
                </a:solidFill>
                <a:latin typeface="Calibri"/>
              </a:rPr>
              <a:t>Power BI report</a:t>
            </a:r>
          </a:p>
          <a:p>
            <a:pPr>
              <a:lnSpc>
                <a:spcPct val="115000"/>
              </a:lnSpc>
              <a:spcBef>
                <a:spcPts val="0"/>
              </a:spcBef>
              <a:spcAft>
                <a:spcPts val="0"/>
              </a:spcAft>
            </a:pPr>
            <a:r>
              <a:rPr sz="1600" b="0" i="0">
                <a:solidFill>
                  <a:srgbClr val="6B7480"/>
                </a:solidFill>
                <a:latin typeface="Calibri"/>
              </a:rPr>
              <a:t>Export reports as PDF, PPTX or PNG.</a:t>
            </a:r>
          </a:p>
        </p:txBody>
      </p:sp>
      <p:sp>
        <p:nvSpPr>
          <p:cNvPr id="33" name="Oval 32"/>
          <p:cNvSpPr/>
          <p:nvPr/>
        </p:nvSpPr>
        <p:spPr>
          <a:xfrm>
            <a:off x="6278727" y="217231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8</a:t>
            </a:r>
          </a:p>
        </p:txBody>
      </p:sp>
      <p:sp>
        <p:nvSpPr>
          <p:cNvPr id="34" name="TextBox 33"/>
          <p:cNvSpPr txBox="1"/>
          <p:nvPr/>
        </p:nvSpPr>
        <p:spPr>
          <a:xfrm>
            <a:off x="6827367" y="2135737"/>
            <a:ext cx="4568799" cy="675618"/>
          </a:xfrm>
          <a:prstGeom prst="rect">
            <a:avLst/>
          </a:prstGeom>
          <a:noFill/>
        </p:spPr>
        <p:txBody>
          <a:bodyPr wrap="square" lIns="0" rIns="0" tIns="0" bIns="0" anchor="t">
            <a:spAutoFit/>
          </a:bodyPr>
          <a:lstStyle/>
          <a:p>
            <a:pPr algn="l">
              <a:lnSpc>
                <a:spcPct val="110000"/>
              </a:lnSpc>
              <a:spcBef>
                <a:spcPts val="0"/>
              </a:spcBef>
              <a:spcAft>
                <a:spcPts val="100"/>
              </a:spcAft>
            </a:pPr>
            <a:r>
              <a:rPr sz="1800" b="1" i="0">
                <a:solidFill>
                  <a:srgbClr val="1A1A1A"/>
                </a:solidFill>
                <a:latin typeface="Calibri"/>
              </a:rPr>
              <a:t>Power BI DAX</a:t>
            </a:r>
          </a:p>
          <a:p>
            <a:pPr>
              <a:lnSpc>
                <a:spcPct val="115000"/>
              </a:lnSpc>
              <a:spcBef>
                <a:spcPts val="0"/>
              </a:spcBef>
              <a:spcAft>
                <a:spcPts val="0"/>
              </a:spcAft>
            </a:pPr>
            <a:r>
              <a:rPr sz="1600" b="0" i="0">
                <a:solidFill>
                  <a:srgbClr val="6B7480"/>
                </a:solidFill>
                <a:latin typeface="Calibri"/>
              </a:rPr>
              <a:t>Run DAX queries against a dataset.</a:t>
            </a:r>
          </a:p>
        </p:txBody>
      </p:sp>
      <p:sp>
        <p:nvSpPr>
          <p:cNvPr id="35" name="Oval 34"/>
          <p:cNvSpPr/>
          <p:nvPr/>
        </p:nvSpPr>
        <p:spPr>
          <a:xfrm>
            <a:off x="6278727" y="292108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9</a:t>
            </a:r>
          </a:p>
        </p:txBody>
      </p:sp>
      <p:sp>
        <p:nvSpPr>
          <p:cNvPr id="36" name="TextBox 35"/>
          <p:cNvSpPr txBox="1"/>
          <p:nvPr/>
        </p:nvSpPr>
        <p:spPr>
          <a:xfrm>
            <a:off x="6827367" y="2884508"/>
            <a:ext cx="4568799" cy="675618"/>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SharePoint</a:t>
            </a:r>
          </a:p>
          <a:p>
            <a:pPr>
              <a:lnSpc>
                <a:spcPct val="115000"/>
              </a:lnSpc>
              <a:spcBef>
                <a:spcPts val="0"/>
              </a:spcBef>
              <a:spcAft>
                <a:spcPts val="0"/>
              </a:spcAft>
            </a:pPr>
            <a:r>
              <a:rPr sz="1350" b="0" i="0">
                <a:solidFill>
                  <a:srgbClr val="6B7480"/>
                </a:solidFill>
                <a:latin typeface="Calibri"/>
              </a:rPr>
              <a:t>Documents, lists and search on a SharePoint site.</a:t>
            </a:r>
          </a:p>
        </p:txBody>
      </p:sp>
      <p:sp>
        <p:nvSpPr>
          <p:cNvPr id="37" name="Oval 36"/>
          <p:cNvSpPr/>
          <p:nvPr/>
        </p:nvSpPr>
        <p:spPr>
          <a:xfrm>
            <a:off x="6278727" y="3669855"/>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10</a:t>
            </a:r>
          </a:p>
        </p:txBody>
      </p:sp>
      <p:sp>
        <p:nvSpPr>
          <p:cNvPr id="38" name="TextBox 37"/>
          <p:cNvSpPr txBox="1"/>
          <p:nvPr/>
        </p:nvSpPr>
        <p:spPr>
          <a:xfrm>
            <a:off x="6827367" y="3633279"/>
            <a:ext cx="4568799" cy="675618"/>
          </a:xfrm>
          <a:prstGeom prst="rect">
            <a:avLst/>
          </a:prstGeom>
          <a:noFill/>
        </p:spPr>
        <p:txBody>
          <a:bodyPr wrap="square" lIns="0" rIns="0" tIns="0" bIns="0" anchor="t">
            <a:spAutoFit/>
          </a:bodyPr>
          <a:lstStyle/>
          <a:p>
            <a:pPr algn="l">
              <a:lnSpc>
                <a:spcPct val="110000"/>
              </a:lnSpc>
              <a:spcBef>
                <a:spcPts val="0"/>
              </a:spcBef>
              <a:spcAft>
                <a:spcPts val="100"/>
              </a:spcAft>
            </a:pPr>
            <a:r>
              <a:rPr sz="1500" b="1" i="0">
                <a:solidFill>
                  <a:srgbClr val="1A1A1A"/>
                </a:solidFill>
                <a:latin typeface="Calibri"/>
              </a:rPr>
              <a:t>Describe a tool</a:t>
            </a:r>
          </a:p>
          <a:p>
            <a:pPr>
              <a:lnSpc>
                <a:spcPct val="115000"/>
              </a:lnSpc>
              <a:spcBef>
                <a:spcPts val="0"/>
              </a:spcBef>
              <a:spcAft>
                <a:spcPts val="0"/>
              </a:spcAft>
            </a:pPr>
            <a:r>
              <a:rPr sz="1300" b="0" i="0">
                <a:solidFill>
                  <a:srgbClr val="6B7480"/>
                </a:solidFill>
                <a:latin typeface="Calibri"/>
              </a:rPr>
              <a:t>One sentence becomes a proposed, tested tool for review.</a:t>
            </a:r>
          </a:p>
        </p:txBody>
      </p:sp>
      <p:sp>
        <p:nvSpPr>
          <p:cNvPr id="39" name="Oval 38"/>
          <p:cNvSpPr/>
          <p:nvPr/>
        </p:nvSpPr>
        <p:spPr>
          <a:xfrm>
            <a:off x="6278727" y="4418626"/>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11</a:t>
            </a:r>
          </a:p>
        </p:txBody>
      </p:sp>
      <p:sp>
        <p:nvSpPr>
          <p:cNvPr id="40" name="TextBox 39"/>
          <p:cNvSpPr txBox="1"/>
          <p:nvPr/>
        </p:nvSpPr>
        <p:spPr>
          <a:xfrm>
            <a:off x="6827367" y="4382050"/>
            <a:ext cx="4568799" cy="675618"/>
          </a:xfrm>
          <a:prstGeom prst="rect">
            <a:avLst/>
          </a:prstGeom>
          <a:noFill/>
        </p:spPr>
        <p:txBody>
          <a:bodyPr wrap="square" lIns="0" rIns="0" tIns="0" bIns="0" anchor="t">
            <a:spAutoFit/>
          </a:bodyPr>
          <a:lstStyle/>
          <a:p>
            <a:pPr algn="l">
              <a:lnSpc>
                <a:spcPct val="110000"/>
              </a:lnSpc>
              <a:spcBef>
                <a:spcPts val="0"/>
              </a:spcBef>
              <a:spcAft>
                <a:spcPts val="100"/>
              </a:spcAft>
            </a:pPr>
            <a:r>
              <a:rPr sz="1500" b="1" i="0">
                <a:solidFill>
                  <a:srgbClr val="1A1A1A"/>
                </a:solidFill>
                <a:latin typeface="Calibri"/>
              </a:rPr>
              <a:t>Import an API</a:t>
            </a:r>
          </a:p>
          <a:p>
            <a:pPr>
              <a:lnSpc>
                <a:spcPct val="115000"/>
              </a:lnSpc>
              <a:spcBef>
                <a:spcPts val="0"/>
              </a:spcBef>
              <a:spcAft>
                <a:spcPts val="0"/>
              </a:spcAft>
            </a:pPr>
            <a:r>
              <a:rPr sz="1300" b="0" i="0">
                <a:solidFill>
                  <a:srgbClr val="6B7480"/>
                </a:solidFill>
                <a:latin typeface="Calibri"/>
              </a:rPr>
              <a:t>OpenAPI 3, Swagger 2 or GraphQL becomes reviewed tools.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DESCRIBE A TOOL</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sentence becomes a proposal, and nothing deploys without a person</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25</a:t>
            </a:r>
          </a:p>
        </p:txBody>
      </p:sp>
      <p:sp>
        <p:nvSpPr>
          <p:cNvPr id="17" name="Rectangle 16"/>
          <p:cNvSpPr/>
          <p:nvPr/>
        </p:nvSpPr>
        <p:spPr>
          <a:xfrm>
            <a:off x="777240"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Describe</a:t>
            </a:r>
          </a:p>
        </p:txBody>
      </p:sp>
      <p:sp>
        <p:nvSpPr>
          <p:cNvPr id="20" name="TextBox 19"/>
          <p:cNvSpPr txBox="1"/>
          <p:nvPr/>
        </p:nvSpPr>
        <p:spPr>
          <a:xfrm>
            <a:off x="960120"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“Fetch today's FX rate for a currency pair from our rates API.”</a:t>
            </a:r>
          </a:p>
        </p:txBody>
      </p:sp>
      <p:sp>
        <p:nvSpPr>
          <p:cNvPr id="21" name="Rectangle 20"/>
          <p:cNvSpPr/>
          <p:nvPr/>
        </p:nvSpPr>
        <p:spPr>
          <a:xfrm>
            <a:off x="2955889"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955889"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38769"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Propose</a:t>
            </a:r>
          </a:p>
        </p:txBody>
      </p:sp>
      <p:sp>
        <p:nvSpPr>
          <p:cNvPr id="24" name="TextBox 23"/>
          <p:cNvSpPr txBox="1"/>
          <p:nvPr/>
        </p:nvSpPr>
        <p:spPr>
          <a:xfrm>
            <a:off x="3138769"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600" b="0" i="0">
                <a:solidFill>
                  <a:srgbClr val="6B7480"/>
                </a:solidFill>
                <a:latin typeface="Calibri"/>
              </a:rPr>
              <a:t>The toolsmith model drafts the kind, name, schemas, implementation and test cases.</a:t>
            </a:r>
          </a:p>
        </p:txBody>
      </p:sp>
      <p:cxnSp>
        <p:nvCxnSpPr>
          <p:cNvPr id="25" name="Connector 24"/>
          <p:cNvCxnSpPr/>
          <p:nvPr/>
        </p:nvCxnSpPr>
        <p:spPr>
          <a:xfrm>
            <a:off x="2727289"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5134538"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34538"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17418"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Check</a:t>
            </a:r>
          </a:p>
        </p:txBody>
      </p:sp>
      <p:sp>
        <p:nvSpPr>
          <p:cNvPr id="29" name="TextBox 28"/>
          <p:cNvSpPr txBox="1"/>
          <p:nvPr/>
        </p:nvSpPr>
        <p:spPr>
          <a:xfrm>
            <a:off x="5317418"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500" b="0" i="0">
                <a:solidFill>
                  <a:srgbClr val="6B7480"/>
                </a:solidFill>
                <a:latin typeface="Calibri"/>
              </a:rPr>
              <a:t>Treated as untrusted: read-only SQL, host checks, no credentials, risky imports flagged.</a:t>
            </a:r>
          </a:p>
        </p:txBody>
      </p:sp>
      <p:cxnSp>
        <p:nvCxnSpPr>
          <p:cNvPr id="30" name="Connector 29"/>
          <p:cNvCxnSpPr/>
          <p:nvPr/>
        </p:nvCxnSpPr>
        <p:spPr>
          <a:xfrm>
            <a:off x="4905938"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7313188"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13188"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96068"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Test</a:t>
            </a:r>
          </a:p>
        </p:txBody>
      </p:sp>
      <p:sp>
        <p:nvSpPr>
          <p:cNvPr id="34" name="TextBox 33"/>
          <p:cNvSpPr txBox="1"/>
          <p:nvPr/>
        </p:nvSpPr>
        <p:spPr>
          <a:xfrm>
            <a:off x="7496068"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Cases run in the sandbox, offline where possible, bound to the draft's SHA-256.</a:t>
            </a:r>
          </a:p>
        </p:txBody>
      </p:sp>
      <p:cxnSp>
        <p:nvCxnSpPr>
          <p:cNvPr id="35" name="Connector 34"/>
          <p:cNvCxnSpPr/>
          <p:nvPr/>
        </p:nvCxnSpPr>
        <p:spPr>
          <a:xfrm>
            <a:off x="7084588"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491837"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91837"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674717"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Approve</a:t>
            </a:r>
          </a:p>
        </p:txBody>
      </p:sp>
      <p:sp>
        <p:nvSpPr>
          <p:cNvPr id="39" name="TextBox 38"/>
          <p:cNvSpPr txBox="1"/>
          <p:nvPr/>
        </p:nvSpPr>
        <p:spPr>
          <a:xfrm>
            <a:off x="9674717"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An administrator approves that hash; policy can require a second one.</a:t>
            </a:r>
          </a:p>
        </p:txBody>
      </p:sp>
      <p:cxnSp>
        <p:nvCxnSpPr>
          <p:cNvPr id="40" name="Connector 39"/>
          <p:cNvCxnSpPr/>
          <p:nvPr/>
        </p:nvCxnSpPr>
        <p:spPr>
          <a:xfrm>
            <a:off x="9263237"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77240" y="4260151"/>
            <a:ext cx="10637215" cy="1985200"/>
          </a:xfrm>
          <a:prstGeom prst="rect">
            <a:avLst/>
          </a:prstGeom>
          <a:noFill/>
        </p:spPr>
        <p:txBody>
          <a:bodyPr wrap="square" lIns="0" rIns="0" tIns="0" bIns="0" anchor="t">
            <a:spAutoFit/>
          </a:bodyPr>
          <a:lstStyle/>
          <a:p>
            <a:pPr algn="l">
              <a:lnSpc>
                <a:spcPct val="120000"/>
              </a:lnSpc>
              <a:spcBef>
                <a:spcPts val="0"/>
              </a:spcBef>
              <a:spcAft>
                <a:spcPts val="0"/>
              </a:spcAft>
            </a:pPr>
            <a:r>
              <a:rPr sz="1800" b="1">
                <a:solidFill>
                  <a:srgbClr val="A51C30"/>
                </a:solidFill>
                <a:latin typeface="Calibri"/>
              </a:rPr>
              <a:t>▪  </a:t>
            </a:r>
            <a:r>
              <a:rPr sz="1800" b="0">
                <a:solidFill>
                  <a:srgbClr val="1A1A1A"/>
                </a:solidFill>
                <a:latin typeface="Calibri"/>
              </a:rPr>
              <a:t>Out of the box the toolsmith alias points at an offline mock that knows a few shapes; real designs need a real model. Generated Python tools always run sandboxed.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APIS AND DATABASES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An API description or a database becomes governed, read-only tools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26</a:t>
            </a:r>
          </a:p>
        </p:txBody>
      </p:sp>
      <p:sp>
        <p:nvSpPr>
          <p:cNvPr id="17" name="Rectangle 16"/>
          <p:cNvSpPr/>
          <p:nvPr/>
        </p:nvSpPr>
        <p:spPr>
          <a:xfrm>
            <a:off x="777240" y="1306639"/>
            <a:ext cx="10637215" cy="227180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IMPORT AN API</a:t>
            </a:r>
          </a:p>
        </p:txBody>
      </p:sp>
      <p:sp>
        <p:nvSpPr>
          <p:cNvPr id="19" name="Rectangle 18"/>
          <p:cNvSpPr/>
          <p:nvPr/>
        </p:nvSpPr>
        <p:spPr>
          <a:xfrm>
            <a:off x="777240" y="3874770"/>
            <a:ext cx="10637215" cy="237058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3938778"/>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DATA CONNECTORS</a:t>
            </a:r>
          </a:p>
        </p:txBody>
      </p:sp>
      <p:sp>
        <p:nvSpPr>
          <p:cNvPr id="21" name="Document 20"/>
          <p:cNvSpPr/>
          <p:nvPr/>
        </p:nvSpPr>
        <p:spPr>
          <a:xfrm>
            <a:off x="989984" y="1899285"/>
            <a:ext cx="1914698" cy="1284065"/>
          </a:xfrm>
          <a:prstGeom prst="flowChartDocumen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OpenAPI 3, Swagger 2 or GraphQL</a:t>
            </a:r>
          </a:p>
        </p:txBody>
      </p:sp>
      <p:sp>
        <p:nvSpPr>
          <p:cNvPr id="22" name="Rounded Rectangle 21"/>
          <p:cNvSpPr/>
          <p:nvPr/>
        </p:nvSpPr>
        <p:spPr>
          <a:xfrm>
            <a:off x="3436543" y="1849897"/>
            <a:ext cx="2340187"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Preview</a:t>
            </a:r>
          </a:p>
          <a:p>
            <a:pPr algn="ctr">
              <a:lnSpc>
                <a:spcPct val="105000"/>
              </a:lnSpc>
              <a:spcBef>
                <a:spcPts val="0"/>
              </a:spcBef>
              <a:spcAft>
                <a:spcPts val="0"/>
              </a:spcAft>
            </a:pPr>
            <a:r>
              <a:rPr sz="1150" b="0" i="0">
                <a:solidFill>
                  <a:srgbClr val="1A1A1A"/>
                </a:solidFill>
                <a:latin typeface="Calibri"/>
              </a:rPr>
              <a:t>every operation: name, schemas, read-only and destructive hints</a:t>
            </a:r>
          </a:p>
        </p:txBody>
      </p:sp>
      <p:sp>
        <p:nvSpPr>
          <p:cNvPr id="23" name="Rounded Rectangle 22"/>
          <p:cNvSpPr/>
          <p:nvPr/>
        </p:nvSpPr>
        <p:spPr>
          <a:xfrm>
            <a:off x="6308591" y="1849897"/>
            <a:ext cx="2127443"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Choose and test</a:t>
            </a:r>
          </a:p>
          <a:p>
            <a:pPr algn="ctr">
              <a:lnSpc>
                <a:spcPct val="105000"/>
              </a:lnSpc>
              <a:spcBef>
                <a:spcPts val="0"/>
              </a:spcBef>
              <a:spcAft>
                <a:spcPts val="0"/>
              </a:spcAft>
            </a:pPr>
            <a:r>
              <a:rPr sz="1150" b="0" i="0">
                <a:solidFill>
                  <a:srgbClr val="1A1A1A"/>
                </a:solidFill>
                <a:latin typeface="Calibri"/>
              </a:rPr>
              <a:t>one live call; credentials only as secret references</a:t>
            </a:r>
          </a:p>
        </p:txBody>
      </p:sp>
      <p:sp>
        <p:nvSpPr>
          <p:cNvPr id="24" name="Rounded Rectangle 23"/>
          <p:cNvSpPr/>
          <p:nvPr/>
        </p:nvSpPr>
        <p:spPr>
          <a:xfrm>
            <a:off x="8967895" y="1849897"/>
            <a:ext cx="2233815"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Deployed tools</a:t>
            </a:r>
          </a:p>
          <a:p>
            <a:pPr algn="ctr">
              <a:lnSpc>
                <a:spcPct val="105000"/>
              </a:lnSpc>
              <a:spcBef>
                <a:spcPts val="0"/>
              </a:spcBef>
              <a:spcAft>
                <a:spcPts val="0"/>
              </a:spcAft>
            </a:pPr>
            <a:r>
              <a:rPr sz="1150" b="0" i="0">
                <a:solidFill>
                  <a:srgbClr val="FFFFFF"/>
                </a:solidFill>
                <a:latin typeface="Calibri"/>
              </a:rPr>
              <a:t>every call through an SSRF guard; re-import shows a diff</a:t>
            </a:r>
          </a:p>
        </p:txBody>
      </p:sp>
      <p:sp>
        <p:nvSpPr>
          <p:cNvPr id="25" name="Can 24"/>
          <p:cNvSpPr/>
          <p:nvPr/>
        </p:nvSpPr>
        <p:spPr>
          <a:xfrm>
            <a:off x="989984" y="4467415"/>
            <a:ext cx="1914698" cy="1382839"/>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Your database</a:t>
            </a:r>
          </a:p>
          <a:p>
            <a:pPr algn="ctr">
              <a:lnSpc>
                <a:spcPct val="105000"/>
              </a:lnSpc>
              <a:spcBef>
                <a:spcPts val="0"/>
              </a:spcBef>
              <a:spcAft>
                <a:spcPts val="0"/>
              </a:spcAft>
            </a:pPr>
            <a:r>
              <a:rPr sz="1150" b="0" i="0">
                <a:solidFill>
                  <a:srgbClr val="1A1A1A"/>
                </a:solidFill>
                <a:latin typeface="Calibri"/>
              </a:rPr>
              <a:t>SQL: postgresql, pgvector, redshift and mysql, ...</a:t>
            </a:r>
          </a:p>
        </p:txBody>
      </p:sp>
      <p:sp>
        <p:nvSpPr>
          <p:cNvPr id="26" name="Rounded Rectangle 25"/>
          <p:cNvSpPr/>
          <p:nvPr/>
        </p:nvSpPr>
        <p:spPr>
          <a:xfrm>
            <a:off x="3436543" y="4516802"/>
            <a:ext cx="2340187" cy="1284065"/>
          </a:xfrm>
          <a:prstGeom prst="roundRect">
            <a:avLst>
              <a:gd name="adj" fmla="val 569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Read-only three times</a:t>
            </a:r>
          </a:p>
          <a:p>
            <a:pPr algn="ctr">
              <a:lnSpc>
                <a:spcPct val="105000"/>
              </a:lnSpc>
              <a:spcBef>
                <a:spcPts val="0"/>
              </a:spcBef>
              <a:spcAft>
                <a:spcPts val="0"/>
              </a:spcAft>
            </a:pPr>
            <a:r>
              <a:rPr sz="1150" b="0" i="0">
                <a:solidFill>
                  <a:srgbClr val="FFFFFF"/>
                </a:solidFill>
                <a:latin typeface="Calibri"/>
              </a:rPr>
              <a:t>statement guard, read-only session, the login's own grants</a:t>
            </a:r>
          </a:p>
        </p:txBody>
      </p:sp>
      <p:sp>
        <p:nvSpPr>
          <p:cNvPr id="27" name="Rounded Rectangle 26"/>
          <p:cNvSpPr/>
          <p:nvPr/>
        </p:nvSpPr>
        <p:spPr>
          <a:xfrm>
            <a:off x="6308591" y="4516802"/>
            <a:ext cx="2127443"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Curated views</a:t>
            </a:r>
          </a:p>
          <a:p>
            <a:pPr algn="ctr">
              <a:lnSpc>
                <a:spcPct val="105000"/>
              </a:lnSpc>
              <a:spcBef>
                <a:spcPts val="0"/>
              </a:spcBef>
              <a:spcAft>
                <a:spcPts val="0"/>
              </a:spcAft>
            </a:pPr>
            <a:r>
              <a:rPr sz="1150" b="0" i="0">
                <a:solidFill>
                  <a:srgbClr val="1A1A1A"/>
                </a:solidFill>
                <a:latin typeface="Calibri"/>
              </a:rPr>
              <a:t>become typed tools</a:t>
            </a:r>
          </a:p>
        </p:txBody>
      </p:sp>
      <p:sp>
        <p:nvSpPr>
          <p:cNvPr id="28" name="Rounded Rectangle 27"/>
          <p:cNvSpPr/>
          <p:nvPr/>
        </p:nvSpPr>
        <p:spPr>
          <a:xfrm>
            <a:off x="8967895" y="4516802"/>
            <a:ext cx="2233815"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prefix__operation</a:t>
            </a:r>
          </a:p>
          <a:p>
            <a:pPr algn="ctr">
              <a:lnSpc>
                <a:spcPct val="105000"/>
              </a:lnSpc>
              <a:spcBef>
                <a:spcPts val="0"/>
              </a:spcBef>
              <a:spcAft>
                <a:spcPts val="0"/>
              </a:spcAft>
            </a:pPr>
            <a:r>
              <a:rPr sz="1150" b="0" i="0">
                <a:solidFill>
                  <a:srgbClr val="FFFFFF"/>
                </a:solidFill>
                <a:latin typeface="Calibri"/>
              </a:rPr>
              <a:t>snowflake, bigquery and databricks can sign in as each user</a:t>
            </a:r>
          </a:p>
        </p:txBody>
      </p:sp>
      <p:cxnSp>
        <p:nvCxnSpPr>
          <p:cNvPr id="29" name="Connector 28"/>
          <p:cNvCxnSpPr/>
          <p:nvPr/>
        </p:nvCxnSpPr>
        <p:spPr>
          <a:xfrm>
            <a:off x="2950403" y="2516624"/>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822451" y="2491930"/>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81754" y="2491930"/>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950403" y="5158835"/>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822451" y="5158835"/>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481754" y="5158835"/>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FEDERATION</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Other MCP servers' tools join the catalog under SAJHA's rules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Not isolated: an upstream runs where it runs; SAJHA governs the calls, not its process. A user's own token can be passed through instead of a shared one.</a:t>
            </a:r>
          </a:p>
        </p:txBody>
      </p:sp>
      <p:sp>
        <p:nvSpPr>
          <p:cNvPr id="19" name="Rectangle 18"/>
          <p:cNvSpPr/>
          <p:nvPr/>
        </p:nvSpPr>
        <p:spPr>
          <a:xfrm>
            <a:off x="2904683" y="1338770"/>
            <a:ext cx="6382329" cy="433965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4411" y="1402778"/>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SAJHA (FEDERATION SHIPS OFF)</a:t>
            </a:r>
          </a:p>
        </p:txBody>
      </p:sp>
      <p:sp>
        <p:nvSpPr>
          <p:cNvPr id="21" name="Rounded Rectangle 20"/>
          <p:cNvSpPr/>
          <p:nvPr/>
        </p:nvSpPr>
        <p:spPr>
          <a:xfrm>
            <a:off x="777240" y="1599149"/>
            <a:ext cx="1701954"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weather MCP server</a:t>
            </a:r>
          </a:p>
          <a:p>
            <a:pPr algn="ctr">
              <a:lnSpc>
                <a:spcPct val="105000"/>
              </a:lnSpc>
              <a:spcBef>
                <a:spcPts val="0"/>
              </a:spcBef>
              <a:spcAft>
                <a:spcPts val="0"/>
              </a:spcAft>
            </a:pPr>
            <a:r>
              <a:rPr sz="1050" b="0" i="0">
                <a:solidFill>
                  <a:srgbClr val="1A1A1A"/>
                </a:solidFill>
                <a:latin typeface="Calibri"/>
              </a:rPr>
              <a:t>Streamable HTTP</a:t>
            </a:r>
          </a:p>
        </p:txBody>
      </p:sp>
      <p:sp>
        <p:nvSpPr>
          <p:cNvPr id="22" name="Rounded Rectangle 21"/>
          <p:cNvSpPr/>
          <p:nvPr/>
        </p:nvSpPr>
        <p:spPr>
          <a:xfrm>
            <a:off x="777240" y="2857649"/>
            <a:ext cx="1701954"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fetch MCP server</a:t>
            </a:r>
          </a:p>
          <a:p>
            <a:pPr algn="ctr">
              <a:lnSpc>
                <a:spcPct val="105000"/>
              </a:lnSpc>
              <a:spcBef>
                <a:spcPts val="0"/>
              </a:spcBef>
              <a:spcAft>
                <a:spcPts val="0"/>
              </a:spcAft>
            </a:pPr>
            <a:r>
              <a:rPr sz="1050" b="0" i="0">
                <a:solidFill>
                  <a:srgbClr val="1A1A1A"/>
                </a:solidFill>
                <a:latin typeface="Calibri"/>
              </a:rPr>
              <a:t>stdio</a:t>
            </a:r>
          </a:p>
        </p:txBody>
      </p:sp>
      <p:sp>
        <p:nvSpPr>
          <p:cNvPr id="23" name="Document 22"/>
          <p:cNvSpPr/>
          <p:nvPr/>
        </p:nvSpPr>
        <p:spPr>
          <a:xfrm>
            <a:off x="777240" y="4289734"/>
            <a:ext cx="1701954" cy="954723"/>
          </a:xfrm>
          <a:prstGeom prst="flowChartDocumen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mcpServers file</a:t>
            </a:r>
          </a:p>
          <a:p>
            <a:pPr algn="ctr">
              <a:lnSpc>
                <a:spcPct val="105000"/>
              </a:lnSpc>
              <a:spcBef>
                <a:spcPts val="0"/>
              </a:spcBef>
              <a:spcAft>
                <a:spcPts val="0"/>
              </a:spcAft>
            </a:pPr>
            <a:r>
              <a:rPr sz="1050" b="0" i="0">
                <a:solidFill>
                  <a:srgbClr val="1A1A1A"/>
                </a:solidFill>
                <a:latin typeface="Calibri"/>
              </a:rPr>
              <a:t>the JSON desktop clients use</a:t>
            </a:r>
          </a:p>
        </p:txBody>
      </p:sp>
      <p:sp>
        <p:nvSpPr>
          <p:cNvPr id="24" name="Hexagon 23"/>
          <p:cNvSpPr/>
          <p:nvPr/>
        </p:nvSpPr>
        <p:spPr>
          <a:xfrm>
            <a:off x="3223799" y="2119908"/>
            <a:ext cx="1755140" cy="1041516"/>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SSRF guard</a:t>
            </a:r>
          </a:p>
          <a:p>
            <a:pPr algn="ctr">
              <a:lnSpc>
                <a:spcPct val="105000"/>
              </a:lnSpc>
              <a:spcBef>
                <a:spcPts val="0"/>
              </a:spcBef>
              <a:spcAft>
                <a:spcPts val="0"/>
              </a:spcAft>
            </a:pPr>
            <a:r>
              <a:rPr sz="1050" b="0" i="0">
                <a:solidFill>
                  <a:srgbClr val="1A1A1A"/>
                </a:solidFill>
                <a:latin typeface="Calibri"/>
              </a:rPr>
              <a:t>on upstream and token addresses</a:t>
            </a:r>
          </a:p>
        </p:txBody>
      </p:sp>
      <p:sp>
        <p:nvSpPr>
          <p:cNvPr id="25" name="Rounded Rectangle 24"/>
          <p:cNvSpPr/>
          <p:nvPr/>
        </p:nvSpPr>
        <p:spPr>
          <a:xfrm>
            <a:off x="5244870" y="2119908"/>
            <a:ext cx="1755140" cy="1041516"/>
          </a:xfrm>
          <a:prstGeom prst="roundRect">
            <a:avLst>
              <a:gd name="adj" fmla="val 702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Approval</a:t>
            </a:r>
          </a:p>
          <a:p>
            <a:pPr algn="ctr">
              <a:lnSpc>
                <a:spcPct val="105000"/>
              </a:lnSpc>
              <a:spcBef>
                <a:spcPts val="0"/>
              </a:spcBef>
              <a:spcAft>
                <a:spcPts val="0"/>
              </a:spcAft>
            </a:pPr>
            <a:r>
              <a:rPr sz="1050" b="0" i="0">
                <a:solidFill>
                  <a:srgbClr val="1A1A1A"/>
                </a:solidFill>
                <a:latin typeface="Calibri"/>
              </a:rPr>
              <a:t>each tool waits for an administrator; a change waits again</a:t>
            </a:r>
          </a:p>
        </p:txBody>
      </p:sp>
      <p:sp>
        <p:nvSpPr>
          <p:cNvPr id="26" name="Rounded Rectangle 25"/>
          <p:cNvSpPr/>
          <p:nvPr/>
        </p:nvSpPr>
        <p:spPr>
          <a:xfrm>
            <a:off x="7265941" y="2119908"/>
            <a:ext cx="1755140" cy="1041516"/>
          </a:xfrm>
          <a:prstGeom prst="roundRect">
            <a:avLst>
              <a:gd name="adj" fmla="val 702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Screening</a:t>
            </a:r>
          </a:p>
          <a:p>
            <a:pPr algn="ctr">
              <a:lnSpc>
                <a:spcPct val="105000"/>
              </a:lnSpc>
              <a:spcBef>
                <a:spcPts val="0"/>
              </a:spcBef>
              <a:spcAft>
                <a:spcPts val="0"/>
              </a:spcAft>
            </a:pPr>
            <a:r>
              <a:rPr sz="1050" b="0" i="0">
                <a:solidFill>
                  <a:srgbClr val="1A1A1A"/>
                </a:solidFill>
                <a:latin typeface="Calibri"/>
              </a:rPr>
              <a:t>descriptions and results checked for injected instructions</a:t>
            </a:r>
          </a:p>
        </p:txBody>
      </p:sp>
      <p:sp>
        <p:nvSpPr>
          <p:cNvPr id="27" name="Rounded Rectangle 26"/>
          <p:cNvSpPr/>
          <p:nvPr/>
        </p:nvSpPr>
        <p:spPr>
          <a:xfrm>
            <a:off x="3968404" y="4029355"/>
            <a:ext cx="4254886" cy="867930"/>
          </a:xfrm>
          <a:prstGeom prst="roundRect">
            <a:avLst>
              <a:gd name="adj" fmla="val 84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weather__get_forecast</a:t>
            </a:r>
          </a:p>
          <a:p>
            <a:pPr algn="ctr">
              <a:lnSpc>
                <a:spcPct val="105000"/>
              </a:lnSpc>
              <a:spcBef>
                <a:spcPts val="0"/>
              </a:spcBef>
              <a:spcAft>
                <a:spcPts val="0"/>
              </a:spcAft>
            </a:pPr>
            <a:r>
              <a:rPr sz="1250" b="0" i="0">
                <a:solidFill>
                  <a:srgbClr val="FFFFFF"/>
                </a:solidFill>
                <a:latin typeface="Calibri"/>
              </a:rPr>
              <a:t>in the catalog, under access, policy, cache, breakers and audit</a:t>
            </a:r>
          </a:p>
        </p:txBody>
      </p:sp>
      <p:sp>
        <p:nvSpPr>
          <p:cNvPr id="28" name="Oval 27"/>
          <p:cNvSpPr/>
          <p:nvPr/>
        </p:nvSpPr>
        <p:spPr>
          <a:xfrm>
            <a:off x="9818872" y="3942562"/>
            <a:ext cx="1595582" cy="104151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clients</a:t>
            </a:r>
          </a:p>
          <a:p>
            <a:pPr algn="ctr">
              <a:lnSpc>
                <a:spcPct val="105000"/>
              </a:lnSpc>
              <a:spcBef>
                <a:spcPts val="0"/>
              </a:spcBef>
              <a:spcAft>
                <a:spcPts val="0"/>
              </a:spcAft>
            </a:pPr>
            <a:r>
              <a:rPr sz="1050" b="0" i="0">
                <a:solidFill>
                  <a:srgbClr val="1A1A1A"/>
                </a:solidFill>
                <a:latin typeface="Calibri"/>
              </a:rPr>
              <a:t>and Ask SAJHA</a:t>
            </a:r>
          </a:p>
        </p:txBody>
      </p:sp>
      <p:cxnSp>
        <p:nvCxnSpPr>
          <p:cNvPr id="29" name="Connector 28"/>
          <p:cNvCxnSpPr/>
          <p:nvPr/>
        </p:nvCxnSpPr>
        <p:spPr>
          <a:xfrm>
            <a:off x="2523311" y="2211467"/>
            <a:ext cx="656371" cy="1785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523683" y="2859088"/>
            <a:ext cx="655627" cy="1553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628217" y="3641110"/>
            <a:ext cx="0" cy="602904"/>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92225" y="3851122"/>
            <a:ext cx="6807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defines</a:t>
            </a:r>
          </a:p>
        </p:txBody>
      </p:sp>
      <p:cxnSp>
        <p:nvCxnSpPr>
          <p:cNvPr id="33" name="Connector 32"/>
          <p:cNvCxnSpPr/>
          <p:nvPr/>
        </p:nvCxnSpPr>
        <p:spPr>
          <a:xfrm>
            <a:off x="5024660" y="2640666"/>
            <a:ext cx="174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45730" y="2640666"/>
            <a:ext cx="1744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617537" y="3191823"/>
            <a:ext cx="906776" cy="80713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269010" y="4463321"/>
            <a:ext cx="150414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SERVER ARCHITECTURE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Six layers, and every call crosses the governance layer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28</a:t>
            </a:r>
          </a:p>
        </p:txBody>
      </p:sp>
      <p:sp>
        <p:nvSpPr>
          <p:cNvPr id="17" name="Rounded Rectangle 16"/>
          <p:cNvSpPr/>
          <p:nvPr/>
        </p:nvSpPr>
        <p:spPr>
          <a:xfrm>
            <a:off x="777240" y="1435550"/>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Clients</a:t>
            </a:r>
          </a:p>
        </p:txBody>
      </p:sp>
      <p:sp>
        <p:nvSpPr>
          <p:cNvPr id="18" name="Rounded Rectangle 17"/>
          <p:cNvSpPr/>
          <p:nvPr/>
        </p:nvSpPr>
        <p:spPr>
          <a:xfrm>
            <a:off x="2638752" y="1435550"/>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MCP clients (both eras) · browser console · sajha CLI · Python SDK · A2A agents · workflows</a:t>
            </a:r>
          </a:p>
        </p:txBody>
      </p:sp>
      <p:sp>
        <p:nvSpPr>
          <p:cNvPr id="19" name="Rounded Rectangle 18"/>
          <p:cNvSpPr/>
          <p:nvPr/>
        </p:nvSpPr>
        <p:spPr>
          <a:xfrm>
            <a:off x="777240" y="2245281"/>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Transports</a:t>
            </a:r>
          </a:p>
        </p:txBody>
      </p:sp>
      <p:sp>
        <p:nvSpPr>
          <p:cNvPr id="20" name="Rounded Rectangle 19"/>
          <p:cNvSpPr/>
          <p:nvPr/>
        </p:nvSpPr>
        <p:spPr>
          <a:xfrm>
            <a:off x="2638752" y="2245281"/>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Streamable HTTP /mcp · legacy SSE /mcp/sse · WebSocket /mcp/ws · stdio · REST API</a:t>
            </a:r>
          </a:p>
        </p:txBody>
      </p:sp>
      <p:sp>
        <p:nvSpPr>
          <p:cNvPr id="21" name="Rounded Rectangle 20"/>
          <p:cNvSpPr/>
          <p:nvPr/>
        </p:nvSpPr>
        <p:spPr>
          <a:xfrm>
            <a:off x="777240" y="3055012"/>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Governance</a:t>
            </a:r>
          </a:p>
        </p:txBody>
      </p:sp>
      <p:sp>
        <p:nvSpPr>
          <p:cNvPr id="22" name="Rounded Rectangle 21"/>
          <p:cNvSpPr/>
          <p:nvPr/>
        </p:nvSpPr>
        <p:spPr>
          <a:xfrm>
            <a:off x="2638752" y="3055012"/>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Authentication · tool access policy · policy engine (deny, approve, limit, redact) · hash-chained audit and SIEM export</a:t>
            </a:r>
          </a:p>
        </p:txBody>
      </p:sp>
      <p:sp>
        <p:nvSpPr>
          <p:cNvPr id="23" name="Rounded Rectangle 22"/>
          <p:cNvSpPr/>
          <p:nvPr/>
        </p:nvSpPr>
        <p:spPr>
          <a:xfrm>
            <a:off x="777240" y="3864743"/>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Intelligence</a:t>
            </a:r>
          </a:p>
        </p:txBody>
      </p:sp>
      <p:sp>
        <p:nvSpPr>
          <p:cNvPr id="24" name="Rounded Rectangle 23"/>
          <p:cNvSpPr/>
          <p:nvPr/>
        </p:nvSpPr>
        <p:spPr>
          <a:xfrm>
            <a:off x="2638752" y="3864743"/>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LLM gateway · Ask SAJHA and planners · memory and document search · evals · Describe a tool</a:t>
            </a:r>
          </a:p>
        </p:txBody>
      </p:sp>
      <p:sp>
        <p:nvSpPr>
          <p:cNvPr id="25" name="Rounded Rectangle 24"/>
          <p:cNvSpPr/>
          <p:nvPr/>
        </p:nvSpPr>
        <p:spPr>
          <a:xfrm>
            <a:off x="777240" y="4674474"/>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Tools</a:t>
            </a:r>
          </a:p>
        </p:txBody>
      </p:sp>
      <p:sp>
        <p:nvSpPr>
          <p:cNvPr id="26" name="Rounded Rectangle 25"/>
          <p:cNvSpPr/>
          <p:nvPr/>
        </p:nvSpPr>
        <p:spPr>
          <a:xfrm>
            <a:off x="2638752" y="4674474"/>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Tools registry · composites · workflows · federation · data connectors · sandbox · cache and circuit breakers</a:t>
            </a:r>
          </a:p>
        </p:txBody>
      </p:sp>
      <p:sp>
        <p:nvSpPr>
          <p:cNvPr id="27" name="Rounded Rectangle 26"/>
          <p:cNvSpPr/>
          <p:nvPr/>
        </p:nvSpPr>
        <p:spPr>
          <a:xfrm>
            <a:off x="777240" y="5484205"/>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Platform</a:t>
            </a:r>
          </a:p>
        </p:txBody>
      </p:sp>
      <p:sp>
        <p:nvSpPr>
          <p:cNvPr id="28" name="Rounded Rectangle 27"/>
          <p:cNvSpPr/>
          <p:nvPr/>
        </p:nvSpPr>
        <p:spPr>
          <a:xfrm>
            <a:off x="2638752" y="5484205"/>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FastAPI on uvicorn · postgresql or sqlite · state store (memory/redis/database) · storage (Local/S3/AzureBlob/GCS) · metrics and traces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WEB CONSOLE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web console of 66 pages, each with its own help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29</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It works on a phone, and offers light, dark, blue and green themes.</a:t>
            </a:r>
          </a:p>
        </p:txBody>
      </p:sp>
      <p:sp>
        <p:nvSpPr>
          <p:cNvPr id="19" name="TextBox 18"/>
          <p:cNvSpPr txBox="1"/>
          <p:nvPr/>
        </p:nvSpPr>
        <p:spPr>
          <a:xfrm>
            <a:off x="777240" y="1386967"/>
            <a:ext cx="10637215" cy="4492625"/>
          </a:xfrm>
          <a:prstGeom prst="rect">
            <a:avLst/>
          </a:prstGeom>
          <a:noFill/>
        </p:spPr>
        <p:txBody>
          <a:bodyPr wrap="square" lIns="0" rIns="0" tIns="0" bIns="0" anchor="t">
            <a:spAutoFit/>
          </a:bodyPr>
          <a:lstStyle/>
          <a:p>
            <a:pPr algn="l">
              <a:lnSpc>
                <a:spcPct val="120000"/>
              </a:lnSpc>
              <a:spcBef>
                <a:spcPts val="0"/>
              </a:spcBef>
              <a:spcAft>
                <a:spcPts val="100"/>
              </a:spcAft>
            </a:pPr>
            <a:r>
              <a:rPr sz="1900" b="1">
                <a:solidFill>
                  <a:srgbClr val="A51C30"/>
                </a:solidFill>
                <a:latin typeface="Calibri"/>
              </a:rPr>
              <a:t>▪  </a:t>
            </a:r>
            <a:r>
              <a:rPr sz="1900" b="1">
                <a:solidFill>
                  <a:srgbClr val="1A1A1A"/>
                </a:solidFill>
                <a:latin typeface="Calibri"/>
              </a:rPr>
              <a:t>Tools</a:t>
            </a:r>
          </a:p>
          <a:p>
            <a:pPr lvl="1">
              <a:lnSpc>
                <a:spcPct val="120000"/>
              </a:lnSpc>
              <a:spcBef>
                <a:spcPts val="0"/>
              </a:spcBef>
              <a:spcAft>
                <a:spcPts val="0"/>
              </a:spcAft>
            </a:pPr>
            <a:r>
              <a:rPr sz="1750" b="0">
                <a:solidFill>
                  <a:srgbClr val="6B7480"/>
                </a:solidFill>
                <a:latin typeface="Calibri"/>
              </a:rPr>
              <a:t>Browse and search the catalog, view a schema, run a tool, see reports and monitoring.</a:t>
            </a:r>
          </a:p>
          <a:p>
            <a:pPr>
              <a:lnSpc>
                <a:spcPct val="120000"/>
              </a:lnSpc>
              <a:spcBef>
                <a:spcPts val="500"/>
              </a:spcBef>
              <a:spcAft>
                <a:spcPts val="100"/>
              </a:spcAft>
            </a:pPr>
            <a:r>
              <a:rPr sz="1900" b="1">
                <a:solidFill>
                  <a:srgbClr val="A51C30"/>
                </a:solidFill>
                <a:latin typeface="Calibri"/>
              </a:rPr>
              <a:t>▪  </a:t>
            </a:r>
            <a:r>
              <a:rPr sz="1900" b="1">
                <a:solidFill>
                  <a:srgbClr val="1A1A1A"/>
                </a:solidFill>
                <a:latin typeface="Calibri"/>
              </a:rPr>
              <a:t>AI</a:t>
            </a:r>
          </a:p>
          <a:p>
            <a:pPr lvl="1">
              <a:lnSpc>
                <a:spcPct val="120000"/>
              </a:lnSpc>
              <a:spcBef>
                <a:spcPts val="0"/>
              </a:spcBef>
              <a:spcAft>
                <a:spcPts val="0"/>
              </a:spcAft>
            </a:pPr>
            <a:r>
              <a:rPr sz="1750" b="0">
                <a:solidFill>
                  <a:srgbClr val="6B7480"/>
                </a:solidFill>
                <a:latin typeface="Calibri"/>
              </a:rPr>
              <a:t>Ask SAJHA with its live constellation of tools, a Python playground, models and providers, prompts.</a:t>
            </a:r>
          </a:p>
          <a:p>
            <a:pPr>
              <a:lnSpc>
                <a:spcPct val="120000"/>
              </a:lnSpc>
              <a:spcBef>
                <a:spcPts val="500"/>
              </a:spcBef>
              <a:spcAft>
                <a:spcPts val="100"/>
              </a:spcAft>
            </a:pPr>
            <a:r>
              <a:rPr sz="1900" b="1">
                <a:solidFill>
                  <a:srgbClr val="A51C30"/>
                </a:solidFill>
                <a:latin typeface="Calibri"/>
              </a:rPr>
              <a:t>▪  </a:t>
            </a:r>
            <a:r>
              <a:rPr sz="1900" b="1">
                <a:solidFill>
                  <a:srgbClr val="1A1A1A"/>
                </a:solidFill>
                <a:latin typeface="Calibri"/>
              </a:rPr>
              <a:t>MCP Studio</a:t>
            </a:r>
          </a:p>
          <a:p>
            <a:pPr lvl="1">
              <a:lnSpc>
                <a:spcPct val="120000"/>
              </a:lnSpc>
              <a:spcBef>
                <a:spcPts val="0"/>
              </a:spcBef>
              <a:spcAft>
                <a:spcPts val="0"/>
              </a:spcAft>
            </a:pPr>
            <a:r>
              <a:rPr sz="1750" b="0">
                <a:solidFill>
                  <a:srgbClr val="6B7480"/>
                </a:solidFill>
                <a:latin typeface="Calibri"/>
              </a:rPr>
              <a:t>Every creator, Describe a tool, Import an API, and the composite builder.</a:t>
            </a:r>
          </a:p>
          <a:p>
            <a:pPr>
              <a:lnSpc>
                <a:spcPct val="120000"/>
              </a:lnSpc>
              <a:spcBef>
                <a:spcPts val="500"/>
              </a:spcBef>
              <a:spcAft>
                <a:spcPts val="100"/>
              </a:spcAft>
            </a:pPr>
            <a:r>
              <a:rPr sz="1900" b="1">
                <a:solidFill>
                  <a:srgbClr val="A51C30"/>
                </a:solidFill>
                <a:latin typeface="Calibri"/>
              </a:rPr>
              <a:t>▪  </a:t>
            </a:r>
            <a:r>
              <a:rPr sz="1900" b="1">
                <a:solidFill>
                  <a:srgbClr val="1A1A1A"/>
                </a:solidFill>
                <a:latin typeface="Calibri"/>
              </a:rPr>
              <a:t>Admin</a:t>
            </a:r>
          </a:p>
          <a:p>
            <a:pPr lvl="1">
              <a:lnSpc>
                <a:spcPct val="120000"/>
              </a:lnSpc>
              <a:spcBef>
                <a:spcPts val="0"/>
              </a:spcBef>
              <a:spcAft>
                <a:spcPts val="0"/>
              </a:spcAft>
            </a:pPr>
            <a:r>
              <a:rPr sz="1750" b="0">
                <a:solidFill>
                  <a:srgbClr val="6B7480"/>
                </a:solidFill>
                <a:latin typeface="Calibri"/>
              </a:rPr>
              <a:t>Users, roles and API keys; federation, connectors and connected accounts; policies, approvals and the audit; workflows; tool health, versions and evals.</a:t>
            </a:r>
          </a:p>
          <a:p>
            <a:pPr>
              <a:lnSpc>
                <a:spcPct val="120000"/>
              </a:lnSpc>
              <a:spcBef>
                <a:spcPts val="500"/>
              </a:spcBef>
              <a:spcAft>
                <a:spcPts val="100"/>
              </a:spcAft>
            </a:pPr>
            <a:r>
              <a:rPr sz="1900" b="1">
                <a:solidFill>
                  <a:srgbClr val="A51C30"/>
                </a:solidFill>
                <a:latin typeface="Calibri"/>
              </a:rPr>
              <a:t>▪  </a:t>
            </a:r>
            <a:r>
              <a:rPr sz="1900" b="1">
                <a:solidFill>
                  <a:srgbClr val="1A1A1A"/>
                </a:solidFill>
                <a:latin typeface="Calibri"/>
              </a:rPr>
              <a:t>Help</a:t>
            </a:r>
          </a:p>
          <a:p>
            <a:pPr lvl="1">
              <a:lnSpc>
                <a:spcPct val="120000"/>
              </a:lnSpc>
              <a:spcBef>
                <a:spcPts val="0"/>
              </a:spcBef>
              <a:spcAft>
                <a:spcPts val="0"/>
              </a:spcAft>
            </a:pPr>
            <a:r>
              <a:rPr sz="1750" b="0">
                <a:solidFill>
                  <a:srgbClr val="6B7480"/>
                </a:solidFill>
                <a:latin typeface="Calibri"/>
              </a:rPr>
              <a:t>Every guide in docs/ rendered in the app, the glossary, and an “About this page” panel on each page.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PARALLEL SDLC</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developers and AI developers ship independently</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30</a:t>
            </a:r>
          </a:p>
        </p:txBody>
      </p:sp>
      <p:sp>
        <p:nvSpPr>
          <p:cNvPr id="17" name="Rectangle 16"/>
          <p:cNvSpPr/>
          <p:nvPr/>
        </p:nvSpPr>
        <p:spPr>
          <a:xfrm>
            <a:off x="777240" y="1386967"/>
            <a:ext cx="3191164"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41831"/>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TOOL DEVELOPERS</a:t>
            </a:r>
          </a:p>
        </p:txBody>
      </p:sp>
      <p:sp>
        <p:nvSpPr>
          <p:cNvPr id="19" name="Rectangle 18"/>
          <p:cNvSpPr/>
          <p:nvPr/>
        </p:nvSpPr>
        <p:spPr>
          <a:xfrm>
            <a:off x="8223290" y="1386967"/>
            <a:ext cx="3191164"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33018" y="1441831"/>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DEVELOPERS</a:t>
            </a:r>
          </a:p>
        </p:txBody>
      </p:sp>
      <p:cxnSp>
        <p:nvCxnSpPr>
          <p:cNvPr id="21" name="Connector 20"/>
          <p:cNvCxnSpPr/>
          <p:nvPr/>
        </p:nvCxnSpPr>
        <p:spPr>
          <a:xfrm>
            <a:off x="2372822" y="2783890"/>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372822" y="3949903"/>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818872" y="2783890"/>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818872" y="3949903"/>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685864" y="3476072"/>
            <a:ext cx="109694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966110" y="3274904"/>
            <a:ext cx="5364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register</a:t>
            </a:r>
          </a:p>
        </p:txBody>
      </p:sp>
      <p:cxnSp>
        <p:nvCxnSpPr>
          <p:cNvPr id="27" name="Connector 26"/>
          <p:cNvCxnSpPr/>
          <p:nvPr/>
        </p:nvCxnSpPr>
        <p:spPr>
          <a:xfrm>
            <a:off x="7408889" y="3476072"/>
            <a:ext cx="109694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475776" y="3274904"/>
            <a:ext cx="963167"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discover, invoke</a:t>
            </a:r>
          </a:p>
        </p:txBody>
      </p:sp>
      <p:sp>
        <p:nvSpPr>
          <p:cNvPr id="29" name="Rounded Rectangle 28"/>
          <p:cNvSpPr/>
          <p:nvPr/>
        </p:nvSpPr>
        <p:spPr>
          <a:xfrm>
            <a:off x="1096356" y="1872805"/>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Build</a:t>
            </a:r>
          </a:p>
          <a:p>
            <a:pPr algn="ctr">
              <a:lnSpc>
                <a:spcPct val="105000"/>
              </a:lnSpc>
              <a:spcBef>
                <a:spcPts val="0"/>
              </a:spcBef>
              <a:spcAft>
                <a:spcPts val="0"/>
              </a:spcAft>
            </a:pPr>
            <a:r>
              <a:rPr sz="1250" b="0" i="0">
                <a:solidFill>
                  <a:srgbClr val="1A1A1A"/>
                </a:solidFill>
                <a:latin typeface="Calibri"/>
              </a:rPr>
              <a:t>Studio or a Python tool</a:t>
            </a:r>
          </a:p>
        </p:txBody>
      </p:sp>
      <p:sp>
        <p:nvSpPr>
          <p:cNvPr id="30" name="Rounded Rectangle 29"/>
          <p:cNvSpPr/>
          <p:nvPr/>
        </p:nvSpPr>
        <p:spPr>
          <a:xfrm>
            <a:off x="1096356" y="3038817"/>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Test</a:t>
            </a:r>
          </a:p>
          <a:p>
            <a:pPr algn="ctr">
              <a:lnSpc>
                <a:spcPct val="105000"/>
              </a:lnSpc>
              <a:spcBef>
                <a:spcPts val="0"/>
              </a:spcBef>
              <a:spcAft>
                <a:spcPts val="0"/>
              </a:spcAft>
            </a:pPr>
            <a:r>
              <a:rPr sz="1250" b="0" i="0">
                <a:solidFill>
                  <a:srgbClr val="1A1A1A"/>
                </a:solidFill>
                <a:latin typeface="Calibri"/>
              </a:rPr>
              <a:t>tool tests, schema lint</a:t>
            </a:r>
          </a:p>
        </p:txBody>
      </p:sp>
      <p:sp>
        <p:nvSpPr>
          <p:cNvPr id="31" name="Rounded Rectangle 30"/>
          <p:cNvSpPr/>
          <p:nvPr/>
        </p:nvSpPr>
        <p:spPr>
          <a:xfrm>
            <a:off x="1096356" y="4204830"/>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Deploy</a:t>
            </a:r>
          </a:p>
          <a:p>
            <a:pPr algn="ctr">
              <a:lnSpc>
                <a:spcPct val="105000"/>
              </a:lnSpc>
              <a:spcBef>
                <a:spcPts val="0"/>
              </a:spcBef>
              <a:spcAft>
                <a:spcPts val="0"/>
              </a:spcAft>
            </a:pPr>
            <a:r>
              <a:rPr sz="1250" b="0" i="0">
                <a:solidFill>
                  <a:srgbClr val="1A1A1A"/>
                </a:solidFill>
                <a:latin typeface="Calibri"/>
              </a:rPr>
              <a:t>drop a config; hot reload</a:t>
            </a:r>
          </a:p>
        </p:txBody>
      </p:sp>
      <p:sp>
        <p:nvSpPr>
          <p:cNvPr id="32" name="Rounded Rectangle 31"/>
          <p:cNvSpPr/>
          <p:nvPr/>
        </p:nvSpPr>
        <p:spPr>
          <a:xfrm>
            <a:off x="4819381" y="2747314"/>
            <a:ext cx="2552931" cy="1360347"/>
          </a:xfrm>
          <a:prstGeom prst="roundRect">
            <a:avLst>
              <a:gd name="adj" fmla="val 537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the schema is the contract</a:t>
            </a:r>
          </a:p>
        </p:txBody>
      </p:sp>
      <p:sp>
        <p:nvSpPr>
          <p:cNvPr id="33" name="Rounded Rectangle 32"/>
          <p:cNvSpPr/>
          <p:nvPr/>
        </p:nvSpPr>
        <p:spPr>
          <a:xfrm>
            <a:off x="8542407" y="1872805"/>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Design</a:t>
            </a:r>
          </a:p>
          <a:p>
            <a:pPr algn="ctr">
              <a:lnSpc>
                <a:spcPct val="105000"/>
              </a:lnSpc>
              <a:spcBef>
                <a:spcPts val="0"/>
              </a:spcBef>
              <a:spcAft>
                <a:spcPts val="0"/>
              </a:spcAft>
            </a:pPr>
            <a:r>
              <a:rPr sz="1250" b="0" i="0">
                <a:solidFill>
                  <a:srgbClr val="1A1A1A"/>
                </a:solidFill>
                <a:latin typeface="Calibri"/>
              </a:rPr>
              <a:t>agent logic and prompts</a:t>
            </a:r>
          </a:p>
        </p:txBody>
      </p:sp>
      <p:sp>
        <p:nvSpPr>
          <p:cNvPr id="34" name="Rounded Rectangle 33"/>
          <p:cNvSpPr/>
          <p:nvPr/>
        </p:nvSpPr>
        <p:spPr>
          <a:xfrm>
            <a:off x="8542407" y="3038817"/>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Evaluate</a:t>
            </a:r>
          </a:p>
          <a:p>
            <a:pPr algn="ctr">
              <a:lnSpc>
                <a:spcPct val="105000"/>
              </a:lnSpc>
              <a:spcBef>
                <a:spcPts val="0"/>
              </a:spcBef>
              <a:spcAft>
                <a:spcPts val="0"/>
              </a:spcAft>
            </a:pPr>
            <a:r>
              <a:rPr sz="1250" b="0" i="0">
                <a:solidFill>
                  <a:srgbClr val="1A1A1A"/>
                </a:solidFill>
                <a:latin typeface="Calibri"/>
              </a:rPr>
              <a:t>golden questions (evals)</a:t>
            </a:r>
          </a:p>
        </p:txBody>
      </p:sp>
      <p:sp>
        <p:nvSpPr>
          <p:cNvPr id="35" name="Rounded Rectangle 34"/>
          <p:cNvSpPr/>
          <p:nvPr/>
        </p:nvSpPr>
        <p:spPr>
          <a:xfrm>
            <a:off x="8542407" y="4204830"/>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Iterate</a:t>
            </a:r>
          </a:p>
          <a:p>
            <a:pPr algn="ctr">
              <a:lnSpc>
                <a:spcPct val="105000"/>
              </a:lnSpc>
              <a:spcBef>
                <a:spcPts val="0"/>
              </a:spcBef>
              <a:spcAft>
                <a:spcPts val="0"/>
              </a:spcAft>
            </a:pPr>
            <a:r>
              <a:rPr sz="1250" b="0" i="0">
                <a:solidFill>
                  <a:srgbClr val="1A1A1A"/>
                </a:solidFill>
                <a:latin typeface="Calibri"/>
              </a:rPr>
              <a:t>tune prompts and planners</a:t>
            </a:r>
          </a:p>
        </p:txBody>
      </p:sp>
      <p:sp>
        <p:nvSpPr>
          <p:cNvPr id="36" name="Rounded Rectangle 35"/>
          <p:cNvSpPr/>
          <p:nvPr/>
        </p:nvSpPr>
        <p:spPr>
          <a:xfrm>
            <a:off x="777240" y="5613761"/>
            <a:ext cx="10637215" cy="631590"/>
          </a:xfrm>
          <a:prstGeom prst="roundRect">
            <a:avLst>
              <a:gd name="adj" fmla="val 1158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Integration: agents discover and call tools from both pipelines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ROLE-BASED ACCESS CONTROL</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Tool-level permissions, checked on every call, on every path</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31</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read lets a caller see a tool, execute lets it run one; patterns are fnmatch globs such as fred_*. One policy (sajha/auth/access.py) serves REST, MCP in both eras, SSE, WebSocket, stdio and A2A.</a:t>
            </a:r>
          </a:p>
        </p:txBody>
      </p:sp>
      <p:graphicFrame>
        <p:nvGraphicFramePr>
          <p:cNvPr id="19" name="Table 18"/>
          <p:cNvGraphicFramePr>
            <a:graphicFrameLocks noGrp="1"/>
          </p:cNvGraphicFramePr>
          <p:nvPr/>
        </p:nvGraphicFramePr>
        <p:xfrm>
          <a:off x="777240" y="1354836"/>
          <a:ext cx="10637213" cy="4034690"/>
        </p:xfrm>
        <a:graphic>
          <a:graphicData uri="http://schemas.openxmlformats.org/drawingml/2006/table">
            <a:tbl>
              <a:tblPr firstRow="1">
                <a:tableStyleId>{5C22544A-7EE6-4342-B048-85BDC9FD1C3A}</a:tableStyleId>
              </a:tblPr>
              <a:tblGrid>
                <a:gridCol w="2239413"/>
                <a:gridCol w="4198900"/>
                <a:gridCol w="4198900"/>
              </a:tblGrid>
              <a:tr h="350710">
                <a:tc>
                  <a:txBody>
                    <a:bodyPr wrap="square"/>
                    <a:lstStyle/>
                    <a:p>
                      <a:r>
                        <a:rPr sz="1500" b="1">
                          <a:solidFill>
                            <a:srgbClr val="FFFFFF"/>
                          </a:solidFill>
                          <a:latin typeface="Calibri"/>
                        </a:rPr>
                        <a:t>Who</a:t>
                      </a:r>
                    </a:p>
                  </a:txBody>
                  <a:tcPr marL="82296" marR="64008" marT="32004" marB="32004" anchor="ctr">
                    <a:solidFill>
                      <a:srgbClr val="A51C30"/>
                    </a:solidFill>
                  </a:tcPr>
                </a:tc>
                <a:tc>
                  <a:txBody>
                    <a:bodyPr wrap="square"/>
                    <a:lstStyle/>
                    <a:p>
                      <a:r>
                        <a:rPr sz="1500" b="1">
                          <a:solidFill>
                            <a:srgbClr val="FFFFFF"/>
                          </a:solidFill>
                          <a:latin typeface="Calibri"/>
                        </a:rPr>
                        <a:t>Rights</a:t>
                      </a:r>
                    </a:p>
                  </a:txBody>
                  <a:tcPr marL="82296" marR="64008" marT="32004" marB="32004" anchor="ctr">
                    <a:solidFill>
                      <a:srgbClr val="A51C30"/>
                    </a:solidFill>
                  </a:tcPr>
                </a:tc>
                <a:tc>
                  <a:txBody>
                    <a:bodyPr wrap="square"/>
                    <a:lstStyle/>
                    <a:p>
                      <a:r>
                        <a:rPr sz="1500" b="1">
                          <a:solidFill>
                            <a:srgbClr val="FFFFFF"/>
                          </a:solidFill>
                          <a:latin typeface="Calibri"/>
                        </a:rPr>
                        <a:t>What it may see and run</a:t>
                      </a:r>
                    </a:p>
                  </a:txBody>
                  <a:tcPr marL="82296" marR="64008" marT="32004" marB="32004" anchor="ctr">
                    <a:solidFill>
                      <a:srgbClr val="A51C30"/>
                    </a:solidFill>
                  </a:tcPr>
                </a:tc>
              </a:tr>
              <a:tr h="374808">
                <a:tc>
                  <a:txBody>
                    <a:bodyPr wrap="square"/>
                    <a:lstStyle/>
                    <a:p>
                      <a:r>
                        <a:rPr sz="1650" b="1">
                          <a:solidFill>
                            <a:srgbClr val="6E1120"/>
                          </a:solidFill>
                          <a:latin typeface="Calibri"/>
                        </a:rPr>
                        <a:t>Role admin</a:t>
                      </a:r>
                    </a:p>
                  </a:txBody>
                  <a:tcPr marL="82296" marR="64008" marT="32004" marB="32004" anchor="ctr">
                    <a:solidFill>
                      <a:srgbClr val="FFFFFF"/>
                    </a:solidFill>
                  </a:tcPr>
                </a:tc>
                <a:tc>
                  <a:txBody>
                    <a:bodyPr wrap="square"/>
                    <a:lstStyle/>
                    <a:p>
                      <a:r>
                        <a:rPr sz="1650" b="0">
                          <a:solidFill>
                            <a:srgbClr val="1A1A1A"/>
                          </a:solidFill>
                          <a:latin typeface="Calibri"/>
                        </a:rPr>
                        <a:t>everything: all actions</a:t>
                      </a:r>
                    </a:p>
                  </a:txBody>
                  <a:tcPr marL="82296" marR="64008" marT="32004" marB="32004" anchor="ctr">
                    <a:solidFill>
                      <a:srgbClr val="FFFFFF"/>
                    </a:solidFill>
                  </a:tcPr>
                </a:tc>
                <a:tc>
                  <a:txBody>
                    <a:bodyPr wrap="square"/>
                    <a:lstStyle/>
                    <a:p>
                      <a:r>
                        <a:rPr sz="1650" b="0">
                          <a:solidFill>
                            <a:srgbClr val="1A1A1A"/>
                          </a:solidFill>
                          <a:latin typeface="Calibri"/>
                        </a:rPr>
                        <a:t>Full system access</a:t>
                      </a:r>
                    </a:p>
                  </a:txBody>
                  <a:tcPr marL="82296" marR="64008" marT="32004" marB="32004" anchor="ctr">
                    <a:solidFill>
                      <a:srgbClr val="FFFFFF"/>
                    </a:solidFill>
                  </a:tcPr>
                </a:tc>
              </a:tr>
              <a:tr h="374808">
                <a:tc>
                  <a:txBody>
                    <a:bodyPr wrap="square"/>
                    <a:lstStyle/>
                    <a:p>
                      <a:r>
                        <a:rPr sz="1650" b="1">
                          <a:solidFill>
                            <a:srgbClr val="6E1120"/>
                          </a:solidFill>
                          <a:latin typeface="Calibri"/>
                        </a:rPr>
                        <a:t>Role user</a:t>
                      </a:r>
                    </a:p>
                  </a:txBody>
                  <a:tcPr marL="82296" marR="64008" marT="32004" marB="32004" anchor="ctr">
                    <a:solidFill>
                      <a:srgbClr val="F7F5F2"/>
                    </a:solidFill>
                  </a:tcPr>
                </a:tc>
                <a:tc>
                  <a:txBody>
                    <a:bodyPr wrap="square"/>
                    <a:lstStyle/>
                    <a:p>
                      <a:r>
                        <a:rPr sz="1650" b="0">
                          <a:solidFill>
                            <a:srgbClr val="1A1A1A"/>
                          </a:solidFill>
                          <a:latin typeface="Calibri"/>
                        </a:rPr>
                        <a:t>tool (any): execute, read</a:t>
                      </a:r>
                    </a:p>
                  </a:txBody>
                  <a:tcPr marL="82296" marR="64008" marT="32004" marB="32004" anchor="ctr">
                    <a:solidFill>
                      <a:srgbClr val="F7F5F2"/>
                    </a:solidFill>
                  </a:tcPr>
                </a:tc>
                <a:tc>
                  <a:txBody>
                    <a:bodyPr wrap="square"/>
                    <a:lstStyle/>
                    <a:p>
                      <a:r>
                        <a:rPr sz="1650" b="0">
                          <a:solidFill>
                            <a:srgbClr val="1A1A1A"/>
                          </a:solidFill>
                          <a:latin typeface="Calibri"/>
                        </a:rPr>
                        <a:t>Standard tool access</a:t>
                      </a:r>
                    </a:p>
                  </a:txBody>
                  <a:tcPr marL="82296" marR="64008" marT="32004" marB="32004" anchor="ctr">
                    <a:solidFill>
                      <a:srgbClr val="F7F5F2"/>
                    </a:solidFill>
                  </a:tcPr>
                </a:tc>
              </a:tr>
              <a:tr h="374808">
                <a:tc>
                  <a:txBody>
                    <a:bodyPr wrap="square"/>
                    <a:lstStyle/>
                    <a:p>
                      <a:r>
                        <a:rPr sz="1650" b="1">
                          <a:solidFill>
                            <a:srgbClr val="6E1120"/>
                          </a:solidFill>
                          <a:latin typeface="Calibri"/>
                        </a:rPr>
                        <a:t>Role viewer</a:t>
                      </a:r>
                    </a:p>
                  </a:txBody>
                  <a:tcPr marL="82296" marR="64008" marT="32004" marB="32004" anchor="ctr">
                    <a:solidFill>
                      <a:srgbClr val="FFFFFF"/>
                    </a:solidFill>
                  </a:tcPr>
                </a:tc>
                <a:tc>
                  <a:txBody>
                    <a:bodyPr wrap="square"/>
                    <a:lstStyle/>
                    <a:p>
                      <a:r>
                        <a:rPr sz="1650" b="0">
                          <a:solidFill>
                            <a:srgbClr val="1A1A1A"/>
                          </a:solidFill>
                          <a:latin typeface="Calibri"/>
                        </a:rPr>
                        <a:t>tool (any): read</a:t>
                      </a:r>
                    </a:p>
                  </a:txBody>
                  <a:tcPr marL="82296" marR="64008" marT="32004" marB="32004" anchor="ctr">
                    <a:solidFill>
                      <a:srgbClr val="FFFFFF"/>
                    </a:solidFill>
                  </a:tcPr>
                </a:tc>
                <a:tc>
                  <a:txBody>
                    <a:bodyPr wrap="square"/>
                    <a:lstStyle/>
                    <a:p>
                      <a:r>
                        <a:rPr sz="1650" b="0">
                          <a:solidFill>
                            <a:srgbClr val="1A1A1A"/>
                          </a:solidFill>
                          <a:latin typeface="Calibri"/>
                        </a:rPr>
                        <a:t>Read-only access</a:t>
                      </a:r>
                    </a:p>
                  </a:txBody>
                  <a:tcPr marL="82296" marR="64008" marT="32004" marB="32004" anchor="ctr">
                    <a:solidFill>
                      <a:srgbClr val="FFFFFF"/>
                    </a:solidFill>
                  </a:tcPr>
                </a:tc>
              </a:tr>
              <a:tr h="639889">
                <a:tc>
                  <a:txBody>
                    <a:bodyPr wrap="square"/>
                    <a:lstStyle/>
                    <a:p>
                      <a:r>
                        <a:rPr sz="1650" b="1">
                          <a:solidFill>
                            <a:srgbClr val="6E1120"/>
                          </a:solidFill>
                          <a:latin typeface="Calibri"/>
                        </a:rPr>
                        <a:t>Role developer</a:t>
                      </a:r>
                    </a:p>
                  </a:txBody>
                  <a:tcPr marL="82296" marR="64008" marT="32004" marB="32004" anchor="ctr">
                    <a:solidFill>
                      <a:srgbClr val="F7F5F2"/>
                    </a:solidFill>
                  </a:tcPr>
                </a:tc>
                <a:tc>
                  <a:txBody>
                    <a:bodyPr wrap="square"/>
                    <a:lstStyle/>
                    <a:p>
                      <a:r>
                        <a:rPr sz="1650" b="0">
                          <a:solidFill>
                            <a:srgbClr val="1A1A1A"/>
                          </a:solidFill>
                          <a:latin typeface="Calibri"/>
                        </a:rPr>
                        <a:t>studio (any): all actions; tool (any): execute, read, create</a:t>
                      </a:r>
                    </a:p>
                  </a:txBody>
                  <a:tcPr marL="82296" marR="64008" marT="32004" marB="32004" anchor="ctr">
                    <a:solidFill>
                      <a:srgbClr val="F7F5F2"/>
                    </a:solidFill>
                  </a:tcPr>
                </a:tc>
                <a:tc>
                  <a:txBody>
                    <a:bodyPr wrap="square"/>
                    <a:lstStyle/>
                    <a:p>
                      <a:r>
                        <a:rPr sz="1650" b="0">
                          <a:solidFill>
                            <a:srgbClr val="1A1A1A"/>
                          </a:solidFill>
                          <a:latin typeface="Calibri"/>
                        </a:rPr>
                        <a:t>Developer access — MCP Studio</a:t>
                      </a:r>
                    </a:p>
                  </a:txBody>
                  <a:tcPr marL="82296" marR="64008" marT="32004" marB="32004" anchor="ctr">
                    <a:solidFill>
                      <a:srgbClr val="F7F5F2"/>
                    </a:solidFill>
                  </a:tcPr>
                </a:tc>
              </a:tr>
              <a:tr h="639889">
                <a:tc>
                  <a:txBody>
                    <a:bodyPr wrap="square"/>
                    <a:lstStyle/>
                    <a:p>
                      <a:r>
                        <a:rPr sz="1650" b="1">
                          <a:solidFill>
                            <a:srgbClr val="6E1120"/>
                          </a:solidFill>
                          <a:latin typeface="Calibri"/>
                        </a:rPr>
                        <a:t>Role llm_author</a:t>
                      </a:r>
                    </a:p>
                  </a:txBody>
                  <a:tcPr marL="82296" marR="64008" marT="32004" marB="32004" anchor="ctr">
                    <a:solidFill>
                      <a:srgbClr val="FFFFFF"/>
                    </a:solidFill>
                  </a:tcPr>
                </a:tc>
                <a:tc>
                  <a:txBody>
                    <a:bodyPr wrap="square"/>
                    <a:lstStyle/>
                    <a:p>
                      <a:r>
                        <a:rPr sz="1650" b="0">
                          <a:solidFill>
                            <a:srgbClr val="1A1A1A"/>
                          </a:solidFill>
                          <a:latin typeface="Calibri"/>
                        </a:rPr>
                        <a:t>studio llm: use; tool (any): execute, read</a:t>
                      </a:r>
                    </a:p>
                  </a:txBody>
                  <a:tcPr marL="82296" marR="64008" marT="32004" marB="32004" anchor="ctr">
                    <a:solidFill>
                      <a:srgbClr val="FFFFFF"/>
                    </a:solidFill>
                  </a:tcPr>
                </a:tc>
                <a:tc>
                  <a:txBody>
                    <a:bodyPr wrap="square"/>
                    <a:lstStyle/>
                    <a:p>
                      <a:r>
                        <a:rPr sz="1650" b="0">
                          <a:solidFill>
                            <a:srgbClr val="1A1A1A"/>
                          </a:solidFill>
                          <a:latin typeface="Calibri"/>
                        </a:rPr>
                        <a:t>MCP Studio: LLM tools only</a:t>
                      </a:r>
                    </a:p>
                  </a:txBody>
                  <a:tcPr marL="82296" marR="64008" marT="32004" marB="32004" anchor="ctr">
                    <a:solidFill>
                      <a:srgbClr val="FFFFFF"/>
                    </a:solidFill>
                  </a:tcPr>
                </a:tc>
              </a:tr>
              <a:tr h="639889">
                <a:tc>
                  <a:txBody>
                    <a:bodyPr wrap="square"/>
                    <a:lstStyle/>
                    <a:p>
                      <a:r>
                        <a:rPr sz="1650" b="1">
                          <a:solidFill>
                            <a:srgbClr val="6E1120"/>
                          </a:solidFill>
                          <a:latin typeface="Calibri"/>
                        </a:rPr>
                        <a:t>An API key</a:t>
                      </a:r>
                    </a:p>
                  </a:txBody>
                  <a:tcPr marL="82296" marR="64008" marT="32004" marB="32004" anchor="ctr">
                    <a:solidFill>
                      <a:srgbClr val="F7F5F2"/>
                    </a:solidFill>
                  </a:tcPr>
                </a:tc>
                <a:tc>
                  <a:txBody>
                    <a:bodyPr wrap="square"/>
                    <a:lstStyle/>
                    <a:p>
                      <a:r>
                        <a:rPr sz="1650" b="0">
                          <a:solidFill>
                            <a:srgbClr val="1A1A1A"/>
                          </a:solidFill>
                          <a:latin typeface="Calibri"/>
                        </a:rPr>
                        <a:t>all, allowlist, denylist or regex</a:t>
                      </a:r>
                    </a:p>
                  </a:txBody>
                  <a:tcPr marL="82296" marR="64008" marT="32004" marB="32004" anchor="ctr">
                    <a:solidFill>
                      <a:srgbClr val="F7F5F2"/>
                    </a:solidFill>
                  </a:tcPr>
                </a:tc>
                <a:tc>
                  <a:txBody>
                    <a:bodyPr wrap="square"/>
                    <a:lstStyle/>
                    <a:p>
                      <a:r>
                        <a:rPr sz="1650" b="0">
                          <a:solidFill>
                            <a:srgbClr val="1A1A1A"/>
                          </a:solidFill>
                          <a:latin typeface="Calibri"/>
                        </a:rPr>
                        <a:t>The key's tool access mode; never an admin</a:t>
                      </a:r>
                    </a:p>
                  </a:txBody>
                  <a:tcPr marL="82296" marR="64008" marT="32004" marB="32004" anchor="ctr">
                    <a:solidFill>
                      <a:srgbClr val="F7F5F2"/>
                    </a:solidFill>
                  </a:tcPr>
                </a:tc>
              </a:tr>
              <a:tr h="639889">
                <a:tc>
                  <a:txBody>
                    <a:bodyPr wrap="square"/>
                    <a:lstStyle/>
                    <a:p>
                      <a:r>
                        <a:rPr sz="1650" b="1">
                          <a:solidFill>
                            <a:srgbClr val="6E1120"/>
                          </a:solidFill>
                          <a:latin typeface="Calibri"/>
                        </a:rPr>
                        <a:t>Anonymous</a:t>
                      </a:r>
                    </a:p>
                  </a:txBody>
                  <a:tcPr marL="82296" marR="64008" marT="32004" marB="32004" anchor="ctr">
                    <a:solidFill>
                      <a:srgbClr val="FFFFFF"/>
                    </a:solidFill>
                  </a:tcPr>
                </a:tc>
                <a:tc>
                  <a:txBody>
                    <a:bodyPr wrap="square"/>
                    <a:lstStyle/>
                    <a:p>
                      <a:r>
                        <a:rPr sz="1650" b="0">
                          <a:solidFill>
                            <a:srgbClr val="1A1A1A"/>
                          </a:solidFill>
                          <a:latin typeface="Calibri"/>
                        </a:rPr>
                        <a:t>mcp.anonymous.tools (empty by default)</a:t>
                      </a:r>
                    </a:p>
                  </a:txBody>
                  <a:tcPr marL="82296" marR="64008" marT="32004" marB="32004" anchor="ctr">
                    <a:solidFill>
                      <a:srgbClr val="FFFFFF"/>
                    </a:solidFill>
                  </a:tcPr>
                </a:tc>
                <a:tc>
                  <a:txBody>
                    <a:bodyPr wrap="square"/>
                    <a:lstStyle/>
                    <a:p>
                      <a:r>
                        <a:rPr sz="1650" b="0">
                          <a:solidFill>
                            <a:srgbClr val="1A1A1A"/>
                          </a:solidFill>
                          <a:latin typeface="Calibri"/>
                        </a:rPr>
                        <a:t>Nothing, unless an operator allows it</a:t>
                      </a:r>
                    </a:p>
                  </a:txBody>
                  <a:tcPr marL="82296" marR="64008" marT="32004" marB="32004" anchor="ctr">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ENTERPRISE SECURITY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Security in layers, each with the threat it answers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32</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Rate limits on tool calls come from policy rules; /mcp itself has no built-in request rate limit.</a:t>
            </a:r>
          </a:p>
        </p:txBody>
      </p:sp>
      <p:graphicFrame>
        <p:nvGraphicFramePr>
          <p:cNvPr id="19" name="Table 18"/>
          <p:cNvGraphicFramePr>
            <a:graphicFrameLocks noGrp="1"/>
          </p:cNvGraphicFramePr>
          <p:nvPr/>
        </p:nvGraphicFramePr>
        <p:xfrm>
          <a:off x="777240" y="1386967"/>
          <a:ext cx="10637213" cy="4465729"/>
        </p:xfrm>
        <a:graphic>
          <a:graphicData uri="http://schemas.openxmlformats.org/drawingml/2006/table">
            <a:tbl>
              <a:tblPr firstRow="1">
                <a:tableStyleId>{5C22544A-7EE6-4342-B048-85BDC9FD1C3A}</a:tableStyleId>
              </a:tblPr>
              <a:tblGrid>
                <a:gridCol w="2072184"/>
                <a:gridCol w="5387680"/>
                <a:gridCol w="3177349"/>
              </a:tblGrid>
              <a:tr h="350710">
                <a:tc>
                  <a:txBody>
                    <a:bodyPr wrap="square"/>
                    <a:lstStyle/>
                    <a:p>
                      <a:r>
                        <a:rPr sz="1500" b="1">
                          <a:solidFill>
                            <a:srgbClr val="FFFFFF"/>
                          </a:solidFill>
                          <a:latin typeface="Calibri"/>
                        </a:rPr>
                        <a:t>Layer</a:t>
                      </a:r>
                    </a:p>
                  </a:txBody>
                  <a:tcPr marL="82296" marR="64008" marT="32004" marB="32004" anchor="ctr">
                    <a:solidFill>
                      <a:srgbClr val="A51C30"/>
                    </a:solidFill>
                  </a:tcPr>
                </a:tc>
                <a:tc>
                  <a:txBody>
                    <a:bodyPr wrap="square"/>
                    <a:lstStyle/>
                    <a:p>
                      <a:r>
                        <a:rPr sz="1500" b="1">
                          <a:solidFill>
                            <a:srgbClr val="FFFFFF"/>
                          </a:solidFill>
                          <a:latin typeface="Calibri"/>
                        </a:rPr>
                        <a:t>Mechanism</a:t>
                      </a:r>
                    </a:p>
                  </a:txBody>
                  <a:tcPr marL="82296" marR="64008" marT="32004" marB="32004" anchor="ctr">
                    <a:solidFill>
                      <a:srgbClr val="A51C30"/>
                    </a:solidFill>
                  </a:tcPr>
                </a:tc>
                <a:tc>
                  <a:txBody>
                    <a:bodyPr wrap="square"/>
                    <a:lstStyle/>
                    <a:p>
                      <a:r>
                        <a:rPr sz="1500" b="1">
                          <a:solidFill>
                            <a:srgbClr val="FFFFFF"/>
                          </a:solidFill>
                          <a:latin typeface="Calibri"/>
                        </a:rPr>
                        <a:t>Protects against</a:t>
                      </a:r>
                    </a:p>
                  </a:txBody>
                  <a:tcPr marL="82296" marR="64008" marT="32004" marB="32004" anchor="ctr">
                    <a:solidFill>
                      <a:srgbClr val="A51C30"/>
                    </a:solidFill>
                  </a:tcPr>
                </a:tc>
              </a:tr>
              <a:tr h="607758">
                <a:tc>
                  <a:txBody>
                    <a:bodyPr wrap="square"/>
                    <a:lstStyle/>
                    <a:p>
                      <a:r>
                        <a:rPr sz="1550" b="1">
                          <a:solidFill>
                            <a:srgbClr val="6E1120"/>
                          </a:solidFill>
                          <a:latin typeface="Calibri"/>
                        </a:rPr>
                        <a:t>Authentication</a:t>
                      </a:r>
                    </a:p>
                  </a:txBody>
                  <a:tcPr marL="82296" marR="64008" marT="32004" marB="32004" anchor="ctr">
                    <a:solidFill>
                      <a:srgbClr val="FFFFFF"/>
                    </a:solidFill>
                  </a:tcPr>
                </a:tc>
                <a:tc>
                  <a:txBody>
                    <a:bodyPr wrap="square"/>
                    <a:lstStyle/>
                    <a:p>
                      <a:r>
                        <a:rPr sz="1550" b="0">
                          <a:solidFill>
                            <a:srgbClr val="1A1A1A"/>
                          </a:solidFill>
                          <a:latin typeface="Calibri"/>
                        </a:rPr>
                        <a:t>Session cookie, single sign-on, revocable SAJHA JWT, API keys, OAuth 2.1 on /mcp</a:t>
                      </a:r>
                    </a:p>
                  </a:txBody>
                  <a:tcPr marL="82296" marR="64008" marT="32004" marB="32004" anchor="ctr">
                    <a:solidFill>
                      <a:srgbClr val="FFFFFF"/>
                    </a:solidFill>
                  </a:tcPr>
                </a:tc>
                <a:tc>
                  <a:txBody>
                    <a:bodyPr wrap="square"/>
                    <a:lstStyle/>
                    <a:p>
                      <a:r>
                        <a:rPr sz="1550" b="0">
                          <a:solidFill>
                            <a:srgbClr val="1A1A1A"/>
                          </a:solidFill>
                          <a:latin typeface="Calibri"/>
                        </a:rPr>
                        <a:t>Unknown callers</a:t>
                      </a:r>
                    </a:p>
                  </a:txBody>
                  <a:tcPr marL="82296" marR="64008" marT="32004" marB="32004" anchor="ctr">
                    <a:solidFill>
                      <a:srgbClr val="FFFFFF"/>
                    </a:solidFill>
                  </a:tcPr>
                </a:tc>
              </a:tr>
              <a:tr h="607758">
                <a:tc>
                  <a:txBody>
                    <a:bodyPr wrap="square"/>
                    <a:lstStyle/>
                    <a:p>
                      <a:r>
                        <a:rPr sz="1550" b="1">
                          <a:solidFill>
                            <a:srgbClr val="6E1120"/>
                          </a:solidFill>
                          <a:latin typeface="Calibri"/>
                        </a:rPr>
                        <a:t>Authorization</a:t>
                      </a:r>
                    </a:p>
                  </a:txBody>
                  <a:tcPr marL="82296" marR="64008" marT="32004" marB="32004" anchor="ctr">
                    <a:solidFill>
                      <a:srgbClr val="F7F5F2"/>
                    </a:solidFill>
                  </a:tcPr>
                </a:tc>
                <a:tc>
                  <a:txBody>
                    <a:bodyPr wrap="square"/>
                    <a:lstStyle/>
                    <a:p>
                      <a:r>
                        <a:rPr sz="1550" b="0">
                          <a:solidFill>
                            <a:srgbClr val="1A1A1A"/>
                          </a:solidFill>
                          <a:latin typeface="Calibri"/>
                        </a:rPr>
                        <a:t>Role permissions and API-key modes, per tool, on every path</a:t>
                      </a:r>
                    </a:p>
                  </a:txBody>
                  <a:tcPr marL="82296" marR="64008" marT="32004" marB="32004" anchor="ctr">
                    <a:solidFill>
                      <a:srgbClr val="F7F5F2"/>
                    </a:solidFill>
                  </a:tcPr>
                </a:tc>
                <a:tc>
                  <a:txBody>
                    <a:bodyPr wrap="square"/>
                    <a:lstStyle/>
                    <a:p>
                      <a:r>
                        <a:rPr sz="1550" b="0">
                          <a:solidFill>
                            <a:srgbClr val="1A1A1A"/>
                          </a:solidFill>
                          <a:latin typeface="Calibri"/>
                        </a:rPr>
                        <a:t>Privilege escalation</a:t>
                      </a:r>
                    </a:p>
                  </a:txBody>
                  <a:tcPr marL="82296" marR="64008" marT="32004" marB="32004" anchor="ctr">
                    <a:solidFill>
                      <a:srgbClr val="F7F5F2"/>
                    </a:solidFill>
                  </a:tcPr>
                </a:tc>
              </a:tr>
              <a:tr h="607758">
                <a:tc>
                  <a:txBody>
                    <a:bodyPr wrap="square"/>
                    <a:lstStyle/>
                    <a:p>
                      <a:r>
                        <a:rPr sz="1550" b="1">
                          <a:solidFill>
                            <a:srgbClr val="6E1120"/>
                          </a:solidFill>
                          <a:latin typeface="Calibri"/>
                        </a:rPr>
                        <a:t>Policy</a:t>
                      </a:r>
                    </a:p>
                  </a:txBody>
                  <a:tcPr marL="82296" marR="64008" marT="32004" marB="32004" anchor="ctr">
                    <a:solidFill>
                      <a:srgbClr val="FFFFFF"/>
                    </a:solidFill>
                  </a:tcPr>
                </a:tc>
                <a:tc>
                  <a:txBody>
                    <a:bodyPr wrap="square"/>
                    <a:lstStyle/>
                    <a:p>
                      <a:r>
                        <a:rPr sz="1550" b="0">
                          <a:solidFill>
                            <a:srgbClr val="1A1A1A"/>
                          </a:solidFill>
                          <a:latin typeface="Calibri"/>
                        </a:rPr>
                        <a:t>Deny, require approval, constrain arguments, rate limits and quotas, redaction</a:t>
                      </a:r>
                    </a:p>
                  </a:txBody>
                  <a:tcPr marL="82296" marR="64008" marT="32004" marB="32004" anchor="ctr">
                    <a:solidFill>
                      <a:srgbClr val="FFFFFF"/>
                    </a:solidFill>
                  </a:tcPr>
                </a:tc>
                <a:tc>
                  <a:txBody>
                    <a:bodyPr wrap="square"/>
                    <a:lstStyle/>
                    <a:p>
                      <a:r>
                        <a:rPr sz="1550" b="0">
                          <a:solidFill>
                            <a:srgbClr val="1A1A1A"/>
                          </a:solidFill>
                          <a:latin typeface="Calibri"/>
                        </a:rPr>
                        <a:t>Unsafe or excessive calls</a:t>
                      </a:r>
                    </a:p>
                  </a:txBody>
                  <a:tcPr marL="82296" marR="64008" marT="32004" marB="32004" anchor="ctr">
                    <a:solidFill>
                      <a:srgbClr val="FFFFFF"/>
                    </a:solidFill>
                  </a:tcPr>
                </a:tc>
              </a:tr>
              <a:tr h="607758">
                <a:tc>
                  <a:txBody>
                    <a:bodyPr wrap="square"/>
                    <a:lstStyle/>
                    <a:p>
                      <a:r>
                        <a:rPr sz="1550" b="1">
                          <a:solidFill>
                            <a:srgbClr val="6E1120"/>
                          </a:solidFill>
                          <a:latin typeface="Calibri"/>
                        </a:rPr>
                        <a:t>Input</a:t>
                      </a:r>
                    </a:p>
                  </a:txBody>
                  <a:tcPr marL="82296" marR="64008" marT="32004" marB="32004" anchor="ctr">
                    <a:solidFill>
                      <a:srgbClr val="F7F5F2"/>
                    </a:solidFill>
                  </a:tcPr>
                </a:tc>
                <a:tc>
                  <a:txBody>
                    <a:bodyPr wrap="square"/>
                    <a:lstStyle/>
                    <a:p>
                      <a:r>
                        <a:rPr sz="1550" b="0">
                          <a:solidFill>
                            <a:srgbClr val="1A1A1A"/>
                          </a:solidFill>
                          <a:latin typeface="Calibri"/>
                        </a:rPr>
                        <a:t>JSON Schema on every call; SQL guards; an SSRF guard on outbound requests</a:t>
                      </a:r>
                    </a:p>
                  </a:txBody>
                  <a:tcPr marL="82296" marR="64008" marT="32004" marB="32004" anchor="ctr">
                    <a:solidFill>
                      <a:srgbClr val="F7F5F2"/>
                    </a:solidFill>
                  </a:tcPr>
                </a:tc>
                <a:tc>
                  <a:txBody>
                    <a:bodyPr wrap="square"/>
                    <a:lstStyle/>
                    <a:p>
                      <a:r>
                        <a:rPr sz="1550" b="0">
                          <a:solidFill>
                            <a:srgbClr val="1A1A1A"/>
                          </a:solidFill>
                          <a:latin typeface="Calibri"/>
                        </a:rPr>
                        <a:t>Injection, internal-network access</a:t>
                      </a:r>
                    </a:p>
                  </a:txBody>
                  <a:tcPr marL="82296" marR="64008" marT="32004" marB="32004" anchor="ctr">
                    <a:solidFill>
                      <a:srgbClr val="F7F5F2"/>
                    </a:solidFill>
                  </a:tcPr>
                </a:tc>
              </a:tr>
              <a:tr h="607758">
                <a:tc>
                  <a:txBody>
                    <a:bodyPr wrap="square"/>
                    <a:lstStyle/>
                    <a:p>
                      <a:r>
                        <a:rPr sz="1550" b="1">
                          <a:solidFill>
                            <a:srgbClr val="6E1120"/>
                          </a:solidFill>
                          <a:latin typeface="Calibri"/>
                        </a:rPr>
                        <a:t>Transport</a:t>
                      </a:r>
                    </a:p>
                  </a:txBody>
                  <a:tcPr marL="82296" marR="64008" marT="32004" marB="32004" anchor="ctr">
                    <a:solidFill>
                      <a:srgbClr val="FFFFFF"/>
                    </a:solidFill>
                  </a:tcPr>
                </a:tc>
                <a:tc>
                  <a:txBody>
                    <a:bodyPr wrap="square"/>
                    <a:lstStyle/>
                    <a:p>
                      <a:r>
                        <a:rPr sz="1550" b="0">
                          <a:solidFill>
                            <a:srgbClr val="1A1A1A"/>
                          </a:solidFill>
                          <a:latin typeface="Calibri"/>
                        </a:rPr>
                        <a:t>Origin allow-list on /mcp; HTTPS at the proxy or ingress; HSTS, CSP and other headers</a:t>
                      </a:r>
                    </a:p>
                  </a:txBody>
                  <a:tcPr marL="82296" marR="64008" marT="32004" marB="32004" anchor="ctr">
                    <a:solidFill>
                      <a:srgbClr val="FFFFFF"/>
                    </a:solidFill>
                  </a:tcPr>
                </a:tc>
                <a:tc>
                  <a:txBody>
                    <a:bodyPr wrap="square"/>
                    <a:lstStyle/>
                    <a:p>
                      <a:r>
                        <a:rPr sz="1550" b="0">
                          <a:solidFill>
                            <a:srgbClr val="1A1A1A"/>
                          </a:solidFill>
                          <a:latin typeface="Calibri"/>
                        </a:rPr>
                        <a:t>DNS rebinding, interception</a:t>
                      </a:r>
                    </a:p>
                  </a:txBody>
                  <a:tcPr marL="82296" marR="64008" marT="32004" marB="32004" anchor="ctr">
                    <a:solidFill>
                      <a:srgbClr val="FFFFFF"/>
                    </a:solidFill>
                  </a:tcPr>
                </a:tc>
              </a:tr>
              <a:tr h="358743">
                <a:tc>
                  <a:txBody>
                    <a:bodyPr wrap="square"/>
                    <a:lstStyle/>
                    <a:p>
                      <a:r>
                        <a:rPr sz="1550" b="1">
                          <a:solidFill>
                            <a:srgbClr val="6E1120"/>
                          </a:solidFill>
                          <a:latin typeface="Calibri"/>
                        </a:rPr>
                        <a:t>Sign-in</a:t>
                      </a:r>
                    </a:p>
                  </a:txBody>
                  <a:tcPr marL="82296" marR="64008" marT="32004" marB="32004" anchor="ctr">
                    <a:solidFill>
                      <a:srgbClr val="F7F5F2"/>
                    </a:solidFill>
                  </a:tcPr>
                </a:tc>
                <a:tc>
                  <a:txBody>
                    <a:bodyPr wrap="square"/>
                    <a:lstStyle/>
                    <a:p>
                      <a:r>
                        <a:rPr sz="1550" b="0">
                          <a:solidFill>
                            <a:srgbClr val="1A1A1A"/>
                          </a:solidFill>
                          <a:latin typeface="Calibri"/>
                        </a:rPr>
                        <a:t>Per-IP throttling and account lockout</a:t>
                      </a:r>
                    </a:p>
                  </a:txBody>
                  <a:tcPr marL="82296" marR="64008" marT="32004" marB="32004" anchor="ctr">
                    <a:solidFill>
                      <a:srgbClr val="F7F5F2"/>
                    </a:solidFill>
                  </a:tcPr>
                </a:tc>
                <a:tc>
                  <a:txBody>
                    <a:bodyPr wrap="square"/>
                    <a:lstStyle/>
                    <a:p>
                      <a:r>
                        <a:rPr sz="1550" b="0">
                          <a:solidFill>
                            <a:srgbClr val="1A1A1A"/>
                          </a:solidFill>
                          <a:latin typeface="Calibri"/>
                        </a:rPr>
                        <a:t>Password guessing</a:t>
                      </a:r>
                    </a:p>
                  </a:txBody>
                  <a:tcPr marL="82296" marR="64008" marT="32004" marB="32004" anchor="ctr">
                    <a:solidFill>
                      <a:srgbClr val="F7F5F2"/>
                    </a:solidFill>
                  </a:tcPr>
                </a:tc>
              </a:tr>
              <a:tr h="358743">
                <a:tc>
                  <a:txBody>
                    <a:bodyPr wrap="square"/>
                    <a:lstStyle/>
                    <a:p>
                      <a:r>
                        <a:rPr sz="1550" b="1">
                          <a:solidFill>
                            <a:srgbClr val="6E1120"/>
                          </a:solidFill>
                          <a:latin typeface="Calibri"/>
                        </a:rPr>
                        <a:t>Code</a:t>
                      </a:r>
                    </a:p>
                  </a:txBody>
                  <a:tcPr marL="82296" marR="64008" marT="32004" marB="32004" anchor="ctr">
                    <a:solidFill>
                      <a:srgbClr val="FFFFFF"/>
                    </a:solidFill>
                  </a:tcPr>
                </a:tc>
                <a:tc>
                  <a:txBody>
                    <a:bodyPr wrap="square"/>
                    <a:lstStyle/>
                    <a:p>
                      <a:r>
                        <a:rPr sz="1550" b="0">
                          <a:solidFill>
                            <a:srgbClr val="1A1A1A"/>
                          </a:solidFill>
                          <a:latin typeface="Calibri"/>
                        </a:rPr>
                        <a:t>Studio code and scripts in a per-call sandbox</a:t>
                      </a:r>
                    </a:p>
                  </a:txBody>
                  <a:tcPr marL="82296" marR="64008" marT="32004" marB="32004" anchor="ctr">
                    <a:solidFill>
                      <a:srgbClr val="FFFFFF"/>
                    </a:solidFill>
                  </a:tcPr>
                </a:tc>
                <a:tc>
                  <a:txBody>
                    <a:bodyPr wrap="square"/>
                    <a:lstStyle/>
                    <a:p>
                      <a:r>
                        <a:rPr sz="1550" b="0">
                          <a:solidFill>
                            <a:srgbClr val="1A1A1A"/>
                          </a:solidFill>
                          <a:latin typeface="Calibri"/>
                        </a:rPr>
                        <a:t>Untrusted code</a:t>
                      </a:r>
                    </a:p>
                  </a:txBody>
                  <a:tcPr marL="82296" marR="64008" marT="32004" marB="32004" anchor="ctr">
                    <a:solidFill>
                      <a:srgbClr val="FFFFFF"/>
                    </a:solidFill>
                  </a:tcPr>
                </a:tc>
              </a:tr>
              <a:tr h="358743">
                <a:tc>
                  <a:txBody>
                    <a:bodyPr wrap="square"/>
                    <a:lstStyle/>
                    <a:p>
                      <a:r>
                        <a:rPr sz="1550" b="1">
                          <a:solidFill>
                            <a:srgbClr val="6E1120"/>
                          </a:solidFill>
                          <a:latin typeface="Calibri"/>
                        </a:rPr>
                        <a:t>Record</a:t>
                      </a:r>
                    </a:p>
                  </a:txBody>
                  <a:tcPr marL="82296" marR="64008" marT="32004" marB="32004" anchor="ctr">
                    <a:solidFill>
                      <a:srgbClr val="F7F5F2"/>
                    </a:solidFill>
                  </a:tcPr>
                </a:tc>
                <a:tc>
                  <a:txBody>
                    <a:bodyPr wrap="square"/>
                    <a:lstStyle/>
                    <a:p>
                      <a:r>
                        <a:rPr sz="1550" b="0">
                          <a:solidFill>
                            <a:srgbClr val="1A1A1A"/>
                          </a:solidFill>
                          <a:latin typeface="Calibri"/>
                        </a:rPr>
                        <a:t>Hash-chained, signed audit; SIEM export</a:t>
                      </a:r>
                    </a:p>
                  </a:txBody>
                  <a:tcPr marL="82296" marR="64008" marT="32004" marB="32004" anchor="ctr">
                    <a:solidFill>
                      <a:srgbClr val="F7F5F2"/>
                    </a:solidFill>
                  </a:tcPr>
                </a:tc>
                <a:tc>
                  <a:txBody>
                    <a:bodyPr wrap="square"/>
                    <a:lstStyle/>
                    <a:p>
                      <a:r>
                        <a:rPr sz="1550" b="0">
                          <a:solidFill>
                            <a:srgbClr val="1A1A1A"/>
                          </a:solidFill>
                          <a:latin typeface="Calibri"/>
                        </a:rPr>
                        <a:t>Undetected tampering</a:t>
                      </a:r>
                    </a:p>
                  </a:txBody>
                  <a:tcPr marL="82296" marR="64008" marT="32004" marB="32004" anchor="ctr">
                    <a:solidFill>
                      <a:srgbClr val="F7F5F2"/>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AUTHENTICATION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Four ways to prove who is calling, and one access policy behind them</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 credential that fails is refused, never treated as anonymous. Every SAJHA JWT can be revoked before it expires: sign out, or sign out everywhere.</a:t>
            </a:r>
          </a:p>
        </p:txBody>
      </p:sp>
      <p:sp>
        <p:nvSpPr>
          <p:cNvPr id="19" name="Rounded Rectangle 18"/>
          <p:cNvSpPr/>
          <p:nvPr/>
        </p:nvSpPr>
        <p:spPr>
          <a:xfrm>
            <a:off x="777240" y="1306639"/>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person in the console</a:t>
            </a:r>
          </a:p>
          <a:p>
            <a:pPr algn="ctr">
              <a:lnSpc>
                <a:spcPct val="105000"/>
              </a:lnSpc>
              <a:spcBef>
                <a:spcPts val="0"/>
              </a:spcBef>
              <a:spcAft>
                <a:spcPts val="0"/>
              </a:spcAft>
            </a:pPr>
            <a:r>
              <a:rPr sz="1050" b="0" i="0">
                <a:solidFill>
                  <a:srgbClr val="1A1A1A"/>
                </a:solidFill>
                <a:latin typeface="Calibri"/>
              </a:rPr>
              <a:t>sign-in form or single sign-on: the sajha_token cookie</a:t>
            </a:r>
          </a:p>
        </p:txBody>
      </p:sp>
      <p:sp>
        <p:nvSpPr>
          <p:cNvPr id="20" name="Rounded Rectangle 19"/>
          <p:cNvSpPr/>
          <p:nvPr/>
        </p:nvSpPr>
        <p:spPr>
          <a:xfrm>
            <a:off x="777240" y="2443303"/>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script with a password</a:t>
            </a:r>
          </a:p>
          <a:p>
            <a:pPr algn="ctr">
              <a:lnSpc>
                <a:spcPct val="105000"/>
              </a:lnSpc>
              <a:spcBef>
                <a:spcPts val="0"/>
              </a:spcBef>
              <a:spcAft>
                <a:spcPts val="0"/>
              </a:spcAft>
            </a:pPr>
            <a:r>
              <a:rPr sz="1050" b="0" i="0">
                <a:solidFill>
                  <a:srgbClr val="1A1A1A"/>
                </a:solidFill>
                <a:latin typeface="Calibri"/>
              </a:rPr>
              <a:t>POST /api/auth/login: a SAJHA JWT</a:t>
            </a:r>
          </a:p>
        </p:txBody>
      </p:sp>
      <p:sp>
        <p:nvSpPr>
          <p:cNvPr id="21" name="Rounded Rectangle 20"/>
          <p:cNvSpPr/>
          <p:nvPr/>
        </p:nvSpPr>
        <p:spPr>
          <a:xfrm>
            <a:off x="777240" y="3579967"/>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 automation</a:t>
            </a:r>
          </a:p>
          <a:p>
            <a:pPr algn="ctr">
              <a:lnSpc>
                <a:spcPct val="105000"/>
              </a:lnSpc>
              <a:spcBef>
                <a:spcPts val="0"/>
              </a:spcBef>
              <a:spcAft>
                <a:spcPts val="0"/>
              </a:spcAft>
            </a:pPr>
            <a:r>
              <a:rPr sz="1050" b="0" i="0">
                <a:solidFill>
                  <a:srgbClr val="1A1A1A"/>
                </a:solidFill>
                <a:latin typeface="Calibri"/>
              </a:rPr>
              <a:t>an API key sja_… from an administrator or its owner</a:t>
            </a:r>
          </a:p>
        </p:txBody>
      </p:sp>
      <p:sp>
        <p:nvSpPr>
          <p:cNvPr id="22" name="Rounded Rectangle 21"/>
          <p:cNvSpPr/>
          <p:nvPr/>
        </p:nvSpPr>
        <p:spPr>
          <a:xfrm>
            <a:off x="777240" y="4716631"/>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 OAuth client</a:t>
            </a:r>
          </a:p>
          <a:p>
            <a:pPr algn="ctr">
              <a:lnSpc>
                <a:spcPct val="105000"/>
              </a:lnSpc>
              <a:spcBef>
                <a:spcPts val="0"/>
              </a:spcBef>
              <a:spcAft>
                <a:spcPts val="0"/>
              </a:spcAft>
            </a:pPr>
            <a:r>
              <a:rPr sz="1050" b="0" i="0">
                <a:solidFill>
                  <a:srgbClr val="1A1A1A"/>
                </a:solidFill>
                <a:latin typeface="Calibri"/>
              </a:rPr>
              <a:t>an access token, MCP endpoints only</a:t>
            </a:r>
          </a:p>
        </p:txBody>
      </p:sp>
      <p:sp>
        <p:nvSpPr>
          <p:cNvPr id="23" name="Rounded Rectangle 22"/>
          <p:cNvSpPr/>
          <p:nvPr/>
        </p:nvSpPr>
        <p:spPr>
          <a:xfrm>
            <a:off x="4606637" y="1568946"/>
            <a:ext cx="2552931" cy="2535635"/>
          </a:xfrm>
          <a:prstGeom prst="roundRect">
            <a:avLst>
              <a:gd name="adj" fmla="val 288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authenticate_request</a:t>
            </a:r>
          </a:p>
          <a:p>
            <a:pPr algn="ctr">
              <a:lnSpc>
                <a:spcPct val="105000"/>
              </a:lnSpc>
              <a:spcBef>
                <a:spcPts val="0"/>
              </a:spcBef>
              <a:spcAft>
                <a:spcPts val="0"/>
              </a:spcAft>
            </a:pPr>
            <a:r>
              <a:rPr sz="1150" b="0" i="0">
                <a:solidFill>
                  <a:srgbClr val="FFFFFF"/>
                </a:solidFill>
                <a:latin typeface="Calibri"/>
              </a:rPr>
              <a:t>tried in order: 1 Bearer JWT, 2 X-API-Key, 3 Authorization: sja_…, 4 the cookie</a:t>
            </a:r>
          </a:p>
        </p:txBody>
      </p:sp>
      <p:sp>
        <p:nvSpPr>
          <p:cNvPr id="24" name="Rounded Rectangle 23"/>
          <p:cNvSpPr/>
          <p:nvPr/>
        </p:nvSpPr>
        <p:spPr>
          <a:xfrm>
            <a:off x="4606637" y="4629195"/>
            <a:ext cx="2552931" cy="961792"/>
          </a:xfrm>
          <a:prstGeom prst="roundRect">
            <a:avLst>
              <a:gd name="adj" fmla="val 760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Resource server on /mcp</a:t>
            </a:r>
          </a:p>
          <a:p>
            <a:pPr algn="ctr">
              <a:lnSpc>
                <a:spcPct val="105000"/>
              </a:lnSpc>
              <a:spcBef>
                <a:spcPts val="0"/>
              </a:spcBef>
              <a:spcAft>
                <a:spcPts val="0"/>
              </a:spcAft>
            </a:pPr>
            <a:r>
              <a:rPr sz="1050" b="0" i="0">
                <a:solidFill>
                  <a:srgbClr val="1A1A1A"/>
                </a:solidFill>
                <a:latin typeface="Calibri"/>
              </a:rPr>
              <a:t>issuer, audience, expiry, scope</a:t>
            </a:r>
          </a:p>
        </p:txBody>
      </p:sp>
      <p:sp>
        <p:nvSpPr>
          <p:cNvPr id="25" name="Rounded Rectangle 24"/>
          <p:cNvSpPr/>
          <p:nvPr/>
        </p:nvSpPr>
        <p:spPr>
          <a:xfrm>
            <a:off x="8116918" y="2618174"/>
            <a:ext cx="1595582" cy="1748713"/>
          </a:xfrm>
          <a:prstGeom prst="roundRect">
            <a:avLst>
              <a:gd name="adj" fmla="val 458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One access policy</a:t>
            </a:r>
          </a:p>
          <a:p>
            <a:pPr algn="ctr">
              <a:lnSpc>
                <a:spcPct val="105000"/>
              </a:lnSpc>
              <a:spcBef>
                <a:spcPts val="0"/>
              </a:spcBef>
              <a:spcAft>
                <a:spcPts val="0"/>
              </a:spcAft>
            </a:pPr>
            <a:r>
              <a:rPr sz="1150" b="0" i="0">
                <a:solidFill>
                  <a:srgbClr val="FFFFFF"/>
                </a:solidFill>
                <a:latin typeface="Calibri"/>
              </a:rPr>
              <a:t>sajha/auth/access.py: roles' patterns or the key's mode</a:t>
            </a:r>
          </a:p>
        </p:txBody>
      </p:sp>
      <p:sp>
        <p:nvSpPr>
          <p:cNvPr id="26" name="Oval 25"/>
          <p:cNvSpPr/>
          <p:nvPr/>
        </p:nvSpPr>
        <p:spPr>
          <a:xfrm>
            <a:off x="10244361" y="3055353"/>
            <a:ext cx="1170093" cy="87435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a:t>
            </a:r>
          </a:p>
        </p:txBody>
      </p:sp>
      <p:cxnSp>
        <p:nvCxnSpPr>
          <p:cNvPr id="27" name="Connector 26"/>
          <p:cNvCxnSpPr/>
          <p:nvPr/>
        </p:nvCxnSpPr>
        <p:spPr>
          <a:xfrm>
            <a:off x="3527266" y="2107087"/>
            <a:ext cx="1035698" cy="32078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95008" y="2836764"/>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527266" y="3245652"/>
            <a:ext cx="1035698" cy="32078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695008" y="5110092"/>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4255" y="3122542"/>
            <a:ext cx="867976" cy="1877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6824728" y="3939728"/>
            <a:ext cx="1251853" cy="667945"/>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758220" y="349253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OAUTH 2.1</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OAuth 2.1 on /mcp: SAJHA's own authorization server, or yours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Off by default (mcp.auth.mode: off, optional or required); API keys and SAJHA's own tokens work in every mode. OAuth here controls who may call /mcp; console sign-in is separate.</a:t>
            </a:r>
          </a:p>
        </p:txBody>
      </p:sp>
      <p:sp>
        <p:nvSpPr>
          <p:cNvPr id="19" name="Oval 18"/>
          <p:cNvSpPr/>
          <p:nvPr/>
        </p:nvSpPr>
        <p:spPr>
          <a:xfrm>
            <a:off x="777240" y="2901045"/>
            <a:ext cx="1701954" cy="104151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a:t>
            </a:r>
          </a:p>
        </p:txBody>
      </p:sp>
      <p:sp>
        <p:nvSpPr>
          <p:cNvPr id="20" name="Rounded Rectangle 19"/>
          <p:cNvSpPr/>
          <p:nvPr/>
        </p:nvSpPr>
        <p:spPr>
          <a:xfrm>
            <a:off x="4606637" y="1338770"/>
            <a:ext cx="3191164" cy="1041516"/>
          </a:xfrm>
          <a:prstGeom prst="roundRect">
            <a:avLst>
              <a:gd name="adj" fmla="val 7023"/>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Authorization server</a:t>
            </a:r>
          </a:p>
          <a:p>
            <a:pPr algn="ctr">
              <a:lnSpc>
                <a:spcPct val="105000"/>
              </a:lnSpc>
              <a:spcBef>
                <a:spcPts val="0"/>
              </a:spcBef>
              <a:spcAft>
                <a:spcPts val="0"/>
              </a:spcAft>
            </a:pPr>
            <a:r>
              <a:rPr sz="1150" b="0" i="0">
                <a:solidFill>
                  <a:srgbClr val="FFFFFF"/>
                </a:solidFill>
                <a:latin typeface="Calibri"/>
              </a:rPr>
              <a:t>SAJHA's own, or your identity provider: PKCE S256, rotating refresh tokens</a:t>
            </a:r>
          </a:p>
        </p:txBody>
      </p:sp>
      <p:sp>
        <p:nvSpPr>
          <p:cNvPr id="21" name="Rounded Rectangle 20"/>
          <p:cNvSpPr/>
          <p:nvPr/>
        </p:nvSpPr>
        <p:spPr>
          <a:xfrm>
            <a:off x="4606637" y="4376527"/>
            <a:ext cx="3191164" cy="1041516"/>
          </a:xfrm>
          <a:prstGeom prst="roundRect">
            <a:avLst>
              <a:gd name="adj" fmla="val 702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Resource server: SAJHA /mcp</a:t>
            </a:r>
          </a:p>
          <a:p>
            <a:pPr algn="ctr">
              <a:lnSpc>
                <a:spcPct val="105000"/>
              </a:lnSpc>
              <a:spcBef>
                <a:spcPts val="0"/>
              </a:spcBef>
              <a:spcAft>
                <a:spcPts val="0"/>
              </a:spcAft>
            </a:pPr>
            <a:r>
              <a:rPr sz="1150" b="0" i="0">
                <a:solidFill>
                  <a:srgbClr val="FFFFFF"/>
                </a:solidFill>
                <a:latin typeface="Calibri"/>
              </a:rPr>
              <a:t>audience-bound tokens; scopes mcp:read, mcp:tools</a:t>
            </a:r>
          </a:p>
        </p:txBody>
      </p:sp>
      <p:sp>
        <p:nvSpPr>
          <p:cNvPr id="22" name="Oval 21"/>
          <p:cNvSpPr/>
          <p:nvPr/>
        </p:nvSpPr>
        <p:spPr>
          <a:xfrm>
            <a:off x="9499756" y="1425563"/>
            <a:ext cx="1701954" cy="867930"/>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user</a:t>
            </a:r>
          </a:p>
          <a:p>
            <a:pPr algn="ctr">
              <a:lnSpc>
                <a:spcPct val="105000"/>
              </a:lnSpc>
              <a:spcBef>
                <a:spcPts val="0"/>
              </a:spcBef>
              <a:spcAft>
                <a:spcPts val="0"/>
              </a:spcAft>
            </a:pPr>
            <a:r>
              <a:rPr sz="1050" b="0" i="0">
                <a:solidFill>
                  <a:srgbClr val="1A1A1A"/>
                </a:solidFill>
                <a:latin typeface="Calibri"/>
              </a:rPr>
              <a:t>signs in and consents</a:t>
            </a:r>
          </a:p>
        </p:txBody>
      </p:sp>
      <p:sp>
        <p:nvSpPr>
          <p:cNvPr id="23" name="Rounded Rectangle 22"/>
          <p:cNvSpPr/>
          <p:nvPr/>
        </p:nvSpPr>
        <p:spPr>
          <a:xfrm>
            <a:off x="9180640" y="4463321"/>
            <a:ext cx="2233815" cy="867930"/>
          </a:xfrm>
          <a:prstGeom prst="roundRect">
            <a:avLst>
              <a:gd name="adj" fmla="val 842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then the user's tool access</a:t>
            </a:r>
          </a:p>
          <a:p>
            <a:pPr algn="ctr">
              <a:lnSpc>
                <a:spcPct val="105000"/>
              </a:lnSpc>
              <a:spcBef>
                <a:spcPts val="0"/>
              </a:spcBef>
              <a:spcAft>
                <a:spcPts val="0"/>
              </a:spcAft>
            </a:pPr>
            <a:r>
              <a:rPr sz="1050" b="0" i="0">
                <a:solidFill>
                  <a:srgbClr val="1A1A1A"/>
                </a:solidFill>
                <a:latin typeface="Calibri"/>
              </a:rPr>
              <a:t>as for any caller</a:t>
            </a:r>
          </a:p>
        </p:txBody>
      </p:sp>
      <p:cxnSp>
        <p:nvCxnSpPr>
          <p:cNvPr id="24" name="Connector 23"/>
          <p:cNvCxnSpPr/>
          <p:nvPr/>
        </p:nvCxnSpPr>
        <p:spPr>
          <a:xfrm flipH="1">
            <a:off x="1628217" y="4897286"/>
            <a:ext cx="2932700"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628217" y="3988282"/>
            <a:ext cx="0" cy="909004"/>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920325" y="4659542"/>
            <a:ext cx="2348484"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1  no token: 401 and metadata</a:t>
            </a:r>
          </a:p>
        </p:txBody>
      </p:sp>
      <p:cxnSp>
        <p:nvCxnSpPr>
          <p:cNvPr id="27" name="Connector 26"/>
          <p:cNvCxnSpPr/>
          <p:nvPr/>
        </p:nvCxnSpPr>
        <p:spPr>
          <a:xfrm flipV="1">
            <a:off x="2414554" y="2395065"/>
            <a:ext cx="2219732" cy="75816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53482" y="2490681"/>
            <a:ext cx="3244596"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2  authorize with PKCE; 3  code for token</a:t>
            </a:r>
          </a:p>
        </p:txBody>
      </p:sp>
      <p:cxnSp>
        <p:nvCxnSpPr>
          <p:cNvPr id="29" name="Connector 28"/>
          <p:cNvCxnSpPr/>
          <p:nvPr/>
        </p:nvCxnSpPr>
        <p:spPr>
          <a:xfrm>
            <a:off x="7843522" y="1859528"/>
            <a:ext cx="1610514" cy="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522658" y="3435989"/>
            <a:ext cx="2838306" cy="9263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58981" y="3752862"/>
            <a:ext cx="1303020"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4  Bearer token</a:t>
            </a:r>
          </a:p>
        </p:txBody>
      </p:sp>
      <p:cxnSp>
        <p:nvCxnSpPr>
          <p:cNvPr id="32" name="Connector 31"/>
          <p:cNvCxnSpPr/>
          <p:nvPr/>
        </p:nvCxnSpPr>
        <p:spPr>
          <a:xfrm>
            <a:off x="7843522" y="4897286"/>
            <a:ext cx="129139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CREDENTIALS, SIGN-IN AND THE BROWSER</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Where credentials live, and how sign-in and the browser are guarded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35</a:t>
            </a:r>
          </a:p>
        </p:txBody>
      </p:sp>
      <p:sp>
        <p:nvSpPr>
          <p:cNvPr id="17" name="Rectangle 16"/>
          <p:cNvSpPr/>
          <p:nvPr/>
        </p:nvSpPr>
        <p:spPr>
          <a:xfrm>
            <a:off x="777240" y="1306639"/>
            <a:ext cx="4148513"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392905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CREDENTIALS: USERS / API KEYS</a:t>
            </a:r>
          </a:p>
        </p:txBody>
      </p:sp>
      <p:sp>
        <p:nvSpPr>
          <p:cNvPr id="19" name="Rectangle 18"/>
          <p:cNvSpPr/>
          <p:nvPr/>
        </p:nvSpPr>
        <p:spPr>
          <a:xfrm>
            <a:off x="5191684" y="1306639"/>
            <a:ext cx="2127443"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370647"/>
            <a:ext cx="190798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SIGN-IN</a:t>
            </a:r>
          </a:p>
        </p:txBody>
      </p:sp>
      <p:sp>
        <p:nvSpPr>
          <p:cNvPr id="21" name="Rectangle 20"/>
          <p:cNvSpPr/>
          <p:nvPr/>
        </p:nvSpPr>
        <p:spPr>
          <a:xfrm>
            <a:off x="9233826" y="1306639"/>
            <a:ext cx="2180629"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43554" y="1370647"/>
            <a:ext cx="19611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BROWSER AND TRANSPORT</a:t>
            </a:r>
          </a:p>
        </p:txBody>
      </p:sp>
      <p:sp>
        <p:nvSpPr>
          <p:cNvPr id="23" name="Rounded Rectangle 22"/>
          <p:cNvSpPr/>
          <p:nvPr/>
        </p:nvSpPr>
        <p:spPr>
          <a:xfrm>
            <a:off x="936798"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config/users.json</a:t>
            </a:r>
          </a:p>
          <a:p>
            <a:pPr algn="ctr">
              <a:lnSpc>
                <a:spcPct val="105000"/>
              </a:lnSpc>
              <a:spcBef>
                <a:spcPts val="0"/>
              </a:spcBef>
              <a:spcAft>
                <a:spcPts val="0"/>
              </a:spcAft>
            </a:pPr>
            <a:r>
              <a:rPr sz="950" b="0" i="0">
                <a:solidFill>
                  <a:srgbClr val="1A1A1A"/>
                </a:solidFill>
                <a:latin typeface="Calibri"/>
              </a:rPr>
              <a:t>wins: applied at start and on change</a:t>
            </a:r>
          </a:p>
        </p:txBody>
      </p:sp>
      <p:sp>
        <p:nvSpPr>
          <p:cNvPr id="24" name="Rounded Rectangle 23"/>
          <p:cNvSpPr/>
          <p:nvPr/>
        </p:nvSpPr>
        <p:spPr>
          <a:xfrm>
            <a:off x="936798" y="2936414"/>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users table</a:t>
            </a:r>
          </a:p>
          <a:p>
            <a:pPr algn="ctr">
              <a:lnSpc>
                <a:spcPct val="105000"/>
              </a:lnSpc>
              <a:spcBef>
                <a:spcPts val="0"/>
              </a:spcBef>
              <a:spcAft>
                <a:spcPts val="0"/>
              </a:spcAft>
            </a:pPr>
            <a:r>
              <a:rPr sz="950" b="0" i="0">
                <a:solidFill>
                  <a:srgbClr val="1A1A1A"/>
                </a:solidFill>
                <a:latin typeface="Calibri"/>
              </a:rPr>
              <a:t>everything else</a:t>
            </a:r>
          </a:p>
        </p:txBody>
      </p:sp>
      <p:sp>
        <p:nvSpPr>
          <p:cNvPr id="25" name="Rounded Rectangle 24"/>
          <p:cNvSpPr/>
          <p:nvPr/>
        </p:nvSpPr>
        <p:spPr>
          <a:xfrm>
            <a:off x="2957869"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config/apikeys.json</a:t>
            </a:r>
          </a:p>
          <a:p>
            <a:pPr algn="ctr">
              <a:lnSpc>
                <a:spcPct val="105000"/>
              </a:lnSpc>
              <a:spcBef>
                <a:spcPts val="0"/>
              </a:spcBef>
              <a:spcAft>
                <a:spcPts val="0"/>
              </a:spcAft>
            </a:pPr>
            <a:r>
              <a:rPr sz="950" b="0" i="0">
                <a:solidFill>
                  <a:srgbClr val="1A1A1A"/>
                </a:solidFill>
                <a:latin typeface="Calibri"/>
              </a:rPr>
              <a:t>wins: checked first</a:t>
            </a:r>
          </a:p>
        </p:txBody>
      </p:sp>
      <p:sp>
        <p:nvSpPr>
          <p:cNvPr id="26" name="Rounded Rectangle 25"/>
          <p:cNvSpPr/>
          <p:nvPr/>
        </p:nvSpPr>
        <p:spPr>
          <a:xfrm>
            <a:off x="2957869" y="2936414"/>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database</a:t>
            </a:r>
          </a:p>
          <a:p>
            <a:pPr algn="ctr">
              <a:lnSpc>
                <a:spcPct val="105000"/>
              </a:lnSpc>
              <a:spcBef>
                <a:spcPts val="0"/>
              </a:spcBef>
              <a:spcAft>
                <a:spcPts val="0"/>
              </a:spcAft>
            </a:pPr>
            <a:r>
              <a:rPr sz="950" b="0" i="0">
                <a:solidFill>
                  <a:srgbClr val="1A1A1A"/>
                </a:solidFill>
                <a:latin typeface="Calibri"/>
              </a:rPr>
              <a:t>validated on every request</a:t>
            </a:r>
          </a:p>
        </p:txBody>
      </p:sp>
      <p:sp>
        <p:nvSpPr>
          <p:cNvPr id="27" name="Rounded Rectangle 26"/>
          <p:cNvSpPr/>
          <p:nvPr/>
        </p:nvSpPr>
        <p:spPr>
          <a:xfrm>
            <a:off x="2957869" y="4072318"/>
            <a:ext cx="1808326" cy="839581"/>
          </a:xfrm>
          <a:prstGeom prst="roundRect">
            <a:avLst>
              <a:gd name="adj" fmla="val 871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1" i="0">
                <a:solidFill>
                  <a:srgbClr val="1A1A1A"/>
                </a:solidFill>
                <a:latin typeface="Calibri"/>
              </a:rPr>
              <a:t>config/apikeys_db.json</a:t>
            </a:r>
          </a:p>
          <a:p>
            <a:pPr algn="ctr">
              <a:lnSpc>
                <a:spcPct val="105000"/>
              </a:lnSpc>
              <a:spcBef>
                <a:spcPts val="0"/>
              </a:spcBef>
              <a:spcAft>
                <a:spcPts val="0"/>
              </a:spcAft>
            </a:pPr>
            <a:r>
              <a:rPr sz="800" b="0" i="0">
                <a:solidFill>
                  <a:srgbClr val="1A1A1A"/>
                </a:solidFill>
                <a:latin typeface="Calibri"/>
              </a:rPr>
              <a:t>last: only if the database cannot answer</a:t>
            </a:r>
          </a:p>
        </p:txBody>
      </p:sp>
      <p:sp>
        <p:nvSpPr>
          <p:cNvPr id="28" name="Rounded Rectangle 27"/>
          <p:cNvSpPr/>
          <p:nvPr/>
        </p:nvSpPr>
        <p:spPr>
          <a:xfrm>
            <a:off x="936798" y="5208222"/>
            <a:ext cx="3829397" cy="938355"/>
          </a:xfrm>
          <a:prstGeom prst="roundRect">
            <a:avLst>
              <a:gd name="adj" fmla="val 7795"/>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Stored plain by default</a:t>
            </a:r>
          </a:p>
          <a:p>
            <a:pPr algn="ctr">
              <a:lnSpc>
                <a:spcPct val="105000"/>
              </a:lnSpc>
              <a:spcBef>
                <a:spcPts val="0"/>
              </a:spcBef>
              <a:spcAft>
                <a:spcPts val="0"/>
              </a:spcAft>
            </a:pPr>
            <a:r>
              <a:rPr sz="1050" b="0" i="0">
                <a:solidFill>
                  <a:srgbClr val="1A1A1A"/>
                </a:solidFill>
                <a:latin typeface="Calibri"/>
              </a:rPr>
              <a:t>the owner's decision for intranet use; set hashed and run python -m sajha.auth rehash to switch</a:t>
            </a:r>
          </a:p>
        </p:txBody>
      </p:sp>
      <p:sp>
        <p:nvSpPr>
          <p:cNvPr id="29" name="Rounded Rectangle 28"/>
          <p:cNvSpPr/>
          <p:nvPr/>
        </p:nvSpPr>
        <p:spPr>
          <a:xfrm>
            <a:off x="5351242"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Single sign-on</a:t>
            </a:r>
          </a:p>
          <a:p>
            <a:pPr algn="ctr">
              <a:lnSpc>
                <a:spcPct val="105000"/>
              </a:lnSpc>
              <a:spcBef>
                <a:spcPts val="0"/>
              </a:spcBef>
              <a:spcAft>
                <a:spcPts val="0"/>
              </a:spcAft>
            </a:pPr>
            <a:r>
              <a:rPr sz="950" b="0" i="0">
                <a:solidFill>
                  <a:srgbClr val="1A1A1A"/>
                </a:solidFill>
                <a:latin typeface="Calibri"/>
              </a:rPr>
              <a:t>OpenID Connect, beside passwords</a:t>
            </a:r>
          </a:p>
        </p:txBody>
      </p:sp>
      <p:sp>
        <p:nvSpPr>
          <p:cNvPr id="30" name="Rounded Rectangle 29"/>
          <p:cNvSpPr/>
          <p:nvPr/>
        </p:nvSpPr>
        <p:spPr>
          <a:xfrm>
            <a:off x="5351242" y="2788253"/>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Revocable sessions</a:t>
            </a:r>
          </a:p>
          <a:p>
            <a:pPr algn="ctr">
              <a:lnSpc>
                <a:spcPct val="105000"/>
              </a:lnSpc>
              <a:spcBef>
                <a:spcPts val="0"/>
              </a:spcBef>
              <a:spcAft>
                <a:spcPts val="0"/>
              </a:spcAft>
            </a:pPr>
            <a:r>
              <a:rPr sz="950" b="0" i="0">
                <a:solidFill>
                  <a:srgbClr val="1A1A1A"/>
                </a:solidFill>
                <a:latin typeface="Calibri"/>
              </a:rPr>
              <a:t>sign out; sign out everywhere</a:t>
            </a:r>
          </a:p>
        </p:txBody>
      </p:sp>
      <p:sp>
        <p:nvSpPr>
          <p:cNvPr id="31" name="Rounded Rectangle 30"/>
          <p:cNvSpPr/>
          <p:nvPr/>
        </p:nvSpPr>
        <p:spPr>
          <a:xfrm>
            <a:off x="5351242" y="3775995"/>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1" i="0">
                <a:solidFill>
                  <a:srgbClr val="1A1A1A"/>
                </a:solidFill>
                <a:latin typeface="Calibri"/>
              </a:rPr>
              <a:t>Throttle and lockout</a:t>
            </a:r>
          </a:p>
          <a:p>
            <a:pPr algn="ctr">
              <a:lnSpc>
                <a:spcPct val="105000"/>
              </a:lnSpc>
              <a:spcBef>
                <a:spcPts val="0"/>
              </a:spcBef>
              <a:spcAft>
                <a:spcPts val="0"/>
              </a:spcAft>
            </a:pPr>
            <a:r>
              <a:rPr sz="900" b="0" i="0">
                <a:solidFill>
                  <a:srgbClr val="1A1A1A"/>
                </a:solidFill>
                <a:latin typeface="Calibri"/>
              </a:rPr>
              <a:t>per address and per account</a:t>
            </a:r>
          </a:p>
        </p:txBody>
      </p:sp>
      <p:sp>
        <p:nvSpPr>
          <p:cNvPr id="32" name="Rounded Rectangle 31"/>
          <p:cNvSpPr/>
          <p:nvPr/>
        </p:nvSpPr>
        <p:spPr>
          <a:xfrm>
            <a:off x="5351242" y="4862512"/>
            <a:ext cx="1808326" cy="987742"/>
          </a:xfrm>
          <a:prstGeom prst="roundRect">
            <a:avLst>
              <a:gd name="adj" fmla="val 7405"/>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Test admin key</a:t>
            </a:r>
          </a:p>
          <a:p>
            <a:pPr algn="ctr">
              <a:lnSpc>
                <a:spcPct val="105000"/>
              </a:lnSpc>
              <a:spcBef>
                <a:spcPts val="0"/>
              </a:spcBef>
              <a:spcAft>
                <a:spcPts val="0"/>
              </a:spcAft>
            </a:pPr>
            <a:r>
              <a:rPr sz="950" b="0" i="0">
                <a:solidFill>
                  <a:srgbClr val="1A1A1A"/>
                </a:solidFill>
                <a:latin typeface="Calibri"/>
              </a:rPr>
              <a:t>ships on: a critical notice shows while it is active</a:t>
            </a:r>
          </a:p>
        </p:txBody>
      </p:sp>
      <p:sp>
        <p:nvSpPr>
          <p:cNvPr id="33" name="Rounded Rectangle 32"/>
          <p:cNvSpPr/>
          <p:nvPr/>
        </p:nvSpPr>
        <p:spPr>
          <a:xfrm>
            <a:off x="9393384"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1A1A1A"/>
                </a:solidFill>
                <a:latin typeface="Calibri"/>
              </a:rPr>
              <a:t>Content-Security-Policy</a:t>
            </a:r>
          </a:p>
          <a:p>
            <a:pPr algn="ctr">
              <a:lnSpc>
                <a:spcPct val="105000"/>
              </a:lnSpc>
              <a:spcBef>
                <a:spcPts val="0"/>
              </a:spcBef>
              <a:spcAft>
                <a:spcPts val="0"/>
              </a:spcAft>
            </a:pPr>
            <a:r>
              <a:rPr sz="750" b="0" i="0">
                <a:solidFill>
                  <a:srgbClr val="1A1A1A"/>
                </a:solidFill>
                <a:latin typeface="Calibri"/>
              </a:rPr>
              <a:t>scripts only with a per-response nonce</a:t>
            </a:r>
          </a:p>
        </p:txBody>
      </p:sp>
      <p:sp>
        <p:nvSpPr>
          <p:cNvPr id="34" name="Rounded Rectangle 33"/>
          <p:cNvSpPr/>
          <p:nvPr/>
        </p:nvSpPr>
        <p:spPr>
          <a:xfrm>
            <a:off x="9393384" y="2788253"/>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Cross-site check</a:t>
            </a:r>
          </a:p>
          <a:p>
            <a:pPr algn="ctr">
              <a:lnSpc>
                <a:spcPct val="105000"/>
              </a:lnSpc>
              <a:spcBef>
                <a:spcPts val="0"/>
              </a:spcBef>
              <a:spcAft>
                <a:spcPts val="0"/>
              </a:spcAft>
            </a:pPr>
            <a:r>
              <a:rPr sz="950" b="0" i="0">
                <a:solidFill>
                  <a:srgbClr val="1A1A1A"/>
                </a:solidFill>
                <a:latin typeface="Calibri"/>
              </a:rPr>
              <a:t>cookie requests from another site refused</a:t>
            </a:r>
          </a:p>
        </p:txBody>
      </p:sp>
      <p:sp>
        <p:nvSpPr>
          <p:cNvPr id="35" name="Rounded Rectangle 34"/>
          <p:cNvSpPr/>
          <p:nvPr/>
        </p:nvSpPr>
        <p:spPr>
          <a:xfrm>
            <a:off x="9393384" y="3775995"/>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Origin allow-list</a:t>
            </a:r>
          </a:p>
          <a:p>
            <a:pPr algn="ctr">
              <a:lnSpc>
                <a:spcPct val="105000"/>
              </a:lnSpc>
              <a:spcBef>
                <a:spcPts val="0"/>
              </a:spcBef>
              <a:spcAft>
                <a:spcPts val="0"/>
              </a:spcAft>
            </a:pPr>
            <a:r>
              <a:rPr sz="950" b="0" i="0">
                <a:solidFill>
                  <a:srgbClr val="1A1A1A"/>
                </a:solidFill>
                <a:latin typeface="Calibri"/>
              </a:rPr>
              <a:t>on /mcp, against DNS rebinding</a:t>
            </a:r>
          </a:p>
        </p:txBody>
      </p:sp>
      <p:sp>
        <p:nvSpPr>
          <p:cNvPr id="36" name="Rounded Rectangle 35"/>
          <p:cNvSpPr/>
          <p:nvPr/>
        </p:nvSpPr>
        <p:spPr>
          <a:xfrm>
            <a:off x="9393384" y="4763738"/>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TLS at the proxy</a:t>
            </a:r>
          </a:p>
          <a:p>
            <a:pPr algn="ctr">
              <a:lnSpc>
                <a:spcPct val="105000"/>
              </a:lnSpc>
              <a:spcBef>
                <a:spcPts val="0"/>
              </a:spcBef>
              <a:spcAft>
                <a:spcPts val="0"/>
              </a:spcAft>
            </a:pPr>
            <a:r>
              <a:rPr sz="950" b="0" i="0">
                <a:solidFill>
                  <a:srgbClr val="1A1A1A"/>
                </a:solidFill>
                <a:latin typeface="Calibri"/>
              </a:rPr>
              <a:t>plus HSTS and other headers</a:t>
            </a:r>
          </a:p>
        </p:txBody>
      </p:sp>
      <p:sp>
        <p:nvSpPr>
          <p:cNvPr id="37" name="TextBox 36"/>
          <p:cNvSpPr txBox="1"/>
          <p:nvPr/>
        </p:nvSpPr>
        <p:spPr>
          <a:xfrm>
            <a:off x="7531871" y="1800510"/>
            <a:ext cx="1595582" cy="3950970"/>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Every SAJHA JWT</a:t>
            </a:r>
          </a:p>
          <a:p>
            <a:pPr algn="l">
              <a:lnSpc>
                <a:spcPct val="110000"/>
              </a:lnSpc>
              <a:spcBef>
                <a:spcPts val="0"/>
              </a:spcBef>
              <a:spcAft>
                <a:spcPts val="100"/>
              </a:spcAft>
            </a:pPr>
            <a:r>
              <a:rPr sz="1200" b="0" i="0">
                <a:solidFill>
                  <a:srgbClr val="6B7480"/>
                </a:solidFill>
                <a:latin typeface="Calibri"/>
              </a:rPr>
              <a:t>carries an id and</a:t>
            </a:r>
          </a:p>
          <a:p>
            <a:pPr algn="l">
              <a:lnSpc>
                <a:spcPct val="110000"/>
              </a:lnSpc>
              <a:spcBef>
                <a:spcPts val="0"/>
              </a:spcBef>
              <a:spcAft>
                <a:spcPts val="100"/>
              </a:spcAft>
            </a:pPr>
            <a:r>
              <a:rPr sz="1200" b="0" i="0">
                <a:solidFill>
                  <a:srgbClr val="6B7480"/>
                </a:solidFill>
                <a:latin typeface="Calibri"/>
              </a:rPr>
              <a:t>the user's token</a:t>
            </a:r>
          </a:p>
          <a:p>
            <a:pPr algn="l">
              <a:lnSpc>
                <a:spcPct val="110000"/>
              </a:lnSpc>
              <a:spcBef>
                <a:spcPts val="0"/>
              </a:spcBef>
              <a:spcAft>
                <a:spcPts val="100"/>
              </a:spcAft>
            </a:pPr>
            <a:r>
              <a:rPr sz="1200" b="0" i="0">
                <a:solidFill>
                  <a:srgbClr val="6B7480"/>
                </a:solidFill>
                <a:latin typeface="Calibri"/>
              </a:rPr>
              <a:t>version, so it can</a:t>
            </a:r>
          </a:p>
          <a:p>
            <a:pPr algn="l">
              <a:lnSpc>
                <a:spcPct val="110000"/>
              </a:lnSpc>
              <a:spcBef>
                <a:spcPts val="0"/>
              </a:spcBef>
              <a:spcAft>
                <a:spcPts val="100"/>
              </a:spcAft>
            </a:pPr>
            <a:r>
              <a:rPr sz="1200" b="0" i="0">
                <a:solidFill>
                  <a:srgbClr val="6B7480"/>
                </a:solidFill>
                <a:latin typeface="Calibri"/>
              </a:rPr>
              <a:t>be withdrawn before</a:t>
            </a:r>
          </a:p>
          <a:p>
            <a:pPr algn="l">
              <a:lnSpc>
                <a:spcPct val="110000"/>
              </a:lnSpc>
              <a:spcBef>
                <a:spcPts val="0"/>
              </a:spcBef>
              <a:spcAft>
                <a:spcPts val="100"/>
              </a:spcAft>
            </a:pPr>
            <a:r>
              <a:rPr sz="1200" b="0" i="0">
                <a:solidFill>
                  <a:srgbClr val="6B7480"/>
                </a:solidFill>
                <a:latin typeface="Calibri"/>
              </a:rPr>
              <a:t>it expires.</a:t>
            </a:r>
          </a:p>
          <a:p>
            <a:pPr algn="l">
              <a:lnSpc>
                <a:spcPct val="110000"/>
              </a:lnSpc>
              <a:spcBef>
                <a:spcPts val="0"/>
              </a:spcBef>
              <a:spcAft>
                <a:spcPts val="100"/>
              </a:spcAft>
            </a:pPr>
            <a:r>
              <a:rPr sz="1200" b="0" i="0">
                <a:solidFill>
                  <a:srgbClr val="6B7480"/>
                </a:solidFill>
                <a:latin typeface="Calibri"/>
              </a:rPr>
              <a:t/>
            </a:r>
          </a:p>
          <a:p>
            <a:pPr algn="l">
              <a:lnSpc>
                <a:spcPct val="110000"/>
              </a:lnSpc>
              <a:spcBef>
                <a:spcPts val="0"/>
              </a:spcBef>
              <a:spcAft>
                <a:spcPts val="100"/>
              </a:spcAft>
            </a:pPr>
            <a:r>
              <a:rPr sz="1200" b="0" i="0">
                <a:solidFill>
                  <a:srgbClr val="6B7480"/>
                </a:solidFill>
                <a:latin typeface="Calibri"/>
              </a:rPr>
              <a:t>An API key is not</a:t>
            </a:r>
          </a:p>
          <a:p>
            <a:pPr algn="l">
              <a:lnSpc>
                <a:spcPct val="110000"/>
              </a:lnSpc>
              <a:spcBef>
                <a:spcPts val="0"/>
              </a:spcBef>
              <a:spcAft>
                <a:spcPts val="100"/>
              </a:spcAft>
            </a:pPr>
            <a:r>
              <a:rPr sz="1200" b="0" i="0">
                <a:solidFill>
                  <a:srgbClr val="6B7480"/>
                </a:solidFill>
                <a:latin typeface="Calibri"/>
              </a:rPr>
              <a:t>a session: revoke</a:t>
            </a:r>
          </a:p>
          <a:p>
            <a:pPr algn="l">
              <a:lnSpc>
                <a:spcPct val="110000"/>
              </a:lnSpc>
              <a:spcBef>
                <a:spcPts val="0"/>
              </a:spcBef>
              <a:spcAft>
                <a:spcPts val="100"/>
              </a:spcAft>
            </a:pPr>
            <a:r>
              <a:rPr sz="1200" b="0" i="0">
                <a:solidFill>
                  <a:srgbClr val="6B7480"/>
                </a:solidFill>
                <a:latin typeface="Calibri"/>
              </a:rPr>
              <a:t>or rotate it.</a:t>
            </a:r>
          </a:p>
        </p:txBody>
      </p:sp>
      <p:cxnSp>
        <p:nvCxnSpPr>
          <p:cNvPr id="38" name="Connector 37"/>
          <p:cNvCxnSpPr/>
          <p:nvPr/>
        </p:nvCxnSpPr>
        <p:spPr>
          <a:xfrm>
            <a:off x="1840961" y="2587037"/>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904969" y="2647426"/>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cxnSp>
        <p:nvCxnSpPr>
          <p:cNvPr id="40" name="Connector 39"/>
          <p:cNvCxnSpPr/>
          <p:nvPr/>
        </p:nvCxnSpPr>
        <p:spPr>
          <a:xfrm>
            <a:off x="3862032" y="2587037"/>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926040" y="2647426"/>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cxnSp>
        <p:nvCxnSpPr>
          <p:cNvPr id="42" name="Connector 41"/>
          <p:cNvCxnSpPr/>
          <p:nvPr/>
        </p:nvCxnSpPr>
        <p:spPr>
          <a:xfrm>
            <a:off x="3862032" y="3722941"/>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3926040" y="3783330"/>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session cookie (web console)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36</a:t>
            </a:r>
          </a:p>
        </p:txBody>
      </p:sp>
      <p:sp>
        <p:nvSpPr>
          <p:cNvPr id="17" name="Rectangle 16"/>
          <p:cNvSpPr/>
          <p:nvPr/>
        </p:nvSpPr>
        <p:spPr>
          <a:xfrm>
            <a:off x="777240" y="1386967"/>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1" i="0">
                <a:solidFill>
                  <a:srgbClr val="FFFFFF"/>
                </a:solidFill>
                <a:latin typeface="Calibri"/>
              </a:rPr>
              <a:t>Browser  →  SAJHA server</a:t>
            </a:r>
          </a:p>
        </p:txBody>
      </p:sp>
      <p:sp>
        <p:nvSpPr>
          <p:cNvPr id="18" name="Rectangle 17"/>
          <p:cNvSpPr/>
          <p:nvPr/>
        </p:nvSpPr>
        <p:spPr>
          <a:xfrm>
            <a:off x="777240" y="1844167"/>
            <a:ext cx="10637215" cy="4401185"/>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844167"/>
            <a:ext cx="41148" cy="440118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1990471"/>
            <a:ext cx="10253167" cy="4126865"/>
          </a:xfrm>
          <a:prstGeom prst="rect">
            <a:avLst/>
          </a:prstGeom>
          <a:noFill/>
        </p:spPr>
        <p:txBody>
          <a:bodyPr wrap="square" lIns="0" rIns="0" tIns="0" bIns="0" anchor="t">
            <a:spAutoFit/>
          </a:bodyPr>
          <a:lstStyle/>
          <a:p>
            <a:pPr algn="l">
              <a:lnSpc>
                <a:spcPct val="110000"/>
              </a:lnSpc>
              <a:spcBef>
                <a:spcPts val="0"/>
              </a:spcBef>
              <a:spcAft>
                <a:spcPts val="200"/>
              </a:spcAft>
            </a:pPr>
            <a:r>
              <a:rPr sz="1350" b="0" i="0">
                <a:solidFill>
                  <a:srgbClr val="1A1A1A"/>
                </a:solidFill>
                <a:latin typeface="Consolas"/>
              </a:rPr>
              <a:t>1. Browser → GET /login</a:t>
            </a:r>
          </a:p>
          <a:p>
            <a:pPr>
              <a:lnSpc>
                <a:spcPct val="110000"/>
              </a:lnSpc>
              <a:spcBef>
                <a:spcPts val="0"/>
              </a:spcBef>
              <a:spcAft>
                <a:spcPts val="200"/>
              </a:spcAft>
            </a:pPr>
            <a:r>
              <a:rPr sz="1350" b="0" i="0">
                <a:solidFill>
                  <a:srgbClr val="1A1A1A"/>
                </a:solidFill>
                <a:latin typeface="Consolas"/>
              </a:rPr>
              <a:t>   └─ Server returns the sign-in form</a:t>
            </a:r>
          </a:p>
          <a:p>
            <a:pPr>
              <a:lnSpc>
                <a:spcPct val="110000"/>
              </a:lnSpc>
              <a:spcBef>
                <a:spcPts val="0"/>
              </a:spcBef>
              <a:spcAft>
                <a:spcPts val="200"/>
              </a:spcAft>
            </a:pPr>
            <a:r>
              <a:rPr sz="1350" b="0" i="0">
                <a:solidFill>
                  <a:srgbClr val="1A1A1A"/>
                </a:solidFill>
                <a:latin typeface="Consolas"/>
              </a:rPr>
              <a:t>2. Browser → POST /login { user_id, password }</a:t>
            </a:r>
          </a:p>
          <a:p>
            <a:pPr>
              <a:lnSpc>
                <a:spcPct val="110000"/>
              </a:lnSpc>
              <a:spcBef>
                <a:spcPts val="0"/>
              </a:spcBef>
              <a:spcAft>
                <a:spcPts val="200"/>
              </a:spcAft>
            </a:pPr>
            <a:r>
              <a:rPr sz="1350" b="0" i="0">
                <a:solidFill>
                  <a:srgbClr val="1A1A1A"/>
                </a:solidFill>
                <a:latin typeface="Consolas"/>
              </a:rPr>
              <a:t>   ├─ Per-IP throttle: too many failures → 429</a:t>
            </a:r>
          </a:p>
          <a:p>
            <a:pPr>
              <a:lnSpc>
                <a:spcPct val="110000"/>
              </a:lnSpc>
              <a:spcBef>
                <a:spcPts val="0"/>
              </a:spcBef>
              <a:spcAft>
                <a:spcPts val="200"/>
              </a:spcAft>
            </a:pPr>
            <a:r>
              <a:rPr sz="1350" b="0" i="0">
                <a:solidFill>
                  <a:srgbClr val="1A1A1A"/>
                </a:solidFill>
                <a:latin typeface="Consolas"/>
              </a:rPr>
              <a:t>   ├─ Password check (stored plain by default,</a:t>
            </a:r>
          </a:p>
          <a:p>
            <a:pPr>
              <a:lnSpc>
                <a:spcPct val="110000"/>
              </a:lnSpc>
              <a:spcBef>
                <a:spcPts val="0"/>
              </a:spcBef>
              <a:spcAft>
                <a:spcPts val="200"/>
              </a:spcAft>
            </a:pPr>
            <a:r>
              <a:rPr sz="1350" b="0" i="0">
                <a:solidFill>
                  <a:srgbClr val="1A1A1A"/>
                </a:solidFill>
                <a:latin typeface="Consolas"/>
              </a:rPr>
              <a:t>   │    or a bcrypt hash under hashed storage)</a:t>
            </a:r>
          </a:p>
          <a:p>
            <a:pPr>
              <a:lnSpc>
                <a:spcPct val="110000"/>
              </a:lnSpc>
              <a:spcBef>
                <a:spcPts val="0"/>
              </a:spcBef>
              <a:spcAft>
                <a:spcPts val="200"/>
              </a:spcAft>
            </a:pPr>
            <a:r>
              <a:rPr sz="1350" b="0" i="0">
                <a:solidFill>
                  <a:srgbClr val="1A1A1A"/>
                </a:solidFill>
                <a:latin typeface="Consolas"/>
              </a:rPr>
              <a:t>   ├─ Repeated failures lock the account → 423</a:t>
            </a:r>
          </a:p>
          <a:p>
            <a:pPr>
              <a:lnSpc>
                <a:spcPct val="110000"/>
              </a:lnSpc>
              <a:spcBef>
                <a:spcPts val="0"/>
              </a:spcBef>
              <a:spcAft>
                <a:spcPts val="200"/>
              </a:spcAft>
            </a:pPr>
            <a:r>
              <a:rPr sz="1350" b="0" i="0">
                <a:solidFill>
                  <a:srgbClr val="1A1A1A"/>
                </a:solidFill>
                <a:latin typeface="Consolas"/>
              </a:rPr>
              <a:t>   └─ If valid:</a:t>
            </a:r>
          </a:p>
          <a:p>
            <a:pPr>
              <a:lnSpc>
                <a:spcPct val="110000"/>
              </a:lnSpc>
              <a:spcBef>
                <a:spcPts val="0"/>
              </a:spcBef>
              <a:spcAft>
                <a:spcPts val="200"/>
              </a:spcAft>
            </a:pPr>
            <a:r>
              <a:rPr sz="1350" b="0" i="0">
                <a:solidFill>
                  <a:srgbClr val="1A1A1A"/>
                </a:solidFill>
                <a:latin typeface="Consolas"/>
              </a:rPr>
              <a:t>      ├─ Issue a SAJHA JWT (auth.jwt.*, default HS256, 60 min)</a:t>
            </a:r>
          </a:p>
          <a:p>
            <a:pPr>
              <a:lnSpc>
                <a:spcPct val="110000"/>
              </a:lnSpc>
              <a:spcBef>
                <a:spcPts val="0"/>
              </a:spcBef>
              <a:spcAft>
                <a:spcPts val="200"/>
              </a:spcAft>
            </a:pPr>
            <a:r>
              <a:rPr sz="1350" b="0" i="0">
                <a:solidFill>
                  <a:srgbClr val="1A1A1A"/>
                </a:solidFill>
                <a:latin typeface="Consolas"/>
              </a:rPr>
              <a:t>      ├─ Set-Cookie: sajha_token (HttpOnly, SameSite=Lax,</a:t>
            </a:r>
          </a:p>
          <a:p>
            <a:pPr>
              <a:lnSpc>
                <a:spcPct val="110000"/>
              </a:lnSpc>
              <a:spcBef>
                <a:spcPts val="0"/>
              </a:spcBef>
              <a:spcAft>
                <a:spcPts val="200"/>
              </a:spcAft>
            </a:pPr>
            <a:r>
              <a:rPr sz="1350" b="0" i="0">
                <a:solidFill>
                  <a:srgbClr val="1A1A1A"/>
                </a:solidFill>
                <a:latin typeface="Consolas"/>
              </a:rPr>
              <a:t>      │    Secure on https, Max-Age 3600)</a:t>
            </a:r>
          </a:p>
          <a:p>
            <a:pPr>
              <a:lnSpc>
                <a:spcPct val="110000"/>
              </a:lnSpc>
              <a:spcBef>
                <a:spcPts val="0"/>
              </a:spcBef>
              <a:spcAft>
                <a:spcPts val="200"/>
              </a:spcAft>
            </a:pPr>
            <a:r>
              <a:rPr sz="1350" b="0" i="0">
                <a:solidFill>
                  <a:srgbClr val="1A1A1A"/>
                </a:solidFill>
                <a:latin typeface="Consolas"/>
              </a:rPr>
              <a:t>      └─ 302 → /dashboard (local paths only, no open redirect)</a:t>
            </a:r>
          </a:p>
          <a:p>
            <a:pPr>
              <a:lnSpc>
                <a:spcPct val="110000"/>
              </a:lnSpc>
              <a:spcBef>
                <a:spcPts val="0"/>
              </a:spcBef>
              <a:spcAft>
                <a:spcPts val="200"/>
              </a:spcAft>
            </a:pPr>
            <a:r>
              <a:rPr sz="1350" b="0" i="0">
                <a:solidFill>
                  <a:srgbClr val="1A1A1A"/>
                </a:solidFill>
                <a:latin typeface="Consolas"/>
              </a:rPr>
              <a:t>3. Every later request</a:t>
            </a:r>
          </a:p>
          <a:p>
            <a:pPr>
              <a:lnSpc>
                <a:spcPct val="110000"/>
              </a:lnSpc>
              <a:spcBef>
                <a:spcPts val="0"/>
              </a:spcBef>
              <a:spcAft>
                <a:spcPts val="200"/>
              </a:spcAft>
            </a:pPr>
            <a:r>
              <a:rPr sz="1350" b="0" i="0">
                <a:solidFill>
                  <a:srgbClr val="1A1A1A"/>
                </a:solidFill>
                <a:latin typeface="Consolas"/>
              </a:rPr>
              <a:t>   ├─ Cookie read last, after Bearer and API key</a:t>
            </a:r>
          </a:p>
          <a:p>
            <a:pPr>
              <a:lnSpc>
                <a:spcPct val="110000"/>
              </a:lnSpc>
              <a:spcBef>
                <a:spcPts val="0"/>
              </a:spcBef>
              <a:spcAft>
                <a:spcPts val="200"/>
              </a:spcAft>
            </a:pPr>
            <a:r>
              <a:rPr sz="1350" b="0" i="0">
                <a:solidFill>
                  <a:srgbClr val="1A1A1A"/>
                </a:solidFill>
                <a:latin typeface="Consolas"/>
              </a:rPr>
              <a:t>   ├─ Signature, algorithm and expiry checked</a:t>
            </a:r>
          </a:p>
          <a:p>
            <a:pPr>
              <a:lnSpc>
                <a:spcPct val="110000"/>
              </a:lnSpc>
              <a:spcBef>
                <a:spcPts val="0"/>
              </a:spcBef>
              <a:spcAft>
                <a:spcPts val="200"/>
              </a:spcAft>
            </a:pPr>
            <a:r>
              <a:rPr sz="1350" b="0" i="0">
                <a:solidFill>
                  <a:srgbClr val="1A1A1A"/>
                </a:solidFill>
                <a:latin typeface="Consolas"/>
              </a:rPr>
              <a:t>   └─ User reloaded from the database: a disabled user</a:t>
            </a:r>
          </a:p>
          <a:p>
            <a:pPr>
              <a:lnSpc>
                <a:spcPct val="110000"/>
              </a:lnSpc>
              <a:spcBef>
                <a:spcPts val="0"/>
              </a:spcBef>
              <a:spcAft>
                <a:spcPts val="200"/>
              </a:spcAft>
            </a:pPr>
            <a:r>
              <a:rPr sz="1350" b="0" i="0">
                <a:solidFill>
                  <a:srgbClr val="1A1A1A"/>
                </a:solidFill>
                <a:latin typeface="Consolas"/>
              </a:rPr>
              <a:t>      is out at once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SAJHA JWT (API clients)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37</a:t>
            </a:r>
          </a:p>
        </p:txBody>
      </p:sp>
      <p:sp>
        <p:nvSpPr>
          <p:cNvPr id="17" name="Rectangle 16"/>
          <p:cNvSpPr/>
          <p:nvPr/>
        </p:nvSpPr>
        <p:spPr>
          <a:xfrm>
            <a:off x="777240" y="1386967"/>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1" i="0">
                <a:solidFill>
                  <a:srgbClr val="FFFFFF"/>
                </a:solidFill>
                <a:latin typeface="Calibri"/>
              </a:rPr>
              <a:t>API client  →  SAJHA server</a:t>
            </a:r>
          </a:p>
        </p:txBody>
      </p:sp>
      <p:sp>
        <p:nvSpPr>
          <p:cNvPr id="18" name="Rectangle 17"/>
          <p:cNvSpPr/>
          <p:nvPr/>
        </p:nvSpPr>
        <p:spPr>
          <a:xfrm>
            <a:off x="777240" y="1844167"/>
            <a:ext cx="10637215" cy="4401185"/>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844167"/>
            <a:ext cx="41148" cy="440118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1990471"/>
            <a:ext cx="10253167" cy="4126865"/>
          </a:xfrm>
          <a:prstGeom prst="rect">
            <a:avLst/>
          </a:prstGeom>
          <a:noFill/>
        </p:spPr>
        <p:txBody>
          <a:bodyPr wrap="square" lIns="0" rIns="0" tIns="0" bIns="0" anchor="t">
            <a:spAutoFit/>
          </a:bodyPr>
          <a:lstStyle/>
          <a:p>
            <a:pPr algn="l">
              <a:lnSpc>
                <a:spcPct val="110000"/>
              </a:lnSpc>
              <a:spcBef>
                <a:spcPts val="0"/>
              </a:spcBef>
              <a:spcAft>
                <a:spcPts val="200"/>
              </a:spcAft>
            </a:pPr>
            <a:r>
              <a:rPr sz="1600" b="0" i="0">
                <a:solidFill>
                  <a:srgbClr val="1A1A1A"/>
                </a:solidFill>
                <a:latin typeface="Consolas"/>
              </a:rPr>
              <a:t>1. Client → POST /api/auth/login</a:t>
            </a:r>
          </a:p>
          <a:p>
            <a:pPr>
              <a:lnSpc>
                <a:spcPct val="110000"/>
              </a:lnSpc>
              <a:spcBef>
                <a:spcPts val="0"/>
              </a:spcBef>
              <a:spcAft>
                <a:spcPts val="200"/>
              </a:spcAft>
            </a:pPr>
            <a:r>
              <a:rPr sz="1600" b="0" i="0">
                <a:solidFill>
                  <a:srgbClr val="1A1A1A"/>
                </a:solidFill>
                <a:latin typeface="Consolas"/>
              </a:rPr>
              <a:t>   └─ Body: { "user_id": "alice", "password": "…" }</a:t>
            </a:r>
          </a:p>
          <a:p>
            <a:pPr>
              <a:lnSpc>
                <a:spcPct val="110000"/>
              </a:lnSpc>
              <a:spcBef>
                <a:spcPts val="0"/>
              </a:spcBef>
              <a:spcAft>
                <a:spcPts val="200"/>
              </a:spcAft>
            </a:pPr>
            <a:r>
              <a:rPr sz="1600" b="0" i="0">
                <a:solidFill>
                  <a:srgbClr val="1A1A1A"/>
                </a:solidFill>
                <a:latin typeface="Consolas"/>
              </a:rPr>
              <a:t>2. Server checks the credentials</a:t>
            </a:r>
          </a:p>
          <a:p>
            <a:pPr>
              <a:lnSpc>
                <a:spcPct val="110000"/>
              </a:lnSpc>
              <a:spcBef>
                <a:spcPts val="0"/>
              </a:spcBef>
              <a:spcAft>
                <a:spcPts val="200"/>
              </a:spcAft>
            </a:pPr>
            <a:r>
              <a:rPr sz="1600" b="0" i="0">
                <a:solidFill>
                  <a:srgbClr val="1A1A1A"/>
                </a:solidFill>
                <a:latin typeface="Consolas"/>
              </a:rPr>
              <a:t>   ├─ Throttle and lockout, as for the web form</a:t>
            </a:r>
          </a:p>
          <a:p>
            <a:pPr>
              <a:lnSpc>
                <a:spcPct val="110000"/>
              </a:lnSpc>
              <a:spcBef>
                <a:spcPts val="0"/>
              </a:spcBef>
              <a:spcAft>
                <a:spcPts val="200"/>
              </a:spcAft>
            </a:pPr>
            <a:r>
              <a:rPr sz="1600" b="0" i="0">
                <a:solidFill>
                  <a:srgbClr val="1A1A1A"/>
                </a:solidFill>
                <a:latin typeface="Consolas"/>
              </a:rPr>
              <a:t>   ├─ Invalid → 401; locked → 423</a:t>
            </a:r>
          </a:p>
          <a:p>
            <a:pPr>
              <a:lnSpc>
                <a:spcPct val="110000"/>
              </a:lnSpc>
              <a:spcBef>
                <a:spcPts val="0"/>
              </a:spcBef>
              <a:spcAft>
                <a:spcPts val="200"/>
              </a:spcAft>
            </a:pPr>
            <a:r>
              <a:rPr sz="1600" b="0" i="0">
                <a:solidFill>
                  <a:srgbClr val="1A1A1A"/>
                </a:solidFill>
                <a:latin typeface="Consolas"/>
              </a:rPr>
              <a:t>   └─ Valid → { "token": "eyJ…", "user": { roles … } }</a:t>
            </a:r>
          </a:p>
          <a:p>
            <a:pPr>
              <a:lnSpc>
                <a:spcPct val="110000"/>
              </a:lnSpc>
              <a:spcBef>
                <a:spcPts val="0"/>
              </a:spcBef>
              <a:spcAft>
                <a:spcPts val="200"/>
              </a:spcAft>
            </a:pPr>
            <a:r>
              <a:rPr sz="1600" b="0" i="0">
                <a:solidFill>
                  <a:srgbClr val="1A1A1A"/>
                </a:solidFill>
                <a:latin typeface="Consolas"/>
              </a:rPr>
              <a:t>3. Client sends the token on every request</a:t>
            </a:r>
          </a:p>
          <a:p>
            <a:pPr>
              <a:lnSpc>
                <a:spcPct val="110000"/>
              </a:lnSpc>
              <a:spcBef>
                <a:spcPts val="0"/>
              </a:spcBef>
              <a:spcAft>
                <a:spcPts val="200"/>
              </a:spcAft>
            </a:pPr>
            <a:r>
              <a:rPr sz="1600" b="0" i="0">
                <a:solidFill>
                  <a:srgbClr val="1A1A1A"/>
                </a:solidFill>
                <a:latin typeface="Consolas"/>
              </a:rPr>
              <a:t>   └─ Authorization: Bearer eyJ…</a:t>
            </a:r>
          </a:p>
          <a:p>
            <a:pPr>
              <a:lnSpc>
                <a:spcPct val="110000"/>
              </a:lnSpc>
              <a:spcBef>
                <a:spcPts val="0"/>
              </a:spcBef>
              <a:spcAft>
                <a:spcPts val="200"/>
              </a:spcAft>
            </a:pPr>
            <a:r>
              <a:rPr sz="1600" b="0" i="0">
                <a:solidFill>
                  <a:srgbClr val="1A1A1A"/>
                </a:solidFill>
                <a:latin typeface="Consolas"/>
              </a:rPr>
              <a:t>4. Server validates it</a:t>
            </a:r>
          </a:p>
          <a:p>
            <a:pPr>
              <a:lnSpc>
                <a:spcPct val="110000"/>
              </a:lnSpc>
              <a:spcBef>
                <a:spcPts val="0"/>
              </a:spcBef>
              <a:spcAft>
                <a:spcPts val="200"/>
              </a:spcAft>
            </a:pPr>
            <a:r>
              <a:rPr sz="1600" b="0" i="0">
                <a:solidFill>
                  <a:srgbClr val="1A1A1A"/>
                </a:solidFill>
                <a:latin typeface="Consolas"/>
              </a:rPr>
              <a:t>   ├─ Signature, allowed algorithm, exp</a:t>
            </a:r>
          </a:p>
          <a:p>
            <a:pPr>
              <a:lnSpc>
                <a:spcPct val="110000"/>
              </a:lnSpc>
              <a:spcBef>
                <a:spcPts val="0"/>
              </a:spcBef>
              <a:spcAft>
                <a:spcPts val="200"/>
              </a:spcAft>
            </a:pPr>
            <a:r>
              <a:rPr sz="1600" b="0" i="0">
                <a:solidFill>
                  <a:srgbClr val="1A1A1A"/>
                </a:solidFill>
                <a:latin typeface="Consolas"/>
              </a:rPr>
              <a:t>   ├─ Claims: sub, roles, iss sajha-mcp-server</a:t>
            </a:r>
          </a:p>
          <a:p>
            <a:pPr>
              <a:lnSpc>
                <a:spcPct val="110000"/>
              </a:lnSpc>
              <a:spcBef>
                <a:spcPts val="0"/>
              </a:spcBef>
              <a:spcAft>
                <a:spcPts val="200"/>
              </a:spcAft>
            </a:pPr>
            <a:r>
              <a:rPr sz="1600" b="0" i="0">
                <a:solidFill>
                  <a:srgbClr val="1A1A1A"/>
                </a:solidFill>
                <a:latin typeface="Consolas"/>
              </a:rPr>
              <a:t>   └─ Then the caller's tool access applies</a:t>
            </a:r>
          </a:p>
          <a:p>
            <a:pPr>
              <a:lnSpc>
                <a:spcPct val="110000"/>
              </a:lnSpc>
              <a:spcBef>
                <a:spcPts val="0"/>
              </a:spcBef>
              <a:spcAft>
                <a:spcPts val="200"/>
              </a:spcAft>
            </a:pPr>
            <a:r>
              <a:rPr sz="1600" b="0" i="0">
                <a:solidFill>
                  <a:srgbClr val="1A1A1A"/>
                </a:solidFill>
                <a:latin typeface="Consolas"/>
              </a:rPr>
              <a:t>      (REST, /mcp, and /mcp/ws?token=…)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API key (automation)</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38</a:t>
            </a:r>
          </a:p>
        </p:txBody>
      </p:sp>
      <p:sp>
        <p:nvSpPr>
          <p:cNvPr id="17" name="Rectangle 16"/>
          <p:cNvSpPr/>
          <p:nvPr/>
        </p:nvSpPr>
        <p:spPr>
          <a:xfrm>
            <a:off x="777240" y="1386967"/>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1" i="0">
                <a:solidFill>
                  <a:srgbClr val="FFFFFF"/>
                </a:solidFill>
                <a:latin typeface="Calibri"/>
              </a:rPr>
              <a:t>Script or agent  →  SAJHA server</a:t>
            </a:r>
          </a:p>
        </p:txBody>
      </p:sp>
      <p:sp>
        <p:nvSpPr>
          <p:cNvPr id="18" name="Rectangle 17"/>
          <p:cNvSpPr/>
          <p:nvPr/>
        </p:nvSpPr>
        <p:spPr>
          <a:xfrm>
            <a:off x="777240" y="1844167"/>
            <a:ext cx="10637215" cy="4401185"/>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844167"/>
            <a:ext cx="41148" cy="440118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1990471"/>
            <a:ext cx="10253167" cy="4126865"/>
          </a:xfrm>
          <a:prstGeom prst="rect">
            <a:avLst/>
          </a:prstGeom>
          <a:noFill/>
        </p:spPr>
        <p:txBody>
          <a:bodyPr wrap="square" lIns="0" rIns="0" tIns="0" bIns="0" anchor="t">
            <a:spAutoFit/>
          </a:bodyPr>
          <a:lstStyle/>
          <a:p>
            <a:pPr algn="l">
              <a:lnSpc>
                <a:spcPct val="110000"/>
              </a:lnSpc>
              <a:spcBef>
                <a:spcPts val="0"/>
              </a:spcBef>
              <a:spcAft>
                <a:spcPts val="200"/>
              </a:spcAft>
            </a:pPr>
            <a:r>
              <a:rPr sz="1600" b="0" i="0">
                <a:solidFill>
                  <a:srgbClr val="1A1A1A"/>
                </a:solidFill>
                <a:latin typeface="Consolas"/>
              </a:rPr>
              <a:t>1. An administrator creates a key (console, POST /admin/apikeys/create)</a:t>
            </a:r>
          </a:p>
          <a:p>
            <a:pPr>
              <a:lnSpc>
                <a:spcPct val="110000"/>
              </a:lnSpc>
              <a:spcBef>
                <a:spcPts val="0"/>
              </a:spcBef>
              <a:spcAft>
                <a:spcPts val="200"/>
              </a:spcAft>
            </a:pPr>
            <a:r>
              <a:rPr sz="1600" b="0" i="0">
                <a:solidFill>
                  <a:srgbClr val="1A1A1A"/>
                </a:solidFill>
                <a:latin typeface="Consolas"/>
              </a:rPr>
              <a:t>   ├─ Key: sja_ + 48 hex characters</a:t>
            </a:r>
          </a:p>
          <a:p>
            <a:pPr>
              <a:lnSpc>
                <a:spcPct val="110000"/>
              </a:lnSpc>
              <a:spcBef>
                <a:spcPts val="0"/>
              </a:spcBef>
              <a:spcAft>
                <a:spcPts val="200"/>
              </a:spcAft>
            </a:pPr>
            <a:r>
              <a:rPr sz="1600" b="0" i="0">
                <a:solidFill>
                  <a:srgbClr val="1A1A1A"/>
                </a:solidFill>
                <a:latin typeface="Consolas"/>
              </a:rPr>
              <a:t>   ├─ Stored: SHA-256 (for lookup), 8-character prefix,</a:t>
            </a:r>
          </a:p>
          <a:p>
            <a:pPr>
              <a:lnSpc>
                <a:spcPct val="110000"/>
              </a:lnSpc>
              <a:spcBef>
                <a:spcPts val="0"/>
              </a:spcBef>
              <a:spcAft>
                <a:spcPts val="200"/>
              </a:spcAft>
            </a:pPr>
            <a:r>
              <a:rPr sz="1600" b="0" i="0">
                <a:solidFill>
                  <a:srgbClr val="1A1A1A"/>
                </a:solidFill>
                <a:latin typeface="Consolas"/>
              </a:rPr>
              <a:t>   │    and the raw key under plain storage (default)</a:t>
            </a:r>
          </a:p>
          <a:p>
            <a:pPr>
              <a:lnSpc>
                <a:spcPct val="110000"/>
              </a:lnSpc>
              <a:spcBef>
                <a:spcPts val="0"/>
              </a:spcBef>
              <a:spcAft>
                <a:spcPts val="200"/>
              </a:spcAft>
            </a:pPr>
            <a:r>
              <a:rPr sz="1600" b="0" i="0">
                <a:solidFill>
                  <a:srgbClr val="1A1A1A"/>
                </a:solidFill>
                <a:latin typeface="Consolas"/>
              </a:rPr>
              <a:t>   └─ Tool access mode: all | allowlist | denylist | regex</a:t>
            </a:r>
          </a:p>
          <a:p>
            <a:pPr>
              <a:lnSpc>
                <a:spcPct val="110000"/>
              </a:lnSpc>
              <a:spcBef>
                <a:spcPts val="0"/>
              </a:spcBef>
              <a:spcAft>
                <a:spcPts val="200"/>
              </a:spcAft>
            </a:pPr>
            <a:r>
              <a:rPr sz="1600" b="0" i="0">
                <a:solidFill>
                  <a:srgbClr val="1A1A1A"/>
                </a:solidFill>
                <a:latin typeface="Consolas"/>
              </a:rPr>
              <a:t>2. Client → any request with</a:t>
            </a:r>
          </a:p>
          <a:p>
            <a:pPr>
              <a:lnSpc>
                <a:spcPct val="110000"/>
              </a:lnSpc>
              <a:spcBef>
                <a:spcPts val="0"/>
              </a:spcBef>
              <a:spcAft>
                <a:spcPts val="200"/>
              </a:spcAft>
            </a:pPr>
            <a:r>
              <a:rPr sz="1600" b="0" i="0">
                <a:solidFill>
                  <a:srgbClr val="1A1A1A"/>
                </a:solidFill>
                <a:latin typeface="Consolas"/>
              </a:rPr>
              <a:t>   └─ X-API-Key: sja_…   (or Authorization: sja_…)</a:t>
            </a:r>
          </a:p>
          <a:p>
            <a:pPr>
              <a:lnSpc>
                <a:spcPct val="110000"/>
              </a:lnSpc>
              <a:spcBef>
                <a:spcPts val="0"/>
              </a:spcBef>
              <a:spcAft>
                <a:spcPts val="200"/>
              </a:spcAft>
            </a:pPr>
            <a:r>
              <a:rPr sz="1600" b="0" i="0">
                <a:solidFill>
                  <a:srgbClr val="1A1A1A"/>
                </a:solidFill>
                <a:latin typeface="Consolas"/>
              </a:rPr>
              <a:t>3. Server authenticates</a:t>
            </a:r>
          </a:p>
          <a:p>
            <a:pPr>
              <a:lnSpc>
                <a:spcPct val="110000"/>
              </a:lnSpc>
              <a:spcBef>
                <a:spcPts val="0"/>
              </a:spcBef>
              <a:spcAft>
                <a:spcPts val="200"/>
              </a:spcAft>
            </a:pPr>
            <a:r>
              <a:rPr sz="1600" b="0" i="0">
                <a:solidFill>
                  <a:srgbClr val="1A1A1A"/>
                </a:solidFill>
                <a:latin typeface="Consolas"/>
              </a:rPr>
              <a:t>   ├─ Unknown, disabled or expired → refused</a:t>
            </a:r>
          </a:p>
          <a:p>
            <a:pPr>
              <a:lnSpc>
                <a:spcPct val="110000"/>
              </a:lnSpc>
              <a:spcBef>
                <a:spcPts val="0"/>
              </a:spcBef>
              <a:spcAft>
                <a:spcPts val="200"/>
              </a:spcAft>
            </a:pPr>
            <a:r>
              <a:rPr sz="1600" b="0" i="0">
                <a:solidFill>
                  <a:srgbClr val="1A1A1A"/>
                </a:solidFill>
                <a:latin typeface="Consolas"/>
              </a:rPr>
              <a:t>   └─ Identity apikey:&lt;name&gt;, role api_consumer, never admin</a:t>
            </a:r>
          </a:p>
          <a:p>
            <a:pPr>
              <a:lnSpc>
                <a:spcPct val="110000"/>
              </a:lnSpc>
              <a:spcBef>
                <a:spcPts val="0"/>
              </a:spcBef>
              <a:spcAft>
                <a:spcPts val="200"/>
              </a:spcAft>
            </a:pPr>
            <a:r>
              <a:rPr sz="1600" b="0" i="0">
                <a:solidFill>
                  <a:srgbClr val="1A1A1A"/>
                </a:solidFill>
                <a:latin typeface="Consolas"/>
              </a:rPr>
              <a:t>4. Server authorizes the tool</a:t>
            </a:r>
          </a:p>
          <a:p>
            <a:pPr>
              <a:lnSpc>
                <a:spcPct val="110000"/>
              </a:lnSpc>
              <a:spcBef>
                <a:spcPts val="0"/>
              </a:spcBef>
              <a:spcAft>
                <a:spcPts val="200"/>
              </a:spcAft>
            </a:pPr>
            <a:r>
              <a:rPr sz="1600" b="0" i="0">
                <a:solidFill>
                  <a:srgbClr val="1A1A1A"/>
                </a:solidFill>
                <a:latin typeface="Consolas"/>
              </a:rPr>
              <a:t>   ├─ allowlist ["fred_*", "calc_*"]: fred_gdp → allowed</a:t>
            </a:r>
          </a:p>
          <a:p>
            <a:pPr>
              <a:lnSpc>
                <a:spcPct val="110000"/>
              </a:lnSpc>
              <a:spcBef>
                <a:spcPts val="0"/>
              </a:spcBef>
              <a:spcAft>
                <a:spcPts val="200"/>
              </a:spcAft>
            </a:pPr>
            <a:r>
              <a:rPr sz="1600" b="0" i="0">
                <a:solidFill>
                  <a:srgbClr val="1A1A1A"/>
                </a:solidFill>
                <a:latin typeface="Consolas"/>
              </a:rPr>
              <a:t>   ├─ yf_fast_info → 403 (not listed)</a:t>
            </a:r>
          </a:p>
          <a:p>
            <a:pPr>
              <a:lnSpc>
                <a:spcPct val="110000"/>
              </a:lnSpc>
              <a:spcBef>
                <a:spcPts val="0"/>
              </a:spcBef>
              <a:spcAft>
                <a:spcPts val="200"/>
              </a:spcAft>
            </a:pPr>
            <a:r>
              <a:rPr sz="1600" b="0" i="0">
                <a:solidFill>
                  <a:srgbClr val="1A1A1A"/>
                </a:solidFill>
                <a:latin typeface="Consolas"/>
              </a:rPr>
              <a:t>   └─ Usage recorded; the call audited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Authorization: OAuth 2.1 with PKCE on /mcp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39</a:t>
            </a:r>
          </a:p>
        </p:txBody>
      </p:sp>
      <p:sp>
        <p:nvSpPr>
          <p:cNvPr id="17" name="Rectangle 16"/>
          <p:cNvSpPr/>
          <p:nvPr/>
        </p:nvSpPr>
        <p:spPr>
          <a:xfrm>
            <a:off x="777240" y="1386967"/>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1" i="0">
                <a:solidFill>
                  <a:srgbClr val="FFFFFF"/>
                </a:solidFill>
                <a:latin typeface="Calibri"/>
              </a:rPr>
              <a:t>MCP client  →  SAJHA /mcp  +  authorization server</a:t>
            </a:r>
          </a:p>
        </p:txBody>
      </p:sp>
      <p:sp>
        <p:nvSpPr>
          <p:cNvPr id="18" name="Rectangle 17"/>
          <p:cNvSpPr/>
          <p:nvPr/>
        </p:nvSpPr>
        <p:spPr>
          <a:xfrm>
            <a:off x="777240" y="1844167"/>
            <a:ext cx="10637215" cy="4401185"/>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844167"/>
            <a:ext cx="41148" cy="440118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1990471"/>
            <a:ext cx="10253167" cy="4126865"/>
          </a:xfrm>
          <a:prstGeom prst="rect">
            <a:avLst/>
          </a:prstGeom>
          <a:noFill/>
        </p:spPr>
        <p:txBody>
          <a:bodyPr wrap="square" lIns="0" rIns="0" tIns="0" bIns="0" anchor="t">
            <a:spAutoFit/>
          </a:bodyPr>
          <a:lstStyle/>
          <a:p>
            <a:pPr algn="l">
              <a:lnSpc>
                <a:spcPct val="110000"/>
              </a:lnSpc>
              <a:spcBef>
                <a:spcPts val="0"/>
              </a:spcBef>
              <a:spcAft>
                <a:spcPts val="200"/>
              </a:spcAft>
            </a:pPr>
            <a:r>
              <a:rPr sz="1600" b="0" i="0">
                <a:solidFill>
                  <a:srgbClr val="1A1A1A"/>
                </a:solidFill>
                <a:latin typeface="Consolas"/>
              </a:rPr>
              <a:t>1. Client → POST /mcp without a token</a:t>
            </a:r>
          </a:p>
          <a:p>
            <a:pPr>
              <a:lnSpc>
                <a:spcPct val="110000"/>
              </a:lnSpc>
              <a:spcBef>
                <a:spcPts val="0"/>
              </a:spcBef>
              <a:spcAft>
                <a:spcPts val="200"/>
              </a:spcAft>
            </a:pPr>
            <a:r>
              <a:rPr sz="1600" b="0" i="0">
                <a:solidFill>
                  <a:srgbClr val="1A1A1A"/>
                </a:solidFill>
                <a:latin typeface="Consolas"/>
              </a:rPr>
              <a:t>   └─ 401, WWW-Authenticate: Bearer resource_metadata=…</a:t>
            </a:r>
          </a:p>
          <a:p>
            <a:pPr>
              <a:lnSpc>
                <a:spcPct val="110000"/>
              </a:lnSpc>
              <a:spcBef>
                <a:spcPts val="0"/>
              </a:spcBef>
              <a:spcAft>
                <a:spcPts val="200"/>
              </a:spcAft>
            </a:pPr>
            <a:r>
              <a:rPr sz="1600" b="0" i="0">
                <a:solidFill>
                  <a:srgbClr val="1A1A1A"/>
                </a:solidFill>
                <a:latin typeface="Consolas"/>
              </a:rPr>
              <a:t>2. Client → GET /.well-known/oauth-protected-resource/mcp</a:t>
            </a:r>
          </a:p>
          <a:p>
            <a:pPr>
              <a:lnSpc>
                <a:spcPct val="110000"/>
              </a:lnSpc>
              <a:spcBef>
                <a:spcPts val="0"/>
              </a:spcBef>
              <a:spcAft>
                <a:spcPts val="200"/>
              </a:spcAft>
            </a:pPr>
            <a:r>
              <a:rPr sz="1600" b="0" i="0">
                <a:solidFill>
                  <a:srgbClr val="1A1A1A"/>
                </a:solidFill>
                <a:latin typeface="Consolas"/>
              </a:rPr>
              <a:t>   └─ Names the authorization server (SAJHA's or yours)</a:t>
            </a:r>
          </a:p>
          <a:p>
            <a:pPr>
              <a:lnSpc>
                <a:spcPct val="110000"/>
              </a:lnSpc>
              <a:spcBef>
                <a:spcPts val="0"/>
              </a:spcBef>
              <a:spcAft>
                <a:spcPts val="200"/>
              </a:spcAft>
            </a:pPr>
            <a:r>
              <a:rPr sz="1600" b="0" i="0">
                <a:solidFill>
                  <a:srgbClr val="1A1A1A"/>
                </a:solidFill>
                <a:latin typeface="Consolas"/>
              </a:rPr>
              <a:t>3. Client → GET /oauth/authorize</a:t>
            </a:r>
          </a:p>
          <a:p>
            <a:pPr>
              <a:lnSpc>
                <a:spcPct val="110000"/>
              </a:lnSpc>
              <a:spcBef>
                <a:spcPts val="0"/>
              </a:spcBef>
              <a:spcAft>
                <a:spcPts val="200"/>
              </a:spcAft>
            </a:pPr>
            <a:r>
              <a:rPr sz="1600" b="0" i="0">
                <a:solidFill>
                  <a:srgbClr val="1A1A1A"/>
                </a:solidFill>
                <a:latin typeface="Consolas"/>
              </a:rPr>
              <a:t>   ├─ code_challenge (PKCE S256), resource=&lt;…/mcp&gt;</a:t>
            </a:r>
          </a:p>
          <a:p>
            <a:pPr>
              <a:lnSpc>
                <a:spcPct val="110000"/>
              </a:lnSpc>
              <a:spcBef>
                <a:spcPts val="0"/>
              </a:spcBef>
              <a:spcAft>
                <a:spcPts val="200"/>
              </a:spcAft>
            </a:pPr>
            <a:r>
              <a:rPr sz="1600" b="0" i="0">
                <a:solidFill>
                  <a:srgbClr val="1A1A1A"/>
                </a:solidFill>
                <a:latin typeface="Consolas"/>
              </a:rPr>
              <a:t>   └─ User signs in and consents → authorization code</a:t>
            </a:r>
          </a:p>
          <a:p>
            <a:pPr>
              <a:lnSpc>
                <a:spcPct val="110000"/>
              </a:lnSpc>
              <a:spcBef>
                <a:spcPts val="0"/>
              </a:spcBef>
              <a:spcAft>
                <a:spcPts val="200"/>
              </a:spcAft>
            </a:pPr>
            <a:r>
              <a:rPr sz="1600" b="0" i="0">
                <a:solidFill>
                  <a:srgbClr val="1A1A1A"/>
                </a:solidFill>
                <a:latin typeface="Consolas"/>
              </a:rPr>
              <a:t>4. Client → POST /oauth/token { code, code_verifier }</a:t>
            </a:r>
          </a:p>
          <a:p>
            <a:pPr>
              <a:lnSpc>
                <a:spcPct val="110000"/>
              </a:lnSpc>
              <a:spcBef>
                <a:spcPts val="0"/>
              </a:spcBef>
              <a:spcAft>
                <a:spcPts val="200"/>
              </a:spcAft>
            </a:pPr>
            <a:r>
              <a:rPr sz="1600" b="0" i="0">
                <a:solidFill>
                  <a:srgbClr val="1A1A1A"/>
                </a:solidFill>
                <a:latin typeface="Consolas"/>
              </a:rPr>
              <a:t>   └─ JWT access token, audience = SAJHA's /mcp;</a:t>
            </a:r>
          </a:p>
          <a:p>
            <a:pPr>
              <a:lnSpc>
                <a:spcPct val="110000"/>
              </a:lnSpc>
              <a:spcBef>
                <a:spcPts val="0"/>
              </a:spcBef>
              <a:spcAft>
                <a:spcPts val="200"/>
              </a:spcAft>
            </a:pPr>
            <a:r>
              <a:rPr sz="1600" b="0" i="0">
                <a:solidFill>
                  <a:srgbClr val="1A1A1A"/>
                </a:solidFill>
                <a:latin typeface="Consolas"/>
              </a:rPr>
              <a:t>      a rotating refresh token</a:t>
            </a:r>
          </a:p>
          <a:p>
            <a:pPr>
              <a:lnSpc>
                <a:spcPct val="110000"/>
              </a:lnSpc>
              <a:spcBef>
                <a:spcPts val="0"/>
              </a:spcBef>
              <a:spcAft>
                <a:spcPts val="200"/>
              </a:spcAft>
            </a:pPr>
            <a:r>
              <a:rPr sz="1600" b="0" i="0">
                <a:solidFill>
                  <a:srgbClr val="1A1A1A"/>
                </a:solidFill>
                <a:latin typeface="Consolas"/>
              </a:rPr>
              <a:t>5. Client → POST /mcp, Authorization: Bearer …</a:t>
            </a:r>
          </a:p>
          <a:p>
            <a:pPr>
              <a:lnSpc>
                <a:spcPct val="110000"/>
              </a:lnSpc>
              <a:spcBef>
                <a:spcPts val="0"/>
              </a:spcBef>
              <a:spcAft>
                <a:spcPts val="200"/>
              </a:spcAft>
            </a:pPr>
            <a:r>
              <a:rPr sz="1600" b="0" i="0">
                <a:solidFill>
                  <a:srgbClr val="1A1A1A"/>
                </a:solidFill>
                <a:latin typeface="Consolas"/>
              </a:rPr>
              <a:t>   ├─ Signature, issuer, audience, expiry, scope</a:t>
            </a:r>
          </a:p>
          <a:p>
            <a:pPr>
              <a:lnSpc>
                <a:spcPct val="110000"/>
              </a:lnSpc>
              <a:spcBef>
                <a:spcPts val="0"/>
              </a:spcBef>
              <a:spcAft>
                <a:spcPts val="200"/>
              </a:spcAft>
            </a:pPr>
            <a:r>
              <a:rPr sz="1600" b="0" i="0">
                <a:solidFill>
                  <a:srgbClr val="1A1A1A"/>
                </a:solidFill>
                <a:latin typeface="Consolas"/>
              </a:rPr>
              <a:t>   └─ Then the user's tool access, as for any caller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Authorization: the access and policy check on tools/call</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40</a:t>
            </a:r>
          </a:p>
        </p:txBody>
      </p:sp>
      <p:sp>
        <p:nvSpPr>
          <p:cNvPr id="17" name="Rectangle 16"/>
          <p:cNvSpPr/>
          <p:nvPr/>
        </p:nvSpPr>
        <p:spPr>
          <a:xfrm>
            <a:off x="777240" y="1370901"/>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1" i="0">
                <a:solidFill>
                  <a:srgbClr val="FFFFFF"/>
                </a:solidFill>
                <a:latin typeface="Calibri"/>
              </a:rPr>
              <a:t>Any client (HTTP, SSE, WebSocket, stdio, A2A)  →  SAJHA</a:t>
            </a:r>
          </a:p>
        </p:txBody>
      </p:sp>
      <p:sp>
        <p:nvSpPr>
          <p:cNvPr id="18" name="Rectangle 17"/>
          <p:cNvSpPr/>
          <p:nvPr/>
        </p:nvSpPr>
        <p:spPr>
          <a:xfrm>
            <a:off x="777240" y="1828101"/>
            <a:ext cx="10637215" cy="441725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828101"/>
            <a:ext cx="41148" cy="441725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1974405"/>
            <a:ext cx="10253167" cy="4142930"/>
          </a:xfrm>
          <a:prstGeom prst="rect">
            <a:avLst/>
          </a:prstGeom>
          <a:noFill/>
        </p:spPr>
        <p:txBody>
          <a:bodyPr wrap="square" lIns="0" rIns="0" tIns="0" bIns="0" anchor="t">
            <a:spAutoFit/>
          </a:bodyPr>
          <a:lstStyle/>
          <a:p>
            <a:pPr algn="l">
              <a:lnSpc>
                <a:spcPct val="110000"/>
              </a:lnSpc>
              <a:spcBef>
                <a:spcPts val="0"/>
              </a:spcBef>
              <a:spcAft>
                <a:spcPts val="200"/>
              </a:spcAft>
            </a:pPr>
            <a:r>
              <a:rPr sz="1600" b="0" i="0">
                <a:solidFill>
                  <a:srgbClr val="1A1A1A"/>
                </a:solidFill>
                <a:latin typeface="Consolas"/>
              </a:rPr>
              <a:t>1. Request: tools/call { name: "duckdb_sql", arguments }</a:t>
            </a:r>
          </a:p>
          <a:p>
            <a:pPr>
              <a:lnSpc>
                <a:spcPct val="110000"/>
              </a:lnSpc>
              <a:spcBef>
                <a:spcPts val="0"/>
              </a:spcBef>
              <a:spcAft>
                <a:spcPts val="200"/>
              </a:spcAft>
            </a:pPr>
            <a:r>
              <a:rPr sz="1600" b="0" i="0">
                <a:solidFill>
                  <a:srgbClr val="1A1A1A"/>
                </a:solidFill>
                <a:latin typeface="Consolas"/>
              </a:rPr>
              <a:t>2. Who is calling</a:t>
            </a:r>
          </a:p>
          <a:p>
            <a:pPr>
              <a:lnSpc>
                <a:spcPct val="110000"/>
              </a:lnSpc>
              <a:spcBef>
                <a:spcPts val="0"/>
              </a:spcBef>
              <a:spcAft>
                <a:spcPts val="200"/>
              </a:spcAft>
            </a:pPr>
            <a:r>
              <a:rPr sz="1600" b="0" i="0">
                <a:solidFill>
                  <a:srgbClr val="1A1A1A"/>
                </a:solidFill>
                <a:latin typeface="Consolas"/>
              </a:rPr>
              <a:t>   └─ Bearer JWT | X-API-Key | cookie | OAuth token | anonymous</a:t>
            </a:r>
          </a:p>
          <a:p>
            <a:pPr>
              <a:lnSpc>
                <a:spcPct val="110000"/>
              </a:lnSpc>
              <a:spcBef>
                <a:spcPts val="0"/>
              </a:spcBef>
              <a:spcAft>
                <a:spcPts val="200"/>
              </a:spcAft>
            </a:pPr>
            <a:r>
              <a:rPr sz="1600" b="0" i="0">
                <a:solidFill>
                  <a:srgbClr val="1A1A1A"/>
                </a:solidFill>
                <a:latin typeface="Consolas"/>
              </a:rPr>
              <a:t>3. May they run it (sajha/auth/access.py)</a:t>
            </a:r>
          </a:p>
          <a:p>
            <a:pPr>
              <a:lnSpc>
                <a:spcPct val="110000"/>
              </a:lnSpc>
              <a:spcBef>
                <a:spcPts val="0"/>
              </a:spcBef>
              <a:spcAft>
                <a:spcPts val="200"/>
              </a:spcAft>
            </a:pPr>
            <a:r>
              <a:rPr sz="1600" b="0" i="0">
                <a:solidFill>
                  <a:srgbClr val="1A1A1A"/>
                </a:solidFill>
                <a:latin typeface="Consolas"/>
              </a:rPr>
              <a:t>   ├─ Roles' execute patterns, or the key's mode</a:t>
            </a:r>
          </a:p>
          <a:p>
            <a:pPr>
              <a:lnSpc>
                <a:spcPct val="110000"/>
              </a:lnSpc>
              <a:spcBef>
                <a:spcPts val="0"/>
              </a:spcBef>
              <a:spcAft>
                <a:spcPts val="200"/>
              </a:spcAft>
            </a:pPr>
            <a:r>
              <a:rPr sz="1600" b="0" i="0">
                <a:solidFill>
                  <a:srgbClr val="1A1A1A"/>
                </a:solidFill>
                <a:latin typeface="Consolas"/>
              </a:rPr>
              <a:t>   └─ No → access denied, recorded</a:t>
            </a:r>
          </a:p>
          <a:p>
            <a:pPr>
              <a:lnSpc>
                <a:spcPct val="110000"/>
              </a:lnSpc>
              <a:spcBef>
                <a:spcPts val="0"/>
              </a:spcBef>
              <a:spcAft>
                <a:spcPts val="200"/>
              </a:spcAft>
            </a:pPr>
            <a:r>
              <a:rPr sz="1600" b="0" i="0">
                <a:solidFill>
                  <a:srgbClr val="1A1A1A"/>
                </a:solidFill>
                <a:latin typeface="Consolas"/>
              </a:rPr>
              <a:t>4. Arguments against the tool's JSON Schema → -32602 if not</a:t>
            </a:r>
          </a:p>
          <a:p>
            <a:pPr>
              <a:lnSpc>
                <a:spcPct val="110000"/>
              </a:lnSpc>
              <a:spcBef>
                <a:spcPts val="0"/>
              </a:spcBef>
              <a:spcAft>
                <a:spcPts val="200"/>
              </a:spcAft>
            </a:pPr>
            <a:r>
              <a:rPr sz="1600" b="0" i="0">
                <a:solidFill>
                  <a:srgbClr val="1A1A1A"/>
                </a:solidFill>
                <a:latin typeface="Consolas"/>
              </a:rPr>
              <a:t>5. Policy engine (config/policies)</a:t>
            </a:r>
          </a:p>
          <a:p>
            <a:pPr>
              <a:lnSpc>
                <a:spcPct val="110000"/>
              </a:lnSpc>
              <a:spcBef>
                <a:spcPts val="0"/>
              </a:spcBef>
              <a:spcAft>
                <a:spcPts val="200"/>
              </a:spcAft>
            </a:pPr>
            <a:r>
              <a:rPr sz="1600" b="0" i="0">
                <a:solidFill>
                  <a:srgbClr val="1A1A1A"/>
                </a:solidFill>
                <a:latin typeface="Consolas"/>
              </a:rPr>
              <a:t>   ├─ deny wins; require_approval waits for a person</a:t>
            </a:r>
          </a:p>
          <a:p>
            <a:pPr>
              <a:lnSpc>
                <a:spcPct val="110000"/>
              </a:lnSpc>
              <a:spcBef>
                <a:spcPts val="0"/>
              </a:spcBef>
              <a:spcAft>
                <a:spcPts val="200"/>
              </a:spcAft>
            </a:pPr>
            <a:r>
              <a:rPr sz="1600" b="0" i="0">
                <a:solidFill>
                  <a:srgbClr val="1A1A1A"/>
                </a:solidFill>
                <a:latin typeface="Consolas"/>
              </a:rPr>
              <a:t>   ├─ Argument constraints, rate limits, quotas</a:t>
            </a:r>
          </a:p>
          <a:p>
            <a:pPr>
              <a:lnSpc>
                <a:spcPct val="110000"/>
              </a:lnSpc>
              <a:spcBef>
                <a:spcPts val="0"/>
              </a:spcBef>
              <a:spcAft>
                <a:spcPts val="200"/>
              </a:spcAft>
            </a:pPr>
            <a:r>
              <a:rPr sz="1600" b="0" i="0">
                <a:solidFill>
                  <a:srgbClr val="1A1A1A"/>
                </a:solidFill>
                <a:latin typeface="Consolas"/>
              </a:rPr>
              <a:t>   └─ Not allow → an audit record</a:t>
            </a:r>
          </a:p>
          <a:p>
            <a:pPr>
              <a:lnSpc>
                <a:spcPct val="110000"/>
              </a:lnSpc>
              <a:spcBef>
                <a:spcPts val="0"/>
              </a:spcBef>
              <a:spcAft>
                <a:spcPts val="200"/>
              </a:spcAft>
            </a:pPr>
            <a:r>
              <a:rPr sz="1600" b="0" i="0">
                <a:solidFill>
                  <a:srgbClr val="1A1A1A"/>
                </a:solidFill>
                <a:latin typeface="Consolas"/>
              </a:rPr>
              <a:t>6. Run: cache, circuit breaker, metrics</a:t>
            </a:r>
          </a:p>
          <a:p>
            <a:pPr>
              <a:lnSpc>
                <a:spcPct val="110000"/>
              </a:lnSpc>
              <a:spcBef>
                <a:spcPts val="0"/>
              </a:spcBef>
              <a:spcAft>
                <a:spcPts val="200"/>
              </a:spcAft>
            </a:pPr>
            <a:r>
              <a:rPr sz="1600" b="0" i="0">
                <a:solidFill>
                  <a:srgbClr val="1A1A1A"/>
                </a:solidFill>
                <a:latin typeface="Consolas"/>
              </a:rPr>
              <a:t>7. Result: redaction and screening if a rule says so;</a:t>
            </a:r>
          </a:p>
          <a:p>
            <a:pPr>
              <a:lnSpc>
                <a:spcPct val="110000"/>
              </a:lnSpc>
              <a:spcBef>
                <a:spcPts val="0"/>
              </a:spcBef>
              <a:spcAft>
                <a:spcPts val="200"/>
              </a:spcAft>
            </a:pPr>
            <a:r>
              <a:rPr sz="1600" b="0" i="0">
                <a:solidFill>
                  <a:srgbClr val="1A1A1A"/>
                </a:solidFill>
                <a:latin typeface="Consolas"/>
              </a:rPr>
              <a:t>   one hash-chained audit record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POLICY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rule is a few lines of YAML, and it decides before the tool runs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41</a:t>
            </a:r>
          </a:p>
        </p:txBody>
      </p:sp>
      <p:sp>
        <p:nvSpPr>
          <p:cNvPr id="17" name="Rectangle 16"/>
          <p:cNvSpPr/>
          <p:nvPr/>
        </p:nvSpPr>
        <p:spPr>
          <a:xfrm>
            <a:off x="777240" y="1306639"/>
            <a:ext cx="4724869"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1379791"/>
            <a:ext cx="4450549"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config/policies/example-guardrails.yaml</a:t>
            </a:r>
          </a:p>
        </p:txBody>
      </p:sp>
      <p:sp>
        <p:nvSpPr>
          <p:cNvPr id="20" name="Rectangle 19"/>
          <p:cNvSpPr/>
          <p:nvPr/>
        </p:nvSpPr>
        <p:spPr>
          <a:xfrm>
            <a:off x="777240" y="1818703"/>
            <a:ext cx="4724869" cy="44266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1818703"/>
            <a:ext cx="41148" cy="44266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1965007"/>
            <a:ext cx="4340821" cy="4152328"/>
          </a:xfrm>
          <a:prstGeom prst="rect">
            <a:avLst/>
          </a:prstGeom>
          <a:noFill/>
        </p:spPr>
        <p:txBody>
          <a:bodyPr wrap="square" lIns="0" rIns="0" tIns="0" bIns="0" anchor="t">
            <a:spAutoFit/>
          </a:bodyPr>
          <a:lstStyle/>
          <a:p>
            <a:pPr algn="l">
              <a:lnSpc>
                <a:spcPct val="110000"/>
              </a:lnSpc>
              <a:spcBef>
                <a:spcPts val="0"/>
              </a:spcBef>
              <a:spcAft>
                <a:spcPts val="200"/>
              </a:spcAft>
            </a:pPr>
            <a:r>
              <a:rPr sz="1151" b="0" i="0">
                <a:solidFill>
                  <a:srgbClr val="1A1A1A"/>
                </a:solidFill>
                <a:latin typeface="Consolas"/>
              </a:rPr>
              <a:t>- id: sql-read-only</a:t>
            </a:r>
          </a:p>
          <a:p>
            <a:pPr>
              <a:lnSpc>
                <a:spcPct val="110000"/>
              </a:lnSpc>
              <a:spcBef>
                <a:spcPts val="0"/>
              </a:spcBef>
              <a:spcAft>
                <a:spcPts val="200"/>
              </a:spcAft>
            </a:pPr>
            <a:r>
              <a:rPr sz="1151" b="0" i="0">
                <a:solidFill>
                  <a:srgbClr val="1A1A1A"/>
                </a:solidFill>
                <a:latin typeface="Consolas"/>
              </a:rPr>
              <a:t>  description: Queries may not contain DDL</a:t>
            </a:r>
          </a:p>
          <a:p>
            <a:pPr>
              <a:lnSpc>
                <a:spcPct val="110000"/>
              </a:lnSpc>
              <a:spcBef>
                <a:spcPts val="0"/>
              </a:spcBef>
              <a:spcAft>
                <a:spcPts val="200"/>
              </a:spcAft>
            </a:pPr>
            <a:r>
              <a:rPr sz="1151" b="0" i="0">
                <a:solidFill>
                  <a:srgbClr val="1A1A1A"/>
                </a:solidFill>
                <a:latin typeface="Consolas"/>
              </a:rPr>
              <a:t>      or DML keywords, and stay short.</a:t>
            </a:r>
          </a:p>
          <a:p>
            <a:pPr>
              <a:lnSpc>
                <a:spcPct val="110000"/>
              </a:lnSpc>
              <a:spcBef>
                <a:spcPts val="0"/>
              </a:spcBef>
              <a:spcAft>
                <a:spcPts val="200"/>
              </a:spcAft>
            </a:pPr>
            <a:r>
              <a:rPr sz="1151" b="0" i="0">
                <a:solidFill>
                  <a:srgbClr val="1A1A1A"/>
                </a:solidFill>
                <a:latin typeface="Consolas"/>
              </a:rPr>
              <a:t>  match: {tools: ["duckdb_*",</a:t>
            </a:r>
          </a:p>
          <a:p>
            <a:pPr>
              <a:lnSpc>
                <a:spcPct val="110000"/>
              </a:lnSpc>
              <a:spcBef>
                <a:spcPts val="0"/>
              </a:spcBef>
              <a:spcAft>
                <a:spcPts val="200"/>
              </a:spcAft>
            </a:pPr>
            <a:r>
              <a:rPr sz="1151" b="0" i="0">
                <a:solidFill>
                  <a:srgbClr val="1A1A1A"/>
                </a:solidFill>
                <a:latin typeface="Consolas"/>
              </a:rPr>
              <a:t>      "sqlselect_*"]}</a:t>
            </a:r>
          </a:p>
          <a:p>
            <a:pPr>
              <a:lnSpc>
                <a:spcPct val="110000"/>
              </a:lnSpc>
              <a:spcBef>
                <a:spcPts val="0"/>
              </a:spcBef>
              <a:spcAft>
                <a:spcPts val="200"/>
              </a:spcAft>
            </a:pPr>
            <a:r>
              <a:rPr sz="1151" b="0" i="0">
                <a:solidFill>
                  <a:srgbClr val="1A1A1A"/>
                </a:solidFill>
                <a:latin typeface="Consolas"/>
              </a:rPr>
              <a:t>  constraints:</a:t>
            </a:r>
          </a:p>
          <a:p>
            <a:pPr>
              <a:lnSpc>
                <a:spcPct val="110000"/>
              </a:lnSpc>
              <a:spcBef>
                <a:spcPts val="0"/>
              </a:spcBef>
              <a:spcAft>
                <a:spcPts val="200"/>
              </a:spcAft>
            </a:pPr>
            <a:r>
              <a:rPr sz="1151" b="0" i="0">
                <a:solidFill>
                  <a:srgbClr val="1A1A1A"/>
                </a:solidFill>
                <a:latin typeface="Consolas"/>
              </a:rPr>
              <a:t>    sql: {not_pattern: "(?i)\\b(drop|delete|</a:t>
            </a:r>
          </a:p>
          <a:p>
            <a:pPr>
              <a:lnSpc>
                <a:spcPct val="110000"/>
              </a:lnSpc>
              <a:spcBef>
                <a:spcPts val="0"/>
              </a:spcBef>
              <a:spcAft>
                <a:spcPts val="200"/>
              </a:spcAft>
            </a:pPr>
            <a:r>
              <a:rPr sz="1151" b="0" i="0">
                <a:solidFill>
                  <a:srgbClr val="1A1A1A"/>
                </a:solidFill>
                <a:latin typeface="Consolas"/>
              </a:rPr>
              <a:t>        update|insert|alter|truncate|attach)</a:t>
            </a:r>
          </a:p>
          <a:p>
            <a:pPr>
              <a:lnSpc>
                <a:spcPct val="110000"/>
              </a:lnSpc>
              <a:spcBef>
                <a:spcPts val="0"/>
              </a:spcBef>
              <a:spcAft>
                <a:spcPts val="200"/>
              </a:spcAft>
            </a:pPr>
            <a:r>
              <a:rPr sz="1151" b="0" i="0">
                <a:solidFill>
                  <a:srgbClr val="1A1A1A"/>
                </a:solidFill>
                <a:latin typeface="Consolas"/>
              </a:rPr>
              <a:t>        \\b", max_length: 4000}</a:t>
            </a:r>
          </a:p>
          <a:p>
            <a:pPr>
              <a:lnSpc>
                <a:spcPct val="110000"/>
              </a:lnSpc>
              <a:spcBef>
                <a:spcPts val="0"/>
              </a:spcBef>
              <a:spcAft>
                <a:spcPts val="200"/>
              </a:spcAft>
            </a:pPr>
            <a:r>
              <a:rPr sz="1151" b="0" i="0">
                <a:solidFill>
                  <a:srgbClr val="1A1A1A"/>
                </a:solidFill>
                <a:latin typeface="Consolas"/>
              </a:rPr>
              <a:t>    query: {not_pattern: "(?i)\\b(drop|delet</a:t>
            </a:r>
          </a:p>
          <a:p>
            <a:pPr>
              <a:lnSpc>
                <a:spcPct val="110000"/>
              </a:lnSpc>
              <a:spcBef>
                <a:spcPts val="0"/>
              </a:spcBef>
              <a:spcAft>
                <a:spcPts val="200"/>
              </a:spcAft>
            </a:pPr>
            <a:r>
              <a:rPr sz="1151" b="0" i="0">
                <a:solidFill>
                  <a:srgbClr val="1A1A1A"/>
                </a:solidFill>
                <a:latin typeface="Consolas"/>
              </a:rPr>
              <a:t>        e|update|insert|alter|truncate|attac</a:t>
            </a:r>
          </a:p>
          <a:p>
            <a:pPr>
              <a:lnSpc>
                <a:spcPct val="110000"/>
              </a:lnSpc>
              <a:spcBef>
                <a:spcPts val="0"/>
              </a:spcBef>
              <a:spcAft>
                <a:spcPts val="200"/>
              </a:spcAft>
            </a:pPr>
            <a:r>
              <a:rPr sz="1151" b="0" i="0">
                <a:solidFill>
                  <a:srgbClr val="1A1A1A"/>
                </a:solidFill>
                <a:latin typeface="Consolas"/>
              </a:rPr>
              <a:t>        h)\\b", max_length: 4000}</a:t>
            </a:r>
          </a:p>
          <a:p>
            <a:pPr>
              <a:lnSpc>
                <a:spcPct val="110000"/>
              </a:lnSpc>
              <a:spcBef>
                <a:spcPts val="0"/>
              </a:spcBef>
              <a:spcAft>
                <a:spcPts val="200"/>
              </a:spcAft>
            </a:pPr>
            <a:r>
              <a:rPr sz="1151" b="0" i="0">
                <a:solidFill>
                  <a:srgbClr val="1A1A1A"/>
                </a:solidFill>
                <a:latin typeface="Consolas"/>
              </a:rPr>
              <a:t/>
            </a:r>
          </a:p>
          <a:p>
            <a:pPr>
              <a:lnSpc>
                <a:spcPct val="110000"/>
              </a:lnSpc>
              <a:spcBef>
                <a:spcPts val="0"/>
              </a:spcBef>
              <a:spcAft>
                <a:spcPts val="200"/>
              </a:spcAft>
            </a:pPr>
            <a:r>
              <a:rPr sz="1151" b="0" i="0">
                <a:solidFill>
                  <a:srgbClr val="6B7480"/>
                </a:solidFill>
                <a:latin typeface="Consolas"/>
              </a:rPr>
              <a:t># deny wins over allow; a violated constraint</a:t>
            </a:r>
          </a:p>
          <a:p>
            <a:pPr>
              <a:lnSpc>
                <a:spcPct val="110000"/>
              </a:lnSpc>
              <a:spcBef>
                <a:spcPts val="0"/>
              </a:spcBef>
              <a:spcAft>
                <a:spcPts val="200"/>
              </a:spcAft>
            </a:pPr>
            <a:r>
              <a:rPr sz="1151" b="0" i="0">
                <a:solidFill>
                  <a:srgbClr val="6B7480"/>
                </a:solidFill>
                <a:latin typeface="Consolas"/>
              </a:rPr>
              <a:t># denies with the rule's name</a:t>
            </a:r>
          </a:p>
        </p:txBody>
      </p:sp>
      <p:sp>
        <p:nvSpPr>
          <p:cNvPr id="23" name="Rectangle 22"/>
          <p:cNvSpPr/>
          <p:nvPr/>
        </p:nvSpPr>
        <p:spPr>
          <a:xfrm>
            <a:off x="5867869" y="1306639"/>
            <a:ext cx="5546585"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67869" y="130663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32461" y="1379791"/>
            <a:ext cx="5272265"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The rule language</a:t>
            </a:r>
          </a:p>
        </p:txBody>
      </p:sp>
      <p:sp>
        <p:nvSpPr>
          <p:cNvPr id="26" name="TextBox 25"/>
          <p:cNvSpPr txBox="1"/>
          <p:nvPr/>
        </p:nvSpPr>
        <p:spPr>
          <a:xfrm>
            <a:off x="5867869" y="1818703"/>
            <a:ext cx="5546585" cy="4426648"/>
          </a:xfrm>
          <a:prstGeom prst="rect">
            <a:avLst/>
          </a:prstGeom>
          <a:noFill/>
        </p:spPr>
        <p:txBody>
          <a:bodyPr wrap="square" lIns="0" rIns="0" tIns="0" bIns="0" anchor="t">
            <a:spAutoFit/>
          </a:bodyPr>
          <a:lstStyle/>
          <a:p>
            <a:pPr algn="l">
              <a:lnSpc>
                <a:spcPct val="120000"/>
              </a:lnSpc>
              <a:spcBef>
                <a:spcPts val="0"/>
              </a:spcBef>
              <a:spcAft>
                <a:spcPts val="100"/>
              </a:spcAft>
            </a:pPr>
            <a:r>
              <a:rPr sz="1650" b="1">
                <a:solidFill>
                  <a:srgbClr val="A51C30"/>
                </a:solidFill>
                <a:latin typeface="Calibri"/>
              </a:rPr>
              <a:t>▪  </a:t>
            </a:r>
            <a:r>
              <a:rPr sz="1650" b="1">
                <a:solidFill>
                  <a:srgbClr val="1A1A1A"/>
                </a:solidFill>
                <a:latin typeface="Calibri"/>
              </a:rPr>
              <a:t>Match</a:t>
            </a:r>
          </a:p>
          <a:p>
            <a:pPr lvl="1">
              <a:lnSpc>
                <a:spcPct val="120000"/>
              </a:lnSpc>
              <a:spcBef>
                <a:spcPts val="0"/>
              </a:spcBef>
              <a:spcAft>
                <a:spcPts val="0"/>
              </a:spcAft>
            </a:pPr>
            <a:r>
              <a:rPr sz="1500" b="0">
                <a:solidFill>
                  <a:srgbClr val="6B7480"/>
                </a:solidFill>
                <a:latin typeface="Calibri"/>
              </a:rPr>
              <a:t>Tool names and groups, annotations such as destructiveHint, the caller, the path, a time window, argument values.</a:t>
            </a:r>
          </a:p>
          <a:p>
            <a:pPr>
              <a:lnSpc>
                <a:spcPct val="120000"/>
              </a:lnSpc>
              <a:spcBef>
                <a:spcPts val="500"/>
              </a:spcBef>
              <a:spcAft>
                <a:spcPts val="100"/>
              </a:spcAft>
            </a:pPr>
            <a:r>
              <a:rPr sz="1650" b="1">
                <a:solidFill>
                  <a:srgbClr val="A51C30"/>
                </a:solidFill>
                <a:latin typeface="Calibri"/>
              </a:rPr>
              <a:t>▪  </a:t>
            </a:r>
            <a:r>
              <a:rPr sz="1650" b="1">
                <a:solidFill>
                  <a:srgbClr val="1A1A1A"/>
                </a:solidFill>
                <a:latin typeface="Calibri"/>
              </a:rPr>
              <a:t>Decide</a:t>
            </a:r>
          </a:p>
          <a:p>
            <a:pPr lvl="1">
              <a:lnSpc>
                <a:spcPct val="120000"/>
              </a:lnSpc>
              <a:spcBef>
                <a:spcPts val="0"/>
              </a:spcBef>
              <a:spcAft>
                <a:spcPts val="0"/>
              </a:spcAft>
            </a:pPr>
            <a:r>
              <a:rPr sz="1500" b="0">
                <a:solidFill>
                  <a:srgbClr val="6B7480"/>
                </a:solidFill>
                <a:latin typeface="Calibri"/>
              </a:rPr>
              <a:t>allow, deny with a reason, or require_approval; deny overrides; default_effect: deny makes it an allowlist.</a:t>
            </a:r>
          </a:p>
          <a:p>
            <a:pPr>
              <a:lnSpc>
                <a:spcPct val="120000"/>
              </a:lnSpc>
              <a:spcBef>
                <a:spcPts val="500"/>
              </a:spcBef>
              <a:spcAft>
                <a:spcPts val="100"/>
              </a:spcAft>
            </a:pPr>
            <a:r>
              <a:rPr sz="1650" b="1">
                <a:solidFill>
                  <a:srgbClr val="A51C30"/>
                </a:solidFill>
                <a:latin typeface="Calibri"/>
              </a:rPr>
              <a:t>▪  </a:t>
            </a:r>
            <a:r>
              <a:rPr sz="1650" b="1">
                <a:solidFill>
                  <a:srgbClr val="1A1A1A"/>
                </a:solidFill>
                <a:latin typeface="Calibri"/>
              </a:rPr>
              <a:t>Oblige</a:t>
            </a:r>
          </a:p>
          <a:p>
            <a:pPr lvl="1">
              <a:lnSpc>
                <a:spcPct val="120000"/>
              </a:lnSpc>
              <a:spcBef>
                <a:spcPts val="0"/>
              </a:spcBef>
              <a:spcAft>
                <a:spcPts val="0"/>
              </a:spcAft>
            </a:pPr>
            <a:r>
              <a:rPr sz="1500" b="0">
                <a:solidFill>
                  <a:srgbClr val="6B7480"/>
                </a:solidFill>
                <a:latin typeface="Calibri"/>
              </a:rPr>
              <a:t>Argument constraints, rate limits and quotas shared by every worker, redaction, screening of results.</a:t>
            </a:r>
          </a:p>
          <a:p>
            <a:pPr>
              <a:lnSpc>
                <a:spcPct val="120000"/>
              </a:lnSpc>
              <a:spcBef>
                <a:spcPts val="500"/>
              </a:spcBef>
              <a:spcAft>
                <a:spcPts val="100"/>
              </a:spcAft>
            </a:pPr>
            <a:r>
              <a:rPr sz="1650" b="1">
                <a:solidFill>
                  <a:srgbClr val="A51C30"/>
                </a:solidFill>
                <a:latin typeface="Calibri"/>
              </a:rPr>
              <a:t>▪  </a:t>
            </a:r>
            <a:r>
              <a:rPr sz="1650" b="1">
                <a:solidFill>
                  <a:srgbClr val="1A1A1A"/>
                </a:solidFill>
                <a:latin typeface="Calibri"/>
              </a:rPr>
              <a:t>Operate</a:t>
            </a:r>
          </a:p>
          <a:p>
            <a:pPr lvl="1">
              <a:lnSpc>
                <a:spcPct val="120000"/>
              </a:lnSpc>
              <a:spcBef>
                <a:spcPts val="0"/>
              </a:spcBef>
              <a:spcAft>
                <a:spcPts val="0"/>
              </a:spcAft>
            </a:pPr>
            <a:r>
              <a:rPr sz="1500" b="0">
                <a:solidFill>
                  <a:srgbClr val="6B7480"/>
                </a:solidFill>
                <a:latin typeface="Calibri"/>
              </a:rPr>
              <a:t>Files reload on change; every decision that is not allow is audited; the Policies page has a test bench.</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POLICY, EVALUATED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The shipped example policy, evaluated on four calls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42</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same engine sits in BaseMCPTool.execute_with_tracking, so these decisions are the same over MCP, REST, the command line or Ask SAJHA.</a:t>
            </a:r>
          </a:p>
        </p:txBody>
      </p:sp>
      <p:graphicFrame>
        <p:nvGraphicFramePr>
          <p:cNvPr id="19" name="Table 18"/>
          <p:cNvGraphicFramePr>
            <a:graphicFrameLocks noGrp="1"/>
          </p:cNvGraphicFramePr>
          <p:nvPr/>
        </p:nvGraphicFramePr>
        <p:xfrm>
          <a:off x="777240" y="1386967"/>
          <a:ext cx="10637213" cy="4235670"/>
        </p:xfrm>
        <a:graphic>
          <a:graphicData uri="http://schemas.openxmlformats.org/drawingml/2006/table">
            <a:tbl>
              <a:tblPr firstRow="1">
                <a:tableStyleId>{5C22544A-7EE6-4342-B048-85BDC9FD1C3A}</a:tableStyleId>
              </a:tblPr>
              <a:tblGrid>
                <a:gridCol w="1297221"/>
                <a:gridCol w="3761941"/>
                <a:gridCol w="1686387"/>
                <a:gridCol w="3891664"/>
              </a:tblGrid>
              <a:tr h="350710">
                <a:tc>
                  <a:txBody>
                    <a:bodyPr wrap="square"/>
                    <a:lstStyle/>
                    <a:p>
                      <a:r>
                        <a:rPr sz="1500" b="1">
                          <a:solidFill>
                            <a:srgbClr val="FFFFFF"/>
                          </a:solidFill>
                          <a:latin typeface="Calibri"/>
                        </a:rPr>
                        <a:t>Caller</a:t>
                      </a:r>
                    </a:p>
                  </a:txBody>
                  <a:tcPr marL="82296" marR="64008" marT="32004" marB="32004" anchor="ctr">
                    <a:solidFill>
                      <a:srgbClr val="A51C30"/>
                    </a:solidFill>
                  </a:tcPr>
                </a:tc>
                <a:tc>
                  <a:txBody>
                    <a:bodyPr wrap="square"/>
                    <a:lstStyle/>
                    <a:p>
                      <a:r>
                        <a:rPr sz="1500" b="1">
                          <a:solidFill>
                            <a:srgbClr val="FFFFFF"/>
                          </a:solidFill>
                          <a:latin typeface="Calibri"/>
                        </a:rPr>
                        <a:t>Tool and arguments</a:t>
                      </a:r>
                    </a:p>
                  </a:txBody>
                  <a:tcPr marL="82296" marR="64008" marT="32004" marB="32004" anchor="ctr">
                    <a:solidFill>
                      <a:srgbClr val="A51C30"/>
                    </a:solidFill>
                  </a:tcPr>
                </a:tc>
                <a:tc>
                  <a:txBody>
                    <a:bodyPr wrap="square"/>
                    <a:lstStyle/>
                    <a:p>
                      <a:r>
                        <a:rPr sz="1500" b="1">
                          <a:solidFill>
                            <a:srgbClr val="FFFFFF"/>
                          </a:solidFill>
                          <a:latin typeface="Calibri"/>
                        </a:rPr>
                        <a:t>Decision</a:t>
                      </a:r>
                    </a:p>
                  </a:txBody>
                  <a:tcPr marL="82296" marR="64008" marT="32004" marB="32004" anchor="ctr">
                    <a:solidFill>
                      <a:srgbClr val="A51C30"/>
                    </a:solidFill>
                  </a:tcPr>
                </a:tc>
                <a:tc>
                  <a:txBody>
                    <a:bodyPr wrap="square"/>
                    <a:lstStyle/>
                    <a:p>
                      <a:r>
                        <a:rPr sz="1500" b="1">
                          <a:solidFill>
                            <a:srgbClr val="FFFFFF"/>
                          </a:solidFill>
                          <a:latin typeface="Calibri"/>
                        </a:rPr>
                        <a:t>Rule and reason</a:t>
                      </a:r>
                    </a:p>
                  </a:txBody>
                  <a:tcPr marL="82296" marR="64008" marT="32004" marB="32004" anchor="ctr">
                    <a:solidFill>
                      <a:srgbClr val="A51C30"/>
                    </a:solidFill>
                  </a:tcPr>
                </a:tc>
              </a:tr>
              <a:tr h="904970">
                <a:tc>
                  <a:txBody>
                    <a:bodyPr wrap="square"/>
                    <a:lstStyle/>
                    <a:p>
                      <a:r>
                        <a:rPr sz="1650" b="1">
                          <a:solidFill>
                            <a:srgbClr val="6E1120"/>
                          </a:solidFill>
                          <a:latin typeface="Calibri"/>
                        </a:rPr>
                        <a:t>alice</a:t>
                      </a:r>
                    </a:p>
                  </a:txBody>
                  <a:tcPr marL="82296" marR="64008" marT="32004" marB="32004" anchor="ctr">
                    <a:solidFill>
                      <a:srgbClr val="FFFFFF"/>
                    </a:solidFill>
                  </a:tcPr>
                </a:tc>
                <a:tc>
                  <a:txBody>
                    <a:bodyPr wrap="square"/>
                    <a:lstStyle/>
                    <a:p>
                      <a:r>
                        <a:rPr sz="1650" b="0">
                          <a:solidFill>
                            <a:srgbClr val="1A1A1A"/>
                          </a:solidFill>
                          <a:latin typeface="Calibri"/>
                        </a:rPr>
                        <a:t>duckdb_sql {"sql": "SELECT region, SUM(amount) FROM orders GROUP BY region"}</a:t>
                      </a:r>
                    </a:p>
                  </a:txBody>
                  <a:tcPr marL="82296" marR="64008" marT="32004" marB="32004" anchor="ctr">
                    <a:solidFill>
                      <a:srgbClr val="FFFFFF"/>
                    </a:solidFill>
                  </a:tcPr>
                </a:tc>
                <a:tc>
                  <a:txBody>
                    <a:bodyPr wrap="square"/>
                    <a:lstStyle/>
                    <a:p>
                      <a:r>
                        <a:rPr sz="1650" b="0">
                          <a:solidFill>
                            <a:srgbClr val="1A1A1A"/>
                          </a:solidFill>
                          <a:latin typeface="Calibri"/>
                        </a:rPr>
                        <a:t>allow + redact</a:t>
                      </a:r>
                    </a:p>
                  </a:txBody>
                  <a:tcPr marL="82296" marR="64008" marT="32004" marB="32004" anchor="ctr">
                    <a:solidFill>
                      <a:srgbClr val="FFFFFF"/>
                    </a:solidFill>
                  </a:tcPr>
                </a:tc>
                <a:tc>
                  <a:txBody>
                    <a:bodyPr wrap="square"/>
                    <a:lstStyle/>
                    <a:p>
                      <a:r>
                        <a:rPr sz="1650" b="0">
                          <a:solidFill>
                            <a:srgbClr val="1A1A1A"/>
                          </a:solidFill>
                          <a:latin typeface="Calibri"/>
                        </a:rPr>
                        <a:t>no deciding rule: allowed; obligations still apply</a:t>
                      </a:r>
                    </a:p>
                  </a:txBody>
                  <a:tcPr marL="82296" marR="64008" marT="32004" marB="32004" anchor="ctr">
                    <a:solidFill>
                      <a:srgbClr val="FFFFFF"/>
                    </a:solidFill>
                  </a:tcPr>
                </a:tc>
              </a:tr>
              <a:tr h="1170050">
                <a:tc>
                  <a:txBody>
                    <a:bodyPr wrap="square"/>
                    <a:lstStyle/>
                    <a:p>
                      <a:r>
                        <a:rPr sz="1650" b="1">
                          <a:solidFill>
                            <a:srgbClr val="6E1120"/>
                          </a:solidFill>
                          <a:latin typeface="Calibri"/>
                        </a:rPr>
                        <a:t>alice</a:t>
                      </a:r>
                    </a:p>
                  </a:txBody>
                  <a:tcPr marL="82296" marR="64008" marT="32004" marB="32004" anchor="ctr">
                    <a:solidFill>
                      <a:srgbClr val="F7F5F2"/>
                    </a:solidFill>
                  </a:tcPr>
                </a:tc>
                <a:tc>
                  <a:txBody>
                    <a:bodyPr wrap="square"/>
                    <a:lstStyle/>
                    <a:p>
                      <a:r>
                        <a:rPr sz="1650" b="0">
                          <a:solidFill>
                            <a:srgbClr val="1A1A1A"/>
                          </a:solidFill>
                          <a:latin typeface="Calibri"/>
                        </a:rPr>
                        <a:t>duckdb_sql {"sql": "SELECT 1; DROP TABLE orders"}</a:t>
                      </a:r>
                    </a:p>
                  </a:txBody>
                  <a:tcPr marL="82296" marR="64008" marT="32004" marB="32004" anchor="ctr">
                    <a:solidFill>
                      <a:srgbClr val="F7F5F2"/>
                    </a:solidFill>
                  </a:tcPr>
                </a:tc>
                <a:tc>
                  <a:txBody>
                    <a:bodyPr wrap="square"/>
                    <a:lstStyle/>
                    <a:p>
                      <a:r>
                        <a:rPr sz="1650" b="0">
                          <a:solidFill>
                            <a:srgbClr val="1A1A1A"/>
                          </a:solidFill>
                          <a:latin typeface="Calibri"/>
                        </a:rPr>
                        <a:t>deny</a:t>
                      </a:r>
                    </a:p>
                  </a:txBody>
                  <a:tcPr marL="82296" marR="64008" marT="32004" marB="32004" anchor="ctr">
                    <a:solidFill>
                      <a:srgbClr val="F7F5F2"/>
                    </a:solidFill>
                  </a:tcPr>
                </a:tc>
                <a:tc>
                  <a:txBody>
                    <a:bodyPr wrap="square"/>
                    <a:lstStyle/>
                    <a:p>
                      <a:r>
                        <a:rPr sz="1650" b="0">
                          <a:solidFill>
                            <a:srgbClr val="1A1A1A"/>
                          </a:solidFill>
                          <a:latin typeface="Calibri"/>
                        </a:rPr>
                        <a:t>sql-read-only: argument constraint: 'sql' matches a forbidden pattern (rule example-guardrails/sql-read-only)</a:t>
                      </a:r>
                    </a:p>
                  </a:txBody>
                  <a:tcPr marL="82296" marR="64008" marT="32004" marB="32004" anchor="ctr">
                    <a:solidFill>
                      <a:srgbClr val="F7F5F2"/>
                    </a:solidFill>
                  </a:tcPr>
                </a:tc>
              </a:tr>
              <a:tr h="904970">
                <a:tc>
                  <a:txBody>
                    <a:bodyPr wrap="square"/>
                    <a:lstStyle/>
                    <a:p>
                      <a:r>
                        <a:rPr sz="1650" b="1">
                          <a:solidFill>
                            <a:srgbClr val="6E1120"/>
                          </a:solidFill>
                          <a:latin typeface="Calibri"/>
                        </a:rPr>
                        <a:t>anonymous</a:t>
                      </a:r>
                    </a:p>
                  </a:txBody>
                  <a:tcPr marL="82296" marR="64008" marT="32004" marB="32004" anchor="ctr">
                    <a:solidFill>
                      <a:srgbClr val="FFFFFF"/>
                    </a:solidFill>
                  </a:tcPr>
                </a:tc>
                <a:tc>
                  <a:txBody>
                    <a:bodyPr wrap="square"/>
                    <a:lstStyle/>
                    <a:p>
                      <a:r>
                        <a:rPr sz="1650" b="0">
                          <a:solidFill>
                            <a:srgbClr val="1A1A1A"/>
                          </a:solidFill>
                          <a:latin typeface="Calibri"/>
                        </a:rPr>
                        <a:t>github_create_issue {"repo": "acme/app", "title": "x"}</a:t>
                      </a:r>
                    </a:p>
                  </a:txBody>
                  <a:tcPr marL="82296" marR="64008" marT="32004" marB="32004" anchor="ctr">
                    <a:solidFill>
                      <a:srgbClr val="FFFFFF"/>
                    </a:solidFill>
                  </a:tcPr>
                </a:tc>
                <a:tc>
                  <a:txBody>
                    <a:bodyPr wrap="square"/>
                    <a:lstStyle/>
                    <a:p>
                      <a:r>
                        <a:rPr sz="1650" b="0">
                          <a:solidFill>
                            <a:srgbClr val="1A1A1A"/>
                          </a:solidFill>
                          <a:latin typeface="Calibri"/>
                        </a:rPr>
                        <a:t>deny</a:t>
                      </a:r>
                    </a:p>
                  </a:txBody>
                  <a:tcPr marL="82296" marR="64008" marT="32004" marB="32004" anchor="ctr">
                    <a:solidFill>
                      <a:srgbClr val="FFFFFF"/>
                    </a:solidFill>
                  </a:tcPr>
                </a:tc>
                <a:tc>
                  <a:txBody>
                    <a:bodyPr wrap="square"/>
                    <a:lstStyle/>
                    <a:p>
                      <a:r>
                        <a:rPr sz="1650" b="0">
                          <a:solidFill>
                            <a:srgbClr val="1A1A1A"/>
                          </a:solidFill>
                          <a:latin typeface="Calibri"/>
                        </a:rPr>
                        <a:t>no-anonymous-destructive: Sign in to run tools that change or delete data.</a:t>
                      </a:r>
                    </a:p>
                  </a:txBody>
                  <a:tcPr marL="82296" marR="64008" marT="32004" marB="32004" anchor="ctr">
                    <a:solidFill>
                      <a:srgbClr val="FFFFFF"/>
                    </a:solidFill>
                  </a:tcPr>
                </a:tc>
              </a:tr>
              <a:tr h="904970">
                <a:tc>
                  <a:txBody>
                    <a:bodyPr wrap="square"/>
                    <a:lstStyle/>
                    <a:p>
                      <a:r>
                        <a:rPr sz="1650" b="1">
                          <a:solidFill>
                            <a:srgbClr val="6E1120"/>
                          </a:solidFill>
                          <a:latin typeface="Calibri"/>
                        </a:rPr>
                        <a:t>alice</a:t>
                      </a:r>
                    </a:p>
                  </a:txBody>
                  <a:tcPr marL="82296" marR="64008" marT="32004" marB="32004" anchor="ctr">
                    <a:solidFill>
                      <a:srgbClr val="F7F5F2"/>
                    </a:solidFill>
                  </a:tcPr>
                </a:tc>
                <a:tc>
                  <a:txBody>
                    <a:bodyPr wrap="square"/>
                    <a:lstStyle/>
                    <a:p>
                      <a:r>
                        <a:rPr sz="1650" b="0">
                          <a:solidFill>
                            <a:srgbClr val="1A1A1A"/>
                          </a:solidFill>
                          <a:latin typeface="Calibri"/>
                        </a:rPr>
                        <a:t>github_create_issue {"repo": "acme/app", "title": "x"}</a:t>
                      </a:r>
                    </a:p>
                  </a:txBody>
                  <a:tcPr marL="82296" marR="64008" marT="32004" marB="32004" anchor="ctr">
                    <a:solidFill>
                      <a:srgbClr val="F7F5F2"/>
                    </a:solidFill>
                  </a:tcPr>
                </a:tc>
                <a:tc>
                  <a:txBody>
                    <a:bodyPr wrap="square"/>
                    <a:lstStyle/>
                    <a:p>
                      <a:r>
                        <a:rPr sz="1650" b="0">
                          <a:solidFill>
                            <a:srgbClr val="1A1A1A"/>
                          </a:solidFill>
                          <a:latin typeface="Calibri"/>
                        </a:rPr>
                        <a:t>require_approval + redact</a:t>
                      </a:r>
                    </a:p>
                  </a:txBody>
                  <a:tcPr marL="82296" marR="64008" marT="32004" marB="32004" anchor="ctr">
                    <a:solidFill>
                      <a:srgbClr val="F7F5F2"/>
                    </a:solidFill>
                  </a:tcPr>
                </a:tc>
                <a:tc>
                  <a:txBody>
                    <a:bodyPr wrap="square"/>
                    <a:lstStyle/>
                    <a:p>
                      <a:r>
                        <a:rPr sz="1650" b="0">
                          <a:solidFill>
                            <a:srgbClr val="1A1A1A"/>
                          </a:solidFill>
                          <a:latin typeface="Calibri"/>
                        </a:rPr>
                        <a:t>approve-destructive: This tool can change or delete data</a:t>
                      </a:r>
                    </a:p>
                  </a:txBody>
                  <a:tcPr marL="82296" marR="64008" marT="32004" marB="32004" anchor="ctr">
                    <a:solidFill>
                      <a:srgbClr val="F7F5F2"/>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AUDIT, TAMPERED WITH</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Change one stored field and the audit says which record and which field</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An edit, a deletion, an insertion or a reordering breaks the chain at the record where it happened.</a:t>
            </a:r>
          </a:p>
        </p:txBody>
      </p:sp>
      <p:sp>
        <p:nvSpPr>
          <p:cNvPr id="19" name="Rectangle 18"/>
          <p:cNvSpPr/>
          <p:nvPr/>
        </p:nvSpPr>
        <p:spPr>
          <a:xfrm>
            <a:off x="777240" y="1290574"/>
            <a:ext cx="4999491" cy="458901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290574"/>
            <a:ext cx="41148" cy="458901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1436878"/>
            <a:ext cx="4615443" cy="4314698"/>
          </a:xfrm>
          <a:prstGeom prst="rect">
            <a:avLst/>
          </a:prstGeom>
          <a:noFill/>
        </p:spPr>
        <p:txBody>
          <a:bodyPr wrap="square" lIns="0" rIns="0" tIns="0" bIns="0" anchor="t">
            <a:spAutoFit/>
          </a:bodyPr>
          <a:lstStyle/>
          <a:p>
            <a:pPr algn="l">
              <a:lnSpc>
                <a:spcPct val="110000"/>
              </a:lnSpc>
              <a:spcBef>
                <a:spcPts val="0"/>
              </a:spcBef>
              <a:spcAft>
                <a:spcPts val="200"/>
              </a:spcAft>
            </a:pPr>
            <a:r>
              <a:rPr sz="1172" b="0" i="0">
                <a:solidFill>
                  <a:srgbClr val="6B7480"/>
                </a:solidFill>
                <a:latin typeface="Consolas"/>
              </a:rPr>
              <a:t># captured while building this deck</a:t>
            </a:r>
          </a:p>
          <a:p>
            <a:pPr>
              <a:lnSpc>
                <a:spcPct val="110000"/>
              </a:lnSpc>
              <a:spcBef>
                <a:spcPts val="0"/>
              </a:spcBef>
              <a:spcAft>
                <a:spcPts val="200"/>
              </a:spcAft>
            </a:pPr>
            <a:r>
              <a:rPr sz="1172" b="0" i="0">
                <a:solidFill>
                  <a:srgbClr val="6B7480"/>
                </a:solidFill>
                <a:latin typeface="Consolas"/>
              </a:rPr>
              <a:t># write a short chain, signed every 5 records</a:t>
            </a:r>
          </a:p>
          <a:p>
            <a:pPr>
              <a:lnSpc>
                <a:spcPct val="110000"/>
              </a:lnSpc>
              <a:spcBef>
                <a:spcPts val="0"/>
              </a:spcBef>
              <a:spcAft>
                <a:spcPts val="200"/>
              </a:spcAft>
            </a:pPr>
            <a:r>
              <a:rPr sz="1172" b="1" i="0">
                <a:solidFill>
                  <a:srgbClr val="6E1120"/>
                </a:solidFill>
                <a:latin typeface="Consolas"/>
              </a:rPr>
              <a:t>✓ verify: 17 records, 3 signed anchors, ok=True</a:t>
            </a:r>
          </a:p>
          <a:p>
            <a:pPr>
              <a:lnSpc>
                <a:spcPct val="110000"/>
              </a:lnSpc>
              <a:spcBef>
                <a:spcPts val="0"/>
              </a:spcBef>
              <a:spcAft>
                <a:spcPts val="200"/>
              </a:spcAft>
            </a:pPr>
            <a:r>
              <a:rPr sz="1172" b="0" i="0">
                <a:solidFill>
                  <a:srgbClr val="1A1A1A"/>
                </a:solidFill>
                <a:latin typeface="Consolas"/>
              </a:rPr>
              <a:t/>
            </a:r>
          </a:p>
          <a:p>
            <a:pPr>
              <a:lnSpc>
                <a:spcPct val="110000"/>
              </a:lnSpc>
              <a:spcBef>
                <a:spcPts val="0"/>
              </a:spcBef>
              <a:spcAft>
                <a:spcPts val="200"/>
              </a:spcAft>
            </a:pPr>
            <a:r>
              <a:rPr sz="1172" b="0" i="0">
                <a:solidFill>
                  <a:srgbClr val="6B7480"/>
                </a:solidFill>
                <a:latin typeface="Consolas"/>
              </a:rPr>
              <a:t># change one stored outcome, deny -&gt; ok</a:t>
            </a:r>
          </a:p>
          <a:p>
            <a:pPr>
              <a:lnSpc>
                <a:spcPct val="110000"/>
              </a:lnSpc>
              <a:spcBef>
                <a:spcPts val="0"/>
              </a:spcBef>
              <a:spcAft>
                <a:spcPts val="200"/>
              </a:spcAft>
            </a:pPr>
            <a:r>
              <a:rPr sz="1172" b="0" i="0">
                <a:solidFill>
                  <a:srgbClr val="1A1A1A"/>
                </a:solidFill>
                <a:latin typeface="Consolas"/>
              </a:rPr>
              <a:t>UPDATE audit_chain SET outcome='ok' WHERE seq=9</a:t>
            </a:r>
          </a:p>
          <a:p>
            <a:pPr>
              <a:lnSpc>
                <a:spcPct val="110000"/>
              </a:lnSpc>
              <a:spcBef>
                <a:spcPts val="0"/>
              </a:spcBef>
              <a:spcAft>
                <a:spcPts val="200"/>
              </a:spcAft>
            </a:pPr>
            <a:r>
              <a:rPr sz="1172" b="0" i="0">
                <a:solidFill>
                  <a:srgbClr val="1A1A1A"/>
                </a:solidFill>
                <a:latin typeface="Consolas"/>
              </a:rPr>
              <a:t/>
            </a:r>
          </a:p>
          <a:p>
            <a:pPr>
              <a:lnSpc>
                <a:spcPct val="110000"/>
              </a:lnSpc>
              <a:spcBef>
                <a:spcPts val="0"/>
              </a:spcBef>
              <a:spcAft>
                <a:spcPts val="200"/>
              </a:spcAft>
            </a:pPr>
            <a:r>
              <a:rPr sz="1172" b="1" i="0">
                <a:solidFill>
                  <a:srgbClr val="6E1120"/>
                </a:solidFill>
                <a:latin typeface="Consolas"/>
              </a:rPr>
              <a:t>✗ verify: ok=False</a:t>
            </a:r>
          </a:p>
          <a:p>
            <a:pPr>
              <a:lnSpc>
                <a:spcPct val="110000"/>
              </a:lnSpc>
              <a:spcBef>
                <a:spcPts val="0"/>
              </a:spcBef>
              <a:spcAft>
                <a:spcPts val="200"/>
              </a:spcAft>
            </a:pPr>
            <a:r>
              <a:rPr sz="1172" b="0" i="0">
                <a:solidFill>
                  <a:srgbClr val="1A1A1A"/>
                </a:solidFill>
                <a:latin typeface="Consolas"/>
              </a:rPr>
              <a:t>seq 9: column outcome was changed ('ok' vs</a:t>
            </a:r>
          </a:p>
          <a:p>
            <a:pPr>
              <a:lnSpc>
                <a:spcPct val="110000"/>
              </a:lnSpc>
              <a:spcBef>
                <a:spcPts val="0"/>
              </a:spcBef>
              <a:spcAft>
                <a:spcPts val="200"/>
              </a:spcAft>
            </a:pPr>
            <a:r>
              <a:rPr sz="1172" b="0" i="0">
                <a:solidFill>
                  <a:srgbClr val="1A1A1A"/>
                </a:solidFill>
                <a:latin typeface="Consolas"/>
              </a:rPr>
              <a:t>  record 'deny')</a:t>
            </a:r>
          </a:p>
        </p:txBody>
      </p:sp>
      <p:sp>
        <p:nvSpPr>
          <p:cNvPr id="22" name="Rounded Rectangle 21"/>
          <p:cNvSpPr/>
          <p:nvPr/>
        </p:nvSpPr>
        <p:spPr>
          <a:xfrm>
            <a:off x="6308591" y="1382354"/>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8</a:t>
            </a:r>
          </a:p>
          <a:p>
            <a:pPr algn="ctr">
              <a:lnSpc>
                <a:spcPct val="105000"/>
              </a:lnSpc>
              <a:spcBef>
                <a:spcPts val="0"/>
              </a:spcBef>
              <a:spcAft>
                <a:spcPts val="0"/>
              </a:spcAft>
            </a:pPr>
            <a:r>
              <a:rPr sz="1050" b="0" i="0">
                <a:solidFill>
                  <a:srgbClr val="1A1A1A"/>
                </a:solidFill>
                <a:latin typeface="Calibri"/>
              </a:rPr>
              <a:t>hash over its fields and the previous hash</a:t>
            </a:r>
          </a:p>
        </p:txBody>
      </p:sp>
      <p:sp>
        <p:nvSpPr>
          <p:cNvPr id="23" name="Rounded Rectangle 22"/>
          <p:cNvSpPr/>
          <p:nvPr/>
        </p:nvSpPr>
        <p:spPr>
          <a:xfrm>
            <a:off x="6308591" y="2300157"/>
            <a:ext cx="2552931" cy="688352"/>
          </a:xfrm>
          <a:prstGeom prst="roundRect">
            <a:avLst>
              <a:gd name="adj" fmla="val 106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record 9</a:t>
            </a:r>
          </a:p>
          <a:p>
            <a:pPr algn="ctr">
              <a:lnSpc>
                <a:spcPct val="105000"/>
              </a:lnSpc>
              <a:spcBef>
                <a:spcPts val="0"/>
              </a:spcBef>
              <a:spcAft>
                <a:spcPts val="0"/>
              </a:spcAft>
            </a:pPr>
            <a:r>
              <a:rPr sz="1050" b="0" i="0">
                <a:solidFill>
                  <a:srgbClr val="FFFFFF"/>
                </a:solidFill>
                <a:latin typeface="Calibri"/>
              </a:rPr>
              <a:t>changed: its hash no longer matches</a:t>
            </a:r>
          </a:p>
        </p:txBody>
      </p:sp>
      <p:sp>
        <p:nvSpPr>
          <p:cNvPr id="24" name="Rounded Rectangle 23"/>
          <p:cNvSpPr/>
          <p:nvPr/>
        </p:nvSpPr>
        <p:spPr>
          <a:xfrm>
            <a:off x="6308591" y="3217961"/>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10</a:t>
            </a:r>
          </a:p>
          <a:p>
            <a:pPr algn="ctr">
              <a:lnSpc>
                <a:spcPct val="105000"/>
              </a:lnSpc>
              <a:spcBef>
                <a:spcPts val="0"/>
              </a:spcBef>
              <a:spcAft>
                <a:spcPts val="0"/>
              </a:spcAft>
            </a:pPr>
            <a:r>
              <a:rPr sz="1050" b="0" i="0">
                <a:solidFill>
                  <a:srgbClr val="1A1A1A"/>
                </a:solidFill>
                <a:latin typeface="Calibri"/>
              </a:rPr>
              <a:t>carries the previous record's hash</a:t>
            </a:r>
          </a:p>
        </p:txBody>
      </p:sp>
      <p:sp>
        <p:nvSpPr>
          <p:cNvPr id="25" name="Rounded Rectangle 24"/>
          <p:cNvSpPr/>
          <p:nvPr/>
        </p:nvSpPr>
        <p:spPr>
          <a:xfrm>
            <a:off x="6308591" y="4135765"/>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11</a:t>
            </a:r>
          </a:p>
          <a:p>
            <a:pPr algn="ctr">
              <a:lnSpc>
                <a:spcPct val="105000"/>
              </a:lnSpc>
              <a:spcBef>
                <a:spcPts val="0"/>
              </a:spcBef>
              <a:spcAft>
                <a:spcPts val="0"/>
              </a:spcAft>
            </a:pPr>
            <a:r>
              <a:rPr sz="1050" b="0" i="0">
                <a:solidFill>
                  <a:srgbClr val="1A1A1A"/>
                </a:solidFill>
                <a:latin typeface="Calibri"/>
              </a:rPr>
              <a:t>carries the previous record's hash</a:t>
            </a:r>
          </a:p>
        </p:txBody>
      </p:sp>
      <p:sp>
        <p:nvSpPr>
          <p:cNvPr id="26" name="Rounded Rectangle 25"/>
          <p:cNvSpPr/>
          <p:nvPr/>
        </p:nvSpPr>
        <p:spPr>
          <a:xfrm>
            <a:off x="9393384" y="3034400"/>
            <a:ext cx="2021070" cy="1147254"/>
          </a:xfrm>
          <a:prstGeom prst="roundRect">
            <a:avLst>
              <a:gd name="adj" fmla="val 637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signed anchor</a:t>
            </a:r>
          </a:p>
          <a:p>
            <a:pPr algn="ctr">
              <a:lnSpc>
                <a:spcPct val="105000"/>
              </a:lnSpc>
              <a:spcBef>
                <a:spcPts val="0"/>
              </a:spcBef>
              <a:spcAft>
                <a:spcPts val="0"/>
              </a:spcAft>
            </a:pPr>
            <a:r>
              <a:rPr sz="1050" b="0" i="0">
                <a:solidFill>
                  <a:srgbClr val="FFFFFF"/>
                </a:solidFill>
                <a:latin typeface="Calibri"/>
              </a:rPr>
              <a:t>the head, RS256, every N records, every few minutes, at shutdown</a:t>
            </a:r>
          </a:p>
        </p:txBody>
      </p:sp>
      <p:sp>
        <p:nvSpPr>
          <p:cNvPr id="27" name="Rounded Rectangle 26"/>
          <p:cNvSpPr/>
          <p:nvPr/>
        </p:nvSpPr>
        <p:spPr>
          <a:xfrm>
            <a:off x="9393384" y="1382354"/>
            <a:ext cx="2021070" cy="1101364"/>
          </a:xfrm>
          <a:prstGeom prst="roundRect">
            <a:avLst>
              <a:gd name="adj" fmla="val 664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verify</a:t>
            </a:r>
          </a:p>
          <a:p>
            <a:pPr algn="ctr">
              <a:lnSpc>
                <a:spcPct val="105000"/>
              </a:lnSpc>
              <a:spcBef>
                <a:spcPts val="0"/>
              </a:spcBef>
              <a:spcAft>
                <a:spcPts val="0"/>
              </a:spcAft>
            </a:pPr>
            <a:r>
              <a:rPr sz="1050" b="0" i="0">
                <a:solidFill>
                  <a:srgbClr val="FFFFFF"/>
                </a:solidFill>
                <a:latin typeface="Calibri"/>
              </a:rPr>
              <a:t>python -m sajha.audit verify, or the Audit page</a:t>
            </a:r>
          </a:p>
        </p:txBody>
      </p:sp>
      <p:sp>
        <p:nvSpPr>
          <p:cNvPr id="28" name="Rounded Rectangle 27"/>
          <p:cNvSpPr/>
          <p:nvPr/>
        </p:nvSpPr>
        <p:spPr>
          <a:xfrm>
            <a:off x="9393384" y="4686447"/>
            <a:ext cx="2021070" cy="1147254"/>
          </a:xfrm>
          <a:prstGeom prst="roundRect">
            <a:avLst>
              <a:gd name="adj" fmla="val 63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SIEM export</a:t>
            </a:r>
          </a:p>
          <a:p>
            <a:pPr algn="ctr">
              <a:lnSpc>
                <a:spcPct val="105000"/>
              </a:lnSpc>
              <a:spcBef>
                <a:spcPts val="0"/>
              </a:spcBef>
              <a:spcAft>
                <a:spcPts val="0"/>
              </a:spcAft>
            </a:pPr>
            <a:r>
              <a:rPr sz="1050" b="0" i="0">
                <a:solidFill>
                  <a:srgbClr val="1A1A1A"/>
                </a:solidFill>
                <a:latin typeface="Calibri"/>
              </a:rPr>
              <a:t>syslog, http and file sinks, as JSON, CEF and OCSF</a:t>
            </a:r>
          </a:p>
        </p:txBody>
      </p:sp>
      <p:cxnSp>
        <p:nvCxnSpPr>
          <p:cNvPr id="29" name="Connector 28"/>
          <p:cNvCxnSpPr/>
          <p:nvPr/>
        </p:nvCxnSpPr>
        <p:spPr>
          <a:xfrm>
            <a:off x="7585057" y="2116427"/>
            <a:ext cx="0" cy="13801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585057" y="3034230"/>
            <a:ext cx="0" cy="13801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585057" y="3952034"/>
            <a:ext cx="0" cy="13801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741444" y="3934111"/>
            <a:ext cx="608262" cy="188143"/>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0403919" y="2529438"/>
            <a:ext cx="0" cy="45924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Security fixes are listed, with where each one lives in the code</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44</a:t>
            </a:r>
          </a:p>
        </p:txBody>
      </p:sp>
      <p:sp>
        <p:nvSpPr>
          <p:cNvPr id="17" name="TextBox 16"/>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The Security Model keeps a table of issues found and fixed since the last major release, each with the file that fixes it, and a list of known limitations.</a:t>
            </a:r>
          </a:p>
        </p:txBody>
      </p:sp>
      <p:sp>
        <p:nvSpPr>
          <p:cNvPr id="18" name="Rectangle 17"/>
          <p:cNvSpPr/>
          <p:nvPr/>
        </p:nvSpPr>
        <p:spPr>
          <a:xfrm>
            <a:off x="777240" y="1976247"/>
            <a:ext cx="5218023"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97624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04263"/>
            <a:ext cx="4907127"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24</a:t>
            </a:r>
          </a:p>
        </p:txBody>
      </p:sp>
      <p:sp>
        <p:nvSpPr>
          <p:cNvPr id="21" name="TextBox 20"/>
          <p:cNvSpPr txBox="1"/>
          <p:nvPr/>
        </p:nvSpPr>
        <p:spPr>
          <a:xfrm>
            <a:off x="978408" y="2579751"/>
            <a:ext cx="4907127"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issues found and fixed, each named with its fix and its file</a:t>
            </a:r>
          </a:p>
        </p:txBody>
      </p:sp>
      <p:sp>
        <p:nvSpPr>
          <p:cNvPr id="22" name="Rectangle 21"/>
          <p:cNvSpPr/>
          <p:nvPr/>
        </p:nvSpPr>
        <p:spPr>
          <a:xfrm>
            <a:off x="6196431" y="1976247"/>
            <a:ext cx="5218023"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197624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97599" y="2104263"/>
            <a:ext cx="4907127"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16</a:t>
            </a:r>
          </a:p>
        </p:txBody>
      </p:sp>
      <p:sp>
        <p:nvSpPr>
          <p:cNvPr id="25" name="TextBox 24"/>
          <p:cNvSpPr txBox="1"/>
          <p:nvPr/>
        </p:nvSpPr>
        <p:spPr>
          <a:xfrm>
            <a:off x="6397599" y="2579751"/>
            <a:ext cx="4907127"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known limitations, listed so a deployment can compensate</a:t>
            </a:r>
          </a:p>
        </p:txBody>
      </p:sp>
      <p:graphicFrame>
        <p:nvGraphicFramePr>
          <p:cNvPr id="26" name="Table 25"/>
          <p:cNvGraphicFramePr>
            <a:graphicFrameLocks noGrp="1"/>
          </p:cNvGraphicFramePr>
          <p:nvPr/>
        </p:nvGraphicFramePr>
        <p:xfrm>
          <a:off x="777240" y="3329559"/>
          <a:ext cx="10637215" cy="2867211"/>
        </p:xfrm>
        <a:graphic>
          <a:graphicData uri="http://schemas.openxmlformats.org/drawingml/2006/table">
            <a:tbl>
              <a:tblPr firstRow="1">
                <a:tableStyleId>{5C22544A-7EE6-4342-B048-85BDC9FD1C3A}</a:tableStyleId>
              </a:tblPr>
              <a:tblGrid>
                <a:gridCol w="10637215"/>
              </a:tblGrid>
              <a:tr h="318579">
                <a:tc>
                  <a:txBody>
                    <a:bodyPr wrap="square"/>
                    <a:lstStyle/>
                    <a:p>
                      <a:r>
                        <a:rPr sz="1300" b="1">
                          <a:solidFill>
                            <a:srgbClr val="FFFFFF"/>
                          </a:solidFill>
                          <a:latin typeface="Calibri"/>
                        </a:rPr>
                        <a:t>The shortest entries in the fixes table</a:t>
                      </a:r>
                    </a:p>
                  </a:txBody>
                  <a:tcPr marL="82296" marR="64008" marT="32004" marB="32004" anchor="ctr">
                    <a:solidFill>
                      <a:srgbClr val="A51C30"/>
                    </a:solidFill>
                  </a:tcPr>
                </a:tc>
              </a:tr>
              <a:tr h="318579">
                <a:tc>
                  <a:txBody>
                    <a:bodyPr wrap="square"/>
                    <a:lstStyle/>
                    <a:p>
                      <a:r>
                        <a:rPr sz="1300" b="0">
                          <a:solidFill>
                            <a:srgbClr val="1A1A1A"/>
                          </a:solidFill>
                          <a:latin typeface="Calibri"/>
                        </a:rPr>
                        <a:t>Open admin endpoints</a:t>
                      </a:r>
                    </a:p>
                  </a:txBody>
                  <a:tcPr marL="82296" marR="64008" marT="32004" marB="32004" anchor="ctr">
                    <a:solidFill>
                      <a:srgbClr val="FFFFFF"/>
                    </a:solidFill>
                  </a:tcPr>
                </a:tc>
              </a:tr>
              <a:tr h="318579">
                <a:tc>
                  <a:txBody>
                    <a:bodyPr wrap="square"/>
                    <a:lstStyle/>
                    <a:p>
                      <a:r>
                        <a:rPr sz="1300" b="0">
                          <a:solidFill>
                            <a:srgbClr val="1A1A1A"/>
                          </a:solidFill>
                          <a:latin typeface="Calibri"/>
                        </a:rPr>
                        <a:t>Open redirect via /login?next=</a:t>
                      </a:r>
                    </a:p>
                  </a:txBody>
                  <a:tcPr marL="82296" marR="64008" marT="32004" marB="32004" anchor="ctr">
                    <a:solidFill>
                      <a:srgbClr val="F7F5F2"/>
                    </a:solidFill>
                  </a:tcPr>
                </a:tc>
              </a:tr>
              <a:tr h="318579">
                <a:tc>
                  <a:txBody>
                    <a:bodyPr wrap="square"/>
                    <a:lstStyle/>
                    <a:p>
                      <a:r>
                        <a:rPr sz="1300" b="0">
                          <a:solidFill>
                            <a:srgbClr val="1A1A1A"/>
                          </a:solidFill>
                          <a:latin typeface="Calibri"/>
                        </a:rPr>
                        <a:t>POST /a2a ran tools anonymously</a:t>
                      </a:r>
                    </a:p>
                  </a:txBody>
                  <a:tcPr marL="82296" marR="64008" marT="32004" marB="32004" anchor="ctr">
                    <a:solidFill>
                      <a:srgbClr val="FFFFFF"/>
                    </a:solidFill>
                  </a:tcPr>
                </a:tc>
              </a:tr>
              <a:tr h="318579">
                <a:tc>
                  <a:txBody>
                    <a:bodyPr wrap="square"/>
                    <a:lstStyle/>
                    <a:p>
                      <a:r>
                        <a:rPr sz="1300" b="0">
                          <a:solidFill>
                            <a:srgbClr val="1A1A1A"/>
                          </a:solidFill>
                          <a:latin typeface="Calibri"/>
                        </a:rPr>
                        <a:t>Path traversal in sajha://data/... resources</a:t>
                      </a:r>
                    </a:p>
                  </a:txBody>
                  <a:tcPr marL="82296" marR="64008" marT="32004" marB="32004" anchor="ctr">
                    <a:solidFill>
                      <a:srgbClr val="F7F5F2"/>
                    </a:solidFill>
                  </a:tcPr>
                </a:tc>
              </a:tr>
              <a:tr h="318579">
                <a:tc>
                  <a:txBody>
                    <a:bodyPr wrap="square"/>
                    <a:lstStyle/>
                    <a:p>
                      <a:r>
                        <a:rPr sz="1300" b="0">
                          <a:solidFill>
                            <a:srgbClr val="1A1A1A"/>
                          </a:solidFill>
                          <a:latin typeface="Calibri"/>
                        </a:rPr>
                        <a:t>Tool arguments were checked only for presence</a:t>
                      </a:r>
                    </a:p>
                  </a:txBody>
                  <a:tcPr marL="82296" marR="64008" marT="32004" marB="32004" anchor="ctr">
                    <a:solidFill>
                      <a:srgbClr val="FFFFFF"/>
                    </a:solidFill>
                  </a:tcPr>
                </a:tc>
              </a:tr>
              <a:tr h="318579">
                <a:tc>
                  <a:txBody>
                    <a:bodyPr wrap="square"/>
                    <a:lstStyle/>
                    <a:p>
                      <a:r>
                        <a:rPr sz="1300" b="0">
                          <a:solidFill>
                            <a:srgbClr val="1A1A1A"/>
                          </a:solidFill>
                          <a:latin typeface="Calibri"/>
                        </a:rPr>
                        <a:t>The REST tool catalog listed every tool to anyone</a:t>
                      </a:r>
                    </a:p>
                  </a:txBody>
                  <a:tcPr marL="82296" marR="64008" marT="32004" marB="32004" anchor="ctr">
                    <a:solidFill>
                      <a:srgbClr val="F7F5F2"/>
                    </a:solidFill>
                  </a:tcPr>
                </a:tc>
              </a:tr>
              <a:tr h="318579">
                <a:tc>
                  <a:txBody>
                    <a:bodyPr wrap="square"/>
                    <a:lstStyle/>
                    <a:p>
                      <a:r>
                        <a:rPr sz="1300" b="0">
                          <a:solidFill>
                            <a:srgbClr val="1A1A1A"/>
                          </a:solidFill>
                          <a:latin typeface="Calibri"/>
                        </a:rPr>
                        <a:t>Security headers overwrote stricter per-route values</a:t>
                      </a:r>
                    </a:p>
                  </a:txBody>
                  <a:tcPr marL="82296" marR="64008" marT="32004" marB="32004" anchor="ctr">
                    <a:solidFill>
                      <a:srgbClr val="FFFFFF"/>
                    </a:solidFill>
                  </a:tcPr>
                </a:tc>
              </a:tr>
              <a:tr h="318579">
                <a:tc>
                  <a:txBody>
                    <a:bodyPr wrap="square"/>
                    <a:lstStyle/>
                    <a:p>
                      <a:r>
                        <a:rPr sz="1300" b="0">
                          <a:solidFill>
                            <a:srgbClr val="1A1A1A"/>
                          </a:solidFill>
                          <a:latin typeface="Calibri"/>
                        </a:rPr>
                        <a:t>Async execution wrote to any path and posted to any URL</a:t>
                      </a:r>
                    </a:p>
                  </a:txBody>
                  <a:tcPr marL="82296" marR="64008" marT="32004" marB="32004" anchor="ctr">
                    <a:solidFill>
                      <a:srgbClr val="F7F5F2"/>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DEPLOY ANYWHERE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On premises, in a private cloud or a public one: the same server</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45</a:t>
            </a:r>
          </a:p>
        </p:txBody>
      </p:sp>
      <p:sp>
        <p:nvSpPr>
          <p:cNvPr id="17" name="TextBox 16"/>
          <p:cNvSpPr txBox="1"/>
          <p:nvPr/>
        </p:nvSpPr>
        <p:spPr>
          <a:xfrm>
            <a:off x="777240" y="4142232"/>
            <a:ext cx="10637215" cy="210312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A1A1A"/>
                </a:solidFill>
                <a:latin typeface="Calibri"/>
              </a:rPr>
              <a:t>Data locality</a:t>
            </a:r>
          </a:p>
          <a:p>
            <a:pPr lvl="1">
              <a:lnSpc>
                <a:spcPct val="120000"/>
              </a:lnSpc>
              <a:spcBef>
                <a:spcPts val="0"/>
              </a:spcBef>
              <a:spcAft>
                <a:spcPts val="0"/>
              </a:spcAft>
            </a:pPr>
            <a:r>
              <a:rPr sz="1550" b="0">
                <a:solidFill>
                  <a:srgbClr val="6B7480"/>
                </a:solidFill>
                <a:latin typeface="Calibri"/>
              </a:rPr>
              <a:t>Data leaves your infrastructure only when a tool calls an outside service.</a:t>
            </a:r>
          </a:p>
          <a:p>
            <a:pPr>
              <a:lnSpc>
                <a:spcPct val="120000"/>
              </a:lnSpc>
              <a:spcBef>
                <a:spcPts val="500"/>
              </a:spcBef>
              <a:spcAft>
                <a:spcPts val="100"/>
              </a:spcAft>
            </a:pPr>
            <a:r>
              <a:rPr sz="1700" b="1">
                <a:solidFill>
                  <a:srgbClr val="A51C30"/>
                </a:solidFill>
                <a:latin typeface="Calibri"/>
              </a:rPr>
              <a:t>▪  </a:t>
            </a:r>
            <a:r>
              <a:rPr sz="1700" b="1">
                <a:solidFill>
                  <a:srgbClr val="1A1A1A"/>
                </a:solidFill>
                <a:latin typeface="Calibri"/>
              </a:rPr>
              <a:t>Sovereignty</a:t>
            </a:r>
          </a:p>
          <a:p>
            <a:pPr lvl="1">
              <a:lnSpc>
                <a:spcPct val="120000"/>
              </a:lnSpc>
              <a:spcBef>
                <a:spcPts val="0"/>
              </a:spcBef>
              <a:spcAft>
                <a:spcPts val="0"/>
              </a:spcAft>
            </a:pPr>
            <a:r>
              <a:rPr sz="1550" b="0">
                <a:solidFill>
                  <a:srgbClr val="6B7480"/>
                </a:solidFill>
                <a:latin typeface="Calibri"/>
              </a:rPr>
              <a:t>Run one instance per jurisdiction; nothing phones home.</a:t>
            </a:r>
          </a:p>
          <a:p>
            <a:pPr>
              <a:lnSpc>
                <a:spcPct val="120000"/>
              </a:lnSpc>
              <a:spcBef>
                <a:spcPts val="500"/>
              </a:spcBef>
              <a:spcAft>
                <a:spcPts val="100"/>
              </a:spcAft>
            </a:pPr>
            <a:r>
              <a:rPr sz="1700" b="1">
                <a:solidFill>
                  <a:srgbClr val="A51C30"/>
                </a:solidFill>
                <a:latin typeface="Calibri"/>
              </a:rPr>
              <a:t>▪  </a:t>
            </a:r>
            <a:r>
              <a:rPr sz="1700" b="1">
                <a:solidFill>
                  <a:srgbClr val="1A1A1A"/>
                </a:solidFill>
                <a:latin typeface="Calibri"/>
              </a:rPr>
              <a:t>Same configuration everywhere</a:t>
            </a:r>
          </a:p>
          <a:p>
            <a:pPr lvl="1">
              <a:lnSpc>
                <a:spcPct val="120000"/>
              </a:lnSpc>
              <a:spcBef>
                <a:spcPts val="0"/>
              </a:spcBef>
              <a:spcAft>
                <a:spcPts val="0"/>
              </a:spcAft>
            </a:pPr>
            <a:r>
              <a:rPr sz="1550" b="0">
                <a:solidFill>
                  <a:srgbClr val="6B7480"/>
                </a:solidFill>
                <a:latin typeface="Calibri"/>
              </a:rPr>
              <a:t>Storage on local disk, S3, Azure Blob or GCS; state in memory, redis or database; environment over application.yml.</a:t>
            </a:r>
          </a:p>
        </p:txBody>
      </p:sp>
      <p:sp>
        <p:nvSpPr>
          <p:cNvPr id="18" name="Rectangle 17"/>
          <p:cNvSpPr/>
          <p:nvPr/>
        </p:nvSpPr>
        <p:spPr>
          <a:xfrm>
            <a:off x="777240"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ON PREMISES</a:t>
            </a:r>
          </a:p>
        </p:txBody>
      </p:sp>
      <p:sp>
        <p:nvSpPr>
          <p:cNvPr id="21" name="TextBox 20"/>
          <p:cNvSpPr txBox="1"/>
          <p:nvPr/>
        </p:nvSpPr>
        <p:spPr>
          <a:xfrm>
            <a:off x="960120"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Your data centre</a:t>
            </a:r>
          </a:p>
        </p:txBody>
      </p:sp>
      <p:sp>
        <p:nvSpPr>
          <p:cNvPr id="22" name="TextBox 21"/>
          <p:cNvSpPr txBox="1"/>
          <p:nvPr/>
        </p:nvSpPr>
        <p:spPr>
          <a:xfrm>
            <a:off x="960120"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 VM with systemd and nginx, or Docker; air-gapped works with the offline mock model, local tools and local data.</a:t>
            </a:r>
          </a:p>
        </p:txBody>
      </p:sp>
      <p:sp>
        <p:nvSpPr>
          <p:cNvPr id="23" name="Rectangle 22"/>
          <p:cNvSpPr/>
          <p:nvPr/>
        </p:nvSpPr>
        <p:spPr>
          <a:xfrm>
            <a:off x="4377842"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77842"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60722"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PRIVATE CLOUD</a:t>
            </a:r>
          </a:p>
        </p:txBody>
      </p:sp>
      <p:sp>
        <p:nvSpPr>
          <p:cNvPr id="26" name="TextBox 25"/>
          <p:cNvSpPr txBox="1"/>
          <p:nvPr/>
        </p:nvSpPr>
        <p:spPr>
          <a:xfrm>
            <a:off x="4560722"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Your VPC or VNet</a:t>
            </a:r>
          </a:p>
        </p:txBody>
      </p:sp>
      <p:sp>
        <p:nvSpPr>
          <p:cNvPr id="27" name="TextBox 26"/>
          <p:cNvSpPr txBox="1"/>
          <p:nvPr/>
        </p:nvSpPr>
        <p:spPr>
          <a:xfrm>
            <a:off x="4560722"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Kubernetes with the Helm chart, or containers; PostgreSQL and an object store inside your network.</a:t>
            </a:r>
          </a:p>
        </p:txBody>
      </p:sp>
      <p:sp>
        <p:nvSpPr>
          <p:cNvPr id="28" name="Rectangle 27"/>
          <p:cNvSpPr/>
          <p:nvPr/>
        </p:nvSpPr>
        <p:spPr>
          <a:xfrm>
            <a:off x="7978444"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978444"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61324"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PUBLIC CLOUD</a:t>
            </a:r>
          </a:p>
        </p:txBody>
      </p:sp>
      <p:sp>
        <p:nvSpPr>
          <p:cNvPr id="31" name="TextBox 30"/>
          <p:cNvSpPr txBox="1"/>
          <p:nvPr/>
        </p:nvSpPr>
        <p:spPr>
          <a:xfrm>
            <a:off x="8161324"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Managed services</a:t>
            </a:r>
          </a:p>
        </p:txBody>
      </p:sp>
      <p:sp>
        <p:nvSpPr>
          <p:cNvPr id="32" name="TextBox 31"/>
          <p:cNvSpPr txBox="1"/>
          <p:nvPr/>
        </p:nvSpPr>
        <p:spPr>
          <a:xfrm>
            <a:off x="8161324"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ECS Fargate with RDS, S3 and Secrets Manager (a CDK recipe), or any managed Kubernetes.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REFERENCE ARCHITECTURE: PUBLIC CLOUD</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On AWS: Fargate tasks behind a load balancer, state in RDS</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Several tasks share protocol state through RDS (or ElastiCache Redis); every task gets the same secrets from Secrets Manager. SAJHA never runs DDL on RDS: an operator runs the schema file once.</a:t>
            </a:r>
          </a:p>
        </p:txBody>
      </p:sp>
      <p:sp>
        <p:nvSpPr>
          <p:cNvPr id="19" name="Rectangle 18"/>
          <p:cNvSpPr/>
          <p:nvPr/>
        </p:nvSpPr>
        <p:spPr>
          <a:xfrm>
            <a:off x="2372822" y="1354836"/>
            <a:ext cx="9041632" cy="432358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2550" y="1409700"/>
            <a:ext cx="882217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AWS ACCOUNT · VPC</a:t>
            </a:r>
          </a:p>
        </p:txBody>
      </p:sp>
      <p:sp>
        <p:nvSpPr>
          <p:cNvPr id="21" name="Rectangle 20"/>
          <p:cNvSpPr/>
          <p:nvPr/>
        </p:nvSpPr>
        <p:spPr>
          <a:xfrm>
            <a:off x="5138498" y="1787194"/>
            <a:ext cx="3403908" cy="216179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226" y="1842058"/>
            <a:ext cx="318445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ECS FARGATE · 1 TO 6 TASKS</a:t>
            </a:r>
          </a:p>
        </p:txBody>
      </p:sp>
      <p:cxnSp>
        <p:nvCxnSpPr>
          <p:cNvPr id="23" name="Connector 22"/>
          <p:cNvCxnSpPr/>
          <p:nvPr/>
        </p:nvCxnSpPr>
        <p:spPr>
          <a:xfrm>
            <a:off x="2090281" y="299779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84608" y="2796631"/>
            <a:ext cx="37642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HTTPS</a:t>
            </a:r>
          </a:p>
        </p:txBody>
      </p:sp>
      <p:cxnSp>
        <p:nvCxnSpPr>
          <p:cNvPr id="25" name="Connector 24"/>
          <p:cNvCxnSpPr/>
          <p:nvPr/>
        </p:nvCxnSpPr>
        <p:spPr>
          <a:xfrm>
            <a:off x="4749585" y="299779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366238" y="3062653"/>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40452" y="3985564"/>
            <a:ext cx="0" cy="44567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2565440"/>
            <a:ext cx="1276465" cy="864717"/>
          </a:xfrm>
          <a:prstGeom prst="roundRect">
            <a:avLst>
              <a:gd name="adj" fmla="val 8459"/>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Users and AI agents</a:t>
            </a:r>
          </a:p>
        </p:txBody>
      </p:sp>
      <p:sp>
        <p:nvSpPr>
          <p:cNvPr id="29" name="Rounded Rectangle 28"/>
          <p:cNvSpPr/>
          <p:nvPr/>
        </p:nvSpPr>
        <p:spPr>
          <a:xfrm>
            <a:off x="2691938" y="2565440"/>
            <a:ext cx="2021070" cy="864717"/>
          </a:xfrm>
          <a:prstGeom prst="roundRect">
            <a:avLst>
              <a:gd name="adj" fmla="val 845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Application load balancer</a:t>
            </a:r>
          </a:p>
          <a:p>
            <a:pPr algn="ctr">
              <a:lnSpc>
                <a:spcPct val="105000"/>
              </a:lnSpc>
              <a:spcBef>
                <a:spcPts val="0"/>
              </a:spcBef>
              <a:spcAft>
                <a:spcPts val="0"/>
              </a:spcAft>
            </a:pPr>
            <a:r>
              <a:rPr sz="1250" b="0" i="0">
                <a:solidFill>
                  <a:srgbClr val="FFFFFF"/>
                </a:solidFill>
                <a:latin typeface="Calibri"/>
              </a:rPr>
              <a:t>TLS</a:t>
            </a:r>
          </a:p>
        </p:txBody>
      </p:sp>
      <p:sp>
        <p:nvSpPr>
          <p:cNvPr id="30" name="Rounded Rectangle 29"/>
          <p:cNvSpPr/>
          <p:nvPr/>
        </p:nvSpPr>
        <p:spPr>
          <a:xfrm>
            <a:off x="5351242" y="2565440"/>
            <a:ext cx="2978420" cy="864717"/>
          </a:xfrm>
          <a:prstGeom prst="roundRect">
            <a:avLst>
              <a:gd name="adj" fmla="val 845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 container</a:t>
            </a:r>
          </a:p>
          <a:p>
            <a:pPr algn="ctr">
              <a:lnSpc>
                <a:spcPct val="105000"/>
              </a:lnSpc>
              <a:spcBef>
                <a:spcPts val="0"/>
              </a:spcBef>
              <a:spcAft>
                <a:spcPts val="0"/>
              </a:spcAft>
            </a:pPr>
            <a:r>
              <a:rPr sz="1250" b="0" i="0">
                <a:solidFill>
                  <a:srgbClr val="FFFFFF"/>
                </a:solidFill>
                <a:latin typeface="Calibri"/>
              </a:rPr>
              <a:t>non-root image, port 3002</a:t>
            </a:r>
          </a:p>
        </p:txBody>
      </p:sp>
      <p:sp>
        <p:nvSpPr>
          <p:cNvPr id="31" name="Rounded Rectangle 30"/>
          <p:cNvSpPr/>
          <p:nvPr/>
        </p:nvSpPr>
        <p:spPr>
          <a:xfrm>
            <a:off x="8967895" y="1787194"/>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Secrets Manager</a:t>
            </a:r>
          </a:p>
          <a:p>
            <a:pPr algn="ctr">
              <a:lnSpc>
                <a:spcPct val="105000"/>
              </a:lnSpc>
              <a:spcBef>
                <a:spcPts val="0"/>
              </a:spcBef>
              <a:spcAft>
                <a:spcPts val="0"/>
              </a:spcAft>
            </a:pPr>
            <a:r>
              <a:rPr sz="1250" b="0" i="0">
                <a:solidFill>
                  <a:srgbClr val="1A1A1A"/>
                </a:solidFill>
                <a:latin typeface="Calibri"/>
              </a:rPr>
              <a:t>JWT, session, DB, OAuth key</a:t>
            </a:r>
          </a:p>
        </p:txBody>
      </p:sp>
      <p:sp>
        <p:nvSpPr>
          <p:cNvPr id="32" name="Rounded Rectangle 31"/>
          <p:cNvSpPr/>
          <p:nvPr/>
        </p:nvSpPr>
        <p:spPr>
          <a:xfrm>
            <a:off x="8967895" y="2695148"/>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S3</a:t>
            </a:r>
          </a:p>
          <a:p>
            <a:pPr algn="ctr">
              <a:lnSpc>
                <a:spcPct val="105000"/>
              </a:lnSpc>
              <a:spcBef>
                <a:spcPts val="0"/>
              </a:spcBef>
              <a:spcAft>
                <a:spcPts val="0"/>
              </a:spcAft>
            </a:pPr>
            <a:r>
              <a:rPr sz="1250" b="0" i="0">
                <a:solidFill>
                  <a:srgbClr val="1A1A1A"/>
                </a:solidFill>
                <a:latin typeface="Calibri"/>
              </a:rPr>
              <a:t>tool and prompt configs</a:t>
            </a:r>
          </a:p>
        </p:txBody>
      </p:sp>
      <p:sp>
        <p:nvSpPr>
          <p:cNvPr id="33" name="Rounded Rectangle 32"/>
          <p:cNvSpPr/>
          <p:nvPr/>
        </p:nvSpPr>
        <p:spPr>
          <a:xfrm>
            <a:off x="8967895" y="3603101"/>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CloudWatch</a:t>
            </a:r>
          </a:p>
          <a:p>
            <a:pPr algn="ctr">
              <a:lnSpc>
                <a:spcPct val="105000"/>
              </a:lnSpc>
              <a:spcBef>
                <a:spcPts val="0"/>
              </a:spcBef>
              <a:spcAft>
                <a:spcPts val="0"/>
              </a:spcAft>
            </a:pPr>
            <a:r>
              <a:rPr sz="1250" b="0" i="0">
                <a:solidFill>
                  <a:srgbClr val="1A1A1A"/>
                </a:solidFill>
                <a:latin typeface="Calibri"/>
              </a:rPr>
              <a:t>logs, metrics, dashboard</a:t>
            </a:r>
          </a:p>
        </p:txBody>
      </p:sp>
      <p:sp>
        <p:nvSpPr>
          <p:cNvPr id="34" name="Rounded Rectangle 33"/>
          <p:cNvSpPr/>
          <p:nvPr/>
        </p:nvSpPr>
        <p:spPr>
          <a:xfrm>
            <a:off x="5138498" y="4467819"/>
            <a:ext cx="3403908" cy="864717"/>
          </a:xfrm>
          <a:prstGeom prst="roundRect">
            <a:avLst>
              <a:gd name="adj" fmla="val 8459"/>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RDS PostgreSQL</a:t>
            </a:r>
          </a:p>
          <a:p>
            <a:pPr algn="ctr">
              <a:lnSpc>
                <a:spcPct val="105000"/>
              </a:lnSpc>
              <a:spcBef>
                <a:spcPts val="0"/>
              </a:spcBef>
              <a:spcAft>
                <a:spcPts val="0"/>
              </a:spcAft>
            </a:pPr>
            <a:r>
              <a:rPr sz="1250" b="0" i="0">
                <a:solidFill>
                  <a:srgbClr val="1A1A1A"/>
                </a:solidFill>
                <a:latin typeface="Calibri"/>
              </a:rPr>
              <a:t>schema.sql run once; state.backend database</a:t>
            </a:r>
          </a:p>
        </p:txBody>
      </p:sp>
      <p:sp>
        <p:nvSpPr>
          <p:cNvPr id="35" name="Rounded Rectangle 34"/>
          <p:cNvSpPr/>
          <p:nvPr/>
        </p:nvSpPr>
        <p:spPr>
          <a:xfrm>
            <a:off x="8967895" y="4597527"/>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Bedrock</a:t>
            </a:r>
          </a:p>
          <a:p>
            <a:pPr algn="ctr">
              <a:lnSpc>
                <a:spcPct val="105000"/>
              </a:lnSpc>
              <a:spcBef>
                <a:spcPts val="0"/>
              </a:spcBef>
              <a:spcAft>
                <a:spcPts val="0"/>
              </a:spcAft>
            </a:pPr>
            <a:r>
              <a:rPr sz="1250" b="0" i="0">
                <a:solidFill>
                  <a:srgbClr val="1A1A1A"/>
                </a:solidFill>
                <a:latin typeface="Calibri"/>
              </a:rPr>
              <a:t>optional LLM provider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REFERENCE ARCHITECTURE: ON PREMISES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In your data centre: nginx in front, PostgreSQL behind, nothing external required</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Air-gapped: the offline mock model, the calculators, DuckDB and your own databases all work without the internet; tools that call outside services are simply not used.</a:t>
            </a:r>
          </a:p>
        </p:txBody>
      </p:sp>
      <p:sp>
        <p:nvSpPr>
          <p:cNvPr id="19" name="Rectangle 18"/>
          <p:cNvSpPr/>
          <p:nvPr/>
        </p:nvSpPr>
        <p:spPr>
          <a:xfrm>
            <a:off x="2372822" y="1611884"/>
            <a:ext cx="9041632"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2550" y="1666748"/>
            <a:ext cx="882217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YOUR DATA CENTRE</a:t>
            </a:r>
          </a:p>
        </p:txBody>
      </p:sp>
      <p:sp>
        <p:nvSpPr>
          <p:cNvPr id="21" name="Rectangle 20"/>
          <p:cNvSpPr/>
          <p:nvPr/>
        </p:nvSpPr>
        <p:spPr>
          <a:xfrm>
            <a:off x="5138498" y="2018538"/>
            <a:ext cx="3403908" cy="203326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226" y="2073402"/>
            <a:ext cx="318445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VM (systemd) OR DOCKER</a:t>
            </a:r>
          </a:p>
        </p:txBody>
      </p:sp>
      <p:cxnSp>
        <p:nvCxnSpPr>
          <p:cNvPr id="23" name="Connector 22"/>
          <p:cNvCxnSpPr/>
          <p:nvPr/>
        </p:nvCxnSpPr>
        <p:spPr>
          <a:xfrm>
            <a:off x="2090281" y="315716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84608" y="2956001"/>
            <a:ext cx="37642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HTTPS</a:t>
            </a:r>
          </a:p>
        </p:txBody>
      </p:sp>
      <p:cxnSp>
        <p:nvCxnSpPr>
          <p:cNvPr id="25" name="Connector 24"/>
          <p:cNvCxnSpPr/>
          <p:nvPr/>
        </p:nvCxnSpPr>
        <p:spPr>
          <a:xfrm>
            <a:off x="4749585" y="315716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366238" y="3218167"/>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40452" y="4088384"/>
            <a:ext cx="0" cy="4148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2750515"/>
            <a:ext cx="1276465" cy="813308"/>
          </a:xfrm>
          <a:prstGeom prst="roundRect">
            <a:avLst>
              <a:gd name="adj" fmla="val 899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Users and agents</a:t>
            </a:r>
          </a:p>
        </p:txBody>
      </p:sp>
      <p:sp>
        <p:nvSpPr>
          <p:cNvPr id="29" name="Rounded Rectangle 28"/>
          <p:cNvSpPr/>
          <p:nvPr/>
        </p:nvSpPr>
        <p:spPr>
          <a:xfrm>
            <a:off x="2691938" y="2750515"/>
            <a:ext cx="2021070" cy="813308"/>
          </a:xfrm>
          <a:prstGeom prst="roundRect">
            <a:avLst>
              <a:gd name="adj" fmla="val 899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nginx</a:t>
            </a:r>
          </a:p>
          <a:p>
            <a:pPr algn="ctr">
              <a:lnSpc>
                <a:spcPct val="105000"/>
              </a:lnSpc>
              <a:spcBef>
                <a:spcPts val="0"/>
              </a:spcBef>
              <a:spcAft>
                <a:spcPts val="0"/>
              </a:spcAft>
            </a:pPr>
            <a:r>
              <a:rPr sz="1250" b="0" i="0">
                <a:solidFill>
                  <a:srgbClr val="FFFFFF"/>
                </a:solidFill>
                <a:latin typeface="Calibri"/>
              </a:rPr>
              <a:t>TLS, proxy, streaming unbuffered</a:t>
            </a:r>
          </a:p>
        </p:txBody>
      </p:sp>
      <p:sp>
        <p:nvSpPr>
          <p:cNvPr id="30" name="Rounded Rectangle 29"/>
          <p:cNvSpPr/>
          <p:nvPr/>
        </p:nvSpPr>
        <p:spPr>
          <a:xfrm>
            <a:off x="5351242" y="2750515"/>
            <a:ext cx="2978420" cy="813308"/>
          </a:xfrm>
          <a:prstGeom prst="roundRect">
            <a:avLst>
              <a:gd name="adj" fmla="val 899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127.0.0.1:3002</a:t>
            </a:r>
          </a:p>
        </p:txBody>
      </p:sp>
      <p:sp>
        <p:nvSpPr>
          <p:cNvPr id="31" name="Rounded Rectangle 30"/>
          <p:cNvSpPr/>
          <p:nvPr/>
        </p:nvSpPr>
        <p:spPr>
          <a:xfrm>
            <a:off x="8967895" y="2018538"/>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Local disk</a:t>
            </a:r>
          </a:p>
          <a:p>
            <a:pPr algn="ctr">
              <a:lnSpc>
                <a:spcPct val="105000"/>
              </a:lnSpc>
              <a:spcBef>
                <a:spcPts val="0"/>
              </a:spcBef>
              <a:spcAft>
                <a:spcPts val="0"/>
              </a:spcAft>
            </a:pPr>
            <a:r>
              <a:rPr sz="1250" b="0" i="0">
                <a:solidFill>
                  <a:srgbClr val="1A1A1A"/>
                </a:solidFill>
                <a:latin typeface="Calibri"/>
              </a:rPr>
              <a:t>config/, data/</a:t>
            </a:r>
          </a:p>
        </p:txBody>
      </p:sp>
      <p:sp>
        <p:nvSpPr>
          <p:cNvPr id="32" name="Rounded Rectangle 31"/>
          <p:cNvSpPr/>
          <p:nvPr/>
        </p:nvSpPr>
        <p:spPr>
          <a:xfrm>
            <a:off x="8967895" y="2872511"/>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Redis</a:t>
            </a:r>
          </a:p>
          <a:p>
            <a:pPr algn="ctr">
              <a:lnSpc>
                <a:spcPct val="105000"/>
              </a:lnSpc>
              <a:spcBef>
                <a:spcPts val="0"/>
              </a:spcBef>
              <a:spcAft>
                <a:spcPts val="0"/>
              </a:spcAft>
            </a:pPr>
            <a:r>
              <a:rPr sz="1200" b="0" i="0">
                <a:solidFill>
                  <a:srgbClr val="1A1A1A"/>
                </a:solidFill>
                <a:latin typeface="Calibri"/>
              </a:rPr>
              <a:t>state, when several workers</a:t>
            </a:r>
          </a:p>
        </p:txBody>
      </p:sp>
      <p:sp>
        <p:nvSpPr>
          <p:cNvPr id="33" name="Rounded Rectangle 32"/>
          <p:cNvSpPr/>
          <p:nvPr/>
        </p:nvSpPr>
        <p:spPr>
          <a:xfrm>
            <a:off x="8967895" y="3726484"/>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Prometheus · Grafana</a:t>
            </a:r>
          </a:p>
          <a:p>
            <a:pPr algn="ctr">
              <a:lnSpc>
                <a:spcPct val="105000"/>
              </a:lnSpc>
              <a:spcBef>
                <a:spcPts val="0"/>
              </a:spcBef>
              <a:spcAft>
                <a:spcPts val="0"/>
              </a:spcAft>
            </a:pPr>
            <a:r>
              <a:rPr sz="1200" b="0" i="0">
                <a:solidFill>
                  <a:srgbClr val="1A1A1A"/>
                </a:solidFill>
                <a:latin typeface="Calibri"/>
              </a:rPr>
              <a:t>/metrics; OTLP traces</a:t>
            </a:r>
          </a:p>
        </p:txBody>
      </p:sp>
      <p:sp>
        <p:nvSpPr>
          <p:cNvPr id="34" name="Rounded Rectangle 33"/>
          <p:cNvSpPr/>
          <p:nvPr/>
        </p:nvSpPr>
        <p:spPr>
          <a:xfrm>
            <a:off x="5138498" y="4539792"/>
            <a:ext cx="3403908" cy="813308"/>
          </a:xfrm>
          <a:prstGeom prst="roundRect">
            <a:avLst>
              <a:gd name="adj" fmla="val 899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PostgreSQL</a:t>
            </a:r>
          </a:p>
          <a:p>
            <a:pPr algn="ctr">
              <a:lnSpc>
                <a:spcPct val="105000"/>
              </a:lnSpc>
              <a:spcBef>
                <a:spcPts val="0"/>
              </a:spcBef>
              <a:spcAft>
                <a:spcPts val="0"/>
              </a:spcAft>
            </a:pPr>
            <a:r>
              <a:rPr sz="1250" b="0" i="0">
                <a:solidFill>
                  <a:srgbClr val="1A1A1A"/>
                </a:solidFill>
                <a:latin typeface="Calibri"/>
              </a:rPr>
              <a:t>schema and seed files, run by an operator</a:t>
            </a:r>
          </a:p>
        </p:txBody>
      </p:sp>
      <p:sp>
        <p:nvSpPr>
          <p:cNvPr id="35" name="Rounded Rectangle 34"/>
          <p:cNvSpPr/>
          <p:nvPr/>
        </p:nvSpPr>
        <p:spPr>
          <a:xfrm>
            <a:off x="8967895" y="4661789"/>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Your SIEM</a:t>
            </a:r>
          </a:p>
          <a:p>
            <a:pPr algn="ctr">
              <a:lnSpc>
                <a:spcPct val="105000"/>
              </a:lnSpc>
              <a:spcBef>
                <a:spcPts val="0"/>
              </a:spcBef>
              <a:spcAft>
                <a:spcPts val="0"/>
              </a:spcAft>
            </a:pPr>
            <a:r>
              <a:rPr sz="1200" b="0" i="0">
                <a:solidFill>
                  <a:srgbClr val="1A1A1A"/>
                </a:solidFill>
                <a:latin typeface="Calibri"/>
              </a:rPr>
              <a:t>syslog or HTTP audit export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PRODUCTION READINESS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Production readiness, in facts the build can check</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48</a:t>
            </a:r>
          </a:p>
        </p:txBody>
      </p:sp>
      <p:sp>
        <p:nvSpPr>
          <p:cNvPr id="17" name="TextBox 16"/>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No load-test figures are claimed here: none has been measured and recorded. These are counted from the repository when the deck is built.</a:t>
            </a:r>
          </a:p>
        </p:txBody>
      </p:sp>
      <p:sp>
        <p:nvSpPr>
          <p:cNvPr id="18" name="Rectangle 17"/>
          <p:cNvSpPr/>
          <p:nvPr/>
        </p:nvSpPr>
        <p:spPr>
          <a:xfrm>
            <a:off x="777240"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3999</a:t>
            </a:r>
          </a:p>
        </p:txBody>
      </p:sp>
      <p:sp>
        <p:nvSpPr>
          <p:cNvPr id="21" name="TextBox 20"/>
          <p:cNvSpPr txBox="1"/>
          <p:nvPr/>
        </p:nvSpPr>
        <p:spPr>
          <a:xfrm>
            <a:off x="978408"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automated tests</a:t>
            </a:r>
          </a:p>
        </p:txBody>
      </p:sp>
      <p:sp>
        <p:nvSpPr>
          <p:cNvPr id="22" name="Rectangle 21"/>
          <p:cNvSpPr/>
          <p:nvPr/>
        </p:nvSpPr>
        <p:spPr>
          <a:xfrm>
            <a:off x="3486835"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486835"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88003"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242</a:t>
            </a:r>
          </a:p>
        </p:txBody>
      </p:sp>
      <p:sp>
        <p:nvSpPr>
          <p:cNvPr id="25" name="TextBox 24"/>
          <p:cNvSpPr txBox="1"/>
          <p:nvPr/>
        </p:nvSpPr>
        <p:spPr>
          <a:xfrm>
            <a:off x="3688003"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conformance checks passed, 0 failed</a:t>
            </a:r>
          </a:p>
        </p:txBody>
      </p:sp>
      <p:sp>
        <p:nvSpPr>
          <p:cNvPr id="26" name="Rectangle 25"/>
          <p:cNvSpPr/>
          <p:nvPr/>
        </p:nvSpPr>
        <p:spPr>
          <a:xfrm>
            <a:off x="6196431"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96431"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97599"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28</a:t>
            </a:r>
          </a:p>
        </p:txBody>
      </p:sp>
      <p:sp>
        <p:nvSpPr>
          <p:cNvPr id="29" name="TextBox 28"/>
          <p:cNvSpPr txBox="1"/>
          <p:nvPr/>
        </p:nvSpPr>
        <p:spPr>
          <a:xfrm>
            <a:off x="6397599"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tables in each of the two schema files</a:t>
            </a:r>
          </a:p>
        </p:txBody>
      </p:sp>
      <p:sp>
        <p:nvSpPr>
          <p:cNvPr id="30" name="Rectangle 29"/>
          <p:cNvSpPr/>
          <p:nvPr/>
        </p:nvSpPr>
        <p:spPr>
          <a:xfrm>
            <a:off x="8906027"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906027"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07195"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12</a:t>
            </a:r>
          </a:p>
        </p:txBody>
      </p:sp>
      <p:sp>
        <p:nvSpPr>
          <p:cNvPr id="33" name="TextBox 32"/>
          <p:cNvSpPr txBox="1"/>
          <p:nvPr/>
        </p:nvSpPr>
        <p:spPr>
          <a:xfrm>
            <a:off x="9107195"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templates in the Helm chart</a:t>
            </a:r>
          </a:p>
        </p:txBody>
      </p:sp>
      <p:sp>
        <p:nvSpPr>
          <p:cNvPr id="34" name="TextBox 33"/>
          <p:cNvSpPr txBox="1"/>
          <p:nvPr/>
        </p:nvSpPr>
        <p:spPr>
          <a:xfrm>
            <a:off x="777240" y="3393821"/>
            <a:ext cx="10637215" cy="2851531"/>
          </a:xfrm>
          <a:prstGeom prst="rect">
            <a:avLst/>
          </a:prstGeom>
          <a:noFill/>
        </p:spPr>
        <p:txBody>
          <a:bodyPr wrap="square" lIns="0" rIns="0" tIns="0" bIns="0" anchor="t">
            <a:spAutoFit/>
          </a:bodyPr>
          <a:lstStyle/>
          <a:p>
            <a:pPr algn="l">
              <a:lnSpc>
                <a:spcPct val="120000"/>
              </a:lnSpc>
              <a:spcBef>
                <a:spcPts val="0"/>
              </a:spcBef>
              <a:spcAft>
                <a:spcPts val="100"/>
              </a:spcAft>
            </a:pPr>
            <a:r>
              <a:rPr sz="1850" b="1">
                <a:solidFill>
                  <a:srgbClr val="A51C30"/>
                </a:solidFill>
                <a:latin typeface="Calibri"/>
              </a:rPr>
              <a:t>▪  </a:t>
            </a:r>
            <a:r>
              <a:rPr sz="1850" b="1">
                <a:solidFill>
                  <a:srgbClr val="1A1A1A"/>
                </a:solidFill>
                <a:latin typeface="Calibri"/>
              </a:rPr>
              <a:t>Kubernetes</a:t>
            </a:r>
          </a:p>
          <a:p>
            <a:pPr lvl="1">
              <a:lnSpc>
                <a:spcPct val="120000"/>
              </a:lnSpc>
              <a:spcBef>
                <a:spcPts val="0"/>
              </a:spcBef>
              <a:spcAft>
                <a:spcPts val="0"/>
              </a:spcAft>
            </a:pPr>
            <a:r>
              <a:rPr sz="1700" b="0">
                <a:solidFill>
                  <a:srgbClr val="6B7480"/>
                </a:solidFill>
                <a:latin typeface="Calibri"/>
              </a:rPr>
              <a:t>HPA, disruption budget, network policy, ServiceMonitor; several replicas need the redis or database state backend.</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Several workers</a:t>
            </a:r>
          </a:p>
          <a:p>
            <a:pPr lvl="1">
              <a:lnSpc>
                <a:spcPct val="120000"/>
              </a:lnSpc>
              <a:spcBef>
                <a:spcPts val="0"/>
              </a:spcBef>
              <a:spcAft>
                <a:spcPts val="0"/>
              </a:spcAft>
            </a:pPr>
            <a:r>
              <a:rPr sz="1700" b="0">
                <a:solidFill>
                  <a:srgbClr val="6B7480"/>
                </a:solidFill>
                <a:latin typeface="Calibri"/>
              </a:rPr>
              <a:t>Sessions, tasks, OAuth codes, counters and approvals are shared; caches and circuit breakers stay per process on purpose.</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Operated</a:t>
            </a:r>
          </a:p>
          <a:p>
            <a:pPr lvl="1">
              <a:lnSpc>
                <a:spcPct val="120000"/>
              </a:lnSpc>
              <a:spcBef>
                <a:spcPts val="0"/>
              </a:spcBef>
              <a:spcAft>
                <a:spcPts val="0"/>
              </a:spcAft>
            </a:pPr>
            <a:r>
              <a:rPr sz="1700" b="0">
                <a:solidFill>
                  <a:srgbClr val="6B7480"/>
                </a:solidFill>
                <a:latin typeface="Calibri"/>
              </a:rPr>
              <a:t>Prometheus /metrics, OpenTelemetry traces, usage and cost dashboard, alert rules, health at /health.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04</a:t>
            </a:r>
          </a:p>
        </p:txBody>
      </p:sp>
      <p:sp>
        <p:nvSpPr>
          <p:cNvPr id="12" name="TextBox 11"/>
          <p:cNvSpPr txBox="1"/>
          <p:nvPr/>
        </p:nvSpPr>
        <p:spPr>
          <a:xfrm>
            <a:off x="1521845" y="2487168"/>
            <a:ext cx="9148005" cy="624078"/>
          </a:xfrm>
          <a:prstGeom prst="rect">
            <a:avLst/>
          </a:prstGeom>
          <a:noFill/>
        </p:spPr>
        <p:txBody>
          <a:bodyPr wrap="square" lIns="0" rIns="0" tIns="0" bIns="0" anchor="t">
            <a:spAutoFit/>
          </a:bodyPr>
          <a:lstStyle/>
          <a:p>
            <a:pPr algn="ctr">
              <a:lnSpc>
                <a:spcPct val="110000"/>
              </a:lnSpc>
              <a:spcBef>
                <a:spcPts val="0"/>
              </a:spcBef>
              <a:spcAft>
                <a:spcPts val="0"/>
              </a:spcAft>
            </a:pPr>
            <a:r>
              <a:rPr sz="3600" b="0" i="0">
                <a:solidFill>
                  <a:srgbClr val="FFFFFF"/>
                </a:solidFill>
                <a:latin typeface="Georgia"/>
              </a:rPr>
              <a:t>Agents, composition and workflows</a:t>
            </a:r>
          </a:p>
        </p:txBody>
      </p:sp>
      <p:sp>
        <p:nvSpPr>
          <p:cNvPr id="13" name="Rectangle 12"/>
          <p:cNvSpPr/>
          <p:nvPr/>
        </p:nvSpPr>
        <p:spPr>
          <a:xfrm>
            <a:off x="5364327" y="3266694"/>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95294"/>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How agents use SAJHA, alone and together; how tools compose into one governed call; how a schedule or an event runs a governed graph of steps; and how the server is extended while it runs.</a:t>
            </a:r>
          </a:p>
        </p:txBody>
      </p:sp>
      <p:sp>
        <p:nvSpPr>
          <p:cNvPr id="15" name="TextBox 14"/>
          <p:cNvSpPr txBox="1"/>
          <p:nvPr/>
        </p:nvSpPr>
        <p:spPr>
          <a:xfrm>
            <a:off x="1143000" y="4626102"/>
            <a:ext cx="9905695" cy="1591817"/>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Agent architecture   ·   A worked analysis   ·   Several agents   ·   Composite tools   ·   The Composition Framework   ·   Workflows   ·   A run   ·   How they fit   ·   Extending   ·   Hot reload   ·   Making a tool, step by step</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AGENT ARCHITECTURE</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The agent reasons; SAJHA executes, authorizes and records</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50</a:t>
            </a:r>
          </a:p>
        </p:txBody>
      </p:sp>
      <p:sp>
        <p:nvSpPr>
          <p:cNvPr id="17" name="Rectangle 16"/>
          <p:cNvSpPr/>
          <p:nvPr/>
        </p:nvSpPr>
        <p:spPr>
          <a:xfrm>
            <a:off x="777240" y="1370901"/>
            <a:ext cx="3829397" cy="235318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25765"/>
            <a:ext cx="3609941"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AGENT RUNTIME</a:t>
            </a:r>
          </a:p>
        </p:txBody>
      </p:sp>
      <p:sp>
        <p:nvSpPr>
          <p:cNvPr id="19" name="Rectangle 18"/>
          <p:cNvSpPr/>
          <p:nvPr/>
        </p:nvSpPr>
        <p:spPr>
          <a:xfrm>
            <a:off x="6308591" y="1370901"/>
            <a:ext cx="5105863" cy="235318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8319" y="1425765"/>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SAJHA MCP SERVER</a:t>
            </a:r>
          </a:p>
        </p:txBody>
      </p:sp>
      <p:cxnSp>
        <p:nvCxnSpPr>
          <p:cNvPr id="21" name="Connector 20"/>
          <p:cNvCxnSpPr/>
          <p:nvPr/>
        </p:nvCxnSpPr>
        <p:spPr>
          <a:xfrm>
            <a:off x="2691938" y="2356342"/>
            <a:ext cx="0" cy="7866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691938" y="3001570"/>
            <a:ext cx="0" cy="7866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324097" y="3344539"/>
            <a:ext cx="226703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4324097" y="3344539"/>
            <a:ext cx="226703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322740" y="3143371"/>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sp>
        <p:nvSpPr>
          <p:cNvPr id="26" name="Rounded Rectangle 25"/>
          <p:cNvSpPr/>
          <p:nvPr/>
        </p:nvSpPr>
        <p:spPr>
          <a:xfrm>
            <a:off x="1096356" y="1864311"/>
            <a:ext cx="3191164" cy="455455"/>
          </a:xfrm>
          <a:prstGeom prst="roundRect">
            <a:avLst>
              <a:gd name="adj" fmla="val 1606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LLM</a:t>
            </a:r>
          </a:p>
        </p:txBody>
      </p:sp>
      <p:sp>
        <p:nvSpPr>
          <p:cNvPr id="27" name="Rounded Rectangle 26"/>
          <p:cNvSpPr/>
          <p:nvPr/>
        </p:nvSpPr>
        <p:spPr>
          <a:xfrm>
            <a:off x="1096356" y="2471584"/>
            <a:ext cx="3191164" cy="493409"/>
          </a:xfrm>
          <a:prstGeom prst="roundRect">
            <a:avLst>
              <a:gd name="adj" fmla="val 148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FFFFFF"/>
                </a:solidFill>
                <a:latin typeface="Calibri"/>
              </a:rPr>
              <a:t>Orchestrator</a:t>
            </a:r>
          </a:p>
          <a:p>
            <a:pPr algn="ctr">
              <a:lnSpc>
                <a:spcPct val="105000"/>
              </a:lnSpc>
              <a:spcBef>
                <a:spcPts val="0"/>
              </a:spcBef>
              <a:spcAft>
                <a:spcPts val="0"/>
              </a:spcAft>
            </a:pPr>
            <a:r>
              <a:rPr sz="1200" b="0" i="0">
                <a:solidFill>
                  <a:srgbClr val="FFFFFF"/>
                </a:solidFill>
                <a:latin typeface="Calibri"/>
              </a:rPr>
              <a:t>multi-step reasoning, retries</a:t>
            </a:r>
          </a:p>
        </p:txBody>
      </p:sp>
      <p:sp>
        <p:nvSpPr>
          <p:cNvPr id="28" name="Rounded Rectangle 27"/>
          <p:cNvSpPr/>
          <p:nvPr/>
        </p:nvSpPr>
        <p:spPr>
          <a:xfrm>
            <a:off x="1096356" y="3116812"/>
            <a:ext cx="3191164" cy="455455"/>
          </a:xfrm>
          <a:prstGeom prst="roundRect">
            <a:avLst>
              <a:gd name="adj" fmla="val 1606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a:t>
            </a:r>
          </a:p>
        </p:txBody>
      </p:sp>
      <p:sp>
        <p:nvSpPr>
          <p:cNvPr id="29" name="Rounded Rectangle 28"/>
          <p:cNvSpPr/>
          <p:nvPr/>
        </p:nvSpPr>
        <p:spPr>
          <a:xfrm>
            <a:off x="6627708" y="3116812"/>
            <a:ext cx="4467630" cy="455455"/>
          </a:xfrm>
          <a:prstGeom prst="roundRect">
            <a:avLst>
              <a:gd name="adj" fmla="val 1606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Access · policy · audit</a:t>
            </a:r>
          </a:p>
        </p:txBody>
      </p:sp>
      <p:sp>
        <p:nvSpPr>
          <p:cNvPr id="30" name="Rounded Rectangle 29"/>
          <p:cNvSpPr/>
          <p:nvPr/>
        </p:nvSpPr>
        <p:spPr>
          <a:xfrm>
            <a:off x="6627708"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FRED</a:t>
            </a:r>
          </a:p>
        </p:txBody>
      </p:sp>
      <p:sp>
        <p:nvSpPr>
          <p:cNvPr id="31" name="Rounded Rectangle 30"/>
          <p:cNvSpPr/>
          <p:nvPr/>
        </p:nvSpPr>
        <p:spPr>
          <a:xfrm>
            <a:off x="8170104"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EDGAR</a:t>
            </a:r>
          </a:p>
        </p:txBody>
      </p:sp>
      <p:sp>
        <p:nvSpPr>
          <p:cNvPr id="32" name="Rounded Rectangle 31"/>
          <p:cNvSpPr/>
          <p:nvPr/>
        </p:nvSpPr>
        <p:spPr>
          <a:xfrm>
            <a:off x="9712500"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Central banks</a:t>
            </a:r>
          </a:p>
        </p:txBody>
      </p:sp>
      <p:sp>
        <p:nvSpPr>
          <p:cNvPr id="33" name="Rounded Rectangle 32"/>
          <p:cNvSpPr/>
          <p:nvPr/>
        </p:nvSpPr>
        <p:spPr>
          <a:xfrm>
            <a:off x="6627708"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DuckDB</a:t>
            </a:r>
          </a:p>
        </p:txBody>
      </p:sp>
      <p:sp>
        <p:nvSpPr>
          <p:cNvPr id="34" name="Rounded Rectangle 33"/>
          <p:cNvSpPr/>
          <p:nvPr/>
        </p:nvSpPr>
        <p:spPr>
          <a:xfrm>
            <a:off x="8170104"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a:t>
            </a:r>
          </a:p>
        </p:txBody>
      </p:sp>
      <p:sp>
        <p:nvSpPr>
          <p:cNvPr id="35" name="Rounded Rectangle 34"/>
          <p:cNvSpPr/>
          <p:nvPr/>
        </p:nvSpPr>
        <p:spPr>
          <a:xfrm>
            <a:off x="9712500"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Tavily</a:t>
            </a:r>
          </a:p>
        </p:txBody>
      </p:sp>
      <p:sp>
        <p:nvSpPr>
          <p:cNvPr id="36" name="Rounded Rectangle 35"/>
          <p:cNvSpPr/>
          <p:nvPr/>
        </p:nvSpPr>
        <p:spPr>
          <a:xfrm>
            <a:off x="6308591" y="4331359"/>
            <a:ext cx="2340187" cy="531364"/>
          </a:xfrm>
          <a:prstGeom prst="roundRect">
            <a:avLst>
              <a:gd name="adj" fmla="val 13766"/>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Databases and lake</a:t>
            </a:r>
          </a:p>
        </p:txBody>
      </p:sp>
      <p:sp>
        <p:nvSpPr>
          <p:cNvPr id="37" name="Rounded Rectangle 36"/>
          <p:cNvSpPr/>
          <p:nvPr/>
        </p:nvSpPr>
        <p:spPr>
          <a:xfrm>
            <a:off x="9074267" y="4331359"/>
            <a:ext cx="2340187" cy="531364"/>
          </a:xfrm>
          <a:prstGeom prst="roundRect">
            <a:avLst>
              <a:gd name="adj" fmla="val 13766"/>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Public APIs and the web</a:t>
            </a:r>
          </a:p>
        </p:txBody>
      </p:sp>
      <p:sp>
        <p:nvSpPr>
          <p:cNvPr id="38" name="TextBox 37"/>
          <p:cNvSpPr txBox="1"/>
          <p:nvPr/>
        </p:nvSpPr>
        <p:spPr>
          <a:xfrm>
            <a:off x="777240" y="5330952"/>
            <a:ext cx="10637215" cy="914400"/>
          </a:xfrm>
          <a:prstGeom prst="rect">
            <a:avLst/>
          </a:prstGeom>
          <a:noFill/>
        </p:spPr>
        <p:txBody>
          <a:bodyPr wrap="square" lIns="0" rIns="0" tIns="0" bIns="0" anchor="t">
            <a:spAutoFit/>
          </a:bodyPr>
          <a:lstStyle/>
          <a:p>
            <a:pPr algn="l">
              <a:lnSpc>
                <a:spcPct val="120000"/>
              </a:lnSpc>
              <a:spcBef>
                <a:spcPts val="0"/>
              </a:spcBef>
              <a:spcAft>
                <a:spcPts val="0"/>
              </a:spcAft>
            </a:pPr>
            <a:r>
              <a:rPr sz="1650" b="1">
                <a:solidFill>
                  <a:srgbClr val="A51C30"/>
                </a:solidFill>
                <a:latin typeface="Calibri"/>
              </a:rPr>
              <a:t>▪  </a:t>
            </a:r>
            <a:r>
              <a:rPr sz="1650" b="0">
                <a:solidFill>
                  <a:srgbClr val="1A1A1A"/>
                </a:solidFill>
                <a:latin typeface="Calibri"/>
              </a:rPr>
              <a:t>The agent lists tools at start (tools/list) and puts their schemas in the model's prompt; the orchestrator handles multi-step reasoning and retries.</a:t>
            </a:r>
          </a:p>
          <a:p>
            <a:pPr>
              <a:lnSpc>
                <a:spcPct val="120000"/>
              </a:lnSpc>
              <a:spcBef>
                <a:spcPts val="600"/>
              </a:spcBef>
              <a:spcAft>
                <a:spcPts val="0"/>
              </a:spcAft>
            </a:pPr>
            <a:r>
              <a:rPr sz="1650" b="1">
                <a:solidFill>
                  <a:srgbClr val="A51C30"/>
                </a:solidFill>
                <a:latin typeface="Calibri"/>
              </a:rPr>
              <a:t>▪  </a:t>
            </a:r>
            <a:r>
              <a:rPr sz="1650" b="0">
                <a:solidFill>
                  <a:srgbClr val="1A1A1A"/>
                </a:solidFill>
                <a:latin typeface="Calibri"/>
              </a:rPr>
              <a:t>SAJHA handles execution, authentication, policy and records: a clean separation of concerns.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ILLUSTRATIVE WORKFLOW</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A worked analysis: interest-rate exposure, one tool at a time</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51</a:t>
            </a:r>
          </a:p>
        </p:txBody>
      </p:sp>
      <p:sp>
        <p:nvSpPr>
          <p:cNvPr id="17" name="TextBox 16"/>
          <p:cNvSpPr txBox="1"/>
          <p:nvPr/>
        </p:nvSpPr>
        <p:spPr>
          <a:xfrm>
            <a:off x="777240" y="1338770"/>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Illustrative. “How exposed is our Treasury portfolio to a move in rates?” An agent might chain these real tools; the holdings table is your own data in DuckDB.</a:t>
            </a:r>
          </a:p>
        </p:txBody>
      </p:sp>
      <p:sp>
        <p:nvSpPr>
          <p:cNvPr id="18" name="Rectangle 17"/>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output becomes context for the next step; the model chooses the path from what it sees. Section 7 shows a real run, captured when this deck was built.</a:t>
            </a:r>
          </a:p>
        </p:txBody>
      </p:sp>
      <p:graphicFrame>
        <p:nvGraphicFramePr>
          <p:cNvPr id="20" name="Table 19"/>
          <p:cNvGraphicFramePr>
            <a:graphicFrameLocks noGrp="1"/>
          </p:cNvGraphicFramePr>
          <p:nvPr/>
        </p:nvGraphicFramePr>
        <p:xfrm>
          <a:off x="777240" y="1992312"/>
          <a:ext cx="10637213" cy="3359941"/>
        </p:xfrm>
        <a:graphic>
          <a:graphicData uri="http://schemas.openxmlformats.org/drawingml/2006/table">
            <a:tbl>
              <a:tblPr firstRow="1">
                <a:tableStyleId>{5C22544A-7EE6-4342-B048-85BDC9FD1C3A}</a:tableStyleId>
              </a:tblPr>
              <a:tblGrid>
                <a:gridCol w="690728"/>
                <a:gridCol w="3591786"/>
                <a:gridCol w="2762913"/>
                <a:gridCol w="3591786"/>
              </a:tblGrid>
              <a:tr h="350710">
                <a:tc>
                  <a:txBody>
                    <a:bodyPr wrap="square"/>
                    <a:lstStyle/>
                    <a:p>
                      <a:r>
                        <a:rPr sz="1500" b="1">
                          <a:solidFill>
                            <a:srgbClr val="FFFFFF"/>
                          </a:solidFill>
                          <a:latin typeface="Calibri"/>
                        </a:rPr>
                        <a:t>#</a:t>
                      </a:r>
                    </a:p>
                  </a:txBody>
                  <a:tcPr marL="82296" marR="64008" marT="32004" marB="32004" anchor="ctr">
                    <a:solidFill>
                      <a:srgbClr val="A51C30"/>
                    </a:solidFill>
                  </a:tcPr>
                </a:tc>
                <a:tc>
                  <a:txBody>
                    <a:bodyPr wrap="square"/>
                    <a:lstStyle/>
                    <a:p>
                      <a:r>
                        <a:rPr sz="1500" b="1">
                          <a:solidFill>
                            <a:srgbClr val="FFFFFF"/>
                          </a:solidFill>
                          <a:latin typeface="Calibri"/>
                        </a:rPr>
                        <a:t>Agent action</a:t>
                      </a:r>
                    </a:p>
                  </a:txBody>
                  <a:tcPr marL="82296" marR="64008" marT="32004" marB="32004" anchor="ctr">
                    <a:solidFill>
                      <a:srgbClr val="A51C30"/>
                    </a:solidFill>
                  </a:tcPr>
                </a:tc>
                <a:tc>
                  <a:txBody>
                    <a:bodyPr wrap="square"/>
                    <a:lstStyle/>
                    <a:p>
                      <a:r>
                        <a:rPr sz="1500" b="1">
                          <a:solidFill>
                            <a:srgbClr val="FFFFFF"/>
                          </a:solidFill>
                          <a:latin typeface="Calibri"/>
                        </a:rPr>
                        <a:t>SAJHA tool</a:t>
                      </a:r>
                    </a:p>
                  </a:txBody>
                  <a:tcPr marL="82296" marR="64008" marT="32004" marB="32004" anchor="ctr">
                    <a:solidFill>
                      <a:srgbClr val="A51C30"/>
                    </a:solidFill>
                  </a:tcPr>
                </a:tc>
                <a:tc>
                  <a:txBody>
                    <a:bodyPr wrap="square"/>
                    <a:lstStyle/>
                    <a:p>
                      <a:r>
                        <a:rPr sz="1500" b="1">
                          <a:solidFill>
                            <a:srgbClr val="FFFFFF"/>
                          </a:solidFill>
                          <a:latin typeface="Calibri"/>
                        </a:rPr>
                        <a:t>Output</a:t>
                      </a:r>
                    </a:p>
                  </a:txBody>
                  <a:tcPr marL="82296" marR="64008" marT="32004" marB="32004" anchor="ctr">
                    <a:solidFill>
                      <a:srgbClr val="A51C30"/>
                    </a:solidFill>
                  </a:tcPr>
                </a:tc>
              </a:tr>
              <a:tr h="358743">
                <a:tc>
                  <a:txBody>
                    <a:bodyPr wrap="square"/>
                    <a:lstStyle/>
                    <a:p>
                      <a:r>
                        <a:rPr sz="1550" b="1">
                          <a:solidFill>
                            <a:srgbClr val="6E1120"/>
                          </a:solidFill>
                          <a:latin typeface="Calibri"/>
                        </a:rPr>
                        <a:t>1</a:t>
                      </a:r>
                    </a:p>
                  </a:txBody>
                  <a:tcPr marL="82296" marR="64008" marT="32004" marB="32004" anchor="ctr">
                    <a:solidFill>
                      <a:srgbClr val="FFFFFF"/>
                    </a:solidFill>
                  </a:tcPr>
                </a:tc>
                <a:tc>
                  <a:txBody>
                    <a:bodyPr wrap="square"/>
                    <a:lstStyle/>
                    <a:p>
                      <a:r>
                        <a:rPr sz="1550" b="0">
                          <a:solidFill>
                            <a:srgbClr val="1A1A1A"/>
                          </a:solidFill>
                          <a:latin typeface="Calibri"/>
                        </a:rPr>
                        <a:t>Fetch the policy rate</a:t>
                      </a:r>
                    </a:p>
                  </a:txBody>
                  <a:tcPr marL="82296" marR="64008" marT="32004" marB="32004" anchor="ctr">
                    <a:solidFill>
                      <a:srgbClr val="FFFFFF"/>
                    </a:solidFill>
                  </a:tcPr>
                </a:tc>
                <a:tc>
                  <a:txBody>
                    <a:bodyPr wrap="square"/>
                    <a:lstStyle/>
                    <a:p>
                      <a:r>
                        <a:rPr sz="1550" b="0">
                          <a:solidFill>
                            <a:srgbClr val="1A1A1A"/>
                          </a:solidFill>
                          <a:latin typeface="Calibri"/>
                        </a:rPr>
                        <a:t>fred_fed_funds_rate</a:t>
                      </a:r>
                    </a:p>
                  </a:txBody>
                  <a:tcPr marL="82296" marR="64008" marT="32004" marB="32004" anchor="ctr">
                    <a:solidFill>
                      <a:srgbClr val="FFFFFF"/>
                    </a:solidFill>
                  </a:tcPr>
                </a:tc>
                <a:tc>
                  <a:txBody>
                    <a:bodyPr wrap="square"/>
                    <a:lstStyle/>
                    <a:p>
                      <a:r>
                        <a:rPr sz="1550" b="0">
                          <a:solidFill>
                            <a:srgbClr val="1A1A1A"/>
                          </a:solidFill>
                          <a:latin typeface="Calibri"/>
                        </a:rPr>
                        <a:t>Rate and its history</a:t>
                      </a:r>
                    </a:p>
                  </a:txBody>
                  <a:tcPr marL="82296" marR="64008" marT="32004" marB="32004" anchor="ctr">
                    <a:solidFill>
                      <a:srgbClr val="FFFFFF"/>
                    </a:solidFill>
                  </a:tcPr>
                </a:tc>
              </a:tr>
              <a:tr h="607758">
                <a:tc>
                  <a:txBody>
                    <a:bodyPr wrap="square"/>
                    <a:lstStyle/>
                    <a:p>
                      <a:r>
                        <a:rPr sz="1550" b="1">
                          <a:solidFill>
                            <a:srgbClr val="6E1120"/>
                          </a:solidFill>
                          <a:latin typeface="Calibri"/>
                        </a:rPr>
                        <a:t>2</a:t>
                      </a:r>
                    </a:p>
                  </a:txBody>
                  <a:tcPr marL="82296" marR="64008" marT="32004" marB="32004" anchor="ctr">
                    <a:solidFill>
                      <a:srgbClr val="F7F5F2"/>
                    </a:solidFill>
                  </a:tcPr>
                </a:tc>
                <a:tc>
                  <a:txBody>
                    <a:bodyPr wrap="square"/>
                    <a:lstStyle/>
                    <a:p>
                      <a:r>
                        <a:rPr sz="1550" b="0">
                          <a:solidFill>
                            <a:srgbClr val="1A1A1A"/>
                          </a:solidFill>
                          <a:latin typeface="Calibri"/>
                        </a:rPr>
                        <a:t>Fetch the 2-year and 10-year yields</a:t>
                      </a:r>
                    </a:p>
                  </a:txBody>
                  <a:tcPr marL="82296" marR="64008" marT="32004" marB="32004" anchor="ctr">
                    <a:solidFill>
                      <a:srgbClr val="F7F5F2"/>
                    </a:solidFill>
                  </a:tcPr>
                </a:tc>
                <a:tc>
                  <a:txBody>
                    <a:bodyPr wrap="square"/>
                    <a:lstStyle/>
                    <a:p>
                      <a:r>
                        <a:rPr sz="1550" b="0">
                          <a:solidFill>
                            <a:srgbClr val="1A1A1A"/>
                          </a:solidFill>
                          <a:latin typeface="Calibri"/>
                        </a:rPr>
                        <a:t>fred_2yr_treasury, fred_10yr_treasury</a:t>
                      </a:r>
                    </a:p>
                  </a:txBody>
                  <a:tcPr marL="82296" marR="64008" marT="32004" marB="32004" anchor="ctr">
                    <a:solidFill>
                      <a:srgbClr val="F7F5F2"/>
                    </a:solidFill>
                  </a:tcPr>
                </a:tc>
                <a:tc>
                  <a:txBody>
                    <a:bodyPr wrap="square"/>
                    <a:lstStyle/>
                    <a:p>
                      <a:r>
                        <a:rPr sz="1550" b="0">
                          <a:solidFill>
                            <a:srgbClr val="1A1A1A"/>
                          </a:solidFill>
                          <a:latin typeface="Calibri"/>
                        </a:rPr>
                        <a:t>The curve's short and long end</a:t>
                      </a:r>
                    </a:p>
                  </a:txBody>
                  <a:tcPr marL="82296" marR="64008" marT="32004" marB="32004" anchor="ctr">
                    <a:solidFill>
                      <a:srgbClr val="F7F5F2"/>
                    </a:solidFill>
                  </a:tcPr>
                </a:tc>
              </a:tr>
              <a:tr h="358743">
                <a:tc>
                  <a:txBody>
                    <a:bodyPr wrap="square"/>
                    <a:lstStyle/>
                    <a:p>
                      <a:r>
                        <a:rPr sz="1550" b="1">
                          <a:solidFill>
                            <a:srgbClr val="6E1120"/>
                          </a:solidFill>
                          <a:latin typeface="Calibri"/>
                        </a:rPr>
                        <a:t>3</a:t>
                      </a:r>
                    </a:p>
                  </a:txBody>
                  <a:tcPr marL="82296" marR="64008" marT="32004" marB="32004" anchor="ctr">
                    <a:solidFill>
                      <a:srgbClr val="FFFFFF"/>
                    </a:solidFill>
                  </a:tcPr>
                </a:tc>
                <a:tc>
                  <a:txBody>
                    <a:bodyPr wrap="square"/>
                    <a:lstStyle/>
                    <a:p>
                      <a:r>
                        <a:rPr sz="1550" b="0">
                          <a:solidFill>
                            <a:srgbClr val="1A1A1A"/>
                          </a:solidFill>
                          <a:latin typeface="Calibri"/>
                        </a:rPr>
                        <a:t>Read portfolio holdings</a:t>
                      </a:r>
                    </a:p>
                  </a:txBody>
                  <a:tcPr marL="82296" marR="64008" marT="32004" marB="32004" anchor="ctr">
                    <a:solidFill>
                      <a:srgbClr val="FFFFFF"/>
                    </a:solidFill>
                  </a:tcPr>
                </a:tc>
                <a:tc>
                  <a:txBody>
                    <a:bodyPr wrap="square"/>
                    <a:lstStyle/>
                    <a:p>
                      <a:r>
                        <a:rPr sz="1550" b="0">
                          <a:solidFill>
                            <a:srgbClr val="1A1A1A"/>
                          </a:solidFill>
                          <a:latin typeface="Calibri"/>
                        </a:rPr>
                        <a:t>duckdb_sql</a:t>
                      </a:r>
                    </a:p>
                  </a:txBody>
                  <a:tcPr marL="82296" marR="64008" marT="32004" marB="32004" anchor="ctr">
                    <a:solidFill>
                      <a:srgbClr val="FFFFFF"/>
                    </a:solidFill>
                  </a:tcPr>
                </a:tc>
                <a:tc>
                  <a:txBody>
                    <a:bodyPr wrap="square"/>
                    <a:lstStyle/>
                    <a:p>
                      <a:r>
                        <a:rPr sz="1550" b="0">
                          <a:solidFill>
                            <a:srgbClr val="1A1A1A"/>
                          </a:solidFill>
                          <a:latin typeface="Calibri"/>
                        </a:rPr>
                        <a:t>Positions, coupons, maturities</a:t>
                      </a:r>
                    </a:p>
                  </a:txBody>
                  <a:tcPr marL="82296" marR="64008" marT="32004" marB="32004" anchor="ctr">
                    <a:solidFill>
                      <a:srgbClr val="FFFFFF"/>
                    </a:solidFill>
                  </a:tcPr>
                </a:tc>
              </a:tr>
              <a:tr h="358743">
                <a:tc>
                  <a:txBody>
                    <a:bodyPr wrap="square"/>
                    <a:lstStyle/>
                    <a:p>
                      <a:r>
                        <a:rPr sz="1550" b="1">
                          <a:solidFill>
                            <a:srgbClr val="6E1120"/>
                          </a:solidFill>
                          <a:latin typeface="Calibri"/>
                        </a:rPr>
                        <a:t>4</a:t>
                      </a:r>
                    </a:p>
                  </a:txBody>
                  <a:tcPr marL="82296" marR="64008" marT="32004" marB="32004" anchor="ctr">
                    <a:solidFill>
                      <a:srgbClr val="F7F5F2"/>
                    </a:solidFill>
                  </a:tcPr>
                </a:tc>
                <a:tc>
                  <a:txBody>
                    <a:bodyPr wrap="square"/>
                    <a:lstStyle/>
                    <a:p>
                      <a:r>
                        <a:rPr sz="1550" b="0">
                          <a:solidFill>
                            <a:srgbClr val="1A1A1A"/>
                          </a:solidFill>
                          <a:latin typeface="Calibri"/>
                        </a:rPr>
                        <a:t>Bucket exposure by maturity</a:t>
                      </a:r>
                    </a:p>
                  </a:txBody>
                  <a:tcPr marL="82296" marR="64008" marT="32004" marB="32004" anchor="ctr">
                    <a:solidFill>
                      <a:srgbClr val="F7F5F2"/>
                    </a:solidFill>
                  </a:tcPr>
                </a:tc>
                <a:tc>
                  <a:txBody>
                    <a:bodyPr wrap="square"/>
                    <a:lstStyle/>
                    <a:p>
                      <a:r>
                        <a:rPr sz="1550" b="0">
                          <a:solidFill>
                            <a:srgbClr val="1A1A1A"/>
                          </a:solidFill>
                          <a:latin typeface="Calibri"/>
                        </a:rPr>
                        <a:t>olap_pivot_table</a:t>
                      </a:r>
                    </a:p>
                  </a:txBody>
                  <a:tcPr marL="82296" marR="64008" marT="32004" marB="32004" anchor="ctr">
                    <a:solidFill>
                      <a:srgbClr val="F7F5F2"/>
                    </a:solidFill>
                  </a:tcPr>
                </a:tc>
                <a:tc>
                  <a:txBody>
                    <a:bodyPr wrap="square"/>
                    <a:lstStyle/>
                    <a:p>
                      <a:r>
                        <a:rPr sz="1550" b="0">
                          <a:solidFill>
                            <a:srgbClr val="1A1A1A"/>
                          </a:solidFill>
                          <a:latin typeface="Calibri"/>
                        </a:rPr>
                        <a:t>Exposure per bucket</a:t>
                      </a:r>
                    </a:p>
                  </a:txBody>
                  <a:tcPr marL="82296" marR="64008" marT="32004" marB="32004" anchor="ctr">
                    <a:solidFill>
                      <a:srgbClr val="F7F5F2"/>
                    </a:solidFill>
                  </a:tcPr>
                </a:tc>
              </a:tr>
              <a:tr h="358743">
                <a:tc>
                  <a:txBody>
                    <a:bodyPr wrap="square"/>
                    <a:lstStyle/>
                    <a:p>
                      <a:r>
                        <a:rPr sz="1550" b="1">
                          <a:solidFill>
                            <a:srgbClr val="6E1120"/>
                          </a:solidFill>
                          <a:latin typeface="Calibri"/>
                        </a:rPr>
                        <a:t>5</a:t>
                      </a:r>
                    </a:p>
                  </a:txBody>
                  <a:tcPr marL="82296" marR="64008" marT="32004" marB="32004" anchor="ctr">
                    <a:solidFill>
                      <a:srgbClr val="FFFFFF"/>
                    </a:solidFill>
                  </a:tcPr>
                </a:tc>
                <a:tc>
                  <a:txBody>
                    <a:bodyPr wrap="square"/>
                    <a:lstStyle/>
                    <a:p>
                      <a:r>
                        <a:rPr sz="1550" b="0">
                          <a:solidFill>
                            <a:srgbClr val="1A1A1A"/>
                          </a:solidFill>
                          <a:latin typeface="Calibri"/>
                        </a:rPr>
                        <a:t>Reprice a bond after +100 bp</a:t>
                      </a:r>
                    </a:p>
                  </a:txBody>
                  <a:tcPr marL="82296" marR="64008" marT="32004" marB="32004" anchor="ctr">
                    <a:solidFill>
                      <a:srgbClr val="FFFFFF"/>
                    </a:solidFill>
                  </a:tcPr>
                </a:tc>
                <a:tc>
                  <a:txBody>
                    <a:bodyPr wrap="square"/>
                    <a:lstStyle/>
                    <a:p>
                      <a:r>
                        <a:rPr sz="1550" b="0">
                          <a:solidFill>
                            <a:srgbClr val="1A1A1A"/>
                          </a:solidFill>
                          <a:latin typeface="Calibri"/>
                        </a:rPr>
                        <a:t>calc_bond_price</a:t>
                      </a:r>
                    </a:p>
                  </a:txBody>
                  <a:tcPr marL="82296" marR="64008" marT="32004" marB="32004" anchor="ctr">
                    <a:solidFill>
                      <a:srgbClr val="FFFFFF"/>
                    </a:solidFill>
                  </a:tcPr>
                </a:tc>
                <a:tc>
                  <a:txBody>
                    <a:bodyPr wrap="square"/>
                    <a:lstStyle/>
                    <a:p>
                      <a:r>
                        <a:rPr sz="1550" b="0">
                          <a:solidFill>
                            <a:srgbClr val="1A1A1A"/>
                          </a:solidFill>
                          <a:latin typeface="Calibri"/>
                        </a:rPr>
                        <a:t>Price change per position</a:t>
                      </a:r>
                    </a:p>
                  </a:txBody>
                  <a:tcPr marL="82296" marR="64008" marT="32004" marB="32004" anchor="ctr">
                    <a:solidFill>
                      <a:srgbClr val="FFFFFF"/>
                    </a:solidFill>
                  </a:tcPr>
                </a:tc>
              </a:tr>
              <a:tr h="358743">
                <a:tc>
                  <a:txBody>
                    <a:bodyPr wrap="square"/>
                    <a:lstStyle/>
                    <a:p>
                      <a:r>
                        <a:rPr sz="1550" b="1">
                          <a:solidFill>
                            <a:srgbClr val="6E1120"/>
                          </a:solidFill>
                          <a:latin typeface="Calibri"/>
                        </a:rPr>
                        <a:t>6</a:t>
                      </a:r>
                    </a:p>
                  </a:txBody>
                  <a:tcPr marL="82296" marR="64008" marT="32004" marB="32004" anchor="ctr">
                    <a:solidFill>
                      <a:srgbClr val="F7F5F2"/>
                    </a:solidFill>
                  </a:tcPr>
                </a:tc>
                <a:tc>
                  <a:txBody>
                    <a:bodyPr wrap="square"/>
                    <a:lstStyle/>
                    <a:p>
                      <a:r>
                        <a:rPr sz="1550" b="0">
                          <a:solidFill>
                            <a:srgbClr val="1A1A1A"/>
                          </a:solidFill>
                          <a:latin typeface="Calibri"/>
                        </a:rPr>
                        <a:t>Search for central-bank guidance</a:t>
                      </a:r>
                    </a:p>
                  </a:txBody>
                  <a:tcPr marL="82296" marR="64008" marT="32004" marB="32004" anchor="ctr">
                    <a:solidFill>
                      <a:srgbClr val="F7F5F2"/>
                    </a:solidFill>
                  </a:tcPr>
                </a:tc>
                <a:tc>
                  <a:txBody>
                    <a:bodyPr wrap="square"/>
                    <a:lstStyle/>
                    <a:p>
                      <a:r>
                        <a:rPr sz="1550" b="0">
                          <a:solidFill>
                            <a:srgbClr val="1A1A1A"/>
                          </a:solidFill>
                          <a:latin typeface="Calibri"/>
                        </a:rPr>
                        <a:t>tavily_news_search</a:t>
                      </a:r>
                    </a:p>
                  </a:txBody>
                  <a:tcPr marL="82296" marR="64008" marT="32004" marB="32004" anchor="ctr">
                    <a:solidFill>
                      <a:srgbClr val="F7F5F2"/>
                    </a:solidFill>
                  </a:tcPr>
                </a:tc>
                <a:tc>
                  <a:txBody>
                    <a:bodyPr wrap="square"/>
                    <a:lstStyle/>
                    <a:p>
                      <a:r>
                        <a:rPr sz="1550" b="0">
                          <a:solidFill>
                            <a:srgbClr val="1A1A1A"/>
                          </a:solidFill>
                          <a:latin typeface="Calibri"/>
                        </a:rPr>
                        <a:t>Recent statements, with links</a:t>
                      </a:r>
                    </a:p>
                  </a:txBody>
                  <a:tcPr marL="82296" marR="64008" marT="32004" marB="32004" anchor="ctr">
                    <a:solidFill>
                      <a:srgbClr val="F7F5F2"/>
                    </a:solidFill>
                  </a:tcPr>
                </a:tc>
              </a:tr>
              <a:tr h="607758">
                <a:tc>
                  <a:txBody>
                    <a:bodyPr wrap="square"/>
                    <a:lstStyle/>
                    <a:p>
                      <a:r>
                        <a:rPr sz="1550" b="1">
                          <a:solidFill>
                            <a:srgbClr val="6E1120"/>
                          </a:solidFill>
                          <a:latin typeface="Calibri"/>
                        </a:rPr>
                        <a:t>7</a:t>
                      </a:r>
                    </a:p>
                  </a:txBody>
                  <a:tcPr marL="82296" marR="64008" marT="32004" marB="32004" anchor="ctr">
                    <a:solidFill>
                      <a:srgbClr val="FFFFFF"/>
                    </a:solidFill>
                  </a:tcPr>
                </a:tc>
                <a:tc>
                  <a:txBody>
                    <a:bodyPr wrap="square"/>
                    <a:lstStyle/>
                    <a:p>
                      <a:r>
                        <a:rPr sz="1550" b="0">
                          <a:solidFill>
                            <a:srgbClr val="1A1A1A"/>
                          </a:solidFill>
                          <a:latin typeface="Calibri"/>
                        </a:rPr>
                        <a:t>Synthesise</a:t>
                      </a:r>
                    </a:p>
                  </a:txBody>
                  <a:tcPr marL="82296" marR="64008" marT="32004" marB="32004" anchor="ctr">
                    <a:solidFill>
                      <a:srgbClr val="FFFFFF"/>
                    </a:solidFill>
                  </a:tcPr>
                </a:tc>
                <a:tc>
                  <a:txBody>
                    <a:bodyPr wrap="square"/>
                    <a:lstStyle/>
                    <a:p>
                      <a:r>
                        <a:rPr sz="1550" b="0">
                          <a:solidFill>
                            <a:srgbClr val="1A1A1A"/>
                          </a:solidFill>
                          <a:latin typeface="Calibri"/>
                        </a:rPr>
                        <a:t>the model</a:t>
                      </a:r>
                    </a:p>
                  </a:txBody>
                  <a:tcPr marL="82296" marR="64008" marT="32004" marB="32004" anchor="ctr">
                    <a:solidFill>
                      <a:srgbClr val="FFFFFF"/>
                    </a:solidFill>
                  </a:tcPr>
                </a:tc>
                <a:tc>
                  <a:txBody>
                    <a:bodyPr wrap="square"/>
                    <a:lstStyle/>
                    <a:p>
                      <a:r>
                        <a:rPr sz="1550" b="0">
                          <a:solidFill>
                            <a:srgbClr val="1A1A1A"/>
                          </a:solidFill>
                          <a:latin typeface="Calibri"/>
                        </a:rPr>
                        <a:t>Exposure summary, citing each call</a:t>
                      </a:r>
                    </a:p>
                  </a:txBody>
                  <a:tcPr marL="82296" marR="64008" marT="32004" marB="32004" anchor="ctr">
                    <a:solidFill>
                      <a:srgbClr val="FFFFFF"/>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MULTI-AGENT COORDINATION</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Several agents share one server, each with its own identity and rights</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52</a:t>
            </a:r>
          </a:p>
        </p:txBody>
      </p:sp>
      <p:cxnSp>
        <p:nvCxnSpPr>
          <p:cNvPr id="17" name="Connector 16"/>
          <p:cNvCxnSpPr/>
          <p:nvPr/>
        </p:nvCxnSpPr>
        <p:spPr>
          <a:xfrm>
            <a:off x="2372822"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436830"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cxnSp>
        <p:nvCxnSpPr>
          <p:cNvPr id="19" name="Connector 18"/>
          <p:cNvCxnSpPr/>
          <p:nvPr/>
        </p:nvCxnSpPr>
        <p:spPr>
          <a:xfrm>
            <a:off x="6095847"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59855"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cxnSp>
        <p:nvCxnSpPr>
          <p:cNvPr id="21" name="Connector 20"/>
          <p:cNvCxnSpPr/>
          <p:nvPr/>
        </p:nvCxnSpPr>
        <p:spPr>
          <a:xfrm>
            <a:off x="9818872"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882880"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sp>
        <p:nvSpPr>
          <p:cNvPr id="23" name="Rounded Rectangle 22"/>
          <p:cNvSpPr/>
          <p:nvPr/>
        </p:nvSpPr>
        <p:spPr>
          <a:xfrm>
            <a:off x="777240"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Research agent</a:t>
            </a:r>
          </a:p>
          <a:p>
            <a:pPr algn="ctr">
              <a:lnSpc>
                <a:spcPct val="105000"/>
              </a:lnSpc>
              <a:spcBef>
                <a:spcPts val="0"/>
              </a:spcBef>
              <a:spcAft>
                <a:spcPts val="0"/>
              </a:spcAft>
            </a:pPr>
            <a:r>
              <a:rPr sz="1250" b="0" i="0">
                <a:solidFill>
                  <a:srgbClr val="1A1A1A"/>
                </a:solidFill>
                <a:latin typeface="Calibri"/>
              </a:rPr>
              <a:t>API key: tavily_*, edgar_*, fed_*</a:t>
            </a:r>
          </a:p>
        </p:txBody>
      </p:sp>
      <p:sp>
        <p:nvSpPr>
          <p:cNvPr id="24" name="Rounded Rectangle 23"/>
          <p:cNvSpPr/>
          <p:nvPr/>
        </p:nvSpPr>
        <p:spPr>
          <a:xfrm>
            <a:off x="4500265"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Analytics agent</a:t>
            </a:r>
          </a:p>
          <a:p>
            <a:pPr algn="ctr">
              <a:lnSpc>
                <a:spcPct val="105000"/>
              </a:lnSpc>
              <a:spcBef>
                <a:spcPts val="0"/>
              </a:spcBef>
              <a:spcAft>
                <a:spcPts val="0"/>
              </a:spcAft>
            </a:pPr>
            <a:r>
              <a:rPr sz="1250" b="0" i="0">
                <a:solidFill>
                  <a:srgbClr val="1A1A1A"/>
                </a:solidFill>
                <a:latin typeface="Calibri"/>
              </a:rPr>
              <a:t>API key: duckdb_*, olap_*, calc_*</a:t>
            </a:r>
          </a:p>
        </p:txBody>
      </p:sp>
      <p:sp>
        <p:nvSpPr>
          <p:cNvPr id="25" name="Rounded Rectangle 24"/>
          <p:cNvSpPr/>
          <p:nvPr/>
        </p:nvSpPr>
        <p:spPr>
          <a:xfrm>
            <a:off x="8223290"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Reporting agent</a:t>
            </a:r>
          </a:p>
          <a:p>
            <a:pPr algn="ctr">
              <a:lnSpc>
                <a:spcPct val="105000"/>
              </a:lnSpc>
              <a:spcBef>
                <a:spcPts val="0"/>
              </a:spcBef>
              <a:spcAft>
                <a:spcPts val="0"/>
              </a:spcAft>
            </a:pPr>
            <a:r>
              <a:rPr sz="1250" b="0" i="0">
                <a:solidFill>
                  <a:srgbClr val="1A1A1A"/>
                </a:solidFill>
                <a:latin typeface="Calibri"/>
              </a:rPr>
              <a:t>role: user, prompts, Ask SAJHA</a:t>
            </a:r>
          </a:p>
        </p:txBody>
      </p:sp>
      <p:sp>
        <p:nvSpPr>
          <p:cNvPr id="26" name="Rounded Rectangle 25"/>
          <p:cNvSpPr/>
          <p:nvPr/>
        </p:nvSpPr>
        <p:spPr>
          <a:xfrm>
            <a:off x="777240" y="2745582"/>
            <a:ext cx="10637215" cy="692861"/>
          </a:xfrm>
          <a:prstGeom prst="roundRect">
            <a:avLst>
              <a:gd name="adj" fmla="val 1055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 MCP server</a:t>
            </a:r>
          </a:p>
          <a:p>
            <a:pPr algn="ctr">
              <a:lnSpc>
                <a:spcPct val="105000"/>
              </a:lnSpc>
              <a:spcBef>
                <a:spcPts val="0"/>
              </a:spcBef>
              <a:spcAft>
                <a:spcPts val="0"/>
              </a:spcAft>
            </a:pPr>
            <a:r>
              <a:rPr sz="1250" b="0" i="0">
                <a:solidFill>
                  <a:srgbClr val="FFFFFF"/>
                </a:solidFill>
                <a:latin typeface="Calibri"/>
              </a:rPr>
              <a:t>one catalog · one policy · one audit</a:t>
            </a:r>
          </a:p>
        </p:txBody>
      </p:sp>
      <p:sp>
        <p:nvSpPr>
          <p:cNvPr id="27" name="TextBox 26"/>
          <p:cNvSpPr txBox="1"/>
          <p:nvPr/>
        </p:nvSpPr>
        <p:spPr>
          <a:xfrm>
            <a:off x="777240" y="4919472"/>
            <a:ext cx="10637215" cy="1325880"/>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A1A1A"/>
                </a:solidFill>
                <a:latin typeface="Calibri"/>
              </a:rPr>
              <a:t>Each agent gets its own credentials (an API key in allowlist mode, or a role), so least privilege is enforced per agent and the audit names which agent called what.</a:t>
            </a:r>
          </a:p>
          <a:p>
            <a:pPr>
              <a:lnSpc>
                <a:spcPct val="120000"/>
              </a:lnSpc>
              <a:spcBef>
                <a:spcPts val="600"/>
              </a:spcBef>
              <a:spcAft>
                <a:spcPts val="0"/>
              </a:spcAft>
            </a:pPr>
            <a:r>
              <a:rPr sz="1600" b="1">
                <a:solidFill>
                  <a:srgbClr val="A51C30"/>
                </a:solidFill>
                <a:latin typeface="Calibri"/>
              </a:rPr>
              <a:t>▪  </a:t>
            </a:r>
            <a:r>
              <a:rPr sz="1600" b="0">
                <a:solidFill>
                  <a:srgbClr val="1A1A1A"/>
                </a:solidFill>
                <a:latin typeface="Calibri"/>
              </a:rPr>
              <a:t>Agents hand work to each other over A2A (/.well-known/agent.json, POST /a2a); MCP carries tool access. Several workers with a shared state store serve more agents without changing the server.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COMPOSITE TOOLS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composite chains tools, and the whole chain is one governed call</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53</a:t>
            </a:r>
          </a:p>
        </p:txBody>
      </p:sp>
      <p:sp>
        <p:nvSpPr>
          <p:cNvPr id="17" name="Rectangle 16"/>
          <p:cNvSpPr/>
          <p:nvPr/>
        </p:nvSpPr>
        <p:spPr>
          <a:xfrm>
            <a:off x="1947333" y="1306639"/>
            <a:ext cx="7658794" cy="3448240"/>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57061" y="1370647"/>
            <a:ext cx="743933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ONE GOVERNED CALL: THE COMPOSITE IS A REGISTRY TOOL</a:t>
            </a:r>
          </a:p>
        </p:txBody>
      </p:sp>
      <p:sp>
        <p:nvSpPr>
          <p:cNvPr id="19" name="Rectangle 18"/>
          <p:cNvSpPr/>
          <p:nvPr/>
        </p:nvSpPr>
        <p:spPr>
          <a:xfrm>
            <a:off x="4340707" y="3375583"/>
            <a:ext cx="2499745" cy="1241366"/>
          </a:xfrm>
          <a:prstGeom prst="rect">
            <a:avLst/>
          </a:prstGeom>
          <a:noFill/>
          <a:ln w="15875">
            <a:solidFill>
              <a:srgbClr val="6B74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50435" y="3439591"/>
            <a:ext cx="2280289" cy="237744"/>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6B7480"/>
                </a:solidFill>
                <a:latin typeface="Calibri"/>
              </a:rPr>
              <a:t>FOR EACH RECORD</a:t>
            </a:r>
          </a:p>
        </p:txBody>
      </p:sp>
      <p:sp>
        <p:nvSpPr>
          <p:cNvPr id="21" name="Oval 20"/>
          <p:cNvSpPr/>
          <p:nvPr/>
        </p:nvSpPr>
        <p:spPr>
          <a:xfrm>
            <a:off x="777240" y="2616970"/>
            <a:ext cx="904163" cy="8275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Caller</a:t>
            </a:r>
          </a:p>
          <a:p>
            <a:pPr algn="ctr">
              <a:lnSpc>
                <a:spcPct val="105000"/>
              </a:lnSpc>
              <a:spcBef>
                <a:spcPts val="0"/>
              </a:spcBef>
              <a:spcAft>
                <a:spcPts val="0"/>
              </a:spcAft>
            </a:pPr>
            <a:r>
              <a:rPr sz="950" b="0" i="0">
                <a:solidFill>
                  <a:srgbClr val="1A1A1A"/>
                </a:solidFill>
                <a:latin typeface="Calibri"/>
              </a:rPr>
              <a:t>any client</a:t>
            </a:r>
          </a:p>
        </p:txBody>
      </p:sp>
      <p:sp>
        <p:nvSpPr>
          <p:cNvPr id="22" name="Rounded Rectangle 21"/>
          <p:cNvSpPr/>
          <p:nvPr/>
        </p:nvSpPr>
        <p:spPr>
          <a:xfrm>
            <a:off x="2160077" y="1996287"/>
            <a:ext cx="1808326" cy="689648"/>
          </a:xfrm>
          <a:prstGeom prst="roundRect">
            <a:avLst>
              <a:gd name="adj" fmla="val 106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master</a:t>
            </a:r>
          </a:p>
          <a:p>
            <a:pPr algn="ctr">
              <a:lnSpc>
                <a:spcPct val="105000"/>
              </a:lnSpc>
              <a:spcBef>
                <a:spcPts val="0"/>
              </a:spcBef>
              <a:spcAft>
                <a:spcPts val="0"/>
              </a:spcAft>
            </a:pPr>
            <a:r>
              <a:rPr sz="1050" b="0" i="0">
                <a:solidFill>
                  <a:srgbClr val="FFFFFF"/>
                </a:solidFill>
                <a:latin typeface="Calibri"/>
              </a:rPr>
              <a:t>fred_10yr_treasury</a:t>
            </a:r>
          </a:p>
        </p:txBody>
      </p:sp>
      <p:sp>
        <p:nvSpPr>
          <p:cNvPr id="23" name="Rounded Rectangle 22"/>
          <p:cNvSpPr/>
          <p:nvPr/>
        </p:nvSpPr>
        <p:spPr>
          <a:xfrm>
            <a:off x="4500265" y="1841116"/>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fmp_company_profile</a:t>
            </a:r>
          </a:p>
        </p:txBody>
      </p:sp>
      <p:sp>
        <p:nvSpPr>
          <p:cNvPr id="24" name="Rounded Rectangle 23"/>
          <p:cNvSpPr/>
          <p:nvPr/>
        </p:nvSpPr>
        <p:spPr>
          <a:xfrm>
            <a:off x="4500265" y="2203182"/>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tavily_news_search</a:t>
            </a:r>
          </a:p>
        </p:txBody>
      </p:sp>
      <p:sp>
        <p:nvSpPr>
          <p:cNvPr id="25" name="Rounded Rectangle 24"/>
          <p:cNvSpPr/>
          <p:nvPr/>
        </p:nvSpPr>
        <p:spPr>
          <a:xfrm>
            <a:off x="4500265" y="2565247"/>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26" name="Rounded Rectangle 25"/>
          <p:cNvSpPr/>
          <p:nvPr/>
        </p:nvSpPr>
        <p:spPr>
          <a:xfrm>
            <a:off x="7265941" y="1996287"/>
            <a:ext cx="2021070" cy="689648"/>
          </a:xfrm>
          <a:prstGeom prst="roundRect">
            <a:avLst>
              <a:gd name="adj" fmla="val 1060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Weakest link</a:t>
            </a:r>
          </a:p>
          <a:p>
            <a:pPr algn="ctr">
              <a:lnSpc>
                <a:spcPct val="105000"/>
              </a:lnSpc>
              <a:spcBef>
                <a:spcPts val="0"/>
              </a:spcBef>
              <a:spcAft>
                <a:spcPts val="0"/>
              </a:spcAft>
            </a:pPr>
            <a:r>
              <a:rPr sz="1050" b="0" i="0">
                <a:solidFill>
                  <a:srgbClr val="1A1A1A"/>
                </a:solidFill>
                <a:latin typeface="Calibri"/>
              </a:rPr>
              <a:t>master × min(steps)</a:t>
            </a:r>
          </a:p>
        </p:txBody>
      </p:sp>
      <p:sp>
        <p:nvSpPr>
          <p:cNvPr id="27" name="Rounded Rectangle 26"/>
          <p:cNvSpPr/>
          <p:nvPr/>
        </p:nvSpPr>
        <p:spPr>
          <a:xfrm>
            <a:off x="2160077" y="3651443"/>
            <a:ext cx="1808326" cy="689648"/>
          </a:xfrm>
          <a:prstGeom prst="roundRect">
            <a:avLst>
              <a:gd name="adj" fmla="val 106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master</a:t>
            </a:r>
          </a:p>
          <a:p>
            <a:pPr algn="ctr">
              <a:lnSpc>
                <a:spcPct val="105000"/>
              </a:lnSpc>
              <a:spcBef>
                <a:spcPts val="0"/>
              </a:spcBef>
              <a:spcAft>
                <a:spcPts val="0"/>
              </a:spcAft>
            </a:pPr>
            <a:r>
              <a:rPr sz="1050" b="0" i="0">
                <a:solidFill>
                  <a:srgbClr val="FFFFFF"/>
                </a:solidFill>
                <a:latin typeface="Calibri"/>
              </a:rPr>
              <a:t>returns records</a:t>
            </a:r>
          </a:p>
        </p:txBody>
      </p:sp>
      <p:sp>
        <p:nvSpPr>
          <p:cNvPr id="28" name="Rounded Rectangle 27"/>
          <p:cNvSpPr/>
          <p:nvPr/>
        </p:nvSpPr>
        <p:spPr>
          <a:xfrm>
            <a:off x="4500265" y="3685925"/>
            <a:ext cx="2127443" cy="310341"/>
          </a:xfrm>
          <a:prstGeom prst="roundRect">
            <a:avLst>
              <a:gd name="adj" fmla="val 235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fmp_company_profile</a:t>
            </a:r>
          </a:p>
        </p:txBody>
      </p:sp>
      <p:sp>
        <p:nvSpPr>
          <p:cNvPr id="29" name="Rounded Rectangle 28"/>
          <p:cNvSpPr/>
          <p:nvPr/>
        </p:nvSpPr>
        <p:spPr>
          <a:xfrm>
            <a:off x="4500265" y="4168679"/>
            <a:ext cx="2127443" cy="310341"/>
          </a:xfrm>
          <a:prstGeom prst="roundRect">
            <a:avLst>
              <a:gd name="adj" fmla="val 235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30" name="Rounded Rectangle 29"/>
          <p:cNvSpPr/>
          <p:nvPr/>
        </p:nvSpPr>
        <p:spPr>
          <a:xfrm>
            <a:off x="7265941" y="3651443"/>
            <a:ext cx="2021070" cy="689648"/>
          </a:xfrm>
          <a:prstGeom prst="roundRect">
            <a:avLst>
              <a:gd name="adj" fmla="val 1060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Chained</a:t>
            </a:r>
          </a:p>
          <a:p>
            <a:pPr algn="ctr">
              <a:lnSpc>
                <a:spcPct val="105000"/>
              </a:lnSpc>
              <a:spcBef>
                <a:spcPts val="0"/>
              </a:spcBef>
              <a:spcAft>
                <a:spcPts val="0"/>
              </a:spcAft>
            </a:pPr>
            <a:r>
              <a:rPr sz="1050" b="0" i="0">
                <a:solidFill>
                  <a:srgbClr val="1A1A1A"/>
                </a:solidFill>
                <a:latin typeface="Calibri"/>
              </a:rPr>
              <a:t>master × min(children)</a:t>
            </a:r>
          </a:p>
        </p:txBody>
      </p:sp>
      <p:sp>
        <p:nvSpPr>
          <p:cNvPr id="31" name="Rounded Rectangle 30"/>
          <p:cNvSpPr/>
          <p:nvPr/>
        </p:nvSpPr>
        <p:spPr>
          <a:xfrm>
            <a:off x="9978431" y="2479041"/>
            <a:ext cx="1436024" cy="1103436"/>
          </a:xfrm>
          <a:prstGeom prst="roundRect">
            <a:avLst>
              <a:gd name="adj" fmla="val 662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Result</a:t>
            </a:r>
          </a:p>
          <a:p>
            <a:pPr algn="ctr">
              <a:lnSpc>
                <a:spcPct val="105000"/>
              </a:lnSpc>
              <a:spcBef>
                <a:spcPts val="0"/>
              </a:spcBef>
              <a:spcAft>
                <a:spcPts val="0"/>
              </a:spcAft>
            </a:pPr>
            <a:r>
              <a:rPr sz="1050" b="0" i="0">
                <a:solidFill>
                  <a:srgbClr val="FFFFFF"/>
                </a:solidFill>
                <a:latin typeface="Calibri"/>
              </a:rPr>
              <a:t>+ _composition: confidence, entropy, trace</a:t>
            </a:r>
          </a:p>
        </p:txBody>
      </p:sp>
      <p:sp>
        <p:nvSpPr>
          <p:cNvPr id="32" name="TextBox 31"/>
          <p:cNvSpPr txBox="1"/>
          <p:nvPr/>
        </p:nvSpPr>
        <p:spPr>
          <a:xfrm>
            <a:off x="2160077" y="1651463"/>
            <a:ext cx="2127443" cy="241376"/>
          </a:xfrm>
          <a:prstGeom prst="rect">
            <a:avLst/>
          </a:prstGeom>
          <a:noFill/>
        </p:spPr>
        <p:txBody>
          <a:bodyPr wrap="square" lIns="0" rIns="0" tIns="0" bIns="0" anchor="t">
            <a:spAutoFit/>
          </a:bodyPr>
          <a:lstStyle/>
          <a:p>
            <a:pPr algn="l">
              <a:lnSpc>
                <a:spcPct val="110000"/>
              </a:lnSpc>
              <a:spcBef>
                <a:spcPts val="0"/>
              </a:spcBef>
              <a:spcAft>
                <a:spcPts val="100"/>
              </a:spcAft>
            </a:pPr>
            <a:r>
              <a:rPr sz="1050" b="1" i="0">
                <a:solidFill>
                  <a:srgbClr val="6E1120"/>
                </a:solidFill>
                <a:latin typeface="Calibri"/>
              </a:rPr>
              <a:t>SIBLING: steps side by side</a:t>
            </a:r>
          </a:p>
        </p:txBody>
      </p:sp>
      <p:sp>
        <p:nvSpPr>
          <p:cNvPr id="33" name="TextBox 32"/>
          <p:cNvSpPr txBox="1"/>
          <p:nvPr/>
        </p:nvSpPr>
        <p:spPr>
          <a:xfrm>
            <a:off x="2160077" y="3168689"/>
            <a:ext cx="2127443" cy="241376"/>
          </a:xfrm>
          <a:prstGeom prst="rect">
            <a:avLst/>
          </a:prstGeom>
          <a:noFill/>
        </p:spPr>
        <p:txBody>
          <a:bodyPr wrap="square" lIns="0" rIns="0" tIns="0" bIns="0" anchor="t">
            <a:spAutoFit/>
          </a:bodyPr>
          <a:lstStyle/>
          <a:p>
            <a:pPr algn="l">
              <a:lnSpc>
                <a:spcPct val="110000"/>
              </a:lnSpc>
              <a:spcBef>
                <a:spcPts val="0"/>
              </a:spcBef>
              <a:spcAft>
                <a:spcPts val="100"/>
              </a:spcAft>
            </a:pPr>
            <a:r>
              <a:rPr sz="1050" b="1" i="0">
                <a:solidFill>
                  <a:srgbClr val="6E1120"/>
                </a:solidFill>
                <a:latin typeface="Calibri"/>
              </a:rPr>
              <a:t>PARENT-CHILD: per record</a:t>
            </a:r>
          </a:p>
        </p:txBody>
      </p:sp>
      <p:cxnSp>
        <p:nvCxnSpPr>
          <p:cNvPr id="34" name="Connector 33"/>
          <p:cNvCxnSpPr/>
          <p:nvPr/>
        </p:nvCxnSpPr>
        <p:spPr>
          <a:xfrm flipV="1">
            <a:off x="1690315" y="2697023"/>
            <a:ext cx="426965" cy="16047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661715" y="3258278"/>
            <a:ext cx="706737" cy="37187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4013674" y="2140618"/>
            <a:ext cx="468563" cy="662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014124" y="2344387"/>
            <a:ext cx="440421" cy="15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013630" y="2481895"/>
            <a:ext cx="516859" cy="7664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673045" y="2132180"/>
            <a:ext cx="547559" cy="713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6673428" y="2344468"/>
            <a:ext cx="546793" cy="173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6673007" y="2485400"/>
            <a:ext cx="547635" cy="748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014124" y="3996267"/>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886172" y="3996267"/>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9330981" y="2641627"/>
            <a:ext cx="603480" cy="17198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9183215" y="3334171"/>
            <a:ext cx="752751" cy="30032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77240" y="4919472"/>
            <a:ext cx="10637215" cy="1325880"/>
          </a:xfrm>
          <a:prstGeom prst="rect">
            <a:avLst/>
          </a:prstGeom>
          <a:noFill/>
        </p:spPr>
        <p:txBody>
          <a:bodyPr wrap="square" lIns="0" rIns="0" tIns="0" bIns="0" anchor="t">
            <a:spAutoFit/>
          </a:bodyPr>
          <a:lstStyle/>
          <a:p>
            <a:pPr algn="l">
              <a:lnSpc>
                <a:spcPct val="120000"/>
              </a:lnSpc>
              <a:spcBef>
                <a:spcPts val="0"/>
              </a:spcBef>
              <a:spcAft>
                <a:spcPts val="100"/>
              </a:spcAft>
            </a:pPr>
            <a:r>
              <a:rPr sz="1200" b="1">
                <a:solidFill>
                  <a:srgbClr val="A51C30"/>
                </a:solidFill>
                <a:latin typeface="Calibri"/>
              </a:rPr>
              <a:t>▪  </a:t>
            </a:r>
            <a:r>
              <a:rPr sz="1200" b="1">
                <a:solidFill>
                  <a:srgbClr val="1A1A1A"/>
                </a:solidFill>
                <a:latin typeface="Calibri"/>
              </a:rPr>
              <a:t>Defined, not coded</a:t>
            </a:r>
          </a:p>
          <a:p>
            <a:pPr lvl="1">
              <a:lnSpc>
                <a:spcPct val="120000"/>
              </a:lnSpc>
              <a:spcBef>
                <a:spcPts val="0"/>
              </a:spcBef>
              <a:spcAft>
                <a:spcPts val="0"/>
              </a:spcAft>
            </a:pPr>
            <a:r>
              <a:rPr sz="1050" b="0">
                <a:solidFill>
                  <a:srgbClr val="6B7480"/>
                </a:solidFill>
                <a:latin typeface="Calibri"/>
              </a:rPr>
              <a:t>Saved in the database and registered as an ordinary MCP tool, callable in both eras.</a:t>
            </a:r>
          </a:p>
          <a:p>
            <a:pPr>
              <a:lnSpc>
                <a:spcPct val="120000"/>
              </a:lnSpc>
              <a:spcBef>
                <a:spcPts val="500"/>
              </a:spcBef>
              <a:spcAft>
                <a:spcPts val="100"/>
              </a:spcAft>
            </a:pPr>
            <a:r>
              <a:rPr sz="1200" b="1">
                <a:solidFill>
                  <a:srgbClr val="A51C30"/>
                </a:solidFill>
                <a:latin typeface="Calibri"/>
              </a:rPr>
              <a:t>▪  </a:t>
            </a:r>
            <a:r>
              <a:rPr sz="1200" b="1">
                <a:solidFill>
                  <a:srgbClr val="1A1A1A"/>
                </a:solidFill>
                <a:latin typeface="Calibri"/>
              </a:rPr>
              <a:t>Mapped, not leaked</a:t>
            </a:r>
          </a:p>
          <a:p>
            <a:pPr lvl="1">
              <a:lnSpc>
                <a:spcPct val="120000"/>
              </a:lnSpc>
              <a:spcBef>
                <a:spcPts val="0"/>
              </a:spcBef>
              <a:spcAft>
                <a:spcPts val="0"/>
              </a:spcAft>
            </a:pPr>
            <a:r>
              <a:rPr sz="1050" b="0">
                <a:solidFill>
                  <a:srgbClr val="6B7480"/>
                </a:solidFill>
                <a:latin typeface="Calibri"/>
              </a:rPr>
              <a:t>$input.x reads the composite's input and $.field the master's record; a step sees only the fields mapped to it.</a:t>
            </a:r>
          </a:p>
          <a:p>
            <a:pPr>
              <a:lnSpc>
                <a:spcPct val="120000"/>
              </a:lnSpc>
              <a:spcBef>
                <a:spcPts val="500"/>
              </a:spcBef>
              <a:spcAft>
                <a:spcPts val="100"/>
              </a:spcAft>
            </a:pPr>
            <a:r>
              <a:rPr sz="1200" b="1">
                <a:solidFill>
                  <a:srgbClr val="A51C30"/>
                </a:solidFill>
                <a:latin typeface="Calibri"/>
              </a:rPr>
              <a:t>▪  </a:t>
            </a:r>
            <a:r>
              <a:rPr sz="1200" b="1">
                <a:solidFill>
                  <a:srgbClr val="1A1A1A"/>
                </a:solidFill>
                <a:latin typeface="Calibri"/>
              </a:rPr>
              <a:t>Governed inside too</a:t>
            </a:r>
          </a:p>
          <a:p>
            <a:pPr lvl="1">
              <a:lnSpc>
                <a:spcPct val="120000"/>
              </a:lnSpc>
              <a:spcBef>
                <a:spcPts val="0"/>
              </a:spcBef>
              <a:spcAft>
                <a:spcPts val="0"/>
              </a:spcAft>
            </a:pPr>
            <a:r>
              <a:rPr sz="1050" b="0">
                <a:solidFill>
                  <a:srgbClr val="6B7480"/>
                </a:solidFill>
                <a:latin typeface="Calibri"/>
              </a:rPr>
              <a:t>Every step runs as the caller, so a step the caller may not run is refused; nesting is bounded by tools.max_call_depth.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COMPOSITION FRAMEWORK</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Confidence through a chain: multiplied in sequence, weakest link in parallel</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same four tools, arranged two ways, computed by sajha.core.composition while this deck was built. A calculator adds no doubt (1.00); a web search adds the most.</a:t>
            </a:r>
          </a:p>
        </p:txBody>
      </p:sp>
      <p:sp>
        <p:nvSpPr>
          <p:cNvPr id="19" name="Rounded Rectangle 18"/>
          <p:cNvSpPr/>
          <p:nvPr/>
        </p:nvSpPr>
        <p:spPr>
          <a:xfrm>
            <a:off x="777240"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StepResult envelope</a:t>
            </a:r>
          </a:p>
          <a:p>
            <a:pPr algn="ctr">
              <a:lnSpc>
                <a:spcPct val="105000"/>
              </a:lnSpc>
              <a:spcBef>
                <a:spcPts val="0"/>
              </a:spcBef>
              <a:spcAft>
                <a:spcPts val="0"/>
              </a:spcAft>
            </a:pPr>
            <a:r>
              <a:rPr sz="1150" b="0" i="0">
                <a:solidFill>
                  <a:srgbClr val="1A1A1A"/>
                </a:solidFill>
                <a:latin typeface="Calibri"/>
              </a:rPr>
              <a:t>an error short-circuits; confidence and trace accumulate</a:t>
            </a:r>
          </a:p>
        </p:txBody>
      </p:sp>
      <p:sp>
        <p:nvSpPr>
          <p:cNvPr id="20" name="Rounded Rectangle 19"/>
          <p:cNvSpPr/>
          <p:nvPr/>
        </p:nvSpPr>
        <p:spPr>
          <a:xfrm>
            <a:off x="348972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Lenses</a:t>
            </a:r>
          </a:p>
          <a:p>
            <a:pPr algn="ctr">
              <a:lnSpc>
                <a:spcPct val="105000"/>
              </a:lnSpc>
              <a:spcBef>
                <a:spcPts val="0"/>
              </a:spcBef>
              <a:spcAft>
                <a:spcPts val="0"/>
              </a:spcAft>
            </a:pPr>
            <a:r>
              <a:rPr sz="1150" b="0" i="0">
                <a:solidFill>
                  <a:srgbClr val="1A1A1A"/>
                </a:solidFill>
                <a:latin typeface="Calibri"/>
              </a:rPr>
              <a:t>a step sees only the parameters mapped to it</a:t>
            </a:r>
          </a:p>
        </p:txBody>
      </p:sp>
      <p:sp>
        <p:nvSpPr>
          <p:cNvPr id="21" name="Rounded Rectangle 20"/>
          <p:cNvSpPr/>
          <p:nvPr/>
        </p:nvSpPr>
        <p:spPr>
          <a:xfrm>
            <a:off x="620221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EntropyGuard</a:t>
            </a:r>
          </a:p>
          <a:p>
            <a:pPr algn="ctr">
              <a:lnSpc>
                <a:spcPct val="105000"/>
              </a:lnSpc>
              <a:spcBef>
                <a:spcPts val="0"/>
              </a:spcBef>
              <a:spcAft>
                <a:spcPts val="0"/>
              </a:spcAft>
            </a:pPr>
            <a:r>
              <a:rPr sz="1150" b="0" i="0">
                <a:solidFill>
                  <a:srgbClr val="1A1A1A"/>
                </a:solidFill>
                <a:latin typeface="Calibri"/>
              </a:rPr>
              <a:t>refuses a chain above 3.0 bits before it runs</a:t>
            </a:r>
          </a:p>
        </p:txBody>
      </p:sp>
      <p:sp>
        <p:nvSpPr>
          <p:cNvPr id="22" name="Rounded Rectangle 21"/>
          <p:cNvSpPr/>
          <p:nvPr/>
        </p:nvSpPr>
        <p:spPr>
          <a:xfrm>
            <a:off x="891470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Transport equivalence</a:t>
            </a:r>
          </a:p>
          <a:p>
            <a:pPr algn="ctr">
              <a:lnSpc>
                <a:spcPct val="105000"/>
              </a:lnSpc>
              <a:spcBef>
                <a:spcPts val="0"/>
              </a:spcBef>
              <a:spcAft>
                <a:spcPts val="0"/>
              </a:spcAft>
            </a:pPr>
            <a:r>
              <a:rPr sz="1150" b="0" i="0">
                <a:solidFill>
                  <a:srgbClr val="1A1A1A"/>
                </a:solidFill>
                <a:latin typeface="Calibri"/>
              </a:rPr>
              <a:t>the client SDK's transports behave alike</a:t>
            </a:r>
          </a:p>
        </p:txBody>
      </p:sp>
      <p:sp>
        <p:nvSpPr>
          <p:cNvPr id="23" name="Rounded Rectangle 22"/>
          <p:cNvSpPr/>
          <p:nvPr/>
        </p:nvSpPr>
        <p:spPr>
          <a:xfrm>
            <a:off x="2691938" y="2994507"/>
            <a:ext cx="1436024"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FFFFFF"/>
                </a:solidFill>
                <a:latin typeface="Calibri"/>
              </a:rPr>
              <a:t>fred_10yr_treasury</a:t>
            </a:r>
          </a:p>
          <a:p>
            <a:pPr algn="ctr">
              <a:lnSpc>
                <a:spcPct val="105000"/>
              </a:lnSpc>
              <a:spcBef>
                <a:spcPts val="0"/>
              </a:spcBef>
              <a:spcAft>
                <a:spcPts val="0"/>
              </a:spcAft>
            </a:pPr>
            <a:r>
              <a:rPr sz="750" b="0" i="0">
                <a:solidFill>
                  <a:srgbClr val="FFFFFF"/>
                </a:solidFill>
                <a:latin typeface="Calibri"/>
              </a:rPr>
              <a:t>0.95</a:t>
            </a:r>
          </a:p>
        </p:txBody>
      </p:sp>
      <p:sp>
        <p:nvSpPr>
          <p:cNvPr id="24" name="Rounded Rectangle 23"/>
          <p:cNvSpPr/>
          <p:nvPr/>
        </p:nvSpPr>
        <p:spPr>
          <a:xfrm>
            <a:off x="4447079"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1" i="0">
                <a:solidFill>
                  <a:srgbClr val="1A1A1A"/>
                </a:solidFill>
                <a:latin typeface="Calibri"/>
              </a:rPr>
              <a:t>fmp_company_profile</a:t>
            </a:r>
          </a:p>
          <a:p>
            <a:pPr algn="ctr">
              <a:lnSpc>
                <a:spcPct val="105000"/>
              </a:lnSpc>
              <a:spcBef>
                <a:spcPts val="0"/>
              </a:spcBef>
              <a:spcAft>
                <a:spcPts val="0"/>
              </a:spcAft>
            </a:pPr>
            <a:r>
              <a:rPr sz="750" b="0" i="0">
                <a:solidFill>
                  <a:srgbClr val="1A1A1A"/>
                </a:solidFill>
                <a:latin typeface="Calibri"/>
              </a:rPr>
              <a:t>0.93</a:t>
            </a:r>
          </a:p>
        </p:txBody>
      </p:sp>
      <p:sp>
        <p:nvSpPr>
          <p:cNvPr id="25" name="Rounded Rectangle 24"/>
          <p:cNvSpPr/>
          <p:nvPr/>
        </p:nvSpPr>
        <p:spPr>
          <a:xfrm>
            <a:off x="6202219"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1A1A1A"/>
                </a:solidFill>
                <a:latin typeface="Calibri"/>
              </a:rPr>
              <a:t>tavily_news_search</a:t>
            </a:r>
          </a:p>
          <a:p>
            <a:pPr algn="ctr">
              <a:lnSpc>
                <a:spcPct val="105000"/>
              </a:lnSpc>
              <a:spcBef>
                <a:spcPts val="0"/>
              </a:spcBef>
              <a:spcAft>
                <a:spcPts val="0"/>
              </a:spcAft>
            </a:pPr>
            <a:r>
              <a:rPr sz="750" b="0" i="0">
                <a:solidFill>
                  <a:srgbClr val="1A1A1A"/>
                </a:solidFill>
                <a:latin typeface="Calibri"/>
              </a:rPr>
              <a:t>0.85</a:t>
            </a:r>
          </a:p>
        </p:txBody>
      </p:sp>
      <p:sp>
        <p:nvSpPr>
          <p:cNvPr id="26" name="Rounded Rectangle 25"/>
          <p:cNvSpPr/>
          <p:nvPr/>
        </p:nvSpPr>
        <p:spPr>
          <a:xfrm>
            <a:off x="7957360"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00" b="1" i="0">
                <a:solidFill>
                  <a:srgbClr val="1A1A1A"/>
                </a:solidFill>
                <a:latin typeface="Calibri"/>
              </a:rPr>
              <a:t>calc_percentage_change</a:t>
            </a:r>
          </a:p>
          <a:p>
            <a:pPr algn="ctr">
              <a:lnSpc>
                <a:spcPct val="105000"/>
              </a:lnSpc>
              <a:spcBef>
                <a:spcPts val="0"/>
              </a:spcBef>
              <a:spcAft>
                <a:spcPts val="0"/>
              </a:spcAft>
            </a:pPr>
            <a:r>
              <a:rPr sz="750" b="0" i="0">
                <a:solidFill>
                  <a:srgbClr val="1A1A1A"/>
                </a:solidFill>
                <a:latin typeface="Calibri"/>
              </a:rPr>
              <a:t>1.00</a:t>
            </a:r>
          </a:p>
        </p:txBody>
      </p:sp>
      <p:sp>
        <p:nvSpPr>
          <p:cNvPr id="27" name="Rounded Rectangle 26"/>
          <p:cNvSpPr/>
          <p:nvPr/>
        </p:nvSpPr>
        <p:spPr>
          <a:xfrm>
            <a:off x="9818872" y="2913176"/>
            <a:ext cx="1595582" cy="772642"/>
          </a:xfrm>
          <a:prstGeom prst="roundRect">
            <a:avLst>
              <a:gd name="adj" fmla="val 946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0.751</a:t>
            </a:r>
          </a:p>
          <a:p>
            <a:pPr algn="ctr">
              <a:lnSpc>
                <a:spcPct val="105000"/>
              </a:lnSpc>
              <a:spcBef>
                <a:spcPts val="0"/>
              </a:spcBef>
              <a:spcAft>
                <a:spcPts val="0"/>
              </a:spcAft>
            </a:pPr>
            <a:r>
              <a:rPr sz="1550" b="0" i="0">
                <a:solidFill>
                  <a:srgbClr val="FFFFFF"/>
                </a:solidFill>
                <a:latin typeface="Calibri"/>
              </a:rPr>
              <a:t>0.81 bits</a:t>
            </a:r>
          </a:p>
        </p:txBody>
      </p:sp>
      <p:sp>
        <p:nvSpPr>
          <p:cNvPr id="28" name="Rounded Rectangle 27"/>
          <p:cNvSpPr/>
          <p:nvPr/>
        </p:nvSpPr>
        <p:spPr>
          <a:xfrm>
            <a:off x="2691938" y="4580458"/>
            <a:ext cx="1595582"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fred_10yr_treasury</a:t>
            </a:r>
          </a:p>
          <a:p>
            <a:pPr algn="ctr">
              <a:lnSpc>
                <a:spcPct val="105000"/>
              </a:lnSpc>
              <a:spcBef>
                <a:spcPts val="0"/>
              </a:spcBef>
              <a:spcAft>
                <a:spcPts val="0"/>
              </a:spcAft>
            </a:pPr>
            <a:r>
              <a:rPr sz="850" b="0" i="0">
                <a:solidFill>
                  <a:srgbClr val="FFFFFF"/>
                </a:solidFill>
                <a:latin typeface="Calibri"/>
              </a:rPr>
              <a:t>0.95</a:t>
            </a:r>
          </a:p>
        </p:txBody>
      </p:sp>
      <p:sp>
        <p:nvSpPr>
          <p:cNvPr id="29" name="Rounded Rectangle 28"/>
          <p:cNvSpPr/>
          <p:nvPr/>
        </p:nvSpPr>
        <p:spPr>
          <a:xfrm>
            <a:off x="5563986" y="4051808"/>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fmp_company_profile</a:t>
            </a:r>
          </a:p>
          <a:p>
            <a:pPr algn="ctr">
              <a:lnSpc>
                <a:spcPct val="105000"/>
              </a:lnSpc>
              <a:spcBef>
                <a:spcPts val="0"/>
              </a:spcBef>
              <a:spcAft>
                <a:spcPts val="0"/>
              </a:spcAft>
            </a:pPr>
            <a:r>
              <a:rPr sz="850" b="0" i="0">
                <a:solidFill>
                  <a:srgbClr val="1A1A1A"/>
                </a:solidFill>
                <a:latin typeface="Calibri"/>
              </a:rPr>
              <a:t>0.93</a:t>
            </a:r>
          </a:p>
        </p:txBody>
      </p:sp>
      <p:sp>
        <p:nvSpPr>
          <p:cNvPr id="30" name="Rounded Rectangle 29"/>
          <p:cNvSpPr/>
          <p:nvPr/>
        </p:nvSpPr>
        <p:spPr>
          <a:xfrm>
            <a:off x="5563986" y="4600790"/>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tavily_news_search</a:t>
            </a:r>
          </a:p>
          <a:p>
            <a:pPr algn="ctr">
              <a:lnSpc>
                <a:spcPct val="105000"/>
              </a:lnSpc>
              <a:spcBef>
                <a:spcPts val="0"/>
              </a:spcBef>
              <a:spcAft>
                <a:spcPts val="0"/>
              </a:spcAft>
            </a:pPr>
            <a:r>
              <a:rPr sz="850" b="0" i="0">
                <a:solidFill>
                  <a:srgbClr val="1A1A1A"/>
                </a:solidFill>
                <a:latin typeface="Calibri"/>
              </a:rPr>
              <a:t>0.85</a:t>
            </a:r>
          </a:p>
        </p:txBody>
      </p:sp>
      <p:sp>
        <p:nvSpPr>
          <p:cNvPr id="31" name="Rounded Rectangle 30"/>
          <p:cNvSpPr/>
          <p:nvPr/>
        </p:nvSpPr>
        <p:spPr>
          <a:xfrm>
            <a:off x="5563986" y="5149773"/>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calc_percentage_change</a:t>
            </a:r>
          </a:p>
          <a:p>
            <a:pPr algn="ctr">
              <a:lnSpc>
                <a:spcPct val="105000"/>
              </a:lnSpc>
              <a:spcBef>
                <a:spcPts val="0"/>
              </a:spcBef>
              <a:spcAft>
                <a:spcPts val="0"/>
              </a:spcAft>
            </a:pPr>
            <a:r>
              <a:rPr sz="850" b="0" i="0">
                <a:solidFill>
                  <a:srgbClr val="1A1A1A"/>
                </a:solidFill>
                <a:latin typeface="Calibri"/>
              </a:rPr>
              <a:t>1.00</a:t>
            </a:r>
          </a:p>
        </p:txBody>
      </p:sp>
      <p:sp>
        <p:nvSpPr>
          <p:cNvPr id="32" name="Rounded Rectangle 31"/>
          <p:cNvSpPr/>
          <p:nvPr/>
        </p:nvSpPr>
        <p:spPr>
          <a:xfrm>
            <a:off x="9818872" y="4519460"/>
            <a:ext cx="1595582" cy="772642"/>
          </a:xfrm>
          <a:prstGeom prst="roundRect">
            <a:avLst>
              <a:gd name="adj" fmla="val 946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0.807</a:t>
            </a:r>
          </a:p>
          <a:p>
            <a:pPr algn="ctr">
              <a:lnSpc>
                <a:spcPct val="105000"/>
              </a:lnSpc>
              <a:spcBef>
                <a:spcPts val="0"/>
              </a:spcBef>
              <a:spcAft>
                <a:spcPts val="0"/>
              </a:spcAft>
            </a:pPr>
            <a:r>
              <a:rPr sz="1550" b="0" i="0">
                <a:solidFill>
                  <a:srgbClr val="FFFFFF"/>
                </a:solidFill>
                <a:latin typeface="Calibri"/>
              </a:rPr>
              <a:t>0.71 bits</a:t>
            </a:r>
          </a:p>
        </p:txBody>
      </p:sp>
      <p:sp>
        <p:nvSpPr>
          <p:cNvPr id="33" name="TextBox 32"/>
          <p:cNvSpPr txBox="1"/>
          <p:nvPr/>
        </p:nvSpPr>
        <p:spPr>
          <a:xfrm>
            <a:off x="777240" y="2953842"/>
            <a:ext cx="1808326" cy="731977"/>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SEQUENTIAL</a:t>
            </a:r>
          </a:p>
          <a:p>
            <a:pPr algn="l">
              <a:lnSpc>
                <a:spcPct val="110000"/>
              </a:lnSpc>
              <a:spcBef>
                <a:spcPts val="0"/>
              </a:spcBef>
              <a:spcAft>
                <a:spcPts val="100"/>
              </a:spcAft>
            </a:pPr>
            <a:r>
              <a:rPr sz="1200" b="1" i="0">
                <a:solidFill>
                  <a:srgbClr val="6E1120"/>
                </a:solidFill>
                <a:latin typeface="Calibri"/>
              </a:rPr>
              <a:t>parent-child: multiply</a:t>
            </a:r>
          </a:p>
        </p:txBody>
      </p:sp>
      <p:sp>
        <p:nvSpPr>
          <p:cNvPr id="34" name="TextBox 33"/>
          <p:cNvSpPr txBox="1"/>
          <p:nvPr/>
        </p:nvSpPr>
        <p:spPr>
          <a:xfrm>
            <a:off x="777240" y="4539792"/>
            <a:ext cx="1808326" cy="731977"/>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PARALLEL</a:t>
            </a:r>
          </a:p>
          <a:p>
            <a:pPr algn="l">
              <a:lnSpc>
                <a:spcPct val="110000"/>
              </a:lnSpc>
              <a:spcBef>
                <a:spcPts val="0"/>
              </a:spcBef>
              <a:spcAft>
                <a:spcPts val="100"/>
              </a:spcAft>
            </a:pPr>
            <a:r>
              <a:rPr sz="1200" b="1" i="0">
                <a:solidFill>
                  <a:srgbClr val="6E1120"/>
                </a:solidFill>
                <a:latin typeface="Calibri"/>
              </a:rPr>
              <a:t>sibling: master × min</a:t>
            </a:r>
          </a:p>
        </p:txBody>
      </p:sp>
      <p:cxnSp>
        <p:nvCxnSpPr>
          <p:cNvPr id="35" name="Connector 34"/>
          <p:cNvCxnSpPr/>
          <p:nvPr/>
        </p:nvCxnSpPr>
        <p:spPr>
          <a:xfrm>
            <a:off x="4173682" y="3299498"/>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28823" y="3299498"/>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683963" y="3299498"/>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439104" y="3299498"/>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332371" y="4483923"/>
            <a:ext cx="1186765" cy="23480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4333234" y="4851435"/>
            <a:ext cx="1185039" cy="198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332636" y="5023954"/>
            <a:ext cx="1186235" cy="19492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523890" y="4437448"/>
            <a:ext cx="2249778" cy="34068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24398" y="4852047"/>
            <a:ext cx="2248761" cy="3907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7524097" y="5004161"/>
            <a:ext cx="2249363" cy="26244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WORKFLOWS</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workflow is a DAG of steps, started by a trigger and run as its owner</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Joins: all_success, any_success and all_done. The graph is the Workflows guide's own example (rates_watch), parsed and ordered by the engine when this deck was built.</a:t>
            </a:r>
          </a:p>
        </p:txBody>
      </p:sp>
      <p:sp>
        <p:nvSpPr>
          <p:cNvPr id="19" name="Rounded Rectangle 18"/>
          <p:cNvSpPr/>
          <p:nvPr/>
        </p:nvSpPr>
        <p:spPr>
          <a:xfrm>
            <a:off x="777240" y="1378331"/>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cron schedule</a:t>
            </a:r>
          </a:p>
        </p:txBody>
      </p:sp>
      <p:sp>
        <p:nvSpPr>
          <p:cNvPr id="20" name="Rounded Rectangle 19"/>
          <p:cNvSpPr/>
          <p:nvPr/>
        </p:nvSpPr>
        <p:spPr>
          <a:xfrm>
            <a:off x="777240" y="2124265"/>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signed webhook</a:t>
            </a:r>
          </a:p>
        </p:txBody>
      </p:sp>
      <p:sp>
        <p:nvSpPr>
          <p:cNvPr id="21" name="Rounded Rectangle 20"/>
          <p:cNvSpPr/>
          <p:nvPr/>
        </p:nvSpPr>
        <p:spPr>
          <a:xfrm>
            <a:off x="777240" y="2870200"/>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file arrives</a:t>
            </a:r>
          </a:p>
        </p:txBody>
      </p:sp>
      <p:sp>
        <p:nvSpPr>
          <p:cNvPr id="22" name="Rounded Rectangle 21"/>
          <p:cNvSpPr/>
          <p:nvPr/>
        </p:nvSpPr>
        <p:spPr>
          <a:xfrm>
            <a:off x="777240" y="3616134"/>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change-bus event</a:t>
            </a:r>
          </a:p>
        </p:txBody>
      </p:sp>
      <p:sp>
        <p:nvSpPr>
          <p:cNvPr id="23" name="Rounded Rectangle 22"/>
          <p:cNvSpPr/>
          <p:nvPr/>
        </p:nvSpPr>
        <p:spPr>
          <a:xfrm>
            <a:off x="777240" y="4362069"/>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by hand: page, CLI, API</a:t>
            </a:r>
          </a:p>
        </p:txBody>
      </p:sp>
      <p:sp>
        <p:nvSpPr>
          <p:cNvPr id="24" name="Hexagon 23"/>
          <p:cNvSpPr/>
          <p:nvPr/>
        </p:nvSpPr>
        <p:spPr>
          <a:xfrm>
            <a:off x="2479194" y="2650807"/>
            <a:ext cx="1223279" cy="877569"/>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Run</a:t>
            </a:r>
          </a:p>
          <a:p>
            <a:pPr algn="ctr">
              <a:lnSpc>
                <a:spcPct val="105000"/>
              </a:lnSpc>
              <a:spcBef>
                <a:spcPts val="0"/>
              </a:spcBef>
              <a:spcAft>
                <a:spcPts val="0"/>
              </a:spcAft>
            </a:pPr>
            <a:r>
              <a:rPr sz="1150" b="0" i="0">
                <a:solidFill>
                  <a:srgbClr val="FFFFFF"/>
                </a:solidFill>
                <a:latin typeface="Calibri"/>
              </a:rPr>
              <a:t>one per slot</a:t>
            </a:r>
          </a:p>
        </p:txBody>
      </p:sp>
      <p:sp>
        <p:nvSpPr>
          <p:cNvPr id="25" name="Rounded Rectangle 24"/>
          <p:cNvSpPr/>
          <p:nvPr/>
        </p:nvSpPr>
        <p:spPr>
          <a:xfrm>
            <a:off x="4074776" y="2716625"/>
            <a:ext cx="1063721" cy="745934"/>
          </a:xfrm>
          <a:prstGeom prst="roundRect">
            <a:avLst>
              <a:gd name="adj" fmla="val 980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yield</a:t>
            </a:r>
          </a:p>
          <a:p>
            <a:pPr algn="ctr">
              <a:lnSpc>
                <a:spcPct val="105000"/>
              </a:lnSpc>
              <a:spcBef>
                <a:spcPts val="0"/>
              </a:spcBef>
              <a:spcAft>
                <a:spcPts val="0"/>
              </a:spcAft>
            </a:pPr>
            <a:r>
              <a:rPr sz="950" b="0" i="0">
                <a:solidFill>
                  <a:srgbClr val="1A1A1A"/>
                </a:solidFill>
                <a:latin typeface="Calibri"/>
              </a:rPr>
              <a:t>tool</a:t>
            </a:r>
          </a:p>
        </p:txBody>
      </p:sp>
      <p:sp>
        <p:nvSpPr>
          <p:cNvPr id="26" name="Diamond 25"/>
          <p:cNvSpPr/>
          <p:nvPr/>
        </p:nvSpPr>
        <p:spPr>
          <a:xfrm>
            <a:off x="5422157" y="2606929"/>
            <a:ext cx="1276465" cy="965327"/>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moved</a:t>
            </a:r>
          </a:p>
          <a:p>
            <a:pPr algn="ctr">
              <a:lnSpc>
                <a:spcPct val="105000"/>
              </a:lnSpc>
              <a:spcBef>
                <a:spcPts val="0"/>
              </a:spcBef>
              <a:spcAft>
                <a:spcPts val="0"/>
              </a:spcAft>
            </a:pPr>
            <a:r>
              <a:rPr sz="950" b="0" i="0">
                <a:solidFill>
                  <a:srgbClr val="1A1A1A"/>
                </a:solidFill>
                <a:latin typeface="Calibri"/>
              </a:rPr>
              <a:t>condition</a:t>
            </a:r>
          </a:p>
        </p:txBody>
      </p:sp>
      <p:sp>
        <p:nvSpPr>
          <p:cNvPr id="27" name="Rounded Rectangle 26"/>
          <p:cNvSpPr/>
          <p:nvPr/>
        </p:nvSpPr>
        <p:spPr>
          <a:xfrm>
            <a:off x="6982282" y="2021882"/>
            <a:ext cx="1063721" cy="745934"/>
          </a:xfrm>
          <a:prstGeom prst="roundRect">
            <a:avLst>
              <a:gd name="adj" fmla="val 980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explain</a:t>
            </a:r>
          </a:p>
          <a:p>
            <a:pPr algn="ctr">
              <a:lnSpc>
                <a:spcPct val="105000"/>
              </a:lnSpc>
              <a:spcBef>
                <a:spcPts val="0"/>
              </a:spcBef>
              <a:spcAft>
                <a:spcPts val="0"/>
              </a:spcAft>
            </a:pPr>
            <a:r>
              <a:rPr sz="950" b="0" i="0">
                <a:solidFill>
                  <a:srgbClr val="1A1A1A"/>
                </a:solidFill>
                <a:latin typeface="Calibri"/>
              </a:rPr>
              <a:t>ask</a:t>
            </a:r>
          </a:p>
        </p:txBody>
      </p:sp>
      <p:sp>
        <p:nvSpPr>
          <p:cNvPr id="28" name="Oval 27"/>
          <p:cNvSpPr/>
          <p:nvPr/>
        </p:nvSpPr>
        <p:spPr>
          <a:xfrm>
            <a:off x="6982282" y="3411368"/>
            <a:ext cx="1063721" cy="745934"/>
          </a:xfrm>
          <a:prstGeom prst="ellipse">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quiet</a:t>
            </a:r>
          </a:p>
          <a:p>
            <a:pPr algn="ctr">
              <a:lnSpc>
                <a:spcPct val="105000"/>
              </a:lnSpc>
              <a:spcBef>
                <a:spcPts val="0"/>
              </a:spcBef>
              <a:spcAft>
                <a:spcPts val="0"/>
              </a:spcAft>
            </a:pPr>
            <a:r>
              <a:rPr sz="950" b="0" i="0">
                <a:solidFill>
                  <a:srgbClr val="1A1A1A"/>
                </a:solidFill>
                <a:latin typeface="Calibri"/>
              </a:rPr>
              <a:t>wait</a:t>
            </a:r>
          </a:p>
        </p:txBody>
      </p:sp>
      <p:sp>
        <p:nvSpPr>
          <p:cNvPr id="29" name="Rounded Rectangle 28"/>
          <p:cNvSpPr/>
          <p:nvPr/>
        </p:nvSpPr>
        <p:spPr>
          <a:xfrm>
            <a:off x="8436034" y="2716625"/>
            <a:ext cx="1063721" cy="745934"/>
          </a:xfrm>
          <a:prstGeom prst="roundRect">
            <a:avLst>
              <a:gd name="adj" fmla="val 980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done</a:t>
            </a:r>
          </a:p>
          <a:p>
            <a:pPr algn="ctr">
              <a:lnSpc>
                <a:spcPct val="105000"/>
              </a:lnSpc>
              <a:spcBef>
                <a:spcPts val="0"/>
              </a:spcBef>
              <a:spcAft>
                <a:spcPts val="0"/>
              </a:spcAft>
            </a:pPr>
            <a:r>
              <a:rPr sz="950" b="0" i="0">
                <a:solidFill>
                  <a:srgbClr val="1A1A1A"/>
                </a:solidFill>
                <a:latin typeface="Calibri"/>
              </a:rPr>
              <a:t>tool · any_success</a:t>
            </a:r>
          </a:p>
        </p:txBody>
      </p:sp>
      <p:sp>
        <p:nvSpPr>
          <p:cNvPr id="30" name="Pentagon 29"/>
          <p:cNvSpPr/>
          <p:nvPr/>
        </p:nvSpPr>
        <p:spPr>
          <a:xfrm>
            <a:off x="9978431" y="2606929"/>
            <a:ext cx="1436024" cy="965326"/>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Published tool</a:t>
            </a:r>
          </a:p>
          <a:p>
            <a:pPr algn="ctr">
              <a:lnSpc>
                <a:spcPct val="105000"/>
              </a:lnSpc>
              <a:spcBef>
                <a:spcPts val="0"/>
              </a:spcBef>
              <a:spcAft>
                <a:spcPts val="0"/>
              </a:spcAft>
            </a:pPr>
            <a:r>
              <a:rPr sz="950" b="0" i="0">
                <a:solidFill>
                  <a:srgbClr val="FFFFFF"/>
                </a:solidFill>
                <a:latin typeface="Calibri"/>
              </a:rPr>
              <a:t>rates_watch: a call starts a run</a:t>
            </a:r>
          </a:p>
        </p:txBody>
      </p:sp>
      <p:sp>
        <p:nvSpPr>
          <p:cNvPr id="31" name="Rounded Rectangle 30"/>
          <p:cNvSpPr/>
          <p:nvPr/>
        </p:nvSpPr>
        <p:spPr>
          <a:xfrm>
            <a:off x="777240" y="5151882"/>
            <a:ext cx="329184" cy="201168"/>
          </a:xfrm>
          <a:prstGeom prst="roundRect">
            <a:avLst>
              <a:gd name="adj" fmla="val 4545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79576"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tool</a:t>
            </a:r>
          </a:p>
        </p:txBody>
      </p:sp>
      <p:sp>
        <p:nvSpPr>
          <p:cNvPr id="33" name="Rounded Rectangle 32"/>
          <p:cNvSpPr/>
          <p:nvPr/>
        </p:nvSpPr>
        <p:spPr>
          <a:xfrm>
            <a:off x="2296842" y="5151882"/>
            <a:ext cx="329184" cy="201168"/>
          </a:xfrm>
          <a:prstGeom prst="roundRect">
            <a:avLst>
              <a:gd name="adj" fmla="val 45454"/>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699178"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composite</a:t>
            </a:r>
          </a:p>
        </p:txBody>
      </p:sp>
      <p:sp>
        <p:nvSpPr>
          <p:cNvPr id="35" name="Rounded Rectangle 34"/>
          <p:cNvSpPr/>
          <p:nvPr/>
        </p:nvSpPr>
        <p:spPr>
          <a:xfrm>
            <a:off x="3816444" y="5151882"/>
            <a:ext cx="329184" cy="201168"/>
          </a:xfrm>
          <a:prstGeom prst="roundRect">
            <a:avLst>
              <a:gd name="adj" fmla="val 4545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18780"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ask</a:t>
            </a:r>
          </a:p>
        </p:txBody>
      </p:sp>
      <p:sp>
        <p:nvSpPr>
          <p:cNvPr id="37" name="Diamond 36"/>
          <p:cNvSpPr/>
          <p:nvPr/>
        </p:nvSpPr>
        <p:spPr>
          <a:xfrm>
            <a:off x="5336046" y="5151882"/>
            <a:ext cx="329184" cy="201168"/>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738382"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condition</a:t>
            </a:r>
          </a:p>
        </p:txBody>
      </p:sp>
      <p:sp>
        <p:nvSpPr>
          <p:cNvPr id="39" name="Hexagon 38"/>
          <p:cNvSpPr/>
          <p:nvPr/>
        </p:nvSpPr>
        <p:spPr>
          <a:xfrm>
            <a:off x="6855648" y="5151882"/>
            <a:ext cx="329184" cy="201168"/>
          </a:xfrm>
          <a:prstGeom prst="hexagon">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57984"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foreach</a:t>
            </a:r>
          </a:p>
        </p:txBody>
      </p:sp>
      <p:sp>
        <p:nvSpPr>
          <p:cNvPr id="41" name="Oval 40"/>
          <p:cNvSpPr/>
          <p:nvPr/>
        </p:nvSpPr>
        <p:spPr>
          <a:xfrm>
            <a:off x="8375250" y="5151882"/>
            <a:ext cx="329184" cy="201168"/>
          </a:xfrm>
          <a:prstGeom prst="ellipse">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777586"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wait</a:t>
            </a:r>
          </a:p>
        </p:txBody>
      </p:sp>
      <p:sp>
        <p:nvSpPr>
          <p:cNvPr id="43" name="Rounded Rectangle 42"/>
          <p:cNvSpPr/>
          <p:nvPr/>
        </p:nvSpPr>
        <p:spPr>
          <a:xfrm>
            <a:off x="9894853" y="5151882"/>
            <a:ext cx="329184" cy="201168"/>
          </a:xfrm>
          <a:prstGeom prst="roundRect">
            <a:avLst>
              <a:gd name="adj" fmla="val 45454"/>
            </a:avLst>
          </a:prstGeom>
          <a:solidFill>
            <a:srgbClr val="FFFFFF"/>
          </a:solidFill>
          <a:ln w="12700">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97189"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approval</a:t>
            </a:r>
          </a:p>
        </p:txBody>
      </p:sp>
      <p:cxnSp>
        <p:nvCxnSpPr>
          <p:cNvPr id="45" name="Connector 44"/>
          <p:cNvCxnSpPr/>
          <p:nvPr/>
        </p:nvCxnSpPr>
        <p:spPr>
          <a:xfrm>
            <a:off x="1740866" y="1848065"/>
            <a:ext cx="839205" cy="77179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87308" y="2582151"/>
            <a:ext cx="450347" cy="20708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205797" y="3089592"/>
            <a:ext cx="227677"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987308" y="3389947"/>
            <a:ext cx="450347" cy="20708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740866" y="3559326"/>
            <a:ext cx="839205" cy="77179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3748194" y="3089592"/>
            <a:ext cx="28086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184218" y="3089592"/>
            <a:ext cx="19221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492732" y="2668737"/>
            <a:ext cx="448298" cy="21424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359249" y="2501537"/>
            <a:ext cx="495807"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then</a:t>
            </a:r>
          </a:p>
        </p:txBody>
      </p:sp>
      <p:cxnSp>
        <p:nvCxnSpPr>
          <p:cNvPr id="54" name="Connector 53"/>
          <p:cNvCxnSpPr/>
          <p:nvPr/>
        </p:nvCxnSpPr>
        <p:spPr>
          <a:xfrm>
            <a:off x="6492732" y="3296207"/>
            <a:ext cx="540654" cy="25837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240835" y="3498547"/>
            <a:ext cx="495807"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else</a:t>
            </a:r>
          </a:p>
        </p:txBody>
      </p:sp>
      <p:cxnSp>
        <p:nvCxnSpPr>
          <p:cNvPr id="56" name="Connector 55"/>
          <p:cNvCxnSpPr/>
          <p:nvPr/>
        </p:nvCxnSpPr>
        <p:spPr>
          <a:xfrm>
            <a:off x="8087255" y="2668737"/>
            <a:ext cx="307528" cy="14696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7994898" y="3363480"/>
            <a:ext cx="399885" cy="1911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45476" y="3089592"/>
            <a:ext cx="387235"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9434293" y="2851848"/>
            <a:ext cx="60960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output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 WORKFLOW RUN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 run is stored step by step, so it survives a worker that dies</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step's status, attempts, input, output and timing are written as they change; the executing worker's heartbeat tells the others whether it is alive.</a:t>
            </a:r>
          </a:p>
        </p:txBody>
      </p:sp>
      <p:sp>
        <p:nvSpPr>
          <p:cNvPr id="19" name="TextBox 18"/>
          <p:cNvSpPr txBox="1"/>
          <p:nvPr/>
        </p:nvSpPr>
        <p:spPr>
          <a:xfrm>
            <a:off x="7797802" y="1322705"/>
            <a:ext cx="3616653" cy="435571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A1A1A"/>
                </a:solidFill>
                <a:latin typeface="Calibri"/>
              </a:rPr>
              <a:t>Retries</a:t>
            </a:r>
          </a:p>
          <a:p>
            <a:pPr lvl="1">
              <a:lnSpc>
                <a:spcPct val="120000"/>
              </a:lnSpc>
              <a:spcBef>
                <a:spcPts val="0"/>
              </a:spcBef>
              <a:spcAft>
                <a:spcPts val="0"/>
              </a:spcAft>
            </a:pPr>
            <a:r>
              <a:rPr sz="1350" b="0">
                <a:solidFill>
                  <a:srgbClr val="6B7480"/>
                </a:solidFill>
                <a:latin typeface="Calibri"/>
              </a:rPr>
              <a:t>Backoff between attempts; a policy denial is never retried.</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Timeouts</a:t>
            </a:r>
          </a:p>
          <a:p>
            <a:pPr lvl="1">
              <a:lnSpc>
                <a:spcPct val="120000"/>
              </a:lnSpc>
              <a:spcBef>
                <a:spcPts val="0"/>
              </a:spcBef>
              <a:spcAft>
                <a:spcPts val="0"/>
              </a:spcAft>
            </a:pPr>
            <a:r>
              <a:rPr sz="1350" b="0">
                <a:solidFill>
                  <a:srgbClr val="6B7480"/>
                </a:solidFill>
                <a:latin typeface="Calibri"/>
              </a:rPr>
              <a:t>Per step and per run; a late result is ignored.</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Resume</a:t>
            </a:r>
          </a:p>
          <a:p>
            <a:pPr lvl="1">
              <a:lnSpc>
                <a:spcPct val="120000"/>
              </a:lnSpc>
              <a:spcBef>
                <a:spcPts val="0"/>
              </a:spcBef>
              <a:spcAft>
                <a:spcPts val="0"/>
              </a:spcAft>
            </a:pPr>
            <a:r>
              <a:rPr sz="1350" b="0">
                <a:solidFill>
                  <a:srgbClr val="6B7480"/>
                </a:solidFill>
                <a:latin typeface="Calibri"/>
              </a:rPr>
              <a:t>Finished steps are reused; an interrupted step runs again only if it is idempotent.</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Re-run</a:t>
            </a:r>
          </a:p>
          <a:p>
            <a:pPr lvl="1">
              <a:lnSpc>
                <a:spcPct val="120000"/>
              </a:lnSpc>
              <a:spcBef>
                <a:spcPts val="0"/>
              </a:spcBef>
              <a:spcAft>
                <a:spcPts val="0"/>
              </a:spcAft>
            </a:pPr>
            <a:r>
              <a:rPr sz="1350" b="0">
                <a:solidFill>
                  <a:srgbClr val="6B7480"/>
                </a:solidFill>
                <a:latin typeface="Calibri"/>
              </a:rPr>
              <a:t>From the step that failed, with the same input.</a:t>
            </a:r>
          </a:p>
        </p:txBody>
      </p:sp>
      <p:sp>
        <p:nvSpPr>
          <p:cNvPr id="20" name="Oval 19"/>
          <p:cNvSpPr/>
          <p:nvPr/>
        </p:nvSpPr>
        <p:spPr>
          <a:xfrm>
            <a:off x="777240" y="3064992"/>
            <a:ext cx="1139088" cy="78402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queued</a:t>
            </a:r>
          </a:p>
        </p:txBody>
      </p:sp>
      <p:sp>
        <p:nvSpPr>
          <p:cNvPr id="21" name="Oval 20"/>
          <p:cNvSpPr/>
          <p:nvPr/>
        </p:nvSpPr>
        <p:spPr>
          <a:xfrm>
            <a:off x="2787396" y="3021435"/>
            <a:ext cx="1340104" cy="871143"/>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running</a:t>
            </a:r>
          </a:p>
        </p:txBody>
      </p:sp>
      <p:sp>
        <p:nvSpPr>
          <p:cNvPr id="22" name="Oval 21"/>
          <p:cNvSpPr/>
          <p:nvPr/>
        </p:nvSpPr>
        <p:spPr>
          <a:xfrm>
            <a:off x="2787396" y="1409819"/>
            <a:ext cx="1340104" cy="871143"/>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waiting</a:t>
            </a:r>
          </a:p>
          <a:p>
            <a:pPr algn="ctr">
              <a:lnSpc>
                <a:spcPct val="105000"/>
              </a:lnSpc>
              <a:spcBef>
                <a:spcPts val="0"/>
              </a:spcBef>
              <a:spcAft>
                <a:spcPts val="0"/>
              </a:spcAft>
            </a:pPr>
            <a:r>
              <a:rPr sz="1150" b="0" i="0">
                <a:solidFill>
                  <a:srgbClr val="1A1A1A"/>
                </a:solidFill>
                <a:latin typeface="Calibri"/>
              </a:rPr>
              <a:t>worker freed</a:t>
            </a:r>
          </a:p>
        </p:txBody>
      </p:sp>
      <p:sp>
        <p:nvSpPr>
          <p:cNvPr id="23" name="Oval 22"/>
          <p:cNvSpPr/>
          <p:nvPr/>
        </p:nvSpPr>
        <p:spPr>
          <a:xfrm>
            <a:off x="2787396" y="4676608"/>
            <a:ext cx="1340104" cy="871143"/>
          </a:xfrm>
          <a:prstGeom prst="ellipse">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another worker</a:t>
            </a:r>
          </a:p>
          <a:p>
            <a:pPr algn="ctr">
              <a:lnSpc>
                <a:spcPct val="105000"/>
              </a:lnSpc>
              <a:spcBef>
                <a:spcPts val="0"/>
              </a:spcBef>
              <a:spcAft>
                <a:spcPts val="0"/>
              </a:spcAft>
            </a:pPr>
            <a:r>
              <a:rPr sz="1050" b="0" i="0">
                <a:solidFill>
                  <a:srgbClr val="6E1120"/>
                </a:solidFill>
                <a:latin typeface="Calibri"/>
              </a:rPr>
              <a:t>claims a stale run</a:t>
            </a:r>
          </a:p>
        </p:txBody>
      </p:sp>
      <p:sp>
        <p:nvSpPr>
          <p:cNvPr id="24" name="Rounded Rectangle 23"/>
          <p:cNvSpPr/>
          <p:nvPr/>
        </p:nvSpPr>
        <p:spPr>
          <a:xfrm>
            <a:off x="5802631" y="1584048"/>
            <a:ext cx="1675130" cy="740472"/>
          </a:xfrm>
          <a:prstGeom prst="roundRect">
            <a:avLst>
              <a:gd name="adj" fmla="val 9879"/>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succeeded</a:t>
            </a:r>
          </a:p>
        </p:txBody>
      </p:sp>
      <p:sp>
        <p:nvSpPr>
          <p:cNvPr id="25" name="Rounded Rectangle 24"/>
          <p:cNvSpPr/>
          <p:nvPr/>
        </p:nvSpPr>
        <p:spPr>
          <a:xfrm>
            <a:off x="5802631" y="3086771"/>
            <a:ext cx="1675130" cy="740472"/>
          </a:xfrm>
          <a:prstGeom prst="roundRect">
            <a:avLst>
              <a:gd name="adj" fmla="val 9879"/>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failed</a:t>
            </a:r>
          </a:p>
        </p:txBody>
      </p:sp>
      <p:sp>
        <p:nvSpPr>
          <p:cNvPr id="26" name="Rounded Rectangle 25"/>
          <p:cNvSpPr/>
          <p:nvPr/>
        </p:nvSpPr>
        <p:spPr>
          <a:xfrm>
            <a:off x="5802631" y="4589494"/>
            <a:ext cx="1675130" cy="740472"/>
          </a:xfrm>
          <a:prstGeom prst="roundRect">
            <a:avLst>
              <a:gd name="adj" fmla="val 987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cancelled</a:t>
            </a:r>
          </a:p>
        </p:txBody>
      </p:sp>
      <p:cxnSp>
        <p:nvCxnSpPr>
          <p:cNvPr id="27" name="Connector 26"/>
          <p:cNvCxnSpPr/>
          <p:nvPr/>
        </p:nvCxnSpPr>
        <p:spPr>
          <a:xfrm>
            <a:off x="1962048" y="3457007"/>
            <a:ext cx="77962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727022" y="3219263"/>
            <a:ext cx="124968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under the limit</a:t>
            </a:r>
          </a:p>
        </p:txBody>
      </p:sp>
      <p:cxnSp>
        <p:nvCxnSpPr>
          <p:cNvPr id="29" name="Connector 28"/>
          <p:cNvCxnSpPr/>
          <p:nvPr/>
        </p:nvCxnSpPr>
        <p:spPr>
          <a:xfrm flipV="1">
            <a:off x="3256433" y="2326683"/>
            <a:ext cx="0" cy="6490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994561" y="2559759"/>
            <a:ext cx="117856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wait, approval</a:t>
            </a:r>
          </a:p>
        </p:txBody>
      </p:sp>
      <p:cxnSp>
        <p:nvCxnSpPr>
          <p:cNvPr id="31" name="Connector 30"/>
          <p:cNvCxnSpPr/>
          <p:nvPr/>
        </p:nvCxnSpPr>
        <p:spPr>
          <a:xfrm>
            <a:off x="3658464" y="2326683"/>
            <a:ext cx="0" cy="6490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3722472" y="2559759"/>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woken</a:t>
            </a:r>
          </a:p>
        </p:txBody>
      </p:sp>
      <p:cxnSp>
        <p:nvCxnSpPr>
          <p:cNvPr id="33" name="Connector 32"/>
          <p:cNvCxnSpPr/>
          <p:nvPr/>
        </p:nvCxnSpPr>
        <p:spPr>
          <a:xfrm>
            <a:off x="3256433" y="3938299"/>
            <a:ext cx="0" cy="69258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131721" y="4193153"/>
            <a:ext cx="96520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worker dies</a:t>
            </a:r>
          </a:p>
        </p:txBody>
      </p:sp>
      <p:cxnSp>
        <p:nvCxnSpPr>
          <p:cNvPr id="35" name="Connector 34"/>
          <p:cNvCxnSpPr/>
          <p:nvPr/>
        </p:nvCxnSpPr>
        <p:spPr>
          <a:xfrm flipV="1">
            <a:off x="3658464" y="3938299"/>
            <a:ext cx="0" cy="69258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3722472" y="4193153"/>
            <a:ext cx="6807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resumes</a:t>
            </a:r>
          </a:p>
        </p:txBody>
      </p:sp>
      <p:cxnSp>
        <p:nvCxnSpPr>
          <p:cNvPr id="37" name="Connector 36"/>
          <p:cNvCxnSpPr/>
          <p:nvPr/>
        </p:nvCxnSpPr>
        <p:spPr>
          <a:xfrm flipV="1">
            <a:off x="4040934" y="2344040"/>
            <a:ext cx="1773764" cy="837476"/>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73221" y="3457007"/>
            <a:ext cx="1583690"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040934" y="3732497"/>
            <a:ext cx="1773764" cy="83747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THEY FIT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Four levels of building, and one governed path to every tool, local or remote</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57</a:t>
            </a:r>
          </a:p>
        </p:txBody>
      </p:sp>
      <p:sp>
        <p:nvSpPr>
          <p:cNvPr id="17" name="Pentagon 16"/>
          <p:cNvSpPr/>
          <p:nvPr/>
        </p:nvSpPr>
        <p:spPr>
          <a:xfrm>
            <a:off x="777240" y="2167900"/>
            <a:ext cx="2499745" cy="926693"/>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Tool</a:t>
            </a:r>
          </a:p>
          <a:p>
            <a:pPr algn="ctr">
              <a:lnSpc>
                <a:spcPct val="105000"/>
              </a:lnSpc>
              <a:spcBef>
                <a:spcPts val="0"/>
              </a:spcBef>
              <a:spcAft>
                <a:spcPts val="0"/>
              </a:spcAft>
            </a:pPr>
            <a:r>
              <a:rPr sz="1250" b="0" i="0">
                <a:solidFill>
                  <a:srgbClr val="FFFFFF"/>
                </a:solidFill>
                <a:latin typeface="Calibri"/>
              </a:rPr>
              <a:t>one entry in the registry</a:t>
            </a:r>
          </a:p>
        </p:txBody>
      </p:sp>
      <p:sp>
        <p:nvSpPr>
          <p:cNvPr id="18" name="Pentagon 17"/>
          <p:cNvSpPr/>
          <p:nvPr/>
        </p:nvSpPr>
        <p:spPr>
          <a:xfrm>
            <a:off x="3489729" y="2167900"/>
            <a:ext cx="2499745" cy="926693"/>
          </a:xfrm>
          <a:prstGeom prst="homePlat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Composite</a:t>
            </a:r>
          </a:p>
          <a:p>
            <a:pPr algn="ctr">
              <a:lnSpc>
                <a:spcPct val="105000"/>
              </a:lnSpc>
              <a:spcBef>
                <a:spcPts val="0"/>
              </a:spcBef>
              <a:spcAft>
                <a:spcPts val="0"/>
              </a:spcAft>
            </a:pPr>
            <a:r>
              <a:rPr sz="1250" b="0" i="0">
                <a:solidFill>
                  <a:srgbClr val="FFFFFF"/>
                </a:solidFill>
                <a:latin typeface="Calibri"/>
              </a:rPr>
              <a:t>tools chained into one call</a:t>
            </a:r>
          </a:p>
        </p:txBody>
      </p:sp>
      <p:sp>
        <p:nvSpPr>
          <p:cNvPr id="19" name="Pentagon 18"/>
          <p:cNvSpPr/>
          <p:nvPr/>
        </p:nvSpPr>
        <p:spPr>
          <a:xfrm>
            <a:off x="6202219" y="2167900"/>
            <a:ext cx="2499745" cy="926693"/>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Workflow</a:t>
            </a:r>
          </a:p>
          <a:p>
            <a:pPr algn="ctr">
              <a:lnSpc>
                <a:spcPct val="105000"/>
              </a:lnSpc>
              <a:spcBef>
                <a:spcPts val="0"/>
              </a:spcBef>
              <a:spcAft>
                <a:spcPts val="0"/>
              </a:spcAft>
            </a:pPr>
            <a:r>
              <a:rPr sz="1250" b="0" i="0">
                <a:solidFill>
                  <a:srgbClr val="FFFFFF"/>
                </a:solidFill>
                <a:latin typeface="Calibri"/>
              </a:rPr>
              <a:t>a DAG of tools, composites, questions</a:t>
            </a:r>
          </a:p>
        </p:txBody>
      </p:sp>
      <p:sp>
        <p:nvSpPr>
          <p:cNvPr id="20" name="Pentagon 19"/>
          <p:cNvSpPr/>
          <p:nvPr/>
        </p:nvSpPr>
        <p:spPr>
          <a:xfrm>
            <a:off x="8914709" y="2167900"/>
            <a:ext cx="2499745" cy="926693"/>
          </a:xfrm>
          <a:prstGeom prst="homePlat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Published tool</a:t>
            </a:r>
          </a:p>
          <a:p>
            <a:pPr algn="ctr">
              <a:lnSpc>
                <a:spcPct val="105000"/>
              </a:lnSpc>
              <a:spcBef>
                <a:spcPts val="0"/>
              </a:spcBef>
              <a:spcAft>
                <a:spcPts val="0"/>
              </a:spcAft>
            </a:pPr>
            <a:r>
              <a:rPr sz="1250" b="0" i="0">
                <a:solidFill>
                  <a:srgbClr val="FFFFFF"/>
                </a:solidFill>
                <a:latin typeface="Calibri"/>
              </a:rPr>
              <a:t>the workflow, called like any tool</a:t>
            </a:r>
          </a:p>
        </p:txBody>
      </p:sp>
      <p:sp>
        <p:nvSpPr>
          <p:cNvPr id="21" name="Rounded Rectangle 20"/>
          <p:cNvSpPr/>
          <p:nvPr/>
        </p:nvSpPr>
        <p:spPr>
          <a:xfrm>
            <a:off x="777240" y="3604275"/>
            <a:ext cx="10637215" cy="648685"/>
          </a:xfrm>
          <a:prstGeom prst="roundRect">
            <a:avLst>
              <a:gd name="adj" fmla="val 112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Every call, at every level, goes through the same path</a:t>
            </a:r>
          </a:p>
          <a:p>
            <a:pPr algn="ctr">
              <a:lnSpc>
                <a:spcPct val="105000"/>
              </a:lnSpc>
              <a:spcBef>
                <a:spcPts val="0"/>
              </a:spcBef>
              <a:spcAft>
                <a:spcPts val="0"/>
              </a:spcAft>
            </a:pPr>
            <a:r>
              <a:rPr sz="1150" b="0" i="0">
                <a:solidFill>
                  <a:srgbClr val="1A1A1A"/>
                </a:solidFill>
                <a:latin typeface="Calibri"/>
              </a:rPr>
              <a:t>access · schema · policy and approvals · cache · circuit breaker · audit</a:t>
            </a:r>
          </a:p>
        </p:txBody>
      </p:sp>
      <p:sp>
        <p:nvSpPr>
          <p:cNvPr id="22" name="Rounded Rectangle 21"/>
          <p:cNvSpPr/>
          <p:nvPr/>
        </p:nvSpPr>
        <p:spPr>
          <a:xfrm>
            <a:off x="777240"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local tool</a:t>
            </a:r>
          </a:p>
          <a:p>
            <a:pPr algn="ctr">
              <a:lnSpc>
                <a:spcPct val="105000"/>
              </a:lnSpc>
              <a:spcBef>
                <a:spcPts val="0"/>
              </a:spcBef>
              <a:spcAft>
                <a:spcPts val="0"/>
              </a:spcAft>
            </a:pPr>
            <a:r>
              <a:rPr sz="1150" b="0" i="0">
                <a:solidFill>
                  <a:srgbClr val="1A1A1A"/>
                </a:solidFill>
                <a:latin typeface="Calibri"/>
              </a:rPr>
              <a:t>this server's registry</a:t>
            </a:r>
          </a:p>
        </p:txBody>
      </p:sp>
      <p:sp>
        <p:nvSpPr>
          <p:cNvPr id="23" name="Rounded Rectangle 22"/>
          <p:cNvSpPr/>
          <p:nvPr/>
        </p:nvSpPr>
        <p:spPr>
          <a:xfrm>
            <a:off x="4606637"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proxied MCP server</a:t>
            </a:r>
          </a:p>
          <a:p>
            <a:pPr algn="ctr">
              <a:lnSpc>
                <a:spcPct val="105000"/>
              </a:lnSpc>
              <a:spcBef>
                <a:spcPts val="0"/>
              </a:spcBef>
              <a:spcAft>
                <a:spcPts val="0"/>
              </a:spcAft>
            </a:pPr>
            <a:r>
              <a:rPr sz="1150" b="0" i="0">
                <a:solidFill>
                  <a:srgbClr val="1A1A1A"/>
                </a:solidFill>
                <a:latin typeface="Calibri"/>
              </a:rPr>
              <a:t>vendor__tool, through federation</a:t>
            </a:r>
          </a:p>
        </p:txBody>
      </p:sp>
      <p:sp>
        <p:nvSpPr>
          <p:cNvPr id="24" name="Rounded Rectangle 23"/>
          <p:cNvSpPr/>
          <p:nvPr/>
        </p:nvSpPr>
        <p:spPr>
          <a:xfrm>
            <a:off x="8436034"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SAJHA Net member</a:t>
            </a:r>
          </a:p>
          <a:p>
            <a:pPr algn="ctr">
              <a:lnSpc>
                <a:spcPct val="105000"/>
              </a:lnSpc>
              <a:spcBef>
                <a:spcPts val="0"/>
              </a:spcBef>
              <a:spcAft>
                <a:spcPts val="0"/>
              </a:spcAft>
            </a:pPr>
            <a:r>
              <a:rPr sz="1150" b="0" i="0">
                <a:solidFill>
                  <a:srgbClr val="1A1A1A"/>
                </a:solidFill>
                <a:latin typeface="Calibri"/>
              </a:rPr>
              <a:t>net__instance__tool, signed; the host decides again</a:t>
            </a:r>
          </a:p>
        </p:txBody>
      </p:sp>
      <p:sp>
        <p:nvSpPr>
          <p:cNvPr id="25" name="Rounded Rectangle 24"/>
          <p:cNvSpPr/>
          <p:nvPr/>
        </p:nvSpPr>
        <p:spPr>
          <a:xfrm>
            <a:off x="4606637" y="5735670"/>
            <a:ext cx="2978420" cy="509681"/>
          </a:xfrm>
          <a:prstGeom prst="roundRect">
            <a:avLst>
              <a:gd name="adj" fmla="val 14352"/>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6E1120"/>
                </a:solidFill>
                <a:latin typeface="Calibri"/>
              </a:rPr>
              <a:t>which may proxy others: outer__inner__tool</a:t>
            </a:r>
          </a:p>
        </p:txBody>
      </p:sp>
      <p:cxnSp>
        <p:nvCxnSpPr>
          <p:cNvPr id="26" name="Connector 25"/>
          <p:cNvCxnSpPr/>
          <p:nvPr/>
        </p:nvCxnSpPr>
        <p:spPr>
          <a:xfrm flipV="1">
            <a:off x="10164582" y="1797222"/>
            <a:ext cx="0" cy="324958"/>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2027112" y="1797222"/>
            <a:ext cx="8137470" cy="0"/>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27112" y="1797222"/>
            <a:ext cx="0" cy="32495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724247" y="1559478"/>
            <a:ext cx="274320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a published workflow is a tool again</a:t>
            </a:r>
          </a:p>
        </p:txBody>
      </p:sp>
      <p:cxnSp>
        <p:nvCxnSpPr>
          <p:cNvPr id="30" name="Connector 29"/>
          <p:cNvCxnSpPr/>
          <p:nvPr/>
        </p:nvCxnSpPr>
        <p:spPr>
          <a:xfrm>
            <a:off x="202711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73960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45209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16458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266450"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095847"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925245"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095847" y="5503382"/>
            <a:ext cx="0" cy="18656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EXTENDING THE SERVER</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Two ways to add a tool, and agents cannot tell them apart</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58</a:t>
            </a:r>
          </a:p>
        </p:txBody>
      </p:sp>
      <p:sp>
        <p:nvSpPr>
          <p:cNvPr id="17" name="Rounded Rectangle 16"/>
          <p:cNvSpPr/>
          <p:nvPr/>
        </p:nvSpPr>
        <p:spPr>
          <a:xfrm>
            <a:off x="777240" y="1565879"/>
            <a:ext cx="2872048" cy="1072379"/>
          </a:xfrm>
          <a:prstGeom prst="roundRect">
            <a:avLst>
              <a:gd name="adj" fmla="val 682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No code: MCP Studio</a:t>
            </a:r>
          </a:p>
          <a:p>
            <a:pPr algn="ctr">
              <a:lnSpc>
                <a:spcPct val="105000"/>
              </a:lnSpc>
              <a:spcBef>
                <a:spcPts val="0"/>
              </a:spcBef>
              <a:spcAft>
                <a:spcPts val="0"/>
              </a:spcAft>
            </a:pPr>
            <a:r>
              <a:rPr sz="1250" b="0" i="0">
                <a:solidFill>
                  <a:srgbClr val="FFFFFF"/>
                </a:solidFill>
                <a:latin typeface="Calibri"/>
              </a:rPr>
              <a:t>a creator form, or describe the tool in a sentence</a:t>
            </a:r>
          </a:p>
        </p:txBody>
      </p:sp>
      <p:sp>
        <p:nvSpPr>
          <p:cNvPr id="18" name="Rounded Rectangle 17"/>
          <p:cNvSpPr/>
          <p:nvPr/>
        </p:nvSpPr>
        <p:spPr>
          <a:xfrm>
            <a:off x="777240" y="2930725"/>
            <a:ext cx="2872048" cy="731167"/>
          </a:xfrm>
          <a:prstGeom prst="roundRect">
            <a:avLst>
              <a:gd name="adj" fmla="val 1000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Import an API; connect a database</a:t>
            </a:r>
          </a:p>
        </p:txBody>
      </p:sp>
      <p:sp>
        <p:nvSpPr>
          <p:cNvPr id="19" name="Rounded Rectangle 18"/>
          <p:cNvSpPr/>
          <p:nvPr/>
        </p:nvSpPr>
        <p:spPr>
          <a:xfrm>
            <a:off x="777240" y="4198082"/>
            <a:ext cx="2872048" cy="1072379"/>
          </a:xfrm>
          <a:prstGeom prst="roundRect">
            <a:avLst>
              <a:gd name="adj" fmla="val 682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Full code: a Python tool</a:t>
            </a:r>
          </a:p>
          <a:p>
            <a:pPr algn="ctr">
              <a:lnSpc>
                <a:spcPct val="105000"/>
              </a:lnSpc>
              <a:spcBef>
                <a:spcPts val="0"/>
              </a:spcBef>
              <a:spcAft>
                <a:spcPts val="0"/>
              </a:spcAft>
            </a:pPr>
            <a:r>
              <a:rPr sz="1250" b="0" i="0">
                <a:solidFill>
                  <a:srgbClr val="FFFFFF"/>
                </a:solidFill>
                <a:latin typeface="Calibri"/>
              </a:rPr>
              <a:t>subclass BaseMCPTool, implement execute()</a:t>
            </a:r>
          </a:p>
        </p:txBody>
      </p:sp>
      <p:sp>
        <p:nvSpPr>
          <p:cNvPr id="20" name="Rounded Rectangle 19"/>
          <p:cNvSpPr/>
          <p:nvPr/>
        </p:nvSpPr>
        <p:spPr>
          <a:xfrm>
            <a:off x="777240" y="5562928"/>
            <a:ext cx="2872048" cy="633678"/>
          </a:xfrm>
          <a:prstGeom prst="roundRect">
            <a:avLst>
              <a:gd name="adj" fmla="val 1154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or a plugin: plugin.json and tools/</a:t>
            </a:r>
          </a:p>
        </p:txBody>
      </p:sp>
      <p:sp>
        <p:nvSpPr>
          <p:cNvPr id="21" name="Hexagon 20"/>
          <p:cNvSpPr/>
          <p:nvPr/>
        </p:nvSpPr>
        <p:spPr>
          <a:xfrm>
            <a:off x="4819381" y="3125703"/>
            <a:ext cx="2127443" cy="1267357"/>
          </a:xfrm>
          <a:prstGeom prst="hexago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Deploy</a:t>
            </a:r>
          </a:p>
          <a:p>
            <a:pPr algn="ctr">
              <a:lnSpc>
                <a:spcPct val="105000"/>
              </a:lnSpc>
              <a:spcBef>
                <a:spcPts val="0"/>
              </a:spcBef>
              <a:spcAft>
                <a:spcPts val="0"/>
              </a:spcAft>
            </a:pPr>
            <a:r>
              <a:rPr sz="1250" b="0" i="0">
                <a:solidFill>
                  <a:srgbClr val="1A1A1A"/>
                </a:solidFill>
                <a:latin typeface="Calibri"/>
              </a:rPr>
              <a:t>a JSON config in config/tools; no restart</a:t>
            </a:r>
          </a:p>
        </p:txBody>
      </p:sp>
      <p:sp>
        <p:nvSpPr>
          <p:cNvPr id="22" name="Rounded Rectangle 21"/>
          <p:cNvSpPr/>
          <p:nvPr/>
        </p:nvSpPr>
        <p:spPr>
          <a:xfrm>
            <a:off x="8010546" y="3028214"/>
            <a:ext cx="3403908" cy="1462335"/>
          </a:xfrm>
          <a:prstGeom prst="roundRect">
            <a:avLst>
              <a:gd name="adj" fmla="val 500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An ordinary MCP tool</a:t>
            </a:r>
          </a:p>
          <a:p>
            <a:pPr algn="ctr">
              <a:lnSpc>
                <a:spcPct val="105000"/>
              </a:lnSpc>
              <a:spcBef>
                <a:spcPts val="0"/>
              </a:spcBef>
              <a:spcAft>
                <a:spcPts val="0"/>
              </a:spcAft>
            </a:pPr>
            <a:r>
              <a:rPr sz="1350" b="0" i="0">
                <a:solidFill>
                  <a:srgbClr val="FFFFFF"/>
                </a:solidFill>
                <a:latin typeface="Calibri"/>
              </a:rPr>
              <a:t>with schemas, governed and audited the same way</a:t>
            </a:r>
          </a:p>
        </p:txBody>
      </p:sp>
      <p:cxnSp>
        <p:nvCxnSpPr>
          <p:cNvPr id="23" name="Connector 22"/>
          <p:cNvCxnSpPr/>
          <p:nvPr/>
        </p:nvCxnSpPr>
        <p:spPr>
          <a:xfrm>
            <a:off x="3442232" y="2657076"/>
            <a:ext cx="1335481" cy="60310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694648" y="3483235"/>
            <a:ext cx="1079373" cy="1361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693475" y="4053697"/>
            <a:ext cx="1081719" cy="28735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801218" y="4396859"/>
            <a:ext cx="1978576" cy="114319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992544" y="3759382"/>
            <a:ext cx="972282"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HOT RELOAD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Tools, rules and permissions change without a restart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59</a:t>
            </a:r>
          </a:p>
        </p:txBody>
      </p:sp>
      <p:sp>
        <p:nvSpPr>
          <p:cNvPr id="17" name="Rounded Rectangle 16"/>
          <p:cNvSpPr/>
          <p:nvPr/>
        </p:nvSpPr>
        <p:spPr>
          <a:xfrm>
            <a:off x="777240" y="1386967"/>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configs</a:t>
            </a:r>
          </a:p>
          <a:p>
            <a:pPr algn="ctr">
              <a:lnSpc>
                <a:spcPct val="105000"/>
              </a:lnSpc>
              <a:spcBef>
                <a:spcPts val="0"/>
              </a:spcBef>
              <a:spcAft>
                <a:spcPts val="0"/>
              </a:spcAft>
            </a:pPr>
            <a:r>
              <a:rPr sz="1050" b="0" i="0">
                <a:solidFill>
                  <a:srgbClr val="1A1A1A"/>
                </a:solidFill>
                <a:latin typeface="Calibri"/>
              </a:rPr>
              <a:t>config/tools, or an object store</a:t>
            </a:r>
          </a:p>
        </p:txBody>
      </p:sp>
      <p:sp>
        <p:nvSpPr>
          <p:cNvPr id="18" name="Rounded Rectangle 17"/>
          <p:cNvSpPr/>
          <p:nvPr/>
        </p:nvSpPr>
        <p:spPr>
          <a:xfrm>
            <a:off x="777240" y="2552979"/>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Studio, imports, connectors</a:t>
            </a:r>
          </a:p>
          <a:p>
            <a:pPr algn="ctr">
              <a:lnSpc>
                <a:spcPct val="105000"/>
              </a:lnSpc>
              <a:spcBef>
                <a:spcPts val="0"/>
              </a:spcBef>
              <a:spcAft>
                <a:spcPts val="0"/>
              </a:spcAft>
            </a:pPr>
            <a:r>
              <a:rPr sz="1050" b="0" i="0">
                <a:solidFill>
                  <a:srgbClr val="1A1A1A"/>
                </a:solidFill>
                <a:latin typeface="Calibri"/>
              </a:rPr>
              <a:t>deploy registers at once</a:t>
            </a:r>
          </a:p>
        </p:txBody>
      </p:sp>
      <p:sp>
        <p:nvSpPr>
          <p:cNvPr id="19" name="Rounded Rectangle 18"/>
          <p:cNvSpPr/>
          <p:nvPr/>
        </p:nvSpPr>
        <p:spPr>
          <a:xfrm>
            <a:off x="777240" y="3718991"/>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Policy files</a:t>
            </a:r>
          </a:p>
          <a:p>
            <a:pPr algn="ctr">
              <a:lnSpc>
                <a:spcPct val="105000"/>
              </a:lnSpc>
              <a:spcBef>
                <a:spcPts val="0"/>
              </a:spcBef>
              <a:spcAft>
                <a:spcPts val="0"/>
              </a:spcAft>
            </a:pPr>
            <a:r>
              <a:rPr sz="1050" b="0" i="0">
                <a:solidFill>
                  <a:srgbClr val="1A1A1A"/>
                </a:solidFill>
                <a:latin typeface="Calibri"/>
              </a:rPr>
              <a:t>reload when they change</a:t>
            </a:r>
          </a:p>
        </p:txBody>
      </p:sp>
      <p:sp>
        <p:nvSpPr>
          <p:cNvPr id="20" name="Rounded Rectangle 19"/>
          <p:cNvSpPr/>
          <p:nvPr/>
        </p:nvSpPr>
        <p:spPr>
          <a:xfrm>
            <a:off x="777240" y="4885004"/>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Users, roles and keys</a:t>
            </a:r>
          </a:p>
          <a:p>
            <a:pPr algn="ctr">
              <a:lnSpc>
                <a:spcPct val="105000"/>
              </a:lnSpc>
              <a:spcBef>
                <a:spcPts val="0"/>
              </a:spcBef>
              <a:spcAft>
                <a:spcPts val="0"/>
              </a:spcAft>
            </a:pPr>
            <a:r>
              <a:rPr sz="1050" b="0" i="0">
                <a:solidFill>
                  <a:srgbClr val="1A1A1A"/>
                </a:solidFill>
                <a:latin typeface="Calibri"/>
              </a:rPr>
              <a:t>changed in the console</a:t>
            </a:r>
          </a:p>
        </p:txBody>
      </p:sp>
      <p:sp>
        <p:nvSpPr>
          <p:cNvPr id="21" name="Rounded Rectangle 20"/>
          <p:cNvSpPr/>
          <p:nvPr/>
        </p:nvSpPr>
        <p:spPr>
          <a:xfrm>
            <a:off x="4606637" y="1678470"/>
            <a:ext cx="2552931" cy="1263180"/>
          </a:xfrm>
          <a:prstGeom prst="roundRect">
            <a:avLst>
              <a:gd name="adj" fmla="val 579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Tools registry</a:t>
            </a:r>
          </a:p>
          <a:p>
            <a:pPr algn="ctr">
              <a:lnSpc>
                <a:spcPct val="105000"/>
              </a:lnSpc>
              <a:spcBef>
                <a:spcPts val="0"/>
              </a:spcBef>
              <a:spcAft>
                <a:spcPts val="0"/>
              </a:spcAft>
            </a:pPr>
            <a:r>
              <a:rPr sz="1250" b="0" i="0">
                <a:solidFill>
                  <a:srgbClr val="FFFFFF"/>
                </a:solidFill>
                <a:latin typeface="Calibri"/>
              </a:rPr>
              <a:t>file monitor; object-store poller</a:t>
            </a:r>
          </a:p>
        </p:txBody>
      </p:sp>
      <p:sp>
        <p:nvSpPr>
          <p:cNvPr id="22" name="Rounded Rectangle 21"/>
          <p:cNvSpPr/>
          <p:nvPr/>
        </p:nvSpPr>
        <p:spPr>
          <a:xfrm>
            <a:off x="4606637" y="3670407"/>
            <a:ext cx="2552931" cy="874509"/>
          </a:xfrm>
          <a:prstGeom prst="roundRect">
            <a:avLst>
              <a:gd name="adj" fmla="val 83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Policy engine</a:t>
            </a:r>
          </a:p>
        </p:txBody>
      </p:sp>
      <p:sp>
        <p:nvSpPr>
          <p:cNvPr id="23" name="Rounded Rectangle 22"/>
          <p:cNvSpPr/>
          <p:nvPr/>
        </p:nvSpPr>
        <p:spPr>
          <a:xfrm>
            <a:off x="4606637" y="4836420"/>
            <a:ext cx="2552931" cy="874509"/>
          </a:xfrm>
          <a:prstGeom prst="roundRect">
            <a:avLst>
              <a:gd name="adj" fmla="val 83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next request</a:t>
            </a:r>
          </a:p>
          <a:p>
            <a:pPr algn="ctr">
              <a:lnSpc>
                <a:spcPct val="105000"/>
              </a:lnSpc>
              <a:spcBef>
                <a:spcPts val="0"/>
              </a:spcBef>
              <a:spcAft>
                <a:spcPts val="0"/>
              </a:spcAft>
            </a:pPr>
            <a:r>
              <a:rPr sz="1150" b="0" i="0">
                <a:solidFill>
                  <a:srgbClr val="FFFFFF"/>
                </a:solidFill>
                <a:latin typeface="Calibri"/>
              </a:rPr>
              <a:t>the user is reloaded on every request</a:t>
            </a:r>
          </a:p>
        </p:txBody>
      </p:sp>
      <p:sp>
        <p:nvSpPr>
          <p:cNvPr id="24" name="Rounded Rectangle 23"/>
          <p:cNvSpPr/>
          <p:nvPr/>
        </p:nvSpPr>
        <p:spPr>
          <a:xfrm>
            <a:off x="8648779" y="1386967"/>
            <a:ext cx="2765675"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Clients told</a:t>
            </a:r>
          </a:p>
          <a:p>
            <a:pPr algn="ctr">
              <a:lnSpc>
                <a:spcPct val="105000"/>
              </a:lnSpc>
              <a:spcBef>
                <a:spcPts val="0"/>
              </a:spcBef>
              <a:spcAft>
                <a:spcPts val="0"/>
              </a:spcAft>
            </a:pPr>
            <a:r>
              <a:rPr sz="1050" b="0" i="0">
                <a:solidFill>
                  <a:srgbClr val="1A1A1A"/>
                </a:solidFill>
                <a:latin typeface="Calibri"/>
              </a:rPr>
              <a:t>list-changed on SSE, WebSocket and subscriptions/listen</a:t>
            </a:r>
          </a:p>
        </p:txBody>
      </p:sp>
      <p:sp>
        <p:nvSpPr>
          <p:cNvPr id="25" name="Rounded Rectangle 24"/>
          <p:cNvSpPr/>
          <p:nvPr/>
        </p:nvSpPr>
        <p:spPr>
          <a:xfrm>
            <a:off x="8648779" y="2747314"/>
            <a:ext cx="2765675"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Ask SAJHA's shortlist</a:t>
            </a:r>
          </a:p>
          <a:p>
            <a:pPr algn="ctr">
              <a:lnSpc>
                <a:spcPct val="105000"/>
              </a:lnSpc>
              <a:spcBef>
                <a:spcPts val="0"/>
              </a:spcBef>
              <a:spcAft>
                <a:spcPts val="0"/>
              </a:spcAft>
            </a:pPr>
            <a:r>
              <a:rPr sz="1050" b="0" i="0">
                <a:solidFill>
                  <a:srgbClr val="1A1A1A"/>
                </a:solidFill>
                <a:latin typeface="Calibri"/>
              </a:rPr>
              <a:t>sees a new tool without a reload</a:t>
            </a:r>
          </a:p>
        </p:txBody>
      </p:sp>
      <p:cxnSp>
        <p:nvCxnSpPr>
          <p:cNvPr id="26" name="Connector 25"/>
          <p:cNvCxnSpPr/>
          <p:nvPr/>
        </p:nvCxnSpPr>
        <p:spPr>
          <a:xfrm>
            <a:off x="3162731" y="1940671"/>
            <a:ext cx="1398602" cy="18991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162569" y="2522144"/>
            <a:ext cx="1398926" cy="22449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163147" y="4107662"/>
            <a:ext cx="139777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163147" y="5273675"/>
            <a:ext cx="139777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205037" y="2023349"/>
            <a:ext cx="1398274" cy="14737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4197" y="2604019"/>
            <a:ext cx="1399953" cy="31150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creation: MCP Studio, zero code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60</a:t>
            </a:r>
          </a:p>
        </p:txBody>
      </p:sp>
      <p:sp>
        <p:nvSpPr>
          <p:cNvPr id="17" name="Rectangle 16"/>
          <p:cNvSpPr/>
          <p:nvPr/>
        </p:nvSpPr>
        <p:spPr>
          <a:xfrm>
            <a:off x="777240" y="1386967"/>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1" i="0">
                <a:solidFill>
                  <a:srgbClr val="FFFFFF"/>
                </a:solidFill>
                <a:latin typeface="Calibri"/>
              </a:rPr>
              <a:t>Developer or admin  →  MCP Studio</a:t>
            </a:r>
          </a:p>
        </p:txBody>
      </p:sp>
      <p:sp>
        <p:nvSpPr>
          <p:cNvPr id="18" name="Rectangle 17"/>
          <p:cNvSpPr/>
          <p:nvPr/>
        </p:nvSpPr>
        <p:spPr>
          <a:xfrm>
            <a:off x="777240" y="1844167"/>
            <a:ext cx="10637215" cy="4401185"/>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844167"/>
            <a:ext cx="41148" cy="440118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1990471"/>
            <a:ext cx="10253167" cy="4126865"/>
          </a:xfrm>
          <a:prstGeom prst="rect">
            <a:avLst/>
          </a:prstGeom>
          <a:noFill/>
        </p:spPr>
        <p:txBody>
          <a:bodyPr wrap="square" lIns="0" rIns="0" tIns="0" bIns="0" anchor="t">
            <a:spAutoFit/>
          </a:bodyPr>
          <a:lstStyle/>
          <a:p>
            <a:pPr algn="l">
              <a:lnSpc>
                <a:spcPct val="110000"/>
              </a:lnSpc>
              <a:spcBef>
                <a:spcPts val="0"/>
              </a:spcBef>
              <a:spcAft>
                <a:spcPts val="200"/>
              </a:spcAft>
            </a:pPr>
            <a:r>
              <a:rPr sz="1550" b="0" i="0">
                <a:solidFill>
                  <a:srgbClr val="1A1A1A"/>
                </a:solidFill>
                <a:latin typeface="Consolas"/>
              </a:rPr>
              <a:t>1. Open /studio and choose a creator</a:t>
            </a:r>
          </a:p>
          <a:p>
            <a:pPr>
              <a:lnSpc>
                <a:spcPct val="110000"/>
              </a:lnSpc>
              <a:spcBef>
                <a:spcPts val="0"/>
              </a:spcBef>
              <a:spcAft>
                <a:spcPts val="200"/>
              </a:spcAft>
            </a:pPr>
            <a:r>
              <a:rPr sz="1550" b="0" i="0">
                <a:solidFill>
                  <a:srgbClr val="1A1A1A"/>
                </a:solidFill>
                <a:latin typeface="Consolas"/>
              </a:rPr>
              <a:t>   └─ Python | REST | DB query | Script | OLAP | Power BI |</a:t>
            </a:r>
          </a:p>
          <a:p>
            <a:pPr>
              <a:lnSpc>
                <a:spcPct val="110000"/>
              </a:lnSpc>
              <a:spcBef>
                <a:spcPts val="0"/>
              </a:spcBef>
              <a:spcAft>
                <a:spcPts val="200"/>
              </a:spcAft>
            </a:pPr>
            <a:r>
              <a:rPr sz="1550" b="0" i="0">
                <a:solidFill>
                  <a:srgbClr val="1A1A1A"/>
                </a:solidFill>
                <a:latin typeface="Consolas"/>
              </a:rPr>
              <a:t>      SharePoint | LiveLink | Describe | Import an API</a:t>
            </a:r>
          </a:p>
          <a:p>
            <a:pPr>
              <a:lnSpc>
                <a:spcPct val="110000"/>
              </a:lnSpc>
              <a:spcBef>
                <a:spcPts val="0"/>
              </a:spcBef>
              <a:spcAft>
                <a:spcPts val="200"/>
              </a:spcAft>
            </a:pPr>
            <a:r>
              <a:rPr sz="1550" b="0" i="0">
                <a:solidFill>
                  <a:srgbClr val="1A1A1A"/>
                </a:solidFill>
                <a:latin typeface="Consolas"/>
              </a:rPr>
              <a:t>2. Fill the form: name, parameters, source</a:t>
            </a:r>
          </a:p>
          <a:p>
            <a:pPr>
              <a:lnSpc>
                <a:spcPct val="110000"/>
              </a:lnSpc>
              <a:spcBef>
                <a:spcPts val="0"/>
              </a:spcBef>
              <a:spcAft>
                <a:spcPts val="200"/>
              </a:spcAft>
            </a:pPr>
            <a:r>
              <a:rPr sz="1550" b="0" i="0">
                <a:solidFill>
                  <a:srgbClr val="1A1A1A"/>
                </a:solidFill>
                <a:latin typeface="Consolas"/>
              </a:rPr>
              <a:t>   ├─ name: "fx_rate"</a:t>
            </a:r>
          </a:p>
          <a:p>
            <a:pPr>
              <a:lnSpc>
                <a:spcPct val="110000"/>
              </a:lnSpc>
              <a:spcBef>
                <a:spcPts val="0"/>
              </a:spcBef>
              <a:spcAft>
                <a:spcPts val="200"/>
              </a:spcAft>
            </a:pPr>
            <a:r>
              <a:rPr sz="1550" b="0" i="0">
                <a:solidFill>
                  <a:srgbClr val="1A1A1A"/>
                </a:solidFill>
                <a:latin typeface="Consolas"/>
              </a:rPr>
              <a:t>   ├─ parameters: { "pair": "string" }</a:t>
            </a:r>
          </a:p>
          <a:p>
            <a:pPr>
              <a:lnSpc>
                <a:spcPct val="110000"/>
              </a:lnSpc>
              <a:spcBef>
                <a:spcPts val="0"/>
              </a:spcBef>
              <a:spcAft>
                <a:spcPts val="200"/>
              </a:spcAft>
            </a:pPr>
            <a:r>
              <a:rPr sz="1550" b="0" i="0">
                <a:solidFill>
                  <a:srgbClr val="1A1A1A"/>
                </a:solidFill>
                <a:latin typeface="Consolas"/>
              </a:rPr>
              <a:t>   └─ source: URL template, SQL, code or script</a:t>
            </a:r>
          </a:p>
          <a:p>
            <a:pPr>
              <a:lnSpc>
                <a:spcPct val="110000"/>
              </a:lnSpc>
              <a:spcBef>
                <a:spcPts val="0"/>
              </a:spcBef>
              <a:spcAft>
                <a:spcPts val="200"/>
              </a:spcAft>
            </a:pPr>
            <a:r>
              <a:rPr sz="1550" b="0" i="0">
                <a:solidFill>
                  <a:srgbClr val="1A1A1A"/>
                </a:solidFill>
                <a:latin typeface="Consolas"/>
              </a:rPr>
              <a:t>3. Preview: the JSON Schema is generated</a:t>
            </a:r>
          </a:p>
          <a:p>
            <a:pPr>
              <a:lnSpc>
                <a:spcPct val="110000"/>
              </a:lnSpc>
              <a:spcBef>
                <a:spcPts val="0"/>
              </a:spcBef>
              <a:spcAft>
                <a:spcPts val="200"/>
              </a:spcAft>
            </a:pPr>
            <a:r>
              <a:rPr sz="1550" b="0" i="0">
                <a:solidFill>
                  <a:srgbClr val="1A1A1A"/>
                </a:solidFill>
                <a:latin typeface="Consolas"/>
              </a:rPr>
              <a:t>   └─ inputSchema with types and required fields</a:t>
            </a:r>
          </a:p>
          <a:p>
            <a:pPr>
              <a:lnSpc>
                <a:spcPct val="110000"/>
              </a:lnSpc>
              <a:spcBef>
                <a:spcPts val="0"/>
              </a:spcBef>
              <a:spcAft>
                <a:spcPts val="200"/>
              </a:spcAft>
            </a:pPr>
            <a:r>
              <a:rPr sz="1550" b="0" i="0">
                <a:solidFill>
                  <a:srgbClr val="1A1A1A"/>
                </a:solidFill>
                <a:latin typeface="Consolas"/>
              </a:rPr>
              <a:t>4. Deploy</a:t>
            </a:r>
          </a:p>
          <a:p>
            <a:pPr>
              <a:lnSpc>
                <a:spcPct val="110000"/>
              </a:lnSpc>
              <a:spcBef>
                <a:spcPts val="0"/>
              </a:spcBef>
              <a:spcAft>
                <a:spcPts val="200"/>
              </a:spcAft>
            </a:pPr>
            <a:r>
              <a:rPr sz="1550" b="0" i="0">
                <a:solidFill>
                  <a:srgbClr val="1A1A1A"/>
                </a:solidFill>
                <a:latin typeface="Consolas"/>
              </a:rPr>
              <a:t>   ├─ Config written under config/tools</a:t>
            </a:r>
          </a:p>
          <a:p>
            <a:pPr>
              <a:lnSpc>
                <a:spcPct val="110000"/>
              </a:lnSpc>
              <a:spcBef>
                <a:spcPts val="0"/>
              </a:spcBef>
              <a:spcAft>
                <a:spcPts val="200"/>
              </a:spcAft>
            </a:pPr>
            <a:r>
              <a:rPr sz="1550" b="0" i="0">
                <a:solidFill>
                  <a:srgbClr val="1A1A1A"/>
                </a:solidFill>
                <a:latin typeface="Consolas"/>
              </a:rPr>
              <a:t>   ├─ Registered in the running server</a:t>
            </a:r>
          </a:p>
          <a:p>
            <a:pPr>
              <a:lnSpc>
                <a:spcPct val="110000"/>
              </a:lnSpc>
              <a:spcBef>
                <a:spcPts val="0"/>
              </a:spcBef>
              <a:spcAft>
                <a:spcPts val="200"/>
              </a:spcAft>
            </a:pPr>
            <a:r>
              <a:rPr sz="1550" b="0" i="0">
                <a:solidFill>
                  <a:srgbClr val="1A1A1A"/>
                </a:solidFill>
                <a:latin typeface="Consolas"/>
              </a:rPr>
              <a:t>   └─ Code and scripts will run in the sandbox</a:t>
            </a:r>
          </a:p>
          <a:p>
            <a:pPr>
              <a:lnSpc>
                <a:spcPct val="110000"/>
              </a:lnSpc>
              <a:spcBef>
                <a:spcPts val="0"/>
              </a:spcBef>
              <a:spcAft>
                <a:spcPts val="200"/>
              </a:spcAft>
            </a:pPr>
            <a:r>
              <a:rPr sz="1550" b="0" i="0">
                <a:solidFill>
                  <a:srgbClr val="1A1A1A"/>
                </a:solidFill>
                <a:latin typeface="Consolas"/>
              </a:rPr>
              <a:t>5. Any MCP client sees it in tools/list,</a:t>
            </a:r>
          </a:p>
          <a:p>
            <a:pPr>
              <a:lnSpc>
                <a:spcPct val="110000"/>
              </a:lnSpc>
              <a:spcBef>
                <a:spcPts val="0"/>
              </a:spcBef>
              <a:spcAft>
                <a:spcPts val="200"/>
              </a:spcAft>
            </a:pPr>
            <a:r>
              <a:rPr sz="1550" b="0" i="0">
                <a:solidFill>
                  <a:srgbClr val="1A1A1A"/>
                </a:solidFill>
                <a:latin typeface="Consolas"/>
              </a:rPr>
              <a:t>   under its caller's access policy</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creation: a Python tool, full code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61</a:t>
            </a:r>
          </a:p>
        </p:txBody>
      </p:sp>
      <p:sp>
        <p:nvSpPr>
          <p:cNvPr id="17" name="Rectangle 16"/>
          <p:cNvSpPr/>
          <p:nvPr/>
        </p:nvSpPr>
        <p:spPr>
          <a:xfrm>
            <a:off x="777240" y="1386967"/>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1" i="0">
                <a:solidFill>
                  <a:srgbClr val="FFFFFF"/>
                </a:solidFill>
                <a:latin typeface="Calibri"/>
              </a:rPr>
              <a:t>Developer  →  SAJHA tools registry</a:t>
            </a:r>
          </a:p>
        </p:txBody>
      </p:sp>
      <p:sp>
        <p:nvSpPr>
          <p:cNvPr id="18" name="Rectangle 17"/>
          <p:cNvSpPr/>
          <p:nvPr/>
        </p:nvSpPr>
        <p:spPr>
          <a:xfrm>
            <a:off x="777240" y="1844167"/>
            <a:ext cx="10637215" cy="4401185"/>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844167"/>
            <a:ext cx="41148" cy="440118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1990471"/>
            <a:ext cx="10253167" cy="4126865"/>
          </a:xfrm>
          <a:prstGeom prst="rect">
            <a:avLst/>
          </a:prstGeom>
          <a:noFill/>
        </p:spPr>
        <p:txBody>
          <a:bodyPr wrap="square" lIns="0" rIns="0" tIns="0" bIns="0" anchor="t">
            <a:spAutoFit/>
          </a:bodyPr>
          <a:lstStyle/>
          <a:p>
            <a:pPr algn="l">
              <a:lnSpc>
                <a:spcPct val="110000"/>
              </a:lnSpc>
              <a:spcBef>
                <a:spcPts val="0"/>
              </a:spcBef>
              <a:spcAft>
                <a:spcPts val="200"/>
              </a:spcAft>
            </a:pPr>
            <a:r>
              <a:rPr sz="1600" b="0" i="0">
                <a:solidFill>
                  <a:srgbClr val="1A1A1A"/>
                </a:solidFill>
                <a:latin typeface="Consolas"/>
              </a:rPr>
              <a:t>1. Write the class</a:t>
            </a:r>
          </a:p>
          <a:p>
            <a:pPr>
              <a:lnSpc>
                <a:spcPct val="110000"/>
              </a:lnSpc>
              <a:spcBef>
                <a:spcPts val="0"/>
              </a:spcBef>
              <a:spcAft>
                <a:spcPts val="200"/>
              </a:spcAft>
            </a:pPr>
            <a:r>
              <a:rPr sz="1600" b="0" i="0">
                <a:solidFill>
                  <a:srgbClr val="1A1A1A"/>
                </a:solidFill>
                <a:latin typeface="Consolas"/>
              </a:rPr>
              <a:t>   ├─ class FxRateTool(BaseMCPTool):</a:t>
            </a:r>
          </a:p>
          <a:p>
            <a:pPr>
              <a:lnSpc>
                <a:spcPct val="110000"/>
              </a:lnSpc>
              <a:spcBef>
                <a:spcPts val="0"/>
              </a:spcBef>
              <a:spcAft>
                <a:spcPts val="200"/>
              </a:spcAft>
            </a:pPr>
            <a:r>
              <a:rPr sz="1600" b="0" i="0">
                <a:solidFill>
                  <a:srgbClr val="1A1A1A"/>
                </a:solidFill>
                <a:latin typeface="Consolas"/>
              </a:rPr>
              <a:t>   ├─     def execute(self, arguments): ...</a:t>
            </a:r>
          </a:p>
          <a:p>
            <a:pPr>
              <a:lnSpc>
                <a:spcPct val="110000"/>
              </a:lnSpc>
              <a:spcBef>
                <a:spcPts val="0"/>
              </a:spcBef>
              <a:spcAft>
                <a:spcPts val="200"/>
              </a:spcAft>
            </a:pPr>
            <a:r>
              <a:rPr sz="1600" b="0" i="0">
                <a:solidFill>
                  <a:srgbClr val="1A1A1A"/>
                </a:solidFill>
                <a:latin typeface="Consolas"/>
              </a:rPr>
              <a:t>   └─ input schema with types, ranges, required</a:t>
            </a:r>
          </a:p>
          <a:p>
            <a:pPr>
              <a:lnSpc>
                <a:spcPct val="110000"/>
              </a:lnSpc>
              <a:spcBef>
                <a:spcPts val="0"/>
              </a:spcBef>
              <a:spcAft>
                <a:spcPts val="200"/>
              </a:spcAft>
            </a:pPr>
            <a:r>
              <a:rPr sz="1600" b="0" i="0">
                <a:solidFill>
                  <a:srgbClr val="1A1A1A"/>
                </a:solidFill>
                <a:latin typeface="Consolas"/>
              </a:rPr>
              <a:t>2. Describe it: a JSON config in config/tools</a:t>
            </a:r>
          </a:p>
          <a:p>
            <a:pPr>
              <a:lnSpc>
                <a:spcPct val="110000"/>
              </a:lnSpc>
              <a:spcBef>
                <a:spcPts val="0"/>
              </a:spcBef>
              <a:spcAft>
                <a:spcPts val="200"/>
              </a:spcAft>
            </a:pPr>
            <a:r>
              <a:rPr sz="1600" b="0" i="0">
                <a:solidFill>
                  <a:srgbClr val="1A1A1A"/>
                </a:solidFill>
                <a:latin typeface="Consolas"/>
              </a:rPr>
              <a:t>   └─ name, description, implementation class, cache_ttl</a:t>
            </a:r>
          </a:p>
          <a:p>
            <a:pPr>
              <a:lnSpc>
                <a:spcPct val="110000"/>
              </a:lnSpc>
              <a:spcBef>
                <a:spcPts val="0"/>
              </a:spcBef>
              <a:spcAft>
                <a:spcPts val="200"/>
              </a:spcAft>
            </a:pPr>
            <a:r>
              <a:rPr sz="1600" b="0" i="0">
                <a:solidFill>
                  <a:srgbClr val="1A1A1A"/>
                </a:solidFill>
                <a:latin typeface="Consolas"/>
              </a:rPr>
              <a:t>3. Or package several as a plugin</a:t>
            </a:r>
          </a:p>
          <a:p>
            <a:pPr>
              <a:lnSpc>
                <a:spcPct val="110000"/>
              </a:lnSpc>
              <a:spcBef>
                <a:spcPts val="0"/>
              </a:spcBef>
              <a:spcAft>
                <a:spcPts val="200"/>
              </a:spcAft>
            </a:pPr>
            <a:r>
              <a:rPr sz="1600" b="0" i="0">
                <a:solidFill>
                  <a:srgbClr val="1A1A1A"/>
                </a:solidFill>
                <a:latin typeface="Consolas"/>
              </a:rPr>
              <a:t>   ├─ config/plugins/my-tools/plugin.json</a:t>
            </a:r>
          </a:p>
          <a:p>
            <a:pPr>
              <a:lnSpc>
                <a:spcPct val="110000"/>
              </a:lnSpc>
              <a:spcBef>
                <a:spcPts val="0"/>
              </a:spcBef>
              <a:spcAft>
                <a:spcPts val="200"/>
              </a:spcAft>
            </a:pPr>
            <a:r>
              <a:rPr sz="1600" b="0" i="0">
                <a:solidFill>
                  <a:srgbClr val="1A1A1A"/>
                </a:solidFill>
                <a:latin typeface="Consolas"/>
              </a:rPr>
              <a:t>   └─ tools/ with configs or classes; a checksum</a:t>
            </a:r>
          </a:p>
          <a:p>
            <a:pPr>
              <a:lnSpc>
                <a:spcPct val="110000"/>
              </a:lnSpc>
              <a:spcBef>
                <a:spcPts val="0"/>
              </a:spcBef>
              <a:spcAft>
                <a:spcPts val="200"/>
              </a:spcAft>
            </a:pPr>
            <a:r>
              <a:rPr sz="1600" b="0" i="0">
                <a:solidFill>
                  <a:srgbClr val="1A1A1A"/>
                </a:solidFill>
                <a:latin typeface="Consolas"/>
              </a:rPr>
              <a:t>4. Test</a:t>
            </a:r>
          </a:p>
          <a:p>
            <a:pPr>
              <a:lnSpc>
                <a:spcPct val="110000"/>
              </a:lnSpc>
              <a:spcBef>
                <a:spcPts val="0"/>
              </a:spcBef>
              <a:spcAft>
                <a:spcPts val="200"/>
              </a:spcAft>
            </a:pPr>
            <a:r>
              <a:rPr sz="1600" b="0" i="0">
                <a:solidFill>
                  <a:srgbClr val="1A1A1A"/>
                </a:solidFill>
                <a:latin typeface="Consolas"/>
              </a:rPr>
              <a:t>   ├─ Tool tests with recorded HTTP cassettes</a:t>
            </a:r>
          </a:p>
          <a:p>
            <a:pPr>
              <a:lnSpc>
                <a:spcPct val="110000"/>
              </a:lnSpc>
              <a:spcBef>
                <a:spcPts val="0"/>
              </a:spcBef>
              <a:spcAft>
                <a:spcPts val="200"/>
              </a:spcAft>
            </a:pPr>
            <a:r>
              <a:rPr sz="1600" b="0" i="0">
                <a:solidFill>
                  <a:srgbClr val="1A1A1A"/>
                </a:solidFill>
                <a:latin typeface="Consolas"/>
              </a:rPr>
              <a:t>   └─ The schema linter</a:t>
            </a:r>
          </a:p>
          <a:p>
            <a:pPr>
              <a:lnSpc>
                <a:spcPct val="110000"/>
              </a:lnSpc>
              <a:spcBef>
                <a:spcPts val="0"/>
              </a:spcBef>
              <a:spcAft>
                <a:spcPts val="200"/>
              </a:spcAft>
            </a:pPr>
            <a:r>
              <a:rPr sz="1600" b="0" i="0">
                <a:solidFill>
                  <a:srgbClr val="1A1A1A"/>
                </a:solidFill>
                <a:latin typeface="Consolas"/>
              </a:rPr>
              <a:t>5. Deploy: the registry loads the config;</a:t>
            </a:r>
          </a:p>
          <a:p>
            <a:pPr>
              <a:lnSpc>
                <a:spcPct val="110000"/>
              </a:lnSpc>
              <a:spcBef>
                <a:spcPts val="0"/>
              </a:spcBef>
              <a:spcAft>
                <a:spcPts val="200"/>
              </a:spcAft>
            </a:pPr>
            <a:r>
              <a:rPr sz="1600" b="0" i="0">
                <a:solidFill>
                  <a:srgbClr val="1A1A1A"/>
                </a:solidFill>
                <a:latin typeface="Consolas"/>
              </a:rPr>
              <a:t>   the tool appears in tools/list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05</a:t>
            </a:r>
          </a:p>
        </p:txBody>
      </p:sp>
      <p:sp>
        <p:nvSpPr>
          <p:cNvPr id="12" name="TextBox 11"/>
          <p:cNvSpPr txBox="1"/>
          <p:nvPr/>
        </p:nvSpPr>
        <p:spPr>
          <a:xfrm>
            <a:off x="1521845" y="2487168"/>
            <a:ext cx="9148005" cy="624078"/>
          </a:xfrm>
          <a:prstGeom prst="rect">
            <a:avLst/>
          </a:prstGeom>
          <a:noFill/>
        </p:spPr>
        <p:txBody>
          <a:bodyPr wrap="square" lIns="0" rIns="0" tIns="0" bIns="0" anchor="t">
            <a:spAutoFit/>
          </a:bodyPr>
          <a:lstStyle/>
          <a:p>
            <a:pPr algn="ctr">
              <a:lnSpc>
                <a:spcPct val="110000"/>
              </a:lnSpc>
              <a:spcBef>
                <a:spcPts val="0"/>
              </a:spcBef>
              <a:spcAft>
                <a:spcPts val="0"/>
              </a:spcAft>
            </a:pPr>
            <a:r>
              <a:rPr sz="3600" b="0" i="0">
                <a:solidFill>
                  <a:srgbClr val="FFFFFF"/>
                </a:solidFill>
                <a:latin typeface="Georgia"/>
              </a:rPr>
              <a:t>SAJHA Net and proxied MCP servers</a:t>
            </a:r>
          </a:p>
        </p:txBody>
      </p:sp>
      <p:sp>
        <p:nvSpPr>
          <p:cNvPr id="13" name="Rectangle 12"/>
          <p:cNvSpPr/>
          <p:nvPr/>
        </p:nvSpPr>
        <p:spPr>
          <a:xfrm>
            <a:off x="5364327" y="3266694"/>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95294"/>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Many SAJHA servers, and other MCP servers, joined into one net: each keeps its own data, credentials, policy, models and memory, and only a governed tool call crosses a boundary.</a:t>
            </a:r>
          </a:p>
        </p:txBody>
      </p:sp>
      <p:sp>
        <p:nvSpPr>
          <p:cNvPr id="15" name="TextBox 14"/>
          <p:cNvSpPr txBox="1"/>
          <p:nvPr/>
        </p:nvSpPr>
        <p:spPr>
          <a:xfrm>
            <a:off x="1143000" y="4626102"/>
            <a:ext cx="9905695" cy="1591817"/>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Why a net   ·   Membership   ·   Admission   ·   One name, one contract   ·   A call   ·   Routing   ·   Identity   ·   Proxied MCP servers   ·   Residency   ·   Planners   ·   Re-export   ·   Taking part   ·   Console</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A NET</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Each boundary keeps its data; only a governed call crosses it</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Off by default (sajhanet.enabled: false); turned off, every /sajhanet/ path answers 404 and a server behaves exactly as without it.</a:t>
            </a:r>
          </a:p>
        </p:txBody>
      </p:sp>
      <p:sp>
        <p:nvSpPr>
          <p:cNvPr id="19" name="Rectangle 18"/>
          <p:cNvSpPr/>
          <p:nvPr/>
        </p:nvSpPr>
        <p:spPr>
          <a:xfrm>
            <a:off x="777240"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EU RISK BOUNDARY</a:t>
            </a:r>
          </a:p>
        </p:txBody>
      </p:sp>
      <p:sp>
        <p:nvSpPr>
          <p:cNvPr id="21" name="Rectangle 20"/>
          <p:cNvSpPr/>
          <p:nvPr/>
        </p:nvSpPr>
        <p:spPr>
          <a:xfrm>
            <a:off x="4606637"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16365"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US TREASURY BOUNDARY</a:t>
            </a:r>
          </a:p>
        </p:txBody>
      </p:sp>
      <p:sp>
        <p:nvSpPr>
          <p:cNvPr id="23" name="Rectangle 22"/>
          <p:cNvSpPr/>
          <p:nvPr/>
        </p:nvSpPr>
        <p:spPr>
          <a:xfrm>
            <a:off x="8436034"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45762"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NA CUSTOMERS BOUNDARY</a:t>
            </a:r>
          </a:p>
        </p:txBody>
      </p:sp>
      <p:sp>
        <p:nvSpPr>
          <p:cNvPr id="25" name="Rounded Rectangle 24"/>
          <p:cNvSpPr/>
          <p:nvPr/>
        </p:nvSpPr>
        <p:spPr>
          <a:xfrm>
            <a:off x="1043170"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risk-eu</a:t>
            </a:r>
          </a:p>
        </p:txBody>
      </p:sp>
      <p:sp>
        <p:nvSpPr>
          <p:cNvPr id="26" name="Rounded Rectangle 25"/>
          <p:cNvSpPr/>
          <p:nvPr/>
        </p:nvSpPr>
        <p:spPr>
          <a:xfrm>
            <a:off x="936798"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27" name="Rounded Rectangle 26"/>
          <p:cNvSpPr/>
          <p:nvPr/>
        </p:nvSpPr>
        <p:spPr>
          <a:xfrm>
            <a:off x="2319636"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28" name="Rounded Rectangle 27"/>
          <p:cNvSpPr/>
          <p:nvPr/>
        </p:nvSpPr>
        <p:spPr>
          <a:xfrm>
            <a:off x="936798"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29" name="Rounded Rectangle 28"/>
          <p:cNvSpPr/>
          <p:nvPr/>
        </p:nvSpPr>
        <p:spPr>
          <a:xfrm>
            <a:off x="2319636"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30" name="Rounded Rectangle 29"/>
          <p:cNvSpPr/>
          <p:nvPr/>
        </p:nvSpPr>
        <p:spPr>
          <a:xfrm>
            <a:off x="4872567"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treasury-na</a:t>
            </a:r>
          </a:p>
        </p:txBody>
      </p:sp>
      <p:sp>
        <p:nvSpPr>
          <p:cNvPr id="31" name="Rounded Rectangle 30"/>
          <p:cNvSpPr/>
          <p:nvPr/>
        </p:nvSpPr>
        <p:spPr>
          <a:xfrm>
            <a:off x="4766195"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32" name="Rounded Rectangle 31"/>
          <p:cNvSpPr/>
          <p:nvPr/>
        </p:nvSpPr>
        <p:spPr>
          <a:xfrm>
            <a:off x="6149033"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33" name="Rounded Rectangle 32"/>
          <p:cNvSpPr/>
          <p:nvPr/>
        </p:nvSpPr>
        <p:spPr>
          <a:xfrm>
            <a:off x="4766195"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34" name="Rounded Rectangle 33"/>
          <p:cNvSpPr/>
          <p:nvPr/>
        </p:nvSpPr>
        <p:spPr>
          <a:xfrm>
            <a:off x="6149033"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35" name="Rounded Rectangle 34"/>
          <p:cNvSpPr/>
          <p:nvPr/>
        </p:nvSpPr>
        <p:spPr>
          <a:xfrm>
            <a:off x="8701965"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cust-na</a:t>
            </a:r>
          </a:p>
        </p:txBody>
      </p:sp>
      <p:sp>
        <p:nvSpPr>
          <p:cNvPr id="36" name="Rounded Rectangle 35"/>
          <p:cNvSpPr/>
          <p:nvPr/>
        </p:nvSpPr>
        <p:spPr>
          <a:xfrm>
            <a:off x="8595593"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37" name="Rounded Rectangle 36"/>
          <p:cNvSpPr/>
          <p:nvPr/>
        </p:nvSpPr>
        <p:spPr>
          <a:xfrm>
            <a:off x="9978431"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38" name="Rounded Rectangle 37"/>
          <p:cNvSpPr/>
          <p:nvPr/>
        </p:nvSpPr>
        <p:spPr>
          <a:xfrm>
            <a:off x="8595593"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39" name="Rounded Rectangle 38"/>
          <p:cNvSpPr/>
          <p:nvPr/>
        </p:nvSpPr>
        <p:spPr>
          <a:xfrm>
            <a:off x="9978431"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40" name="Rounded Rectangle 39"/>
          <p:cNvSpPr/>
          <p:nvPr/>
        </p:nvSpPr>
        <p:spPr>
          <a:xfrm>
            <a:off x="777240" y="1338770"/>
            <a:ext cx="6807817" cy="433965"/>
          </a:xfrm>
          <a:prstGeom prst="roundRect">
            <a:avLst>
              <a:gd name="adj" fmla="val 16856"/>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6E1120"/>
                </a:solidFill>
                <a:latin typeface="Calibri"/>
              </a:rPr>
              <a:t>“How exposed is the EU book to the rate move the US desk is forecasting?”</a:t>
            </a:r>
          </a:p>
        </p:txBody>
      </p:sp>
      <p:cxnSp>
        <p:nvCxnSpPr>
          <p:cNvPr id="41" name="Connector 40"/>
          <p:cNvCxnSpPr/>
          <p:nvPr/>
        </p:nvCxnSpPr>
        <p:spPr>
          <a:xfrm>
            <a:off x="3535449" y="2835950"/>
            <a:ext cx="1291398"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641652" y="2598206"/>
            <a:ext cx="107899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call, result</a:t>
            </a:r>
          </a:p>
        </p:txBody>
      </p:sp>
      <p:cxnSp>
        <p:nvCxnSpPr>
          <p:cNvPr id="43" name="Connector 42"/>
          <p:cNvCxnSpPr/>
          <p:nvPr/>
        </p:nvCxnSpPr>
        <p:spPr>
          <a:xfrm>
            <a:off x="7364847" y="2835950"/>
            <a:ext cx="1291398"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471050" y="2598206"/>
            <a:ext cx="107899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call, result</a:t>
            </a:r>
          </a:p>
        </p:txBody>
      </p:sp>
      <p:cxnSp>
        <p:nvCxnSpPr>
          <p:cNvPr id="45" name="Connector 44"/>
          <p:cNvCxnSpPr/>
          <p:nvPr/>
        </p:nvCxnSpPr>
        <p:spPr>
          <a:xfrm>
            <a:off x="2018041" y="1815786"/>
            <a:ext cx="233015" cy="65164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MEMBERSHIP</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Members find each other by gossip, then pull each other's catalogs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64</a:t>
            </a:r>
          </a:p>
        </p:txBody>
      </p:sp>
      <p:sp>
        <p:nvSpPr>
          <p:cNvPr id="17" name="TextBox 16"/>
          <p:cNvSpPr txBox="1"/>
          <p:nvPr/>
        </p:nvSpPr>
        <p:spPr>
          <a:xfrm>
            <a:off x="7585057" y="1306639"/>
            <a:ext cx="3829397" cy="4938712"/>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A1A1A"/>
                </a:solidFill>
                <a:latin typeface="Calibri"/>
              </a:rPr>
              <a:t>Gossip</a:t>
            </a:r>
          </a:p>
          <a:p>
            <a:pPr lvl="1">
              <a:lnSpc>
                <a:spcPct val="120000"/>
              </a:lnSpc>
              <a:spcBef>
                <a:spcPts val="0"/>
              </a:spcBef>
              <a:spcAft>
                <a:spcPts val="0"/>
              </a:spcAft>
            </a:pPr>
            <a:r>
              <a:rPr sz="1350" b="0">
                <a:solidFill>
                  <a:srgbClr val="6B7480"/>
                </a:solidFill>
                <a:latin typeface="Calibri"/>
              </a:rPr>
              <a:t>SWIM from one or two seeds: pings, indirect probes, suspect, dead; only digests travel.</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Catalogs</a:t>
            </a:r>
          </a:p>
          <a:p>
            <a:pPr lvl="1">
              <a:lnSpc>
                <a:spcPct val="120000"/>
              </a:lnSpc>
              <a:spcBef>
                <a:spcPts val="0"/>
              </a:spcBef>
              <a:spcAft>
                <a:spcPts val="0"/>
              </a:spcAft>
            </a:pPr>
            <a:r>
              <a:rPr sz="1350" b="0">
                <a:solidFill>
                  <a:srgbClr val="6B7480"/>
                </a:solidFill>
                <a:latin typeface="Calibri"/>
              </a:rPr>
              <a:t>A changed digest makes a peer pull that catalog; every allowed tool becomes a proxy tool.</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Leaving</a:t>
            </a:r>
          </a:p>
          <a:p>
            <a:pPr lvl="1">
              <a:lnSpc>
                <a:spcPct val="120000"/>
              </a:lnSpc>
              <a:spcBef>
                <a:spcPts val="0"/>
              </a:spcBef>
              <a:spcAft>
                <a:spcPts val="0"/>
              </a:spcAft>
            </a:pPr>
            <a:r>
              <a:rPr sz="1350" b="0">
                <a:solidFill>
                  <a:srgbClr val="6B7480"/>
                </a:solidFill>
                <a:latin typeface="Calibri"/>
              </a:rPr>
              <a:t>A member that leaves or dies takes its tools off every peer at once.</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Workers</a:t>
            </a:r>
          </a:p>
          <a:p>
            <a:pPr lvl="1">
              <a:lnSpc>
                <a:spcPct val="120000"/>
              </a:lnSpc>
              <a:spcBef>
                <a:spcPts val="0"/>
              </a:spcBef>
              <a:spcAft>
                <a:spcPts val="0"/>
              </a:spcAft>
            </a:pPr>
            <a:r>
              <a:rPr sz="1350" b="0">
                <a:solidFill>
                  <a:srgbClr val="6B7480"/>
                </a:solidFill>
                <a:latin typeface="Calibri"/>
              </a:rPr>
              <a:t>One gossip agent per net holds a lease; the list lives in the state store.</a:t>
            </a:r>
          </a:p>
        </p:txBody>
      </p:sp>
      <p:sp>
        <p:nvSpPr>
          <p:cNvPr id="18" name="Oval 17"/>
          <p:cNvSpPr/>
          <p:nvPr/>
        </p:nvSpPr>
        <p:spPr>
          <a:xfrm>
            <a:off x="2853328" y="1430107"/>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risk-eu</a:t>
            </a:r>
          </a:p>
          <a:p>
            <a:pPr algn="ctr">
              <a:lnSpc>
                <a:spcPct val="105000"/>
              </a:lnSpc>
              <a:spcBef>
                <a:spcPts val="0"/>
              </a:spcBef>
              <a:spcAft>
                <a:spcPts val="0"/>
              </a:spcAft>
            </a:pPr>
            <a:r>
              <a:rPr sz="1050" b="0" i="0">
                <a:solidFill>
                  <a:srgbClr val="FFFFFF"/>
                </a:solidFill>
                <a:latin typeface="Calibri"/>
              </a:rPr>
              <a:t>SAJHA</a:t>
            </a:r>
          </a:p>
        </p:txBody>
      </p:sp>
      <p:sp>
        <p:nvSpPr>
          <p:cNvPr id="19" name="Oval 18"/>
          <p:cNvSpPr/>
          <p:nvPr/>
        </p:nvSpPr>
        <p:spPr>
          <a:xfrm>
            <a:off x="4538902" y="2244994"/>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treasury-na</a:t>
            </a:r>
          </a:p>
          <a:p>
            <a:pPr algn="ctr">
              <a:lnSpc>
                <a:spcPct val="105000"/>
              </a:lnSpc>
              <a:spcBef>
                <a:spcPts val="0"/>
              </a:spcBef>
              <a:spcAft>
                <a:spcPts val="0"/>
              </a:spcAft>
            </a:pPr>
            <a:r>
              <a:rPr sz="1050" b="0" i="0">
                <a:solidFill>
                  <a:srgbClr val="FFFFFF"/>
                </a:solidFill>
                <a:latin typeface="Calibri"/>
              </a:rPr>
              <a:t>SAJHA</a:t>
            </a:r>
          </a:p>
        </p:txBody>
      </p:sp>
      <p:sp>
        <p:nvSpPr>
          <p:cNvPr id="20" name="Oval 19"/>
          <p:cNvSpPr/>
          <p:nvPr/>
        </p:nvSpPr>
        <p:spPr>
          <a:xfrm>
            <a:off x="4538902" y="3874770"/>
            <a:ext cx="1297555" cy="740806"/>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1" i="0">
                <a:solidFill>
                  <a:srgbClr val="FFFFFF"/>
                </a:solidFill>
                <a:latin typeface="Calibri"/>
              </a:rPr>
              <a:t>vendor-search</a:t>
            </a:r>
          </a:p>
          <a:p>
            <a:pPr algn="ctr">
              <a:lnSpc>
                <a:spcPct val="105000"/>
              </a:lnSpc>
              <a:spcBef>
                <a:spcPts val="0"/>
              </a:spcBef>
              <a:spcAft>
                <a:spcPts val="0"/>
              </a:spcAft>
            </a:pPr>
            <a:r>
              <a:rPr sz="1000" b="0" i="0">
                <a:solidFill>
                  <a:srgbClr val="FFFFFF"/>
                </a:solidFill>
                <a:latin typeface="Calibri"/>
              </a:rPr>
              <a:t>agent</a:t>
            </a:r>
          </a:p>
        </p:txBody>
      </p:sp>
      <p:sp>
        <p:nvSpPr>
          <p:cNvPr id="21" name="Oval 20"/>
          <p:cNvSpPr/>
          <p:nvPr/>
        </p:nvSpPr>
        <p:spPr>
          <a:xfrm>
            <a:off x="2853328" y="4689657"/>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cust-na</a:t>
            </a:r>
          </a:p>
          <a:p>
            <a:pPr algn="ctr">
              <a:lnSpc>
                <a:spcPct val="105000"/>
              </a:lnSpc>
              <a:spcBef>
                <a:spcPts val="0"/>
              </a:spcBef>
              <a:spcAft>
                <a:spcPts val="0"/>
              </a:spcAft>
            </a:pPr>
            <a:r>
              <a:rPr sz="1050" b="0" i="0">
                <a:solidFill>
                  <a:srgbClr val="FFFFFF"/>
                </a:solidFill>
                <a:latin typeface="Calibri"/>
              </a:rPr>
              <a:t>SAJHA</a:t>
            </a:r>
          </a:p>
        </p:txBody>
      </p:sp>
      <p:sp>
        <p:nvSpPr>
          <p:cNvPr id="22" name="Oval 21"/>
          <p:cNvSpPr/>
          <p:nvPr/>
        </p:nvSpPr>
        <p:spPr>
          <a:xfrm>
            <a:off x="1167754" y="3874770"/>
            <a:ext cx="1297555" cy="740806"/>
          </a:xfrm>
          <a:prstGeom prst="ellipse">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saas-crm</a:t>
            </a:r>
          </a:p>
          <a:p>
            <a:pPr algn="ctr">
              <a:lnSpc>
                <a:spcPct val="105000"/>
              </a:lnSpc>
              <a:spcBef>
                <a:spcPts val="0"/>
              </a:spcBef>
              <a:spcAft>
                <a:spcPts val="0"/>
              </a:spcAft>
            </a:pPr>
            <a:r>
              <a:rPr sz="1050" b="0" i="0">
                <a:solidFill>
                  <a:srgbClr val="6E1120"/>
                </a:solidFill>
                <a:latin typeface="Calibri"/>
              </a:rPr>
              <a:t>sponsored by cust-na</a:t>
            </a:r>
          </a:p>
        </p:txBody>
      </p:sp>
      <p:sp>
        <p:nvSpPr>
          <p:cNvPr id="23" name="Oval 22"/>
          <p:cNvSpPr/>
          <p:nvPr/>
        </p:nvSpPr>
        <p:spPr>
          <a:xfrm>
            <a:off x="1167754" y="2244994"/>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risk-apac</a:t>
            </a:r>
          </a:p>
          <a:p>
            <a:pPr algn="ctr">
              <a:lnSpc>
                <a:spcPct val="105000"/>
              </a:lnSpc>
              <a:spcBef>
                <a:spcPts val="0"/>
              </a:spcBef>
              <a:spcAft>
                <a:spcPts val="0"/>
              </a:spcAft>
            </a:pPr>
            <a:r>
              <a:rPr sz="1050" b="0" i="0">
                <a:solidFill>
                  <a:srgbClr val="FFFFFF"/>
                </a:solidFill>
                <a:latin typeface="Calibri"/>
              </a:rPr>
              <a:t>SAJHA</a:t>
            </a:r>
          </a:p>
        </p:txBody>
      </p:sp>
      <p:sp>
        <p:nvSpPr>
          <p:cNvPr id="24" name="Oval 23"/>
          <p:cNvSpPr/>
          <p:nvPr/>
        </p:nvSpPr>
        <p:spPr>
          <a:xfrm>
            <a:off x="777240" y="5751480"/>
            <a:ext cx="329184" cy="20116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79576"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SAJHA instance</a:t>
            </a:r>
          </a:p>
        </p:txBody>
      </p:sp>
      <p:sp>
        <p:nvSpPr>
          <p:cNvPr id="26" name="Oval 25"/>
          <p:cNvSpPr/>
          <p:nvPr/>
        </p:nvSpPr>
        <p:spPr>
          <a:xfrm>
            <a:off x="2399184" y="5751480"/>
            <a:ext cx="329184" cy="201168"/>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01520"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agent-fronted</a:t>
            </a:r>
          </a:p>
        </p:txBody>
      </p:sp>
      <p:sp>
        <p:nvSpPr>
          <p:cNvPr id="28" name="Oval 27"/>
          <p:cNvSpPr/>
          <p:nvPr/>
        </p:nvSpPr>
        <p:spPr>
          <a:xfrm>
            <a:off x="4021128" y="5751480"/>
            <a:ext cx="329184" cy="201168"/>
          </a:xfrm>
          <a:prstGeom prst="ellipse">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23464"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sponsored</a:t>
            </a:r>
          </a:p>
        </p:txBody>
      </p:sp>
      <p:cxnSp>
        <p:nvCxnSpPr>
          <p:cNvPr id="30" name="Connector 29"/>
          <p:cNvCxnSpPr/>
          <p:nvPr/>
        </p:nvCxnSpPr>
        <p:spPr>
          <a:xfrm>
            <a:off x="5643073" y="5852064"/>
            <a:ext cx="329184"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045409"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gossip</a:t>
            </a:r>
          </a:p>
        </p:txBody>
      </p:sp>
      <p:cxnSp>
        <p:nvCxnSpPr>
          <p:cNvPr id="32" name="Connector 31"/>
          <p:cNvCxnSpPr/>
          <p:nvPr/>
        </p:nvCxnSpPr>
        <p:spPr>
          <a:xfrm>
            <a:off x="4038383" y="2059772"/>
            <a:ext cx="613020" cy="296364"/>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187680" y="3031521"/>
            <a:ext cx="0" cy="797529"/>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4038383" y="4504435"/>
            <a:ext cx="613020" cy="296363"/>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352809" y="4504435"/>
            <a:ext cx="613020" cy="296363"/>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816532" y="3031521"/>
            <a:ext cx="0" cy="797529"/>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2352809" y="2059772"/>
            <a:ext cx="613020" cy="296364"/>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502106" y="2216634"/>
            <a:ext cx="0" cy="2427303"/>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566114" y="3338845"/>
            <a:ext cx="1975104" cy="201168"/>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6B7480"/>
                </a:solidFill>
                <a:latin typeface="Calibri"/>
              </a:rPr>
              <a:t>catalog pull, then calls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ADMISSION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Who may join: open is shipped, builtin_ca is the code's default</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Open mode trusts whoever first claims a name: use it only where every machine that can reach a member is yours. Switch to builtin_ca before a net spans machines you do not control.</a:t>
            </a:r>
          </a:p>
        </p:txBody>
      </p:sp>
      <p:sp>
        <p:nvSpPr>
          <p:cNvPr id="19" name="Rounded Rectangle 18"/>
          <p:cNvSpPr/>
          <p:nvPr/>
        </p:nvSpPr>
        <p:spPr>
          <a:xfrm>
            <a:off x="777240" y="1496933"/>
            <a:ext cx="1382837" cy="1045372"/>
          </a:xfrm>
          <a:prstGeom prst="roundRect">
            <a:avLst>
              <a:gd name="adj" fmla="val 699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open</a:t>
            </a:r>
          </a:p>
          <a:p>
            <a:pPr algn="ctr">
              <a:lnSpc>
                <a:spcPct val="105000"/>
              </a:lnSpc>
              <a:spcBef>
                <a:spcPts val="0"/>
              </a:spcBef>
              <a:spcAft>
                <a:spcPts val="0"/>
              </a:spcAft>
            </a:pPr>
            <a:r>
              <a:rPr sz="1250" b="0" i="0">
                <a:solidFill>
                  <a:srgbClr val="FFFFFF"/>
                </a:solidFill>
                <a:latin typeface="Calibri"/>
              </a:rPr>
              <a:t>shipped</a:t>
            </a:r>
          </a:p>
        </p:txBody>
      </p:sp>
      <p:sp>
        <p:nvSpPr>
          <p:cNvPr id="20" name="Rounded Rectangle 19"/>
          <p:cNvSpPr/>
          <p:nvPr/>
        </p:nvSpPr>
        <p:spPr>
          <a:xfrm>
            <a:off x="2585566" y="1584048"/>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Any server that can reach a member and knows the net's name</a:t>
            </a:r>
          </a:p>
        </p:txBody>
      </p:sp>
      <p:sp>
        <p:nvSpPr>
          <p:cNvPr id="21" name="Hexagon 20"/>
          <p:cNvSpPr/>
          <p:nvPr/>
        </p:nvSpPr>
        <p:spPr>
          <a:xfrm>
            <a:off x="5138498" y="1540490"/>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The first key seen for a name is remembered</a:t>
            </a:r>
          </a:p>
        </p:txBody>
      </p:sp>
      <p:sp>
        <p:nvSpPr>
          <p:cNvPr id="22" name="Oval 21"/>
          <p:cNvSpPr/>
          <p:nvPr/>
        </p:nvSpPr>
        <p:spPr>
          <a:xfrm>
            <a:off x="8436034" y="1671162"/>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23" name="Rounded Rectangle 22"/>
          <p:cNvSpPr/>
          <p:nvPr/>
        </p:nvSpPr>
        <p:spPr>
          <a:xfrm>
            <a:off x="9818872" y="1584048"/>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No revocation: an administrator forgets a key</a:t>
            </a:r>
          </a:p>
        </p:txBody>
      </p:sp>
      <p:sp>
        <p:nvSpPr>
          <p:cNvPr id="24" name="Rounded Rectangle 23"/>
          <p:cNvSpPr/>
          <p:nvPr/>
        </p:nvSpPr>
        <p:spPr>
          <a:xfrm>
            <a:off x="777240" y="2934321"/>
            <a:ext cx="1382837" cy="1045372"/>
          </a:xfrm>
          <a:prstGeom prst="roundRect">
            <a:avLst>
              <a:gd name="adj" fmla="val 699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builtin_ca</a:t>
            </a:r>
          </a:p>
          <a:p>
            <a:pPr algn="ctr">
              <a:lnSpc>
                <a:spcPct val="105000"/>
              </a:lnSpc>
              <a:spcBef>
                <a:spcPts val="0"/>
              </a:spcBef>
              <a:spcAft>
                <a:spcPts val="0"/>
              </a:spcAft>
            </a:pPr>
            <a:r>
              <a:rPr sz="1250" b="0" i="0">
                <a:solidFill>
                  <a:srgbClr val="FFFFFF"/>
                </a:solidFill>
                <a:latin typeface="Calibri"/>
              </a:rPr>
              <a:t>code default</a:t>
            </a:r>
          </a:p>
        </p:txBody>
      </p:sp>
      <p:sp>
        <p:nvSpPr>
          <p:cNvPr id="25" name="Rounded Rectangle 24"/>
          <p:cNvSpPr/>
          <p:nvPr/>
        </p:nvSpPr>
        <p:spPr>
          <a:xfrm>
            <a:off x="2585566" y="3021435"/>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server an administrator enrolled</a:t>
            </a:r>
          </a:p>
        </p:txBody>
      </p:sp>
      <p:sp>
        <p:nvSpPr>
          <p:cNvPr id="26" name="Hexagon 25"/>
          <p:cNvSpPr/>
          <p:nvPr/>
        </p:nvSpPr>
        <p:spPr>
          <a:xfrm>
            <a:off x="5138498" y="2977878"/>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single-use enrollment token; the net's own CA issues a certificate</a:t>
            </a:r>
          </a:p>
        </p:txBody>
      </p:sp>
      <p:sp>
        <p:nvSpPr>
          <p:cNvPr id="27" name="Oval 26"/>
          <p:cNvSpPr/>
          <p:nvPr/>
        </p:nvSpPr>
        <p:spPr>
          <a:xfrm>
            <a:off x="8436034" y="3108549"/>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28" name="Rounded Rectangle 27"/>
          <p:cNvSpPr/>
          <p:nvPr/>
        </p:nvSpPr>
        <p:spPr>
          <a:xfrm>
            <a:off x="9818872" y="3021435"/>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Signed revocation list, by gossip</a:t>
            </a:r>
          </a:p>
        </p:txBody>
      </p:sp>
      <p:sp>
        <p:nvSpPr>
          <p:cNvPr id="29" name="Rounded Rectangle 28"/>
          <p:cNvSpPr/>
          <p:nvPr/>
        </p:nvSpPr>
        <p:spPr>
          <a:xfrm>
            <a:off x="777240" y="4371708"/>
            <a:ext cx="1382837" cy="1045372"/>
          </a:xfrm>
          <a:prstGeom prst="roundRect">
            <a:avLst>
              <a:gd name="adj" fmla="val 699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manual</a:t>
            </a:r>
          </a:p>
        </p:txBody>
      </p:sp>
      <p:sp>
        <p:nvSpPr>
          <p:cNvPr id="30" name="Rounded Rectangle 29"/>
          <p:cNvSpPr/>
          <p:nvPr/>
        </p:nvSpPr>
        <p:spPr>
          <a:xfrm>
            <a:off x="2585566" y="4458822"/>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peer whose thumbprint each side pinned</a:t>
            </a:r>
          </a:p>
        </p:txBody>
      </p:sp>
      <p:sp>
        <p:nvSpPr>
          <p:cNvPr id="31" name="Hexagon 30"/>
          <p:cNvSpPr/>
          <p:nvPr/>
        </p:nvSpPr>
        <p:spPr>
          <a:xfrm>
            <a:off x="5138498" y="4415265"/>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Self-signed certificates, pinned thumbprints</a:t>
            </a:r>
          </a:p>
        </p:txBody>
      </p:sp>
      <p:sp>
        <p:nvSpPr>
          <p:cNvPr id="32" name="Oval 31"/>
          <p:cNvSpPr/>
          <p:nvPr/>
        </p:nvSpPr>
        <p:spPr>
          <a:xfrm>
            <a:off x="8436034" y="4545937"/>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33" name="Rounded Rectangle 32"/>
          <p:cNvSpPr/>
          <p:nvPr/>
        </p:nvSpPr>
        <p:spPr>
          <a:xfrm>
            <a:off x="9818872" y="4458822"/>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Remove the pin</a:t>
            </a:r>
          </a:p>
        </p:txBody>
      </p:sp>
      <p:cxnSp>
        <p:nvCxnSpPr>
          <p:cNvPr id="34" name="Connector 33"/>
          <p:cNvCxnSpPr/>
          <p:nvPr/>
        </p:nvCxnSpPr>
        <p:spPr>
          <a:xfrm>
            <a:off x="4758729" y="2019620"/>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056266" y="2019620"/>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545476" y="2019620"/>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758729" y="3457007"/>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6266" y="3457007"/>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545476" y="3457007"/>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758729" y="489439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56266" y="489439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545476" y="4894394"/>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ONE NAME, ONE CONTRACT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Within a net a tool name means one contract; vendors keep unrelated tools apart</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quarantine names the differing host and the first place it differs (a JSON Pointer into a schema, or an annotation); a description or title difference is only a warning.</a:t>
            </a:r>
          </a:p>
        </p:txBody>
      </p:sp>
      <p:sp>
        <p:nvSpPr>
          <p:cNvPr id="19" name="Rectangle 18"/>
          <p:cNvSpPr/>
          <p:nvPr/>
        </p:nvSpPr>
        <p:spPr>
          <a:xfrm>
            <a:off x="777240" y="1611884"/>
            <a:ext cx="4999491"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675892"/>
            <a:ext cx="4780035"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SAME NAME, DIFFERENT CONTRACT</a:t>
            </a:r>
          </a:p>
        </p:txBody>
      </p:sp>
      <p:sp>
        <p:nvSpPr>
          <p:cNvPr id="21" name="Rectangle 20"/>
          <p:cNvSpPr/>
          <p:nvPr/>
        </p:nvSpPr>
        <p:spPr>
          <a:xfrm>
            <a:off x="6202219" y="1611884"/>
            <a:ext cx="5212235"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11947" y="1675892"/>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UNRELATED VENDORS, ONE NAME</a:t>
            </a:r>
          </a:p>
        </p:txBody>
      </p:sp>
      <p:sp>
        <p:nvSpPr>
          <p:cNvPr id="23" name="Rounded Rectangle 22"/>
          <p:cNvSpPr/>
          <p:nvPr/>
        </p:nvSpPr>
        <p:spPr>
          <a:xfrm>
            <a:off x="989984" y="2099868"/>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risk-eu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4" name="Rounded Rectangle 23"/>
          <p:cNvSpPr/>
          <p:nvPr/>
        </p:nvSpPr>
        <p:spPr>
          <a:xfrm>
            <a:off x="989984" y="2974174"/>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treasury-na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5" name="Rounded Rectangle 24"/>
          <p:cNvSpPr/>
          <p:nvPr/>
        </p:nvSpPr>
        <p:spPr>
          <a:xfrm>
            <a:off x="989984" y="3848481"/>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risk-apac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6" name="Rounded Rectangle 25"/>
          <p:cNvSpPr/>
          <p:nvPr/>
        </p:nvSpPr>
        <p:spPr>
          <a:xfrm>
            <a:off x="989984" y="4722787"/>
            <a:ext cx="2021070" cy="691311"/>
          </a:xfrm>
          <a:prstGeom prst="roundRect">
            <a:avLst>
              <a:gd name="adj" fmla="val 10581"/>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cust-na offers var_calc</a:t>
            </a:r>
          </a:p>
          <a:p>
            <a:pPr algn="ctr">
              <a:lnSpc>
                <a:spcPct val="105000"/>
              </a:lnSpc>
              <a:spcBef>
                <a:spcPts val="0"/>
              </a:spcBef>
              <a:spcAft>
                <a:spcPts val="0"/>
              </a:spcAft>
            </a:pPr>
            <a:r>
              <a:rPr sz="950" b="0" i="0">
                <a:solidFill>
                  <a:srgbClr val="FFFFFF"/>
                </a:solidFill>
                <a:latin typeface="Calibri"/>
              </a:rPr>
              <a:t>contract hash B</a:t>
            </a:r>
          </a:p>
        </p:txBody>
      </p:sp>
      <p:sp>
        <p:nvSpPr>
          <p:cNvPr id="27" name="Rounded Rectangle 26"/>
          <p:cNvSpPr/>
          <p:nvPr/>
        </p:nvSpPr>
        <p:spPr>
          <a:xfrm>
            <a:off x="3542915" y="3075838"/>
            <a:ext cx="2021070" cy="1219961"/>
          </a:xfrm>
          <a:prstGeom prst="roundRect">
            <a:avLst>
              <a:gd name="adj" fmla="val 5996"/>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var_calc quarantined</a:t>
            </a:r>
          </a:p>
          <a:p>
            <a:pPr algn="ctr">
              <a:lnSpc>
                <a:spcPct val="105000"/>
              </a:lnSpc>
              <a:spcBef>
                <a:spcPts val="0"/>
              </a:spcBef>
              <a:spcAft>
                <a:spcPts val="0"/>
              </a:spcAft>
            </a:pPr>
            <a:r>
              <a:rPr sz="1150" b="0" i="0">
                <a:solidFill>
                  <a:srgbClr val="FFFFFF"/>
                </a:solidFill>
                <a:latin typeface="Calibri"/>
              </a:rPr>
              <a:t>on every member, hosts included, until the hosts agree</a:t>
            </a:r>
          </a:p>
        </p:txBody>
      </p:sp>
      <p:sp>
        <p:nvSpPr>
          <p:cNvPr id="28" name="Rounded Rectangle 27"/>
          <p:cNvSpPr/>
          <p:nvPr/>
        </p:nvSpPr>
        <p:spPr>
          <a:xfrm>
            <a:off x="6414964" y="2181199"/>
            <a:ext cx="1595582" cy="691311"/>
          </a:xfrm>
          <a:prstGeom prst="roundRect">
            <a:avLst>
              <a:gd name="adj" fmla="val 10581"/>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acme MCP server</a:t>
            </a:r>
          </a:p>
          <a:p>
            <a:pPr algn="ctr">
              <a:lnSpc>
                <a:spcPct val="105000"/>
              </a:lnSpc>
              <a:spcBef>
                <a:spcPts val="0"/>
              </a:spcBef>
              <a:spcAft>
                <a:spcPts val="0"/>
              </a:spcAft>
            </a:pPr>
            <a:r>
              <a:rPr sz="950" b="0" i="0">
                <a:solidFill>
                  <a:srgbClr val="6E1120"/>
                </a:solidFill>
                <a:latin typeface="Calibri"/>
              </a:rPr>
              <a:t>offers search</a:t>
            </a:r>
          </a:p>
        </p:txBody>
      </p:sp>
      <p:sp>
        <p:nvSpPr>
          <p:cNvPr id="29" name="Rounded Rectangle 28"/>
          <p:cNvSpPr/>
          <p:nvPr/>
        </p:nvSpPr>
        <p:spPr>
          <a:xfrm>
            <a:off x="6414964" y="4336465"/>
            <a:ext cx="1595582" cy="691311"/>
          </a:xfrm>
          <a:prstGeom prst="roundRect">
            <a:avLst>
              <a:gd name="adj" fmla="val 10581"/>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globex MCP server</a:t>
            </a:r>
          </a:p>
          <a:p>
            <a:pPr algn="ctr">
              <a:lnSpc>
                <a:spcPct val="105000"/>
              </a:lnSpc>
              <a:spcBef>
                <a:spcPts val="0"/>
              </a:spcBef>
              <a:spcAft>
                <a:spcPts val="0"/>
              </a:spcAft>
            </a:pPr>
            <a:r>
              <a:rPr sz="950" b="0" i="0">
                <a:solidFill>
                  <a:srgbClr val="6E1120"/>
                </a:solidFill>
                <a:latin typeface="Calibri"/>
              </a:rPr>
              <a:t>offers search</a:t>
            </a:r>
          </a:p>
        </p:txBody>
      </p:sp>
      <p:sp>
        <p:nvSpPr>
          <p:cNvPr id="30" name="Rounded Rectangle 29"/>
          <p:cNvSpPr/>
          <p:nvPr/>
        </p:nvSpPr>
        <p:spPr>
          <a:xfrm>
            <a:off x="8329662" y="3116503"/>
            <a:ext cx="1382837" cy="1138631"/>
          </a:xfrm>
          <a:prstGeom prst="roundRect">
            <a:avLst>
              <a:gd name="adj" fmla="val 642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risk-eu</a:t>
            </a:r>
          </a:p>
          <a:p>
            <a:pPr algn="ctr">
              <a:lnSpc>
                <a:spcPct val="105000"/>
              </a:lnSpc>
              <a:spcBef>
                <a:spcPts val="0"/>
              </a:spcBef>
              <a:spcAft>
                <a:spcPts val="0"/>
              </a:spcAft>
            </a:pPr>
            <a:r>
              <a:rPr sz="1050" b="0" i="0">
                <a:solidFill>
                  <a:srgbClr val="FFFFFF"/>
                </a:solidFill>
                <a:latin typeface="Calibri"/>
              </a:rPr>
              <a:t>proxies both as external servers</a:t>
            </a:r>
          </a:p>
        </p:txBody>
      </p:sp>
      <p:sp>
        <p:nvSpPr>
          <p:cNvPr id="31" name="Rounded Rectangle 30"/>
          <p:cNvSpPr/>
          <p:nvPr/>
        </p:nvSpPr>
        <p:spPr>
          <a:xfrm>
            <a:off x="10084803" y="2425192"/>
            <a:ext cx="1329651"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acme__search</a:t>
            </a:r>
          </a:p>
        </p:txBody>
      </p:sp>
      <p:sp>
        <p:nvSpPr>
          <p:cNvPr id="32" name="Rounded Rectangle 31"/>
          <p:cNvSpPr/>
          <p:nvPr/>
        </p:nvSpPr>
        <p:spPr>
          <a:xfrm>
            <a:off x="10084803" y="4295800"/>
            <a:ext cx="1329651"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globex__search</a:t>
            </a:r>
          </a:p>
        </p:txBody>
      </p:sp>
      <p:cxnSp>
        <p:nvCxnSpPr>
          <p:cNvPr id="33" name="Connector 32"/>
          <p:cNvCxnSpPr/>
          <p:nvPr/>
        </p:nvCxnSpPr>
        <p:spPr>
          <a:xfrm>
            <a:off x="2753116" y="2811159"/>
            <a:ext cx="748676" cy="3637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056312" y="3471189"/>
            <a:ext cx="441346" cy="6327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055894" y="3895956"/>
            <a:ext cx="442182" cy="8804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2678955" y="4254880"/>
            <a:ext cx="823758" cy="446134"/>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790573" y="2897181"/>
            <a:ext cx="500596" cy="320834"/>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7880178" y="4088821"/>
            <a:ext cx="409440" cy="22558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9752513" y="3057293"/>
            <a:ext cx="405439" cy="22415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752908" y="4073197"/>
            <a:ext cx="380130" cy="20121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HAPPENS ON A CALL</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On every remote call the home and the host both decide; neither trusts the other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67</a:t>
            </a:r>
          </a:p>
        </p:txBody>
      </p:sp>
      <p:sp>
        <p:nvSpPr>
          <p:cNvPr id="17" name="Oval 16"/>
          <p:cNvSpPr/>
          <p:nvPr/>
        </p:nvSpPr>
        <p:spPr>
          <a:xfrm>
            <a:off x="777240" y="1982561"/>
            <a:ext cx="1063721" cy="46334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caller</a:t>
            </a:r>
          </a:p>
        </p:txBody>
      </p:sp>
      <p:sp>
        <p:nvSpPr>
          <p:cNvPr id="18" name="Rounded Rectangle 17"/>
          <p:cNvSpPr/>
          <p:nvPr/>
        </p:nvSpPr>
        <p:spPr>
          <a:xfrm>
            <a:off x="2053705" y="1982561"/>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resolve the name</a:t>
            </a:r>
          </a:p>
        </p:txBody>
      </p:sp>
      <p:sp>
        <p:nvSpPr>
          <p:cNvPr id="19" name="Rounded Rectangle 18"/>
          <p:cNvSpPr/>
          <p:nvPr/>
        </p:nvSpPr>
        <p:spPr>
          <a:xfrm>
            <a:off x="2053705" y="2469075"/>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access, schema, policy</a:t>
            </a:r>
          </a:p>
        </p:txBody>
      </p:sp>
      <p:sp>
        <p:nvSpPr>
          <p:cNvPr id="20" name="Rounded Rectangle 19"/>
          <p:cNvSpPr/>
          <p:nvPr/>
        </p:nvSpPr>
        <p:spPr>
          <a:xfrm>
            <a:off x="2053705" y="2955589"/>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import rules</a:t>
            </a:r>
          </a:p>
        </p:txBody>
      </p:sp>
      <p:sp>
        <p:nvSpPr>
          <p:cNvPr id="21" name="Rounded Rectangle 20"/>
          <p:cNvSpPr/>
          <p:nvPr/>
        </p:nvSpPr>
        <p:spPr>
          <a:xfrm>
            <a:off x="2053705" y="3442103"/>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residency on the arguments</a:t>
            </a:r>
          </a:p>
        </p:txBody>
      </p:sp>
      <p:sp>
        <p:nvSpPr>
          <p:cNvPr id="22" name="Rounded Rectangle 21"/>
          <p:cNvSpPr/>
          <p:nvPr/>
        </p:nvSpPr>
        <p:spPr>
          <a:xfrm>
            <a:off x="2053705" y="3928618"/>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breaker, rate limit, hops, chain</a:t>
            </a:r>
          </a:p>
        </p:txBody>
      </p:sp>
      <p:sp>
        <p:nvSpPr>
          <p:cNvPr id="23" name="Rounded Rectangle 22"/>
          <p:cNvSpPr/>
          <p:nvPr/>
        </p:nvSpPr>
        <p:spPr>
          <a:xfrm>
            <a:off x="2053705" y="4415132"/>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identity: key, assertion or token</a:t>
            </a:r>
          </a:p>
        </p:txBody>
      </p:sp>
      <p:sp>
        <p:nvSpPr>
          <p:cNvPr id="24" name="Rounded Rectangle 23"/>
          <p:cNvSpPr/>
          <p:nvPr/>
        </p:nvSpPr>
        <p:spPr>
          <a:xfrm>
            <a:off x="2053705" y="5643001"/>
            <a:ext cx="2872048" cy="509681"/>
          </a:xfrm>
          <a:prstGeom prst="roundRect">
            <a:avLst>
              <a:gd name="adj" fmla="val 1435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verify the answer; residency on arrival; audit</a:t>
            </a:r>
          </a:p>
        </p:txBody>
      </p:sp>
      <p:sp>
        <p:nvSpPr>
          <p:cNvPr id="25" name="Rounded Rectangle 24"/>
          <p:cNvSpPr/>
          <p:nvPr/>
        </p:nvSpPr>
        <p:spPr>
          <a:xfrm>
            <a:off x="8116918" y="1982561"/>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verify the signature</a:t>
            </a:r>
          </a:p>
        </p:txBody>
      </p:sp>
      <p:sp>
        <p:nvSpPr>
          <p:cNvPr id="26" name="Rounded Rectangle 25"/>
          <p:cNvSpPr/>
          <p:nvPr/>
        </p:nvSpPr>
        <p:spPr>
          <a:xfrm>
            <a:off x="8116918" y="2445908"/>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blocks on the sender</a:t>
            </a:r>
          </a:p>
        </p:txBody>
      </p:sp>
      <p:sp>
        <p:nvSpPr>
          <p:cNvPr id="27" name="Rounded Rectangle 26"/>
          <p:cNvSpPr/>
          <p:nvPr/>
        </p:nvSpPr>
        <p:spPr>
          <a:xfrm>
            <a:off x="8116918" y="290925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hops and loops</a:t>
            </a:r>
          </a:p>
        </p:txBody>
      </p:sp>
      <p:sp>
        <p:nvSpPr>
          <p:cNvPr id="28" name="Rounded Rectangle 27"/>
          <p:cNvSpPr/>
          <p:nvPr/>
        </p:nvSpPr>
        <p:spPr>
          <a:xfrm>
            <a:off x="8116918" y="3372601"/>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verify the user</a:t>
            </a:r>
          </a:p>
        </p:txBody>
      </p:sp>
      <p:sp>
        <p:nvSpPr>
          <p:cNvPr id="29" name="Rounded Rectangle 28"/>
          <p:cNvSpPr/>
          <p:nvPr/>
        </p:nvSpPr>
        <p:spPr>
          <a:xfrm>
            <a:off x="8116918" y="3835948"/>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map the user; blocks</a:t>
            </a:r>
          </a:p>
        </p:txBody>
      </p:sp>
      <p:sp>
        <p:nvSpPr>
          <p:cNvPr id="30" name="Rounded Rectangle 29"/>
          <p:cNvSpPr/>
          <p:nvPr/>
        </p:nvSpPr>
        <p:spPr>
          <a:xfrm>
            <a:off x="8116918" y="429929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export rules</a:t>
            </a:r>
          </a:p>
        </p:txBody>
      </p:sp>
      <p:sp>
        <p:nvSpPr>
          <p:cNvPr id="31" name="Rounded Rectangle 30"/>
          <p:cNvSpPr/>
          <p:nvPr/>
        </p:nvSpPr>
        <p:spPr>
          <a:xfrm>
            <a:off x="8116918" y="4762642"/>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own access, policy, approvals</a:t>
            </a:r>
          </a:p>
        </p:txBody>
      </p:sp>
      <p:sp>
        <p:nvSpPr>
          <p:cNvPr id="32" name="Rounded Rectangle 31"/>
          <p:cNvSpPr/>
          <p:nvPr/>
        </p:nvSpPr>
        <p:spPr>
          <a:xfrm>
            <a:off x="8116918" y="5225989"/>
            <a:ext cx="3297536" cy="370677"/>
          </a:xfrm>
          <a:prstGeom prst="roundRect">
            <a:avLst>
              <a:gd name="adj" fmla="val 1973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execute; audit</a:t>
            </a:r>
          </a:p>
        </p:txBody>
      </p:sp>
      <p:sp>
        <p:nvSpPr>
          <p:cNvPr id="33" name="Rounded Rectangle 32"/>
          <p:cNvSpPr/>
          <p:nvPr/>
        </p:nvSpPr>
        <p:spPr>
          <a:xfrm>
            <a:off x="8116918" y="568933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residency on the result</a:t>
            </a:r>
          </a:p>
        </p:txBody>
      </p:sp>
      <p:sp>
        <p:nvSpPr>
          <p:cNvPr id="34" name="TextBox 33"/>
          <p:cNvSpPr txBox="1"/>
          <p:nvPr/>
        </p:nvSpPr>
        <p:spPr>
          <a:xfrm>
            <a:off x="2053705" y="1611884"/>
            <a:ext cx="2872048" cy="324342"/>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HOME: where the caller is</a:t>
            </a:r>
          </a:p>
        </p:txBody>
      </p:sp>
      <p:sp>
        <p:nvSpPr>
          <p:cNvPr id="35" name="TextBox 34"/>
          <p:cNvSpPr txBox="1"/>
          <p:nvPr/>
        </p:nvSpPr>
        <p:spPr>
          <a:xfrm>
            <a:off x="8116918" y="1611884"/>
            <a:ext cx="3297536" cy="324342"/>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HOST: where the tool runs</a:t>
            </a:r>
          </a:p>
        </p:txBody>
      </p:sp>
      <p:cxnSp>
        <p:nvCxnSpPr>
          <p:cNvPr id="36" name="Connector 35"/>
          <p:cNvCxnSpPr/>
          <p:nvPr/>
        </p:nvCxnSpPr>
        <p:spPr>
          <a:xfrm flipV="1">
            <a:off x="1886320" y="2203097"/>
            <a:ext cx="121671" cy="19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4962050" y="2195700"/>
            <a:ext cx="3118571" cy="2388554"/>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981332" y="3426553"/>
            <a:ext cx="245160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signed request, trace id, hop</a:t>
            </a:r>
          </a:p>
        </p:txBody>
      </p:sp>
      <p:cxnSp>
        <p:nvCxnSpPr>
          <p:cNvPr id="39" name="Connector 38"/>
          <p:cNvCxnSpPr/>
          <p:nvPr/>
        </p:nvCxnSpPr>
        <p:spPr>
          <a:xfrm flipH="1">
            <a:off x="4971473" y="5880929"/>
            <a:ext cx="3099725" cy="11443"/>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921388" y="5648906"/>
            <a:ext cx="119989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signed answer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ROUTING AND FALLBACK</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plain name resolves in order, and falls back only when nothing ran</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At most 3 fallbacks after the first attempt (sajhanet.max_fallbacks, shipped), within one deadline; every attempt is audited under one trace id. A qualified name goes exactly where it says and never falls back.</a:t>
            </a:r>
          </a:p>
        </p:txBody>
      </p:sp>
      <p:sp>
        <p:nvSpPr>
          <p:cNvPr id="19" name="Rounded Rectangle 18"/>
          <p:cNvSpPr/>
          <p:nvPr/>
        </p:nvSpPr>
        <p:spPr>
          <a:xfrm>
            <a:off x="777240" y="1525228"/>
            <a:ext cx="3191164" cy="743203"/>
          </a:xfrm>
          <a:prstGeom prst="roundRect">
            <a:avLst>
              <a:gd name="adj" fmla="val 984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1  The local tool</a:t>
            </a:r>
          </a:p>
          <a:p>
            <a:pPr algn="ctr">
              <a:lnSpc>
                <a:spcPct val="105000"/>
              </a:lnSpc>
              <a:spcBef>
                <a:spcPts val="0"/>
              </a:spcBef>
              <a:spcAft>
                <a:spcPts val="0"/>
              </a:spcAft>
            </a:pPr>
            <a:r>
              <a:rPr sz="1150" b="0" i="0">
                <a:solidFill>
                  <a:srgbClr val="FFFFFF"/>
                </a:solidFill>
                <a:latin typeface="Calibri"/>
              </a:rPr>
              <a:t>if this server has one by that name</a:t>
            </a:r>
          </a:p>
        </p:txBody>
      </p:sp>
      <p:sp>
        <p:nvSpPr>
          <p:cNvPr id="20" name="Rounded Rectangle 19"/>
          <p:cNvSpPr/>
          <p:nvPr/>
        </p:nvSpPr>
        <p:spPr>
          <a:xfrm>
            <a:off x="777240" y="2749328"/>
            <a:ext cx="3191164" cy="743203"/>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2  The tool's preference list</a:t>
            </a:r>
          </a:p>
          <a:p>
            <a:pPr algn="ctr">
              <a:lnSpc>
                <a:spcPct val="105000"/>
              </a:lnSpc>
              <a:spcBef>
                <a:spcPts val="0"/>
              </a:spcBef>
              <a:spcAft>
                <a:spcPts val="0"/>
              </a:spcAft>
            </a:pPr>
            <a:r>
              <a:rPr sz="1150" b="0" i="0">
                <a:solidFill>
                  <a:srgbClr val="FFFFFF"/>
                </a:solidFill>
                <a:latin typeface="Calibri"/>
              </a:rPr>
              <a:t>a named host, or a net's hosts</a:t>
            </a:r>
          </a:p>
        </p:txBody>
      </p:sp>
      <p:sp>
        <p:nvSpPr>
          <p:cNvPr id="21" name="Rounded Rectangle 20"/>
          <p:cNvSpPr/>
          <p:nvPr/>
        </p:nvSpPr>
        <p:spPr>
          <a:xfrm>
            <a:off x="777240" y="3973428"/>
            <a:ext cx="3191164" cy="743203"/>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3  The nets in configured order</a:t>
            </a:r>
          </a:p>
          <a:p>
            <a:pPr algn="ctr">
              <a:lnSpc>
                <a:spcPct val="105000"/>
              </a:lnSpc>
              <a:spcBef>
                <a:spcPts val="0"/>
              </a:spcBef>
              <a:spcAft>
                <a:spcPts val="0"/>
              </a:spcAft>
            </a:pPr>
            <a:r>
              <a:rPr sz="1150" b="0" i="0">
                <a:solidFill>
                  <a:srgbClr val="FFFFFF"/>
                </a:solidFill>
                <a:latin typeface="Calibri"/>
              </a:rPr>
              <a:t>hosts ordered by local_first, lowest_latency or pinned</a:t>
            </a:r>
          </a:p>
        </p:txBody>
      </p:sp>
      <p:sp>
        <p:nvSpPr>
          <p:cNvPr id="22" name="Oval 21"/>
          <p:cNvSpPr/>
          <p:nvPr/>
        </p:nvSpPr>
        <p:spPr>
          <a:xfrm>
            <a:off x="5138498" y="2880481"/>
            <a:ext cx="1276465" cy="87435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home</a:t>
            </a:r>
          </a:p>
          <a:p>
            <a:pPr algn="ctr">
              <a:lnSpc>
                <a:spcPct val="105000"/>
              </a:lnSpc>
              <a:spcBef>
                <a:spcPts val="0"/>
              </a:spcBef>
              <a:spcAft>
                <a:spcPts val="0"/>
              </a:spcAft>
            </a:pPr>
            <a:r>
              <a:rPr sz="1050" b="0" i="0">
                <a:solidFill>
                  <a:srgbClr val="FFFFFF"/>
                </a:solidFill>
                <a:latin typeface="Calibri"/>
              </a:rPr>
              <a:t>plain name var_calc</a:t>
            </a:r>
          </a:p>
        </p:txBody>
      </p:sp>
      <p:sp>
        <p:nvSpPr>
          <p:cNvPr id="23" name="Rounded Rectangle 22"/>
          <p:cNvSpPr/>
          <p:nvPr/>
        </p:nvSpPr>
        <p:spPr>
          <a:xfrm>
            <a:off x="7585057" y="1394075"/>
            <a:ext cx="2127443" cy="743203"/>
          </a:xfrm>
          <a:prstGeom prst="roundRect">
            <a:avLst>
              <a:gd name="adj" fmla="val 984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A</a:t>
            </a:r>
          </a:p>
          <a:p>
            <a:pPr algn="ctr">
              <a:lnSpc>
                <a:spcPct val="105000"/>
              </a:lnSpc>
              <a:spcBef>
                <a:spcPts val="0"/>
              </a:spcBef>
              <a:spcAft>
                <a:spcPts val="0"/>
              </a:spcAft>
            </a:pPr>
            <a:r>
              <a:rPr sz="1050" b="0" i="0">
                <a:solidFill>
                  <a:srgbClr val="1A1A1A"/>
                </a:solidFill>
                <a:latin typeface="Calibri"/>
              </a:rPr>
              <a:t>breaker open: never sent</a:t>
            </a:r>
          </a:p>
        </p:txBody>
      </p:sp>
      <p:sp>
        <p:nvSpPr>
          <p:cNvPr id="24" name="Rounded Rectangle 23"/>
          <p:cNvSpPr/>
          <p:nvPr/>
        </p:nvSpPr>
        <p:spPr>
          <a:xfrm>
            <a:off x="7585057" y="2924199"/>
            <a:ext cx="2127443" cy="743203"/>
          </a:xfrm>
          <a:prstGeom prst="roundRect">
            <a:avLst>
              <a:gd name="adj" fmla="val 984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B</a:t>
            </a:r>
          </a:p>
          <a:p>
            <a:pPr algn="ctr">
              <a:lnSpc>
                <a:spcPct val="105000"/>
              </a:lnSpc>
              <a:spcBef>
                <a:spcPts val="0"/>
              </a:spcBef>
              <a:spcAft>
                <a:spcPts val="0"/>
              </a:spcAft>
            </a:pPr>
            <a:r>
              <a:rPr sz="1050" b="0" i="0">
                <a:solidFill>
                  <a:srgbClr val="1A1A1A"/>
                </a:solidFill>
                <a:latin typeface="Calibri"/>
              </a:rPr>
              <a:t>-32019 overloaded, executed: false</a:t>
            </a:r>
          </a:p>
        </p:txBody>
      </p:sp>
      <p:sp>
        <p:nvSpPr>
          <p:cNvPr id="25" name="Rounded Rectangle 24"/>
          <p:cNvSpPr/>
          <p:nvPr/>
        </p:nvSpPr>
        <p:spPr>
          <a:xfrm>
            <a:off x="7585057" y="4454324"/>
            <a:ext cx="2127443" cy="743203"/>
          </a:xfrm>
          <a:prstGeom prst="roundRect">
            <a:avLst>
              <a:gd name="adj" fmla="val 9842"/>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C</a:t>
            </a:r>
          </a:p>
          <a:p>
            <a:pPr algn="ctr">
              <a:lnSpc>
                <a:spcPct val="105000"/>
              </a:lnSpc>
              <a:spcBef>
                <a:spcPts val="0"/>
              </a:spcBef>
              <a:spcAft>
                <a:spcPts val="0"/>
              </a:spcAft>
            </a:pPr>
            <a:r>
              <a:rPr sz="1050" b="0" i="0">
                <a:solidFill>
                  <a:srgbClr val="1A1A1A"/>
                </a:solidFill>
                <a:latin typeface="Calibri"/>
              </a:rPr>
              <a:t>runs it; the result returns</a:t>
            </a:r>
          </a:p>
        </p:txBody>
      </p:sp>
      <p:sp>
        <p:nvSpPr>
          <p:cNvPr id="26" name="Rounded Rectangle 25"/>
          <p:cNvSpPr/>
          <p:nvPr/>
        </p:nvSpPr>
        <p:spPr>
          <a:xfrm>
            <a:off x="10031617" y="2618174"/>
            <a:ext cx="1382837" cy="1398971"/>
          </a:xfrm>
          <a:prstGeom prst="roundRect">
            <a:avLst>
              <a:gd name="adj" fmla="val 528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refusal is a decision</a:t>
            </a:r>
          </a:p>
          <a:p>
            <a:pPr algn="ctr">
              <a:lnSpc>
                <a:spcPct val="105000"/>
              </a:lnSpc>
              <a:spcBef>
                <a:spcPts val="0"/>
              </a:spcBef>
              <a:spcAft>
                <a:spcPts val="0"/>
              </a:spcAft>
            </a:pPr>
            <a:r>
              <a:rPr sz="950" b="0" i="0">
                <a:solidFill>
                  <a:srgbClr val="1A1A1A"/>
                </a:solidFill>
                <a:latin typeface="Calibri"/>
              </a:rPr>
              <a:t>access, policy, identity, a block: returned, no fallback</a:t>
            </a:r>
          </a:p>
        </p:txBody>
      </p:sp>
      <p:cxnSp>
        <p:nvCxnSpPr>
          <p:cNvPr id="27" name="Connector 26"/>
          <p:cNvCxnSpPr/>
          <p:nvPr/>
        </p:nvCxnSpPr>
        <p:spPr>
          <a:xfrm>
            <a:off x="2372822" y="2314152"/>
            <a:ext cx="0" cy="38945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436830" y="2417440"/>
            <a:ext cx="82296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none here</a:t>
            </a:r>
          </a:p>
        </p:txBody>
      </p:sp>
      <p:cxnSp>
        <p:nvCxnSpPr>
          <p:cNvPr id="29" name="Connector 28"/>
          <p:cNvCxnSpPr/>
          <p:nvPr/>
        </p:nvCxnSpPr>
        <p:spPr>
          <a:xfrm>
            <a:off x="2372822" y="3538251"/>
            <a:ext cx="0" cy="3894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436830" y="3641539"/>
            <a:ext cx="96520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none listed</a:t>
            </a:r>
          </a:p>
        </p:txBody>
      </p:sp>
      <p:cxnSp>
        <p:nvCxnSpPr>
          <p:cNvPr id="31" name="Connector 30"/>
          <p:cNvCxnSpPr/>
          <p:nvPr/>
        </p:nvCxnSpPr>
        <p:spPr>
          <a:xfrm flipV="1">
            <a:off x="6318034" y="2159014"/>
            <a:ext cx="1602848" cy="8661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916004" y="2354339"/>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1st</a:t>
            </a:r>
          </a:p>
        </p:txBody>
      </p:sp>
      <p:cxnSp>
        <p:nvCxnSpPr>
          <p:cNvPr id="33" name="Connector 32"/>
          <p:cNvCxnSpPr/>
          <p:nvPr/>
        </p:nvCxnSpPr>
        <p:spPr>
          <a:xfrm flipV="1">
            <a:off x="6460643" y="3304245"/>
            <a:ext cx="1078696" cy="821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796537" y="3070606"/>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2nd</a:t>
            </a:r>
          </a:p>
        </p:txBody>
      </p:sp>
      <p:cxnSp>
        <p:nvCxnSpPr>
          <p:cNvPr id="35" name="Connector 34"/>
          <p:cNvCxnSpPr/>
          <p:nvPr/>
        </p:nvCxnSpPr>
        <p:spPr>
          <a:xfrm>
            <a:off x="6323714" y="3604910"/>
            <a:ext cx="1576981" cy="828157"/>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908751" y="3781244"/>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3rd</a:t>
            </a:r>
          </a:p>
        </p:txBody>
      </p:sp>
      <p:cxnSp>
        <p:nvCxnSpPr>
          <p:cNvPr id="37" name="Connector 36"/>
          <p:cNvCxnSpPr/>
          <p:nvPr/>
        </p:nvCxnSpPr>
        <p:spPr>
          <a:xfrm flipV="1">
            <a:off x="3647793" y="3507149"/>
            <a:ext cx="1501118" cy="45306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IDENTITY ACROSS SERVERS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host verifies which user is calling, and applies its own rules to that user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69</a:t>
            </a:r>
          </a:p>
        </p:txBody>
      </p:sp>
      <p:sp>
        <p:nvSpPr>
          <p:cNvPr id="17" name="Rounded Rectangle 16"/>
          <p:cNvSpPr/>
          <p:nvPr/>
        </p:nvSpPr>
        <p:spPr>
          <a:xfrm>
            <a:off x="777240" y="1611884"/>
            <a:ext cx="1595582" cy="787689"/>
          </a:xfrm>
          <a:prstGeom prst="roundRect">
            <a:avLst>
              <a:gd name="adj" fmla="val 928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api_key (shipped)</a:t>
            </a:r>
          </a:p>
        </p:txBody>
      </p:sp>
      <p:sp>
        <p:nvSpPr>
          <p:cNvPr id="18" name="Rounded Rectangle 17"/>
          <p:cNvSpPr/>
          <p:nvPr/>
        </p:nvSpPr>
        <p:spPr>
          <a:xfrm>
            <a:off x="2798310" y="1611884"/>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the API key, first hop only, over HTTPS</a:t>
            </a:r>
          </a:p>
        </p:txBody>
      </p:sp>
      <p:sp>
        <p:nvSpPr>
          <p:cNvPr id="19" name="Rounded Rectangle 18"/>
          <p:cNvSpPr/>
          <p:nvPr/>
        </p:nvSpPr>
        <p:spPr>
          <a:xfrm>
            <a:off x="6095847" y="1611884"/>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hash it; find it in the net key directory; accept it only from its own home</a:t>
            </a:r>
          </a:p>
        </p:txBody>
      </p:sp>
      <p:sp>
        <p:nvSpPr>
          <p:cNvPr id="20" name="Rounded Rectangle 19"/>
          <p:cNvSpPr/>
          <p:nvPr/>
        </p:nvSpPr>
        <p:spPr>
          <a:xfrm>
            <a:off x="777240" y="2677581"/>
            <a:ext cx="1595582" cy="787689"/>
          </a:xfrm>
          <a:prstGeom prst="roundRect">
            <a:avLst>
              <a:gd name="adj" fmla="val 928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assertion</a:t>
            </a:r>
          </a:p>
        </p:txBody>
      </p:sp>
      <p:sp>
        <p:nvSpPr>
          <p:cNvPr id="21" name="Rounded Rectangle 20"/>
          <p:cNvSpPr/>
          <p:nvPr/>
        </p:nvSpPr>
        <p:spPr>
          <a:xfrm>
            <a:off x="2798310" y="2677581"/>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signed user assertion: only the key id crosses</a:t>
            </a:r>
          </a:p>
        </p:txBody>
      </p:sp>
      <p:sp>
        <p:nvSpPr>
          <p:cNvPr id="22" name="Rounded Rectangle 21"/>
          <p:cNvSpPr/>
          <p:nvPr/>
        </p:nvSpPr>
        <p:spPr>
          <a:xfrm>
            <a:off x="6095847" y="2677581"/>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check signature, audience, time (at most 60 s) and one use of its id</a:t>
            </a:r>
          </a:p>
        </p:txBody>
      </p:sp>
      <p:sp>
        <p:nvSpPr>
          <p:cNvPr id="23" name="Rounded Rectangle 22"/>
          <p:cNvSpPr/>
          <p:nvPr/>
        </p:nvSpPr>
        <p:spPr>
          <a:xfrm>
            <a:off x="777240" y="3743279"/>
            <a:ext cx="1595582" cy="787689"/>
          </a:xfrm>
          <a:prstGeom prst="roundRect">
            <a:avLst>
              <a:gd name="adj" fmla="val 928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token_exchange</a:t>
            </a:r>
          </a:p>
        </p:txBody>
      </p:sp>
      <p:sp>
        <p:nvSpPr>
          <p:cNvPr id="24" name="Rounded Rectangle 23"/>
          <p:cNvSpPr/>
          <p:nvPr/>
        </p:nvSpPr>
        <p:spPr>
          <a:xfrm>
            <a:off x="2798310" y="3743279"/>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host-scoped token, exchanged once for an assertion</a:t>
            </a:r>
          </a:p>
        </p:txBody>
      </p:sp>
      <p:sp>
        <p:nvSpPr>
          <p:cNvPr id="25" name="Rounded Rectangle 24"/>
          <p:cNvSpPr/>
          <p:nvPr/>
        </p:nvSpPr>
        <p:spPr>
          <a:xfrm>
            <a:off x="6095847" y="3743279"/>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keep it hashed; re-check the key, blocks and mapping on every call</a:t>
            </a:r>
          </a:p>
        </p:txBody>
      </p:sp>
      <p:sp>
        <p:nvSpPr>
          <p:cNvPr id="26" name="Rounded Rectangle 25"/>
          <p:cNvSpPr/>
          <p:nvPr/>
        </p:nvSpPr>
        <p:spPr>
          <a:xfrm>
            <a:off x="9393384" y="1611884"/>
            <a:ext cx="2021070" cy="2919084"/>
          </a:xfrm>
          <a:prstGeom prst="roundRect">
            <a:avLst>
              <a:gd name="adj" fmla="val 361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host maps the user</a:t>
            </a:r>
          </a:p>
          <a:p>
            <a:pPr algn="ctr">
              <a:lnSpc>
                <a:spcPct val="105000"/>
              </a:lnSpc>
              <a:spcBef>
                <a:spcPts val="0"/>
              </a:spcBef>
              <a:spcAft>
                <a:spcPts val="0"/>
              </a:spcAft>
            </a:pPr>
            <a:r>
              <a:rPr sz="1150" b="0" i="0">
                <a:solidFill>
                  <a:srgbClr val="FFFFFF"/>
                </a:solidFill>
                <a:latin typeface="Calibri"/>
              </a:rPr>
              <a:t>an explicit link, else the same login name, else refuse (shipped)</a:t>
            </a:r>
          </a:p>
        </p:txBody>
      </p:sp>
      <p:sp>
        <p:nvSpPr>
          <p:cNvPr id="27" name="Rounded Rectangle 26"/>
          <p:cNvSpPr/>
          <p:nvPr/>
        </p:nvSpPr>
        <p:spPr>
          <a:xfrm>
            <a:off x="777240" y="5040650"/>
            <a:ext cx="10637215" cy="1112032"/>
          </a:xfrm>
          <a:prstGeom prst="roundRect">
            <a:avLst>
              <a:gd name="adj" fmla="val 657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Test admin key: ships on, for development and testing</a:t>
            </a:r>
          </a:p>
          <a:p>
            <a:pPr algn="ctr">
              <a:lnSpc>
                <a:spcPct val="105000"/>
              </a:lnSpc>
              <a:spcBef>
                <a:spcPts val="0"/>
              </a:spcBef>
              <a:spcAft>
                <a:spcPts val="0"/>
              </a:spcAft>
            </a:pPr>
            <a:r>
              <a:rPr sz="1150" b="0" i="0">
                <a:solidFill>
                  <a:srgbClr val="1A1A1A"/>
                </a:solidFill>
                <a:latin typeface="Calibri"/>
              </a:rPr>
              <a:t>While on, every forwarded call carries it, and a host that holds the same record runs the call as an administrator. Turn it off before production.</a:t>
            </a:r>
          </a:p>
        </p:txBody>
      </p:sp>
      <p:cxnSp>
        <p:nvCxnSpPr>
          <p:cNvPr id="28" name="Connector 27"/>
          <p:cNvCxnSpPr/>
          <p:nvPr/>
        </p:nvCxnSpPr>
        <p:spPr>
          <a:xfrm>
            <a:off x="2418542" y="2005728"/>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6078" y="2005728"/>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418542" y="3071426"/>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716078" y="3071426"/>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418542" y="413712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716078" y="4137124"/>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36144" y="2415478"/>
            <a:ext cx="714376" cy="265075"/>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013615" y="3071426"/>
            <a:ext cx="334049"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8636144" y="3462299"/>
            <a:ext cx="714376" cy="265075"/>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PROXIED MCP SERVERS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member proxies other MCP servers; external ones enter the net under their vendor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70</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__ is reserved for namespaced tools: the registry refuses any other tool that uses it. Proxies nest: outer__inner__tool, each level applying its own governance, bounded by 128 characters and one call-chain budget.</a:t>
            </a:r>
          </a:p>
        </p:txBody>
      </p:sp>
      <p:sp>
        <p:nvSpPr>
          <p:cNvPr id="19" name="Rectangle 18"/>
          <p:cNvSpPr/>
          <p:nvPr/>
        </p:nvSpPr>
        <p:spPr>
          <a:xfrm>
            <a:off x="3542915" y="1611884"/>
            <a:ext cx="7871539" cy="4066539"/>
          </a:xfrm>
          <a:prstGeom prst="rect">
            <a:avLst/>
          </a:prstGeom>
          <a:no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2643" y="1675892"/>
            <a:ext cx="765208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NET acme-net</a:t>
            </a:r>
          </a:p>
        </p:txBody>
      </p:sp>
      <p:sp>
        <p:nvSpPr>
          <p:cNvPr id="21" name="Rounded Rectangle 20"/>
          <p:cNvSpPr/>
          <p:nvPr/>
        </p:nvSpPr>
        <p:spPr>
          <a:xfrm>
            <a:off x="777240" y="1855876"/>
            <a:ext cx="1808326" cy="772642"/>
          </a:xfrm>
          <a:prstGeom prst="roundRect">
            <a:avLst>
              <a:gd name="adj" fmla="val 9467"/>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acme MCP server</a:t>
            </a:r>
          </a:p>
          <a:p>
            <a:pPr algn="ctr">
              <a:lnSpc>
                <a:spcPct val="105000"/>
              </a:lnSpc>
              <a:spcBef>
                <a:spcPts val="0"/>
              </a:spcBef>
              <a:spcAft>
                <a:spcPts val="0"/>
              </a:spcAft>
            </a:pPr>
            <a:r>
              <a:rPr sz="1050" b="0" i="0">
                <a:solidFill>
                  <a:srgbClr val="6E1120"/>
                </a:solidFill>
                <a:latin typeface="Calibri"/>
              </a:rPr>
              <a:t>external: never a member</a:t>
            </a:r>
          </a:p>
        </p:txBody>
      </p:sp>
      <p:sp>
        <p:nvSpPr>
          <p:cNvPr id="22" name="Rounded Rectangle 21"/>
          <p:cNvSpPr/>
          <p:nvPr/>
        </p:nvSpPr>
        <p:spPr>
          <a:xfrm>
            <a:off x="777240" y="4133138"/>
            <a:ext cx="1808326" cy="772642"/>
          </a:xfrm>
          <a:prstGeom prst="roundRect">
            <a:avLst>
              <a:gd name="adj" fmla="val 946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pricing MCP server</a:t>
            </a:r>
          </a:p>
          <a:p>
            <a:pPr algn="ctr">
              <a:lnSpc>
                <a:spcPct val="105000"/>
              </a:lnSpc>
              <a:spcBef>
                <a:spcPts val="0"/>
              </a:spcBef>
              <a:spcAft>
                <a:spcPts val="0"/>
              </a:spcAft>
            </a:pPr>
            <a:r>
              <a:rPr sz="1050" b="0" i="0">
                <a:solidFill>
                  <a:srgbClr val="1A1A1A"/>
                </a:solidFill>
                <a:latin typeface="Calibri"/>
              </a:rPr>
              <a:t>internal: "external": false</a:t>
            </a:r>
          </a:p>
        </p:txBody>
      </p:sp>
      <p:sp>
        <p:nvSpPr>
          <p:cNvPr id="23" name="Rounded Rectangle 22"/>
          <p:cNvSpPr/>
          <p:nvPr/>
        </p:nvSpPr>
        <p:spPr>
          <a:xfrm>
            <a:off x="4074776" y="2953842"/>
            <a:ext cx="170195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risk-eu</a:t>
            </a:r>
          </a:p>
          <a:p>
            <a:pPr algn="ctr">
              <a:lnSpc>
                <a:spcPct val="105000"/>
              </a:lnSpc>
              <a:spcBef>
                <a:spcPts val="0"/>
              </a:spcBef>
              <a:spcAft>
                <a:spcPts val="0"/>
              </a:spcAft>
            </a:pPr>
            <a:r>
              <a:rPr sz="1250" b="0" i="0">
                <a:solidFill>
                  <a:srgbClr val="FFFFFF"/>
                </a:solidFill>
                <a:latin typeface="Calibri"/>
              </a:rPr>
              <a:t>proxies both through federation</a:t>
            </a:r>
          </a:p>
        </p:txBody>
      </p:sp>
      <p:sp>
        <p:nvSpPr>
          <p:cNvPr id="24" name="Rounded Rectangle 23"/>
          <p:cNvSpPr/>
          <p:nvPr/>
        </p:nvSpPr>
        <p:spPr>
          <a:xfrm>
            <a:off x="9287012" y="2953842"/>
            <a:ext cx="170195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treasury-na</a:t>
            </a:r>
          </a:p>
          <a:p>
            <a:pPr algn="ctr">
              <a:lnSpc>
                <a:spcPct val="105000"/>
              </a:lnSpc>
              <a:spcBef>
                <a:spcPts val="0"/>
              </a:spcBef>
              <a:spcAft>
                <a:spcPts val="0"/>
              </a:spcAft>
            </a:pPr>
            <a:r>
              <a:rPr sz="1250" b="0" i="0">
                <a:solidFill>
                  <a:srgbClr val="FFFFFF"/>
                </a:solidFill>
                <a:latin typeface="Calibri"/>
              </a:rPr>
              <a:t>a member</a:t>
            </a:r>
          </a:p>
        </p:txBody>
      </p:sp>
      <p:sp>
        <p:nvSpPr>
          <p:cNvPr id="25" name="Rounded Rectangle 24"/>
          <p:cNvSpPr/>
          <p:nvPr/>
        </p:nvSpPr>
        <p:spPr>
          <a:xfrm>
            <a:off x="6734080" y="2018538"/>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acme__search</a:t>
            </a:r>
          </a:p>
          <a:p>
            <a:pPr algn="ctr">
              <a:lnSpc>
                <a:spcPct val="105000"/>
              </a:lnSpc>
              <a:spcBef>
                <a:spcPts val="0"/>
              </a:spcBef>
              <a:spcAft>
                <a:spcPts val="0"/>
              </a:spcAft>
            </a:pPr>
            <a:r>
              <a:rPr sz="1050" b="0" i="0">
                <a:solidFill>
                  <a:srgbClr val="1A1A1A"/>
                </a:solidFill>
                <a:latin typeface="Calibri"/>
              </a:rPr>
              <a:t>vendor__tool, offered into the net</a:t>
            </a:r>
          </a:p>
        </p:txBody>
      </p:sp>
      <p:sp>
        <p:nvSpPr>
          <p:cNvPr id="26" name="Rounded Rectangle 25"/>
          <p:cNvSpPr/>
          <p:nvPr/>
        </p:nvSpPr>
        <p:spPr>
          <a:xfrm>
            <a:off x="9287012" y="4295800"/>
            <a:ext cx="1701954" cy="691311"/>
          </a:xfrm>
          <a:prstGeom prst="roundRect">
            <a:avLst>
              <a:gd name="adj" fmla="val 1058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lists acme__search</a:t>
            </a:r>
          </a:p>
          <a:p>
            <a:pPr algn="ctr">
              <a:lnSpc>
                <a:spcPct val="105000"/>
              </a:lnSpc>
              <a:spcBef>
                <a:spcPts val="0"/>
              </a:spcBef>
              <a:spcAft>
                <a:spcPts val="0"/>
              </a:spcAft>
            </a:pPr>
            <a:r>
              <a:rPr sz="950" b="0" i="0">
                <a:solidFill>
                  <a:srgbClr val="1A1A1A"/>
                </a:solidFill>
                <a:latin typeface="Calibri"/>
              </a:rPr>
              <a:t>external, via risk-eu</a:t>
            </a:r>
          </a:p>
        </p:txBody>
      </p:sp>
      <p:sp>
        <p:nvSpPr>
          <p:cNvPr id="27" name="Rounded Rectangle 26"/>
          <p:cNvSpPr/>
          <p:nvPr/>
        </p:nvSpPr>
        <p:spPr>
          <a:xfrm>
            <a:off x="4074776" y="4458461"/>
            <a:ext cx="1701954" cy="691311"/>
          </a:xfrm>
          <a:prstGeom prst="roundRect">
            <a:avLst>
              <a:gd name="adj" fmla="val 1058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1" i="0">
                <a:solidFill>
                  <a:srgbClr val="1A1A1A"/>
                </a:solidFill>
                <a:latin typeface="Calibri"/>
              </a:rPr>
              <a:t>pricing__quote</a:t>
            </a:r>
          </a:p>
          <a:p>
            <a:pPr algn="ctr">
              <a:lnSpc>
                <a:spcPct val="105000"/>
              </a:lnSpc>
              <a:spcBef>
                <a:spcPts val="0"/>
              </a:spcBef>
              <a:spcAft>
                <a:spcPts val="0"/>
              </a:spcAft>
            </a:pPr>
            <a:r>
              <a:rPr sz="900" b="0" i="0">
                <a:solidFill>
                  <a:srgbClr val="1A1A1A"/>
                </a:solidFill>
                <a:latin typeface="Calibri"/>
              </a:rPr>
              <a:t>internal: keeps its name, offered like risk-eu's own tools</a:t>
            </a:r>
          </a:p>
        </p:txBody>
      </p:sp>
      <p:cxnSp>
        <p:nvCxnSpPr>
          <p:cNvPr id="28" name="Connector 27"/>
          <p:cNvCxnSpPr/>
          <p:nvPr/>
        </p:nvCxnSpPr>
        <p:spPr>
          <a:xfrm>
            <a:off x="2628621" y="2580568"/>
            <a:ext cx="1403100" cy="50122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628790" y="3709384"/>
            <a:ext cx="1402762" cy="48352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819540" y="2725900"/>
            <a:ext cx="907188" cy="34014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549044" y="2727691"/>
            <a:ext cx="695873" cy="29494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822451" y="3401161"/>
            <a:ext cx="3418841" cy="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013711" y="3163417"/>
            <a:ext cx="10363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signed calls</a:t>
            </a:r>
          </a:p>
        </p:txBody>
      </p:sp>
      <p:cxnSp>
        <p:nvCxnSpPr>
          <p:cNvPr id="34" name="Connector 33"/>
          <p:cNvCxnSpPr/>
          <p:nvPr/>
        </p:nvCxnSpPr>
        <p:spPr>
          <a:xfrm>
            <a:off x="10137989" y="3894200"/>
            <a:ext cx="0" cy="35588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925753" y="3894200"/>
            <a:ext cx="0" cy="518541"/>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RESIDENCY AND REDACTION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Data classes decide where data may flow, in arguments and in results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71</a:t>
            </a:r>
          </a:p>
        </p:txBody>
      </p:sp>
      <p:sp>
        <p:nvSpPr>
          <p:cNvPr id="17" name="Rectangle 16"/>
          <p:cNvSpPr/>
          <p:nvPr/>
        </p:nvSpPr>
        <p:spPr>
          <a:xfrm>
            <a:off x="777240" y="4664964"/>
            <a:ext cx="5105863" cy="158038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664964"/>
            <a:ext cx="41148" cy="15803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811268"/>
            <a:ext cx="4721815" cy="1306068"/>
          </a:xfrm>
          <a:prstGeom prst="rect">
            <a:avLst/>
          </a:prstGeom>
          <a:noFill/>
        </p:spPr>
        <p:txBody>
          <a:bodyPr wrap="square" lIns="0" rIns="0" tIns="0" bIns="0" anchor="t">
            <a:spAutoFit/>
          </a:bodyPr>
          <a:lstStyle/>
          <a:p>
            <a:pPr algn="l">
              <a:lnSpc>
                <a:spcPct val="110000"/>
              </a:lnSpc>
              <a:spcBef>
                <a:spcPts val="0"/>
              </a:spcBef>
              <a:spcAft>
                <a:spcPts val="200"/>
              </a:spcAft>
            </a:pPr>
            <a:r>
              <a:rPr sz="1300" b="0" i="0">
                <a:solidFill>
                  <a:srgbClr val="6B7480"/>
                </a:solidFill>
                <a:latin typeface="Consolas"/>
              </a:rPr>
              <a:t># inputSchema marks a field's class</a:t>
            </a:r>
          </a:p>
          <a:p>
            <a:pPr>
              <a:lnSpc>
                <a:spcPct val="110000"/>
              </a:lnSpc>
              <a:spcBef>
                <a:spcPts val="0"/>
              </a:spcBef>
              <a:spcAft>
                <a:spcPts val="200"/>
              </a:spcAft>
            </a:pPr>
            <a:r>
              <a:rPr sz="1300" b="0" i="0">
                <a:solidFill>
                  <a:srgbClr val="1A1A1A"/>
                </a:solidFill>
                <a:latin typeface="Consolas"/>
              </a:rPr>
              <a:t>"portfolio": {"type": "string",</a:t>
            </a:r>
          </a:p>
          <a:p>
            <a:pPr>
              <a:lnSpc>
                <a:spcPct val="110000"/>
              </a:lnSpc>
              <a:spcBef>
                <a:spcPts val="0"/>
              </a:spcBef>
              <a:spcAft>
                <a:spcPts val="200"/>
              </a:spcAft>
            </a:pPr>
            <a:r>
              <a:rPr sz="1300" b="0" i="0">
                <a:solidFill>
                  <a:srgbClr val="1A1A1A"/>
                </a:solidFill>
                <a:latin typeface="Consolas"/>
              </a:rPr>
              <a:t>  "x-sajha-data-class": "confidential"}</a:t>
            </a:r>
          </a:p>
        </p:txBody>
      </p:sp>
      <p:sp>
        <p:nvSpPr>
          <p:cNvPr id="20" name="Rectangle 19"/>
          <p:cNvSpPr/>
          <p:nvPr/>
        </p:nvSpPr>
        <p:spPr>
          <a:xfrm>
            <a:off x="6308591" y="4664964"/>
            <a:ext cx="5105863" cy="158038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8591" y="4664964"/>
            <a:ext cx="41148" cy="15803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191" y="4811268"/>
            <a:ext cx="4721815" cy="1306068"/>
          </a:xfrm>
          <a:prstGeom prst="rect">
            <a:avLst/>
          </a:prstGeom>
          <a:noFill/>
        </p:spPr>
        <p:txBody>
          <a:bodyPr wrap="square" lIns="0" rIns="0" tIns="0" bIns="0" anchor="t">
            <a:spAutoFit/>
          </a:bodyPr>
          <a:lstStyle/>
          <a:p>
            <a:pPr algn="l">
              <a:lnSpc>
                <a:spcPct val="110000"/>
              </a:lnSpc>
              <a:spcBef>
                <a:spcPts val="0"/>
              </a:spcBef>
              <a:spcAft>
                <a:spcPts val="200"/>
              </a:spcAft>
            </a:pPr>
            <a:r>
              <a:rPr sz="1300" b="0" i="0">
                <a:solidFill>
                  <a:srgbClr val="6B7480"/>
                </a:solidFill>
                <a:latin typeface="Consolas"/>
              </a:rPr>
              <a:t># a redact rule sends the call anyway</a:t>
            </a:r>
          </a:p>
          <a:p>
            <a:pPr>
              <a:lnSpc>
                <a:spcPct val="110000"/>
              </a:lnSpc>
              <a:spcBef>
                <a:spcPts val="0"/>
              </a:spcBef>
              <a:spcAft>
                <a:spcPts val="200"/>
              </a:spcAft>
            </a:pPr>
            <a:r>
              <a:rPr sz="1300" b="0" i="0">
                <a:solidFill>
                  <a:srgbClr val="1A1A1A"/>
                </a:solidFill>
                <a:latin typeface="Consolas"/>
              </a:rPr>
              <a:t>{"portfolio": "[REDACTED:confidential]",</a:t>
            </a:r>
          </a:p>
          <a:p>
            <a:pPr>
              <a:lnSpc>
                <a:spcPct val="110000"/>
              </a:lnSpc>
              <a:spcBef>
                <a:spcPts val="0"/>
              </a:spcBef>
              <a:spcAft>
                <a:spcPts val="200"/>
              </a:spcAft>
            </a:pPr>
            <a:r>
              <a:rPr sz="1300" b="0" i="0">
                <a:solidFill>
                  <a:srgbClr val="1A1A1A"/>
                </a:solidFill>
                <a:latin typeface="Consolas"/>
              </a:rPr>
              <a:t> "horizon": 10}</a:t>
            </a:r>
          </a:p>
        </p:txBody>
      </p:sp>
      <p:sp>
        <p:nvSpPr>
          <p:cNvPr id="23" name="Rounded Rectangle 22"/>
          <p:cNvSpPr/>
          <p:nvPr/>
        </p:nvSpPr>
        <p:spPr>
          <a:xfrm>
            <a:off x="777240" y="1602962"/>
            <a:ext cx="1595582" cy="1086516"/>
          </a:xfrm>
          <a:prstGeom prst="roundRect">
            <a:avLst>
              <a:gd name="adj" fmla="val 67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home: risk-eu</a:t>
            </a:r>
          </a:p>
          <a:p>
            <a:pPr algn="ctr">
              <a:lnSpc>
                <a:spcPct val="105000"/>
              </a:lnSpc>
              <a:spcBef>
                <a:spcPts val="0"/>
              </a:spcBef>
              <a:spcAft>
                <a:spcPts val="0"/>
              </a:spcAft>
            </a:pPr>
            <a:r>
              <a:rPr sz="1150" b="0" i="0">
                <a:solidFill>
                  <a:srgbClr val="FFFFFF"/>
                </a:solidFill>
                <a:latin typeface="Calibri"/>
              </a:rPr>
              <a:t>region eu-west</a:t>
            </a:r>
          </a:p>
        </p:txBody>
      </p:sp>
      <p:sp>
        <p:nvSpPr>
          <p:cNvPr id="24" name="Hexagon 23"/>
          <p:cNvSpPr/>
          <p:nvPr/>
        </p:nvSpPr>
        <p:spPr>
          <a:xfrm>
            <a:off x="2904683" y="1504188"/>
            <a:ext cx="2127443" cy="128406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arguments</a:t>
            </a:r>
          </a:p>
          <a:p>
            <a:pPr algn="ctr">
              <a:lnSpc>
                <a:spcPct val="105000"/>
              </a:lnSpc>
              <a:spcBef>
                <a:spcPts val="0"/>
              </a:spcBef>
              <a:spcAft>
                <a:spcPts val="0"/>
              </a:spcAft>
            </a:pPr>
            <a:r>
              <a:rPr sz="1050" b="0" i="0">
                <a:solidFill>
                  <a:srgbClr val="1A1A1A"/>
                </a:solidFill>
                <a:latin typeface="Calibri"/>
              </a:rPr>
              <a:t>classes of the fields sent vs the host's region and labels</a:t>
            </a:r>
          </a:p>
        </p:txBody>
      </p:sp>
      <p:sp>
        <p:nvSpPr>
          <p:cNvPr id="25" name="Rounded Rectangle 24"/>
          <p:cNvSpPr/>
          <p:nvPr/>
        </p:nvSpPr>
        <p:spPr>
          <a:xfrm>
            <a:off x="5563986" y="1602962"/>
            <a:ext cx="1595582"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host: cust-na</a:t>
            </a:r>
          </a:p>
          <a:p>
            <a:pPr algn="ctr">
              <a:lnSpc>
                <a:spcPct val="105000"/>
              </a:lnSpc>
              <a:spcBef>
                <a:spcPts val="0"/>
              </a:spcBef>
              <a:spcAft>
                <a:spcPts val="0"/>
              </a:spcAft>
            </a:pPr>
            <a:r>
              <a:rPr sz="1150" b="0" i="0">
                <a:solidFill>
                  <a:srgbClr val="FFFFFF"/>
                </a:solidFill>
                <a:latin typeface="Calibri"/>
              </a:rPr>
              <a:t>region na-east</a:t>
            </a:r>
          </a:p>
        </p:txBody>
      </p:sp>
      <p:sp>
        <p:nvSpPr>
          <p:cNvPr id="26" name="Hexagon 25"/>
          <p:cNvSpPr/>
          <p:nvPr/>
        </p:nvSpPr>
        <p:spPr>
          <a:xfrm>
            <a:off x="7691429" y="1504188"/>
            <a:ext cx="2127443" cy="128406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results</a:t>
            </a:r>
          </a:p>
          <a:p>
            <a:pPr algn="ctr">
              <a:lnSpc>
                <a:spcPct val="105000"/>
              </a:lnSpc>
              <a:spcBef>
                <a:spcPts val="0"/>
              </a:spcBef>
              <a:spcAft>
                <a:spcPts val="0"/>
              </a:spcAft>
            </a:pPr>
            <a:r>
              <a:rPr sz="1050" b="0" i="0">
                <a:solidFill>
                  <a:srgbClr val="1A1A1A"/>
                </a:solidFill>
                <a:latin typeface="Calibri"/>
              </a:rPr>
              <a:t>classes of the fields returned vs the home's region</a:t>
            </a:r>
          </a:p>
        </p:txBody>
      </p:sp>
      <p:sp>
        <p:nvSpPr>
          <p:cNvPr id="27" name="Rounded Rectangle 26"/>
          <p:cNvSpPr/>
          <p:nvPr/>
        </p:nvSpPr>
        <p:spPr>
          <a:xfrm>
            <a:off x="10137989" y="1602962"/>
            <a:ext cx="1276465" cy="1086516"/>
          </a:xfrm>
          <a:prstGeom prst="roundRect">
            <a:avLst>
              <a:gd name="adj" fmla="val 673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 arrival</a:t>
            </a:r>
          </a:p>
          <a:p>
            <a:pPr algn="ctr">
              <a:lnSpc>
                <a:spcPct val="105000"/>
              </a:lnSpc>
              <a:spcBef>
                <a:spcPts val="0"/>
              </a:spcBef>
              <a:spcAft>
                <a:spcPts val="0"/>
              </a:spcAft>
            </a:pPr>
            <a:r>
              <a:rPr sz="1050" b="0" i="0">
                <a:solidFill>
                  <a:srgbClr val="1A1A1A"/>
                </a:solidFill>
                <a:latin typeface="Calibri"/>
              </a:rPr>
              <a:t>the home's own rules</a:t>
            </a:r>
          </a:p>
        </p:txBody>
      </p:sp>
      <p:sp>
        <p:nvSpPr>
          <p:cNvPr id="28" name="Rounded Rectangle 27"/>
          <p:cNvSpPr/>
          <p:nvPr/>
        </p:nvSpPr>
        <p:spPr>
          <a:xfrm>
            <a:off x="2585566" y="3380898"/>
            <a:ext cx="2765675" cy="839581"/>
          </a:xfrm>
          <a:prstGeom prst="roundRect">
            <a:avLst>
              <a:gd name="adj" fmla="val 871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deny: -32012, not executed</a:t>
            </a:r>
          </a:p>
          <a:p>
            <a:pPr algn="ctr">
              <a:lnSpc>
                <a:spcPct val="105000"/>
              </a:lnSpc>
              <a:spcBef>
                <a:spcPts val="0"/>
              </a:spcBef>
              <a:spcAft>
                <a:spcPts val="0"/>
              </a:spcAft>
            </a:pPr>
            <a:r>
              <a:rPr sz="950" b="0" i="0">
                <a:solidFill>
                  <a:srgbClr val="1A1A1A"/>
                </a:solidFill>
                <a:latin typeface="Calibri"/>
              </a:rPr>
              <a:t>a plain name moves to a host that may receive it</a:t>
            </a:r>
          </a:p>
        </p:txBody>
      </p:sp>
      <p:sp>
        <p:nvSpPr>
          <p:cNvPr id="29" name="Rounded Rectangle 28"/>
          <p:cNvSpPr/>
          <p:nvPr/>
        </p:nvSpPr>
        <p:spPr>
          <a:xfrm>
            <a:off x="7372313" y="3380898"/>
            <a:ext cx="2765675" cy="839581"/>
          </a:xfrm>
          <a:prstGeom prst="roundRect">
            <a:avLst>
              <a:gd name="adj" fmla="val 871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deny: -32012, executed</a:t>
            </a:r>
          </a:p>
          <a:p>
            <a:pPr algn="ctr">
              <a:lnSpc>
                <a:spcPct val="105000"/>
              </a:lnSpc>
              <a:spcBef>
                <a:spcPts val="0"/>
              </a:spcBef>
              <a:spcAft>
                <a:spcPts val="0"/>
              </a:spcAft>
            </a:pPr>
            <a:r>
              <a:rPr sz="950" b="0" i="0">
                <a:solidFill>
                  <a:srgbClr val="1A1A1A"/>
                </a:solidFill>
                <a:latin typeface="Calibri"/>
              </a:rPr>
              <a:t>a class marked for the whole result cannot be redacted</a:t>
            </a:r>
          </a:p>
        </p:txBody>
      </p:sp>
      <p:cxnSp>
        <p:nvCxnSpPr>
          <p:cNvPr id="30" name="Connector 29"/>
          <p:cNvCxnSpPr/>
          <p:nvPr/>
        </p:nvCxnSpPr>
        <p:spPr>
          <a:xfrm>
            <a:off x="2418542" y="2146220"/>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077846" y="2146220"/>
            <a:ext cx="440420"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205289" y="2146220"/>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864592" y="2146220"/>
            <a:ext cx="22767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968404" y="2833973"/>
            <a:ext cx="0" cy="5012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55151" y="2833973"/>
            <a:ext cx="0" cy="5012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PLANNERS AND LLM TOOLS ACROSS THE NET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Planners see where each tool runs; one budget bounds the whole call chain</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72</a:t>
            </a:r>
          </a:p>
        </p:txBody>
      </p:sp>
      <p:sp>
        <p:nvSpPr>
          <p:cNvPr id="17" name="Rounded Rectangle 16"/>
          <p:cNvSpPr/>
          <p:nvPr/>
        </p:nvSpPr>
        <p:spPr>
          <a:xfrm>
            <a:off x="777240" y="1889892"/>
            <a:ext cx="4254886" cy="556016"/>
          </a:xfrm>
          <a:prstGeom prst="roundRect">
            <a:avLst>
              <a:gd name="adj" fmla="val 131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local tools</a:t>
            </a:r>
          </a:p>
        </p:txBody>
      </p:sp>
      <p:sp>
        <p:nvSpPr>
          <p:cNvPr id="18" name="Rounded Rectangle 17"/>
          <p:cNvSpPr/>
          <p:nvPr/>
        </p:nvSpPr>
        <p:spPr>
          <a:xfrm>
            <a:off x="777240" y="2584912"/>
            <a:ext cx="3829397" cy="556016"/>
          </a:xfrm>
          <a:prstGeom prst="roundRect">
            <a:avLst>
              <a:gd name="adj" fmla="val 1315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remote, in the tool's preferences</a:t>
            </a:r>
          </a:p>
        </p:txBody>
      </p:sp>
      <p:sp>
        <p:nvSpPr>
          <p:cNvPr id="19" name="Rounded Rectangle 18"/>
          <p:cNvSpPr/>
          <p:nvPr/>
        </p:nvSpPr>
        <p:spPr>
          <a:xfrm>
            <a:off x="777240" y="3279932"/>
            <a:ext cx="3403908" cy="556016"/>
          </a:xfrm>
          <a:prstGeom prst="roundRect">
            <a:avLst>
              <a:gd name="adj" fmla="val 1315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remote, same region, healthy</a:t>
            </a:r>
          </a:p>
        </p:txBody>
      </p:sp>
      <p:sp>
        <p:nvSpPr>
          <p:cNvPr id="20" name="Rounded Rectangle 19"/>
          <p:cNvSpPr/>
          <p:nvPr/>
        </p:nvSpPr>
        <p:spPr>
          <a:xfrm>
            <a:off x="777240" y="3974952"/>
            <a:ext cx="2978420" cy="556016"/>
          </a:xfrm>
          <a:prstGeom prst="roundRect">
            <a:avLst>
              <a:gd name="adj" fmla="val 1315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remote, lower latency</a:t>
            </a:r>
          </a:p>
        </p:txBody>
      </p:sp>
      <p:sp>
        <p:nvSpPr>
          <p:cNvPr id="21" name="Rounded Rectangle 20"/>
          <p:cNvSpPr/>
          <p:nvPr/>
        </p:nvSpPr>
        <p:spPr>
          <a:xfrm>
            <a:off x="6095847" y="1889892"/>
            <a:ext cx="1595582" cy="926693"/>
          </a:xfrm>
          <a:prstGeom prst="roundRect">
            <a:avLst>
              <a:gd name="adj" fmla="val 789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planner at home</a:t>
            </a:r>
          </a:p>
          <a:p>
            <a:pPr algn="ctr">
              <a:lnSpc>
                <a:spcPct val="105000"/>
              </a:lnSpc>
              <a:spcBef>
                <a:spcPts val="0"/>
              </a:spcBef>
              <a:spcAft>
                <a:spcPts val="0"/>
              </a:spcAft>
            </a:pPr>
            <a:r>
              <a:rPr sz="1050" b="0" i="0">
                <a:solidFill>
                  <a:srgbClr val="FFFFFF"/>
                </a:solidFill>
                <a:latin typeface="Calibri"/>
              </a:rPr>
              <a:t>risk-eu</a:t>
            </a:r>
          </a:p>
        </p:txBody>
      </p:sp>
      <p:sp>
        <p:nvSpPr>
          <p:cNvPr id="22" name="Rounded Rectangle 21"/>
          <p:cNvSpPr/>
          <p:nvPr/>
        </p:nvSpPr>
        <p:spPr>
          <a:xfrm>
            <a:off x="9074267" y="1889892"/>
            <a:ext cx="2340187" cy="926693"/>
          </a:xfrm>
          <a:prstGeom prst="roundRect">
            <a:avLst>
              <a:gd name="adj" fmla="val 7893"/>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remote LLM tool</a:t>
            </a:r>
          </a:p>
          <a:p>
            <a:pPr algn="ctr">
              <a:lnSpc>
                <a:spcPct val="105000"/>
              </a:lnSpc>
              <a:spcBef>
                <a:spcPts val="0"/>
              </a:spcBef>
              <a:spcAft>
                <a:spcPts val="0"/>
              </a:spcAft>
            </a:pPr>
            <a:r>
              <a:rPr sz="1050" b="0" i="0">
                <a:solidFill>
                  <a:srgbClr val="FFFFFF"/>
                </a:solidFill>
                <a:latin typeface="Calibri"/>
              </a:rPr>
              <a:t>runs on the host as the mapped user</a:t>
            </a:r>
          </a:p>
        </p:txBody>
      </p:sp>
      <p:sp>
        <p:nvSpPr>
          <p:cNvPr id="23" name="Rounded Rectangle 22"/>
          <p:cNvSpPr/>
          <p:nvPr/>
        </p:nvSpPr>
        <p:spPr>
          <a:xfrm>
            <a:off x="6095847" y="3557940"/>
            <a:ext cx="1595582" cy="1019362"/>
          </a:xfrm>
          <a:prstGeom prst="roundRect">
            <a:avLst>
              <a:gd name="adj" fmla="val 717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 stays home</a:t>
            </a:r>
          </a:p>
          <a:p>
            <a:pPr algn="ctr">
              <a:lnSpc>
                <a:spcPct val="105000"/>
              </a:lnSpc>
              <a:spcBef>
                <a:spcPts val="0"/>
              </a:spcBef>
              <a:spcAft>
                <a:spcPts val="0"/>
              </a:spcAft>
            </a:pPr>
            <a:r>
              <a:rPr sz="950" b="0" i="0">
                <a:solidFill>
                  <a:srgbClr val="1A1A1A"/>
                </a:solidFill>
                <a:latin typeface="Calibri"/>
              </a:rPr>
              <a:t>the remote tool gets its arguments only</a:t>
            </a:r>
          </a:p>
        </p:txBody>
      </p:sp>
      <p:sp>
        <p:nvSpPr>
          <p:cNvPr id="24" name="Rounded Rectangle 23"/>
          <p:cNvSpPr/>
          <p:nvPr/>
        </p:nvSpPr>
        <p:spPr>
          <a:xfrm>
            <a:off x="9074267" y="3557940"/>
            <a:ext cx="2340187" cy="1019362"/>
          </a:xfrm>
          <a:prstGeom prst="roundRect">
            <a:avLst>
              <a:gd name="adj" fmla="val 7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host's models and budget</a:t>
            </a:r>
          </a:p>
          <a:p>
            <a:pPr algn="ctr">
              <a:lnSpc>
                <a:spcPct val="105000"/>
              </a:lnSpc>
              <a:spcBef>
                <a:spcPts val="0"/>
              </a:spcBef>
              <a:spcAft>
                <a:spcPts val="0"/>
              </a:spcAft>
            </a:pPr>
            <a:r>
              <a:rPr sz="950" b="0" i="0">
                <a:solidFill>
                  <a:srgbClr val="1A1A1A"/>
                </a:solidFill>
                <a:latin typeface="Calibri"/>
              </a:rPr>
              <a:t>spend reported back, never charged twice</a:t>
            </a:r>
          </a:p>
        </p:txBody>
      </p:sp>
      <p:sp>
        <p:nvSpPr>
          <p:cNvPr id="25" name="Rounded Rectangle 24"/>
          <p:cNvSpPr/>
          <p:nvPr/>
        </p:nvSpPr>
        <p:spPr>
          <a:xfrm>
            <a:off x="819788"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hop</a:t>
            </a:r>
          </a:p>
        </p:txBody>
      </p:sp>
      <p:sp>
        <p:nvSpPr>
          <p:cNvPr id="26" name="Rounded Rectangle 25"/>
          <p:cNvSpPr/>
          <p:nvPr/>
        </p:nvSpPr>
        <p:spPr>
          <a:xfrm>
            <a:off x="2149440"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composite</a:t>
            </a:r>
          </a:p>
        </p:txBody>
      </p:sp>
      <p:sp>
        <p:nvSpPr>
          <p:cNvPr id="27" name="Rounded Rectangle 26"/>
          <p:cNvSpPr/>
          <p:nvPr/>
        </p:nvSpPr>
        <p:spPr>
          <a:xfrm>
            <a:off x="3479092"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LLM tool</a:t>
            </a:r>
          </a:p>
        </p:txBody>
      </p:sp>
      <p:sp>
        <p:nvSpPr>
          <p:cNvPr id="28" name="Rounded Rectangle 27"/>
          <p:cNvSpPr/>
          <p:nvPr/>
        </p:nvSpPr>
        <p:spPr>
          <a:xfrm>
            <a:off x="4808744"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hop</a:t>
            </a:r>
          </a:p>
        </p:txBody>
      </p:sp>
      <p:sp>
        <p:nvSpPr>
          <p:cNvPr id="29" name="Rounded Rectangle 28"/>
          <p:cNvSpPr/>
          <p:nvPr/>
        </p:nvSpPr>
        <p:spPr>
          <a:xfrm>
            <a:off x="6138396"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0" name="Rounded Rectangle 29"/>
          <p:cNvSpPr/>
          <p:nvPr/>
        </p:nvSpPr>
        <p:spPr>
          <a:xfrm>
            <a:off x="7468048"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1" name="Rounded Rectangle 30"/>
          <p:cNvSpPr/>
          <p:nvPr/>
        </p:nvSpPr>
        <p:spPr>
          <a:xfrm>
            <a:off x="8797700"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2" name="Rounded Rectangle 31"/>
          <p:cNvSpPr/>
          <p:nvPr/>
        </p:nvSpPr>
        <p:spPr>
          <a:xfrm>
            <a:off x="10127352"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3" name="TextBox 32"/>
          <p:cNvSpPr txBox="1"/>
          <p:nvPr/>
        </p:nvSpPr>
        <p:spPr>
          <a:xfrm>
            <a:off x="777240" y="1611884"/>
            <a:ext cx="4786746" cy="27800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SHORTLIST ORDER (small nudges to the score)</a:t>
            </a:r>
          </a:p>
        </p:txBody>
      </p:sp>
      <p:sp>
        <p:nvSpPr>
          <p:cNvPr id="34" name="TextBox 33"/>
          <p:cNvSpPr txBox="1"/>
          <p:nvPr/>
        </p:nvSpPr>
        <p:spPr>
          <a:xfrm>
            <a:off x="777240" y="4994315"/>
            <a:ext cx="10637215" cy="37067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CALL-CHAIN BUDGET: hops plus nesting on every instance passed, at most 8 (sajhanet.max_call_chain, shipped)</a:t>
            </a:r>
          </a:p>
        </p:txBody>
      </p:sp>
      <p:cxnSp>
        <p:nvCxnSpPr>
          <p:cNvPr id="35" name="Connector 34"/>
          <p:cNvCxnSpPr/>
          <p:nvPr/>
        </p:nvCxnSpPr>
        <p:spPr>
          <a:xfrm>
            <a:off x="7737149" y="2353238"/>
            <a:ext cx="129139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149168" y="2115494"/>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call</a:t>
            </a:r>
          </a:p>
        </p:txBody>
      </p:sp>
      <p:cxnSp>
        <p:nvCxnSpPr>
          <p:cNvPr id="37" name="Connector 36"/>
          <p:cNvCxnSpPr/>
          <p:nvPr/>
        </p:nvCxnSpPr>
        <p:spPr>
          <a:xfrm>
            <a:off x="10244361" y="2862305"/>
            <a:ext cx="0" cy="64991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893638" y="2862305"/>
            <a:ext cx="0" cy="64991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RE-EXPORT AND BRIDGES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tool can travel one more hop, within a net or across a bridge, only when turned on</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One hop by default: a server exports only its own tools. Every instance on a longer chain must accept the extra hop (max_hops 2 for one intermediary), and the call-chain budget still applies on every step.</a:t>
            </a:r>
          </a:p>
        </p:txBody>
      </p:sp>
      <p:sp>
        <p:nvSpPr>
          <p:cNvPr id="19" name="Rectangle 18"/>
          <p:cNvSpPr/>
          <p:nvPr/>
        </p:nvSpPr>
        <p:spPr>
          <a:xfrm>
            <a:off x="777240" y="1530553"/>
            <a:ext cx="10637215" cy="1707946"/>
          </a:xfrm>
          <a:prstGeom prst="rect">
            <a:avLst/>
          </a:prstGeom>
          <a:noFill/>
          <a:ln w="15875">
            <a:solidFill>
              <a:srgbClr val="6B74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594561"/>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B7480"/>
                </a:solidFill>
                <a:latin typeface="Calibri"/>
              </a:rPr>
              <a:t>RE-EXPORT WITHIN ONE NET</a:t>
            </a:r>
          </a:p>
        </p:txBody>
      </p:sp>
      <p:sp>
        <p:nvSpPr>
          <p:cNvPr id="21" name="Rectangle 20"/>
          <p:cNvSpPr/>
          <p:nvPr/>
        </p:nvSpPr>
        <p:spPr>
          <a:xfrm>
            <a:off x="777240" y="3726484"/>
            <a:ext cx="6382329" cy="18706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790492"/>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NET M</a:t>
            </a:r>
          </a:p>
        </p:txBody>
      </p:sp>
      <p:sp>
        <p:nvSpPr>
          <p:cNvPr id="23" name="Rectangle 22"/>
          <p:cNvSpPr/>
          <p:nvPr/>
        </p:nvSpPr>
        <p:spPr>
          <a:xfrm>
            <a:off x="5032126" y="3889146"/>
            <a:ext cx="6382329" cy="1545285"/>
          </a:xfrm>
          <a:prstGeom prst="rect">
            <a:avLst/>
          </a:prstGeom>
          <a:noFill/>
          <a:ln w="15875">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41854" y="3953154"/>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293352"/>
                </a:solidFill>
                <a:latin typeface="Calibri"/>
              </a:rPr>
              <a:t>NET N</a:t>
            </a:r>
          </a:p>
        </p:txBody>
      </p:sp>
      <p:sp>
        <p:nvSpPr>
          <p:cNvPr id="25" name="Rounded Rectangle 24"/>
          <p:cNvSpPr/>
          <p:nvPr/>
        </p:nvSpPr>
        <p:spPr>
          <a:xfrm>
            <a:off x="777240" y="2018538"/>
            <a:ext cx="1701954" cy="813308"/>
          </a:xfrm>
          <a:prstGeom prst="roundRect">
            <a:avLst>
              <a:gd name="adj" fmla="val 89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home A</a:t>
            </a:r>
          </a:p>
          <a:p>
            <a:pPr algn="ctr">
              <a:lnSpc>
                <a:spcPct val="105000"/>
              </a:lnSpc>
              <a:spcBef>
                <a:spcPts val="0"/>
              </a:spcBef>
              <a:spcAft>
                <a:spcPts val="0"/>
              </a:spcAft>
            </a:pPr>
            <a:r>
              <a:rPr sz="1050" b="0" i="0">
                <a:solidFill>
                  <a:srgbClr val="1A1A1A"/>
                </a:solidFill>
                <a:latin typeface="Calibri"/>
              </a:rPr>
              <a:t>the caller</a:t>
            </a:r>
          </a:p>
        </p:txBody>
      </p:sp>
      <p:sp>
        <p:nvSpPr>
          <p:cNvPr id="26" name="Rounded Rectangle 25"/>
          <p:cNvSpPr/>
          <p:nvPr/>
        </p:nvSpPr>
        <p:spPr>
          <a:xfrm>
            <a:off x="4819381" y="2018538"/>
            <a:ext cx="2127443" cy="813308"/>
          </a:xfrm>
          <a:prstGeom prst="roundRect">
            <a:avLst>
              <a:gd name="adj" fmla="val 899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intermediary B</a:t>
            </a:r>
          </a:p>
          <a:p>
            <a:pPr algn="ctr">
              <a:lnSpc>
                <a:spcPct val="105000"/>
              </a:lnSpc>
              <a:spcBef>
                <a:spcPts val="0"/>
              </a:spcBef>
              <a:spcAft>
                <a:spcPts val="0"/>
              </a:spcAft>
            </a:pPr>
            <a:r>
              <a:rPr sz="1050" b="0" i="0">
                <a:solidFill>
                  <a:srgbClr val="FFFFFF"/>
                </a:solidFill>
                <a:latin typeface="Calibri"/>
              </a:rPr>
              <a:t>re-exports C's tool</a:t>
            </a:r>
          </a:p>
        </p:txBody>
      </p:sp>
      <p:sp>
        <p:nvSpPr>
          <p:cNvPr id="27" name="Rounded Rectangle 26"/>
          <p:cNvSpPr/>
          <p:nvPr/>
        </p:nvSpPr>
        <p:spPr>
          <a:xfrm>
            <a:off x="9499756" y="2018538"/>
            <a:ext cx="1914698" cy="813308"/>
          </a:xfrm>
          <a:prstGeom prst="roundRect">
            <a:avLst>
              <a:gd name="adj" fmla="val 899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origin C</a:t>
            </a:r>
          </a:p>
          <a:p>
            <a:pPr algn="ctr">
              <a:lnSpc>
                <a:spcPct val="105000"/>
              </a:lnSpc>
              <a:spcBef>
                <a:spcPts val="0"/>
              </a:spcBef>
              <a:spcAft>
                <a:spcPts val="0"/>
              </a:spcAft>
            </a:pPr>
            <a:r>
              <a:rPr sz="1050" b="0" i="0">
                <a:solidFill>
                  <a:srgbClr val="FFFFFF"/>
                </a:solidFill>
                <a:latin typeface="Calibri"/>
              </a:rPr>
              <a:t>hosts the tool</a:t>
            </a:r>
          </a:p>
        </p:txBody>
      </p:sp>
      <p:sp>
        <p:nvSpPr>
          <p:cNvPr id="28" name="Rounded Rectangle 27"/>
          <p:cNvSpPr/>
          <p:nvPr/>
        </p:nvSpPr>
        <p:spPr>
          <a:xfrm>
            <a:off x="1096356" y="4295800"/>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 of net M</a:t>
            </a:r>
          </a:p>
        </p:txBody>
      </p:sp>
      <p:sp>
        <p:nvSpPr>
          <p:cNvPr id="29" name="Hexagon 28"/>
          <p:cNvSpPr/>
          <p:nvPr/>
        </p:nvSpPr>
        <p:spPr>
          <a:xfrm>
            <a:off x="5138498" y="4133138"/>
            <a:ext cx="1914698" cy="101663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bridge</a:t>
            </a:r>
          </a:p>
          <a:p>
            <a:pPr algn="ctr">
              <a:lnSpc>
                <a:spcPct val="105000"/>
              </a:lnSpc>
              <a:spcBef>
                <a:spcPts val="0"/>
              </a:spcBef>
              <a:spcAft>
                <a:spcPts val="0"/>
              </a:spcAft>
            </a:pPr>
            <a:r>
              <a:rPr sz="1050" b="0" i="0">
                <a:solidFill>
                  <a:srgbClr val="FFFFFF"/>
                </a:solidFill>
                <a:latin typeface="Calibri"/>
              </a:rPr>
              <a:t>a server in both nets</a:t>
            </a:r>
          </a:p>
        </p:txBody>
      </p:sp>
      <p:sp>
        <p:nvSpPr>
          <p:cNvPr id="30" name="Rounded Rectangle 29"/>
          <p:cNvSpPr/>
          <p:nvPr/>
        </p:nvSpPr>
        <p:spPr>
          <a:xfrm>
            <a:off x="9180640" y="4295800"/>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 of net N</a:t>
            </a:r>
          </a:p>
        </p:txBody>
      </p:sp>
      <p:cxnSp>
        <p:nvCxnSpPr>
          <p:cNvPr id="31" name="Connector 30"/>
          <p:cNvCxnSpPr/>
          <p:nvPr/>
        </p:nvCxnSpPr>
        <p:spPr>
          <a:xfrm>
            <a:off x="2524914" y="2425192"/>
            <a:ext cx="224874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699074" y="2187448"/>
            <a:ext cx="190042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assertion, audience = C</a:t>
            </a:r>
          </a:p>
        </p:txBody>
      </p:sp>
      <p:cxnSp>
        <p:nvCxnSpPr>
          <p:cNvPr id="33" name="Connector 32"/>
          <p:cNvCxnSpPr/>
          <p:nvPr/>
        </p:nvCxnSpPr>
        <p:spPr>
          <a:xfrm>
            <a:off x="6992544" y="2425192"/>
            <a:ext cx="246149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161062" y="2187448"/>
            <a:ext cx="2124456"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relayed unchanged, hop + 1</a:t>
            </a:r>
          </a:p>
        </p:txBody>
      </p:sp>
      <p:cxnSp>
        <p:nvCxnSpPr>
          <p:cNvPr id="35" name="Connector 34"/>
          <p:cNvCxnSpPr/>
          <p:nvPr/>
        </p:nvCxnSpPr>
        <p:spPr>
          <a:xfrm flipH="1">
            <a:off x="7098916" y="4641456"/>
            <a:ext cx="203600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30662" y="4403712"/>
            <a:ext cx="257251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runs as the mapped local account</a:t>
            </a:r>
          </a:p>
        </p:txBody>
      </p:sp>
      <p:cxnSp>
        <p:nvCxnSpPr>
          <p:cNvPr id="37" name="Connector 36"/>
          <p:cNvCxnSpPr/>
          <p:nvPr/>
        </p:nvCxnSpPr>
        <p:spPr>
          <a:xfrm flipH="1">
            <a:off x="3056775" y="4641456"/>
            <a:ext cx="203600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75210" y="4403712"/>
            <a:ext cx="219913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a new assertion signed in M</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THREE WAYS TO TAKE PART</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Any MCP server can join: natively, through the agent, or sponsored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Callers and planners cannot tell the kinds apart; only the member record (kind, and sponsor) says which is which.</a:t>
            </a:r>
          </a:p>
        </p:txBody>
      </p:sp>
      <p:sp>
        <p:nvSpPr>
          <p:cNvPr id="19" name="Rounded Rectangle 18"/>
          <p:cNvSpPr/>
          <p:nvPr/>
        </p:nvSpPr>
        <p:spPr>
          <a:xfrm>
            <a:off x="777240" y="1489557"/>
            <a:ext cx="2765675" cy="914590"/>
          </a:xfrm>
          <a:prstGeom prst="roundRect">
            <a:avLst>
              <a:gd name="adj" fmla="val 799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instance</a:t>
            </a:r>
          </a:p>
          <a:p>
            <a:pPr algn="ctr">
              <a:lnSpc>
                <a:spcPct val="105000"/>
              </a:lnSpc>
              <a:spcBef>
                <a:spcPts val="0"/>
              </a:spcBef>
              <a:spcAft>
                <a:spcPts val="0"/>
              </a:spcAft>
            </a:pPr>
            <a:r>
              <a:rPr sz="1150" b="0" i="0">
                <a:solidFill>
                  <a:srgbClr val="FFFFFF"/>
                </a:solidFill>
                <a:latin typeface="Calibri"/>
              </a:rPr>
              <a:t>kind sajha: enforces its own rules</a:t>
            </a:r>
          </a:p>
        </p:txBody>
      </p:sp>
      <p:sp>
        <p:nvSpPr>
          <p:cNvPr id="20" name="Rounded Rectangle 19"/>
          <p:cNvSpPr/>
          <p:nvPr/>
        </p:nvSpPr>
        <p:spPr>
          <a:xfrm>
            <a:off x="777240" y="2861443"/>
            <a:ext cx="2765675" cy="914590"/>
          </a:xfrm>
          <a:prstGeom prst="roundRect">
            <a:avLst>
              <a:gd name="adj" fmla="val 7998"/>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Net agent</a:t>
            </a:r>
          </a:p>
          <a:p>
            <a:pPr algn="ctr">
              <a:lnSpc>
                <a:spcPct val="105000"/>
              </a:lnSpc>
              <a:spcBef>
                <a:spcPts val="0"/>
              </a:spcBef>
              <a:spcAft>
                <a:spcPts val="0"/>
              </a:spcAft>
            </a:pPr>
            <a:r>
              <a:rPr sz="1150" b="0" i="0">
                <a:solidFill>
                  <a:srgbClr val="FFFFFF"/>
                </a:solidFill>
                <a:latin typeface="Calibri"/>
              </a:rPr>
              <a:t>kind agent: a sidecar beside any MCP server</a:t>
            </a:r>
          </a:p>
        </p:txBody>
      </p:sp>
      <p:sp>
        <p:nvSpPr>
          <p:cNvPr id="21" name="Rounded Rectangle 20"/>
          <p:cNvSpPr/>
          <p:nvPr/>
        </p:nvSpPr>
        <p:spPr>
          <a:xfrm>
            <a:off x="777240" y="4507706"/>
            <a:ext cx="2765675" cy="685942"/>
          </a:xfrm>
          <a:prstGeom prst="roundRect">
            <a:avLst>
              <a:gd name="adj" fmla="val 1066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any MCP server</a:t>
            </a:r>
          </a:p>
          <a:p>
            <a:pPr algn="ctr">
              <a:lnSpc>
                <a:spcPct val="105000"/>
              </a:lnSpc>
              <a:spcBef>
                <a:spcPts val="0"/>
              </a:spcBef>
              <a:spcAft>
                <a:spcPts val="0"/>
              </a:spcAft>
            </a:pPr>
            <a:r>
              <a:rPr sz="950" b="0" i="0">
                <a:solidFill>
                  <a:srgbClr val="1A1A1A"/>
                </a:solidFill>
                <a:latin typeface="Calibri"/>
              </a:rPr>
              <a:t>stdio or Streamable HTTP</a:t>
            </a:r>
          </a:p>
        </p:txBody>
      </p:sp>
      <p:sp>
        <p:nvSpPr>
          <p:cNvPr id="22" name="Rounded Rectangle 21"/>
          <p:cNvSpPr/>
          <p:nvPr/>
        </p:nvSpPr>
        <p:spPr>
          <a:xfrm>
            <a:off x="4287521" y="2861443"/>
            <a:ext cx="2765675" cy="914590"/>
          </a:xfrm>
          <a:prstGeom prst="roundRect">
            <a:avLst>
              <a:gd name="adj" fmla="val 799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sponsor: a SAJHA server</a:t>
            </a:r>
          </a:p>
          <a:p>
            <a:pPr algn="ctr">
              <a:lnSpc>
                <a:spcPct val="105000"/>
              </a:lnSpc>
              <a:spcBef>
                <a:spcPts val="0"/>
              </a:spcBef>
              <a:spcAft>
                <a:spcPts val="0"/>
              </a:spcAft>
            </a:pPr>
            <a:r>
              <a:rPr sz="1150" b="0" i="0">
                <a:solidFill>
                  <a:srgbClr val="FFFFFF"/>
                </a:solidFill>
                <a:latin typeface="Calibri"/>
              </a:rPr>
              <a:t>kind sponsored: runs a node for it</a:t>
            </a:r>
          </a:p>
        </p:txBody>
      </p:sp>
      <p:sp>
        <p:nvSpPr>
          <p:cNvPr id="23" name="Rounded Rectangle 22"/>
          <p:cNvSpPr/>
          <p:nvPr/>
        </p:nvSpPr>
        <p:spPr>
          <a:xfrm>
            <a:off x="4287521" y="4507706"/>
            <a:ext cx="2765675" cy="685942"/>
          </a:xfrm>
          <a:prstGeom prst="roundRect">
            <a:avLst>
              <a:gd name="adj" fmla="val 10664"/>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vendor or SaaS MCP server</a:t>
            </a:r>
          </a:p>
          <a:p>
            <a:pPr algn="ctr">
              <a:lnSpc>
                <a:spcPct val="105000"/>
              </a:lnSpc>
              <a:spcBef>
                <a:spcPts val="0"/>
              </a:spcBef>
              <a:spcAft>
                <a:spcPts val="0"/>
              </a:spcAft>
            </a:pPr>
            <a:r>
              <a:rPr sz="950" b="0" i="0">
                <a:solidFill>
                  <a:srgbClr val="6E1120"/>
                </a:solidFill>
                <a:latin typeface="Calibri"/>
              </a:rPr>
              <a:t>knows nothing of SAJHA Net</a:t>
            </a:r>
          </a:p>
        </p:txBody>
      </p:sp>
      <p:sp>
        <p:nvSpPr>
          <p:cNvPr id="24" name="Rounded Rectangle 23"/>
          <p:cNvSpPr/>
          <p:nvPr/>
        </p:nvSpPr>
        <p:spPr>
          <a:xfrm>
            <a:off x="8436034" y="1489557"/>
            <a:ext cx="2978420" cy="914590"/>
          </a:xfrm>
          <a:prstGeom prst="roundRect">
            <a:avLst>
              <a:gd name="adj" fmla="val 7998"/>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conformance runner</a:t>
            </a:r>
          </a:p>
          <a:p>
            <a:pPr algn="ctr">
              <a:lnSpc>
                <a:spcPct val="105000"/>
              </a:lnSpc>
              <a:spcBef>
                <a:spcPts val="0"/>
              </a:spcBef>
              <a:spcAft>
                <a:spcPts val="0"/>
              </a:spcAft>
            </a:pPr>
            <a:r>
              <a:rPr sz="1150" b="0" i="0">
                <a:solidFill>
                  <a:srgbClr val="FFFFFF"/>
                </a:solidFill>
                <a:latin typeface="Calibri"/>
              </a:rPr>
              <a:t>python -m sajha.net.conformance</a:t>
            </a:r>
          </a:p>
        </p:txBody>
      </p:sp>
      <p:sp>
        <p:nvSpPr>
          <p:cNvPr id="25" name="Rounded Rectangle 24"/>
          <p:cNvSpPr/>
          <p:nvPr/>
        </p:nvSpPr>
        <p:spPr>
          <a:xfrm>
            <a:off x="8436034"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S</a:t>
            </a:r>
          </a:p>
          <a:p>
            <a:pPr algn="ctr">
              <a:lnSpc>
                <a:spcPct val="105000"/>
              </a:lnSpc>
              <a:spcBef>
                <a:spcPts val="0"/>
              </a:spcBef>
              <a:spcAft>
                <a:spcPts val="0"/>
              </a:spcAft>
            </a:pPr>
            <a:r>
              <a:rPr sz="1350" b="0" i="0">
                <a:solidFill>
                  <a:srgbClr val="1A1A1A"/>
                </a:solidFill>
                <a:latin typeface="Calibri"/>
              </a:rPr>
              <a:t>a SAJHA instance</a:t>
            </a:r>
          </a:p>
        </p:txBody>
      </p:sp>
      <p:sp>
        <p:nvSpPr>
          <p:cNvPr id="26" name="Rounded Rectangle 25"/>
          <p:cNvSpPr/>
          <p:nvPr/>
        </p:nvSpPr>
        <p:spPr>
          <a:xfrm>
            <a:off x="9473163"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A</a:t>
            </a:r>
          </a:p>
          <a:p>
            <a:pPr algn="ctr">
              <a:lnSpc>
                <a:spcPct val="105000"/>
              </a:lnSpc>
              <a:spcBef>
                <a:spcPts val="0"/>
              </a:spcBef>
              <a:spcAft>
                <a:spcPts val="0"/>
              </a:spcAft>
            </a:pPr>
            <a:r>
              <a:rPr sz="1350" b="0" i="0">
                <a:solidFill>
                  <a:srgbClr val="1A1A1A"/>
                </a:solidFill>
                <a:latin typeface="Calibri"/>
              </a:rPr>
              <a:t>the agent</a:t>
            </a:r>
          </a:p>
        </p:txBody>
      </p:sp>
      <p:sp>
        <p:nvSpPr>
          <p:cNvPr id="27" name="Rounded Rectangle 26"/>
          <p:cNvSpPr/>
          <p:nvPr/>
        </p:nvSpPr>
        <p:spPr>
          <a:xfrm>
            <a:off x="10510291"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L</a:t>
            </a:r>
          </a:p>
          <a:p>
            <a:pPr algn="ctr">
              <a:lnSpc>
                <a:spcPct val="105000"/>
              </a:lnSpc>
              <a:spcBef>
                <a:spcPts val="0"/>
              </a:spcBef>
              <a:spcAft>
                <a:spcPts val="0"/>
              </a:spcAft>
            </a:pPr>
            <a:r>
              <a:rPr sz="1350" b="0" i="0">
                <a:solidFill>
                  <a:srgbClr val="1A1A1A"/>
                </a:solidFill>
                <a:latin typeface="Calibri"/>
              </a:rPr>
              <a:t>the library</a:t>
            </a:r>
          </a:p>
        </p:txBody>
      </p:sp>
      <p:sp>
        <p:nvSpPr>
          <p:cNvPr id="28" name="TextBox 27"/>
          <p:cNvSpPr txBox="1"/>
          <p:nvPr/>
        </p:nvSpPr>
        <p:spPr>
          <a:xfrm>
            <a:off x="8436034" y="4141870"/>
            <a:ext cx="2978420" cy="1646262"/>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Each case passes, fails or is skipped</a:t>
            </a:r>
          </a:p>
          <a:p>
            <a:pPr algn="l">
              <a:lnSpc>
                <a:spcPct val="110000"/>
              </a:lnSpc>
              <a:spcBef>
                <a:spcPts val="0"/>
              </a:spcBef>
              <a:spcAft>
                <a:spcPts val="100"/>
              </a:spcAft>
            </a:pPr>
            <a:r>
              <a:rPr sz="1200" b="0" i="0">
                <a:solidFill>
                  <a:srgbClr val="6B7480"/>
                </a:solidFill>
                <a:latin typeface="Calibri"/>
              </a:rPr>
              <a:t>from outside, as a participant that</a:t>
            </a:r>
          </a:p>
          <a:p>
            <a:pPr algn="l">
              <a:lnSpc>
                <a:spcPct val="110000"/>
              </a:lnSpc>
              <a:spcBef>
                <a:spcPts val="0"/>
              </a:spcBef>
              <a:spcAft>
                <a:spcPts val="100"/>
              </a:spcAft>
            </a:pPr>
            <a:r>
              <a:rPr sz="1200" b="0" i="0">
                <a:solidFill>
                  <a:srgbClr val="6B7480"/>
                </a:solidFill>
                <a:latin typeface="Calibri"/>
              </a:rPr>
              <a:t>never joins; a mixed net test runs</a:t>
            </a:r>
          </a:p>
          <a:p>
            <a:pPr algn="l">
              <a:lnSpc>
                <a:spcPct val="110000"/>
              </a:lnSpc>
              <a:spcBef>
                <a:spcPts val="0"/>
              </a:spcBef>
              <a:spcAft>
                <a:spcPts val="100"/>
              </a:spcAft>
            </a:pPr>
            <a:r>
              <a:rPr sz="1200" b="0" i="0">
                <a:solidFill>
                  <a:srgbClr val="6B7480"/>
                </a:solidFill>
                <a:latin typeface="Calibri"/>
              </a:rPr>
              <a:t>all three targets in one net.</a:t>
            </a:r>
          </a:p>
        </p:txBody>
      </p:sp>
      <p:cxnSp>
        <p:nvCxnSpPr>
          <p:cNvPr id="29" name="Connector 28"/>
          <p:cNvCxnSpPr/>
          <p:nvPr/>
        </p:nvCxnSpPr>
        <p:spPr>
          <a:xfrm>
            <a:off x="2160077" y="3821753"/>
            <a:ext cx="0" cy="640233"/>
          </a:xfrm>
          <a:prstGeom prst="line">
            <a:avLst/>
          </a:prstGeom>
          <a:ln w="20320">
            <a:solidFill>
              <a:srgbClr val="6B7480"/>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670358" y="3821753"/>
            <a:ext cx="0" cy="640233"/>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734366" y="4050430"/>
            <a:ext cx="8940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federation</a:t>
            </a:r>
          </a:p>
        </p:txBody>
      </p:sp>
      <p:cxnSp>
        <p:nvCxnSpPr>
          <p:cNvPr id="32" name="Connector 31"/>
          <p:cNvCxnSpPr/>
          <p:nvPr/>
        </p:nvCxnSpPr>
        <p:spPr>
          <a:xfrm flipH="1">
            <a:off x="9228293" y="2441827"/>
            <a:ext cx="356775" cy="51912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925245" y="2449868"/>
            <a:ext cx="0" cy="50304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265422" y="2441827"/>
            <a:ext cx="356774" cy="51912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BLOCKS AND THE CONSOLE</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Each server blocks on its own terms, and the console draws the net</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Blocks are local decisions and shared information: each server publishes its blocks, so any console can draw them, but only the server that set a block enforces it. Problems reach administrators as system notices.</a:t>
            </a:r>
          </a:p>
        </p:txBody>
      </p:sp>
      <p:sp>
        <p:nvSpPr>
          <p:cNvPr id="19" name="Oval 18"/>
          <p:cNvSpPr/>
          <p:nvPr/>
        </p:nvSpPr>
        <p:spPr>
          <a:xfrm>
            <a:off x="2691938" y="3361378"/>
            <a:ext cx="1489210" cy="699485"/>
          </a:xfrm>
          <a:prstGeom prst="ellips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this server</a:t>
            </a:r>
          </a:p>
        </p:txBody>
      </p:sp>
      <p:sp>
        <p:nvSpPr>
          <p:cNvPr id="20" name="Oval 19"/>
          <p:cNvSpPr/>
          <p:nvPr/>
        </p:nvSpPr>
        <p:spPr>
          <a:xfrm>
            <a:off x="2745124" y="1984266"/>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risk-eu</a:t>
            </a:r>
          </a:p>
        </p:txBody>
      </p:sp>
      <p:sp>
        <p:nvSpPr>
          <p:cNvPr id="21" name="Oval 20"/>
          <p:cNvSpPr/>
          <p:nvPr/>
        </p:nvSpPr>
        <p:spPr>
          <a:xfrm>
            <a:off x="4768443" y="2981139"/>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treasury-na</a:t>
            </a:r>
          </a:p>
        </p:txBody>
      </p:sp>
      <p:sp>
        <p:nvSpPr>
          <p:cNvPr id="22" name="Oval 21"/>
          <p:cNvSpPr/>
          <p:nvPr/>
        </p:nvSpPr>
        <p:spPr>
          <a:xfrm>
            <a:off x="3995604" y="4594114"/>
            <a:ext cx="1382837" cy="568331"/>
          </a:xfrm>
          <a:prstGeom prst="ellipse">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cust-na</a:t>
            </a:r>
          </a:p>
          <a:p>
            <a:pPr algn="ctr">
              <a:lnSpc>
                <a:spcPct val="105000"/>
              </a:lnSpc>
              <a:spcBef>
                <a:spcPts val="0"/>
              </a:spcBef>
              <a:spcAft>
                <a:spcPts val="0"/>
              </a:spcAft>
            </a:pPr>
            <a:r>
              <a:rPr sz="850" b="0" i="0">
                <a:solidFill>
                  <a:srgbClr val="1A1A1A"/>
                </a:solidFill>
                <a:latin typeface="Calibri"/>
              </a:rPr>
              <a:t>suspect</a:t>
            </a:r>
          </a:p>
        </p:txBody>
      </p:sp>
      <p:sp>
        <p:nvSpPr>
          <p:cNvPr id="23" name="Oval 22"/>
          <p:cNvSpPr/>
          <p:nvPr/>
        </p:nvSpPr>
        <p:spPr>
          <a:xfrm>
            <a:off x="1494645" y="4594114"/>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risk-apac</a:t>
            </a:r>
          </a:p>
        </p:txBody>
      </p:sp>
      <p:sp>
        <p:nvSpPr>
          <p:cNvPr id="24" name="Oval 23"/>
          <p:cNvSpPr/>
          <p:nvPr/>
        </p:nvSpPr>
        <p:spPr>
          <a:xfrm>
            <a:off x="721806" y="2981139"/>
            <a:ext cx="1382837" cy="568331"/>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vendor-search</a:t>
            </a:r>
          </a:p>
        </p:txBody>
      </p:sp>
      <p:sp>
        <p:nvSpPr>
          <p:cNvPr id="25" name="Rounded Rectangle 24"/>
          <p:cNvSpPr/>
          <p:nvPr/>
        </p:nvSpPr>
        <p:spPr>
          <a:xfrm>
            <a:off x="6734080" y="1743817"/>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 instance, entirely</a:t>
            </a:r>
          </a:p>
        </p:txBody>
      </p:sp>
      <p:sp>
        <p:nvSpPr>
          <p:cNvPr id="26" name="Rounded Rectangle 25"/>
          <p:cNvSpPr/>
          <p:nvPr/>
        </p:nvSpPr>
        <p:spPr>
          <a:xfrm>
            <a:off x="6734080" y="2487021"/>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inbound calls only</a:t>
            </a:r>
          </a:p>
        </p:txBody>
      </p:sp>
      <p:sp>
        <p:nvSpPr>
          <p:cNvPr id="27" name="Rounded Rectangle 26"/>
          <p:cNvSpPr/>
          <p:nvPr/>
        </p:nvSpPr>
        <p:spPr>
          <a:xfrm>
            <a:off x="6734080" y="3230224"/>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outbound calls only</a:t>
            </a:r>
          </a:p>
        </p:txBody>
      </p:sp>
      <p:sp>
        <p:nvSpPr>
          <p:cNvPr id="28" name="Rounded Rectangle 27"/>
          <p:cNvSpPr/>
          <p:nvPr/>
        </p:nvSpPr>
        <p:spPr>
          <a:xfrm>
            <a:off x="6734080" y="3973428"/>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tool</a:t>
            </a:r>
          </a:p>
        </p:txBody>
      </p:sp>
      <p:sp>
        <p:nvSpPr>
          <p:cNvPr id="29" name="Rounded Rectangle 28"/>
          <p:cNvSpPr/>
          <p:nvPr/>
        </p:nvSpPr>
        <p:spPr>
          <a:xfrm>
            <a:off x="6734080" y="4716631"/>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remote user</a:t>
            </a:r>
          </a:p>
        </p:txBody>
      </p:sp>
      <p:sp>
        <p:nvSpPr>
          <p:cNvPr id="30" name="Rounded Rectangle 29"/>
          <p:cNvSpPr/>
          <p:nvPr/>
        </p:nvSpPr>
        <p:spPr>
          <a:xfrm>
            <a:off x="9287012" y="1743817"/>
            <a:ext cx="2127443" cy="568331"/>
          </a:xfrm>
          <a:prstGeom prst="roundRect">
            <a:avLst>
              <a:gd name="adj" fmla="val 1287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Instances</a:t>
            </a:r>
          </a:p>
        </p:txBody>
      </p:sp>
      <p:sp>
        <p:nvSpPr>
          <p:cNvPr id="31" name="Rounded Rectangle 30"/>
          <p:cNvSpPr/>
          <p:nvPr/>
        </p:nvSpPr>
        <p:spPr>
          <a:xfrm>
            <a:off x="9287012" y="2487021"/>
            <a:ext cx="2127443" cy="568331"/>
          </a:xfrm>
          <a:prstGeom prst="roundRect">
            <a:avLst>
              <a:gd name="adj" fmla="val 1287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Your net access</a:t>
            </a:r>
          </a:p>
        </p:txBody>
      </p:sp>
      <p:sp>
        <p:nvSpPr>
          <p:cNvPr id="32" name="Rounded Rectangle 31"/>
          <p:cNvSpPr/>
          <p:nvPr/>
        </p:nvSpPr>
        <p:spPr>
          <a:xfrm>
            <a:off x="9287012" y="3230224"/>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Net overview (topology)</a:t>
            </a:r>
          </a:p>
        </p:txBody>
      </p:sp>
      <p:sp>
        <p:nvSpPr>
          <p:cNvPr id="33" name="Rounded Rectangle 32"/>
          <p:cNvSpPr/>
          <p:nvPr/>
        </p:nvSpPr>
        <p:spPr>
          <a:xfrm>
            <a:off x="9287012" y="3973428"/>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Remote tools</a:t>
            </a:r>
          </a:p>
        </p:txBody>
      </p:sp>
      <p:sp>
        <p:nvSpPr>
          <p:cNvPr id="34" name="Rounded Rectangle 33"/>
          <p:cNvSpPr/>
          <p:nvPr/>
        </p:nvSpPr>
        <p:spPr>
          <a:xfrm>
            <a:off x="9287012" y="4716631"/>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SAJHA Net admin</a:t>
            </a:r>
          </a:p>
        </p:txBody>
      </p:sp>
      <p:sp>
        <p:nvSpPr>
          <p:cNvPr id="35" name="TextBox 34"/>
          <p:cNvSpPr txBox="1"/>
          <p:nvPr/>
        </p:nvSpPr>
        <p:spPr>
          <a:xfrm>
            <a:off x="777240" y="1306639"/>
            <a:ext cx="5318607"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TOPOLOGY: solid offers, dashed re-exports, thick calls</a:t>
            </a:r>
          </a:p>
        </p:txBody>
      </p:sp>
      <p:sp>
        <p:nvSpPr>
          <p:cNvPr id="36" name="TextBox 35"/>
          <p:cNvSpPr txBox="1"/>
          <p:nvPr/>
        </p:nvSpPr>
        <p:spPr>
          <a:xfrm>
            <a:off x="6734080" y="1306639"/>
            <a:ext cx="2127443"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BLOCK</a:t>
            </a:r>
          </a:p>
        </p:txBody>
      </p:sp>
      <p:sp>
        <p:nvSpPr>
          <p:cNvPr id="37" name="TextBox 36"/>
          <p:cNvSpPr txBox="1"/>
          <p:nvPr/>
        </p:nvSpPr>
        <p:spPr>
          <a:xfrm>
            <a:off x="9287012" y="1306639"/>
            <a:ext cx="2127443"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PAGES</a:t>
            </a:r>
          </a:p>
        </p:txBody>
      </p:sp>
      <p:cxnSp>
        <p:nvCxnSpPr>
          <p:cNvPr id="38" name="Connector 37"/>
          <p:cNvCxnSpPr/>
          <p:nvPr/>
        </p:nvCxnSpPr>
        <p:spPr>
          <a:xfrm flipV="1">
            <a:off x="3436543" y="2598318"/>
            <a:ext cx="0" cy="717340"/>
          </a:xfrm>
          <a:prstGeom prst="line">
            <a:avLst/>
          </a:prstGeom>
          <a:ln w="381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155310" y="3409411"/>
            <a:ext cx="650533" cy="14333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804683" y="4054731"/>
            <a:ext cx="570281" cy="53228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2498122" y="4054731"/>
            <a:ext cx="570281" cy="53228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067243" y="3409411"/>
            <a:ext cx="650533" cy="143337"/>
          </a:xfrm>
          <a:prstGeom prst="line">
            <a:avLst/>
          </a:prstGeom>
          <a:ln w="1524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06</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Data and analytics integration</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Search for what the world says, SQL and pivots for what your data says, calculators for the arithmetic, and guards so that none of it can write.</a:t>
            </a:r>
          </a:p>
        </p:txBody>
      </p:sp>
      <p:sp>
        <p:nvSpPr>
          <p:cNvPr id="15" name="TextBox 14"/>
          <p:cNvSpPr txBox="1"/>
          <p:nvPr/>
        </p:nvSpPr>
        <p:spPr>
          <a:xfrm>
            <a:off x="1143000" y="4410964"/>
            <a:ext cx="9905695" cy="18069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Search and the web   ·   DuckDB and OLAP   ·   Financial calculators   ·   The connector guard   ·   Search plus analytics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SEARCH AND THE WEB</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12 search, extraction and crawling tools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Results come back as structured text for a model, not raw HTML; Tavily calls need a Tavily key. For filings, 7 investor-relations tools (ir_*) find reports and presentations.</a:t>
            </a:r>
          </a:p>
        </p:txBody>
      </p:sp>
      <p:graphicFrame>
        <p:nvGraphicFramePr>
          <p:cNvPr id="19" name="Table 18"/>
          <p:cNvGraphicFramePr>
            <a:graphicFrameLocks noGrp="1"/>
          </p:cNvGraphicFramePr>
          <p:nvPr/>
        </p:nvGraphicFramePr>
        <p:xfrm>
          <a:off x="777240" y="1386967"/>
          <a:ext cx="10637214" cy="4238240"/>
        </p:xfrm>
        <a:graphic>
          <a:graphicData uri="http://schemas.openxmlformats.org/drawingml/2006/table">
            <a:tbl>
              <a:tblPr firstRow="1">
                <a:tableStyleId>{5C22544A-7EE6-4342-B048-85BDC9FD1C3A}</a:tableStyleId>
              </a:tblPr>
              <a:tblGrid>
                <a:gridCol w="2087048"/>
                <a:gridCol w="3231559"/>
                <a:gridCol w="2087048"/>
                <a:gridCol w="3231559"/>
              </a:tblGrid>
              <a:tr h="326612">
                <a:tc>
                  <a:txBody>
                    <a:bodyPr wrap="square"/>
                    <a:lstStyle/>
                    <a:p>
                      <a:r>
                        <a:rPr sz="1350" b="1">
                          <a:solidFill>
                            <a:srgbClr val="FFFFFF"/>
                          </a:solidFill>
                          <a:latin typeface="Calibri"/>
                        </a:rPr>
                        <a:t>Tool</a:t>
                      </a:r>
                    </a:p>
                  </a:txBody>
                  <a:tcPr marL="82296" marR="64008" marT="32004" marB="32004" anchor="ctr">
                    <a:solidFill>
                      <a:srgbClr val="A51C30"/>
                    </a:solidFill>
                  </a:tcPr>
                </a:tc>
                <a:tc>
                  <a:txBody>
                    <a:bodyPr wrap="square"/>
                    <a:lstStyle/>
                    <a:p>
                      <a:r>
                        <a:rPr sz="1350" b="1">
                          <a:solidFill>
                            <a:srgbClr val="FFFFFF"/>
                          </a:solidFill>
                          <a:latin typeface="Calibri"/>
                        </a:rPr>
                        <a:t>What it does</a:t>
                      </a:r>
                    </a:p>
                  </a:txBody>
                  <a:tcPr marL="82296" marR="64008" marT="32004" marB="32004" anchor="ctr">
                    <a:solidFill>
                      <a:srgbClr val="A51C30"/>
                    </a:solidFill>
                  </a:tcPr>
                </a:tc>
                <a:tc>
                  <a:txBody>
                    <a:bodyPr wrap="square"/>
                    <a:lstStyle/>
                    <a:p>
                      <a:r>
                        <a:rPr sz="1350" b="1">
                          <a:solidFill>
                            <a:srgbClr val="FFFFFF"/>
                          </a:solidFill>
                          <a:latin typeface="Calibri"/>
                        </a:rPr>
                        <a:t>Tool</a:t>
                      </a:r>
                    </a:p>
                  </a:txBody>
                  <a:tcPr marL="82296" marR="64008" marT="32004" marB="32004" anchor="ctr">
                    <a:solidFill>
                      <a:srgbClr val="A51C30"/>
                    </a:solidFill>
                  </a:tcPr>
                </a:tc>
                <a:tc>
                  <a:txBody>
                    <a:bodyPr wrap="square"/>
                    <a:lstStyle/>
                    <a:p>
                      <a:r>
                        <a:rPr sz="1350" b="1">
                          <a:solidFill>
                            <a:srgbClr val="FFFFFF"/>
                          </a:solidFill>
                          <a:latin typeface="Calibri"/>
                        </a:rPr>
                        <a:t>What it does</a:t>
                      </a:r>
                    </a:p>
                  </a:txBody>
                  <a:tcPr marL="82296" marR="64008" marT="32004" marB="32004" anchor="ctr">
                    <a:solidFill>
                      <a:srgbClr val="A51C30"/>
                    </a:solidFill>
                  </a:tcPr>
                </a:tc>
              </a:tr>
              <a:tr h="543496">
                <a:tc>
                  <a:txBody>
                    <a:bodyPr wrap="square"/>
                    <a:lstStyle/>
                    <a:p>
                      <a:r>
                        <a:rPr sz="1350" b="1">
                          <a:solidFill>
                            <a:srgbClr val="6E1120"/>
                          </a:solidFill>
                          <a:latin typeface="Calibri"/>
                        </a:rPr>
                        <a:t>crawl_sitemap</a:t>
                      </a:r>
                    </a:p>
                  </a:txBody>
                  <a:tcPr marL="82296" marR="64008" marT="32004" marB="32004" anchor="ctr">
                    <a:solidFill>
                      <a:srgbClr val="FFFFFF"/>
                    </a:solidFill>
                  </a:tcPr>
                </a:tc>
                <a:tc>
                  <a:txBody>
                    <a:bodyPr wrap="square"/>
                    <a:lstStyle/>
                    <a:p>
                      <a:r>
                        <a:rPr sz="1350" b="0">
                          <a:solidFill>
                            <a:srgbClr val="1A1A1A"/>
                          </a:solidFill>
                          <a:latin typeface="Calibri"/>
                        </a:rPr>
                        <a:t>Crawl and extract all URLs from a website's sitemap.xml file…</a:t>
                      </a:r>
                    </a:p>
                  </a:txBody>
                  <a:tcPr marL="82296" marR="64008" marT="32004" marB="32004" anchor="ctr">
                    <a:solidFill>
                      <a:srgbClr val="FFFFFF"/>
                    </a:solidFill>
                  </a:tcPr>
                </a:tc>
                <a:tc>
                  <a:txBody>
                    <a:bodyPr wrap="square"/>
                    <a:lstStyle/>
                    <a:p>
                      <a:r>
                        <a:rPr sz="1350" b="0">
                          <a:solidFill>
                            <a:srgbClr val="1A1A1A"/>
                          </a:solidFill>
                          <a:latin typeface="Calibri"/>
                        </a:rPr>
                        <a:t>tavily_news_search</a:t>
                      </a:r>
                    </a:p>
                  </a:txBody>
                  <a:tcPr marL="82296" marR="64008" marT="32004" marB="32004" anchor="ctr">
                    <a:solidFill>
                      <a:srgbClr val="FFFFFF"/>
                    </a:solidFill>
                  </a:tcPr>
                </a:tc>
                <a:tc>
                  <a:txBody>
                    <a:bodyPr wrap="square"/>
                    <a:lstStyle/>
                    <a:p>
                      <a:r>
                        <a:rPr sz="1350" b="0">
                          <a:solidFill>
                            <a:srgbClr val="1A1A1A"/>
                          </a:solidFill>
                          <a:latin typeface="Calibri"/>
                        </a:rPr>
                        <a:t>Search for recent news articles using Tavily with…</a:t>
                      </a:r>
                    </a:p>
                  </a:txBody>
                  <a:tcPr marL="82296" marR="64008" marT="32004" marB="32004" anchor="ctr">
                    <a:solidFill>
                      <a:srgbClr val="FFFFFF"/>
                    </a:solidFill>
                  </a:tcPr>
                </a:tc>
              </a:tr>
              <a:tr h="760380">
                <a:tc>
                  <a:txBody>
                    <a:bodyPr wrap="square"/>
                    <a:lstStyle/>
                    <a:p>
                      <a:r>
                        <a:rPr sz="1350" b="1">
                          <a:solidFill>
                            <a:srgbClr val="6E1120"/>
                          </a:solidFill>
                          <a:latin typeface="Calibri"/>
                        </a:rPr>
                        <a:t>crawl_url</a:t>
                      </a:r>
                    </a:p>
                  </a:txBody>
                  <a:tcPr marL="82296" marR="64008" marT="32004" marB="32004" anchor="ctr">
                    <a:solidFill>
                      <a:srgbClr val="F7F5F2"/>
                    </a:solidFill>
                  </a:tcPr>
                </a:tc>
                <a:tc>
                  <a:txBody>
                    <a:bodyPr wrap="square"/>
                    <a:lstStyle/>
                    <a:p>
                      <a:r>
                        <a:rPr sz="1350" b="0">
                          <a:solidFill>
                            <a:srgbClr val="1A1A1A"/>
                          </a:solidFill>
                          <a:latin typeface="Calibri"/>
                        </a:rPr>
                        <a:t>Recursively crawl a website starting from a URL, following…</a:t>
                      </a:r>
                    </a:p>
                  </a:txBody>
                  <a:tcPr marL="82296" marR="64008" marT="32004" marB="32004" anchor="ctr">
                    <a:solidFill>
                      <a:srgbClr val="F7F5F2"/>
                    </a:solidFill>
                  </a:tcPr>
                </a:tc>
                <a:tc>
                  <a:txBody>
                    <a:bodyPr wrap="square"/>
                    <a:lstStyle/>
                    <a:p>
                      <a:r>
                        <a:rPr sz="1350" b="0">
                          <a:solidFill>
                            <a:srgbClr val="1A1A1A"/>
                          </a:solidFill>
                          <a:latin typeface="Calibri"/>
                        </a:rPr>
                        <a:t>tavily_research_search</a:t>
                      </a:r>
                    </a:p>
                  </a:txBody>
                  <a:tcPr marL="82296" marR="64008" marT="32004" marB="32004" anchor="ctr">
                    <a:solidFill>
                      <a:srgbClr val="F7F5F2"/>
                    </a:solidFill>
                  </a:tcPr>
                </a:tc>
                <a:tc>
                  <a:txBody>
                    <a:bodyPr wrap="square"/>
                    <a:lstStyle/>
                    <a:p>
                      <a:r>
                        <a:rPr sz="1350" b="0">
                          <a:solidFill>
                            <a:srgbClr val="1A1A1A"/>
                          </a:solidFill>
                          <a:latin typeface="Calibri"/>
                        </a:rPr>
                        <a:t>Perform comprehensive research search with advanced depth…</a:t>
                      </a:r>
                    </a:p>
                  </a:txBody>
                  <a:tcPr marL="82296" marR="64008" marT="32004" marB="32004" anchor="ctr">
                    <a:solidFill>
                      <a:srgbClr val="F7F5F2"/>
                    </a:solidFill>
                  </a:tcPr>
                </a:tc>
              </a:tr>
              <a:tr h="760380">
                <a:tc>
                  <a:txBody>
                    <a:bodyPr wrap="square"/>
                    <a:lstStyle/>
                    <a:p>
                      <a:r>
                        <a:rPr sz="1350" b="1">
                          <a:solidFill>
                            <a:srgbClr val="6E1120"/>
                          </a:solidFill>
                          <a:latin typeface="Calibri"/>
                        </a:rPr>
                        <a:t>extract_content</a:t>
                      </a:r>
                    </a:p>
                  </a:txBody>
                  <a:tcPr marL="82296" marR="64008" marT="32004" marB="32004" anchor="ctr">
                    <a:solidFill>
                      <a:srgbClr val="FFFFFF"/>
                    </a:solidFill>
                  </a:tcPr>
                </a:tc>
                <a:tc>
                  <a:txBody>
                    <a:bodyPr wrap="square"/>
                    <a:lstStyle/>
                    <a:p>
                      <a:r>
                        <a:rPr sz="1350" b="0">
                          <a:solidFill>
                            <a:srgbClr val="1A1A1A"/>
                          </a:solidFill>
                          <a:latin typeface="Calibri"/>
                        </a:rPr>
                        <a:t>Extract structured content including text, images, and headings…</a:t>
                      </a:r>
                    </a:p>
                  </a:txBody>
                  <a:tcPr marL="82296" marR="64008" marT="32004" marB="32004" anchor="ctr">
                    <a:solidFill>
                      <a:srgbClr val="FFFFFF"/>
                    </a:solidFill>
                  </a:tcPr>
                </a:tc>
                <a:tc>
                  <a:txBody>
                    <a:bodyPr wrap="square"/>
                    <a:lstStyle/>
                    <a:p>
                      <a:r>
                        <a:rPr sz="1350" b="0">
                          <a:solidFill>
                            <a:srgbClr val="1A1A1A"/>
                          </a:solidFill>
                          <a:latin typeface="Calibri"/>
                        </a:rPr>
                        <a:t>tavily_web_search</a:t>
                      </a:r>
                    </a:p>
                  </a:txBody>
                  <a:tcPr marL="82296" marR="64008" marT="32004" marB="32004" anchor="ctr">
                    <a:solidFill>
                      <a:srgbClr val="FFFFFF"/>
                    </a:solidFill>
                  </a:tcPr>
                </a:tc>
                <a:tc>
                  <a:txBody>
                    <a:bodyPr wrap="square"/>
                    <a:lstStyle/>
                    <a:p>
                      <a:r>
                        <a:rPr sz="1350" b="0">
                          <a:solidFill>
                            <a:srgbClr val="1A1A1A"/>
                          </a:solidFill>
                          <a:latin typeface="Calibri"/>
                        </a:rPr>
                        <a:t>Perform general web search using Tavily AI-powered search…</a:t>
                      </a:r>
                    </a:p>
                  </a:txBody>
                  <a:tcPr marL="82296" marR="64008" marT="32004" marB="32004" anchor="ctr">
                    <a:solidFill>
                      <a:srgbClr val="FFFFFF"/>
                    </a:solidFill>
                  </a:tcPr>
                </a:tc>
              </a:tr>
              <a:tr h="543496">
                <a:tc>
                  <a:txBody>
                    <a:bodyPr wrap="square"/>
                    <a:lstStyle/>
                    <a:p>
                      <a:r>
                        <a:rPr sz="1350" b="1">
                          <a:solidFill>
                            <a:srgbClr val="6E1120"/>
                          </a:solidFill>
                          <a:latin typeface="Calibri"/>
                        </a:rPr>
                        <a:t>extract_links</a:t>
                      </a:r>
                    </a:p>
                  </a:txBody>
                  <a:tcPr marL="82296" marR="64008" marT="32004" marB="32004" anchor="ctr">
                    <a:solidFill>
                      <a:srgbClr val="F7F5F2"/>
                    </a:solidFill>
                  </a:tcPr>
                </a:tc>
                <a:tc>
                  <a:txBody>
                    <a:bodyPr wrap="square"/>
                    <a:lstStyle/>
                    <a:p>
                      <a:r>
                        <a:rPr sz="1350" b="0">
                          <a:solidFill>
                            <a:srgbClr val="1A1A1A"/>
                          </a:solidFill>
                          <a:latin typeface="Calibri"/>
                        </a:rPr>
                        <a:t>Extract all hyperlinks from a web page with options to…</a:t>
                      </a:r>
                    </a:p>
                  </a:txBody>
                  <a:tcPr marL="82296" marR="64008" marT="32004" marB="32004" anchor="ctr">
                    <a:solidFill>
                      <a:srgbClr val="F7F5F2"/>
                    </a:solidFill>
                  </a:tcPr>
                </a:tc>
                <a:tc>
                  <a:txBody>
                    <a:bodyPr wrap="square"/>
                    <a:lstStyle/>
                    <a:p>
                      <a:r>
                        <a:rPr sz="1350" b="0">
                          <a:solidFill>
                            <a:srgbClr val="1A1A1A"/>
                          </a:solidFill>
                          <a:latin typeface="Calibri"/>
                        </a:rPr>
                        <a:t>wiki_get_page</a:t>
                      </a:r>
                    </a:p>
                  </a:txBody>
                  <a:tcPr marL="82296" marR="64008" marT="32004" marB="32004" anchor="ctr">
                    <a:solidFill>
                      <a:srgbClr val="F7F5F2"/>
                    </a:solidFill>
                  </a:tcPr>
                </a:tc>
                <a:tc>
                  <a:txBody>
                    <a:bodyPr wrap="square"/>
                    <a:lstStyle/>
                    <a:p>
                      <a:r>
                        <a:rPr sz="1350" b="0">
                          <a:solidFill>
                            <a:srgbClr val="1A1A1A"/>
                          </a:solidFill>
                          <a:latin typeface="Calibri"/>
                        </a:rPr>
                        <a:t>Retrieve the complete content of a Wikipedia article by title…</a:t>
                      </a:r>
                    </a:p>
                  </a:txBody>
                  <a:tcPr marL="82296" marR="64008" marT="32004" marB="32004" anchor="ctr">
                    <a:solidFill>
                      <a:srgbClr val="F7F5F2"/>
                    </a:solidFill>
                  </a:tcPr>
                </a:tc>
              </a:tr>
              <a:tr h="760380">
                <a:tc>
                  <a:txBody>
                    <a:bodyPr wrap="square"/>
                    <a:lstStyle/>
                    <a:p>
                      <a:r>
                        <a:rPr sz="1350" b="1">
                          <a:solidFill>
                            <a:srgbClr val="6E1120"/>
                          </a:solidFill>
                          <a:latin typeface="Calibri"/>
                        </a:rPr>
                        <a:t>extract_metadata</a:t>
                      </a:r>
                    </a:p>
                  </a:txBody>
                  <a:tcPr marL="82296" marR="64008" marT="32004" marB="32004" anchor="ctr">
                    <a:solidFill>
                      <a:srgbClr val="FFFFFF"/>
                    </a:solidFill>
                  </a:tcPr>
                </a:tc>
                <a:tc>
                  <a:txBody>
                    <a:bodyPr wrap="square"/>
                    <a:lstStyle/>
                    <a:p>
                      <a:r>
                        <a:rPr sz="1350" b="0">
                          <a:solidFill>
                            <a:srgbClr val="1A1A1A"/>
                          </a:solidFill>
                          <a:latin typeface="Calibri"/>
                        </a:rPr>
                        <a:t>Extract SEO and structural metadata including title, meta tags…</a:t>
                      </a:r>
                    </a:p>
                  </a:txBody>
                  <a:tcPr marL="82296" marR="64008" marT="32004" marB="32004" anchor="ctr">
                    <a:solidFill>
                      <a:srgbClr val="FFFFFF"/>
                    </a:solidFill>
                  </a:tcPr>
                </a:tc>
                <a:tc>
                  <a:txBody>
                    <a:bodyPr wrap="square"/>
                    <a:lstStyle/>
                    <a:p>
                      <a:r>
                        <a:rPr sz="1350" b="0">
                          <a:solidFill>
                            <a:srgbClr val="1A1A1A"/>
                          </a:solidFill>
                          <a:latin typeface="Calibri"/>
                        </a:rPr>
                        <a:t>wiki_get_summary</a:t>
                      </a:r>
                    </a:p>
                  </a:txBody>
                  <a:tcPr marL="82296" marR="64008" marT="32004" marB="32004" anchor="ctr">
                    <a:solidFill>
                      <a:srgbClr val="FFFFFF"/>
                    </a:solidFill>
                  </a:tcPr>
                </a:tc>
                <a:tc>
                  <a:txBody>
                    <a:bodyPr wrap="square"/>
                    <a:lstStyle/>
                    <a:p>
                      <a:r>
                        <a:rPr sz="1350" b="0">
                          <a:solidFill>
                            <a:srgbClr val="1A1A1A"/>
                          </a:solidFill>
                          <a:latin typeface="Calibri"/>
                        </a:rPr>
                        <a:t>Retrieve a concise summary of a Wikipedia article</a:t>
                      </a:r>
                    </a:p>
                  </a:txBody>
                  <a:tcPr marL="82296" marR="64008" marT="32004" marB="32004" anchor="ctr">
                    <a:solidFill>
                      <a:srgbClr val="FFFFFF"/>
                    </a:solidFill>
                  </a:tcPr>
                </a:tc>
              </a:tr>
              <a:tr h="543496">
                <a:tc>
                  <a:txBody>
                    <a:bodyPr wrap="square"/>
                    <a:lstStyle/>
                    <a:p>
                      <a:r>
                        <a:rPr sz="1350" b="1">
                          <a:solidFill>
                            <a:srgbClr val="6E1120"/>
                          </a:solidFill>
                          <a:latin typeface="Calibri"/>
                        </a:rPr>
                        <a:t>tavily_domain_search</a:t>
                      </a:r>
                    </a:p>
                  </a:txBody>
                  <a:tcPr marL="82296" marR="64008" marT="32004" marB="32004" anchor="ctr">
                    <a:solidFill>
                      <a:srgbClr val="F7F5F2"/>
                    </a:solidFill>
                  </a:tcPr>
                </a:tc>
                <a:tc>
                  <a:txBody>
                    <a:bodyPr wrap="square"/>
                    <a:lstStyle/>
                    <a:p>
                      <a:r>
                        <a:rPr sz="1350" b="0">
                          <a:solidFill>
                            <a:srgbClr val="1A1A1A"/>
                          </a:solidFill>
                          <a:latin typeface="Calibri"/>
                        </a:rPr>
                        <a:t>Search within specific domains or exclude domains using Tavily…</a:t>
                      </a:r>
                    </a:p>
                  </a:txBody>
                  <a:tcPr marL="82296" marR="64008" marT="32004" marB="32004" anchor="ctr">
                    <a:solidFill>
                      <a:srgbClr val="F7F5F2"/>
                    </a:solidFill>
                  </a:tcPr>
                </a:tc>
                <a:tc>
                  <a:txBody>
                    <a:bodyPr wrap="square"/>
                    <a:lstStyle/>
                    <a:p>
                      <a:r>
                        <a:rPr sz="1350" b="0">
                          <a:solidFill>
                            <a:srgbClr val="1A1A1A"/>
                          </a:solidFill>
                          <a:latin typeface="Calibri"/>
                        </a:rPr>
                        <a:t>wiki_search</a:t>
                      </a:r>
                    </a:p>
                  </a:txBody>
                  <a:tcPr marL="82296" marR="64008" marT="32004" marB="32004" anchor="ctr">
                    <a:solidFill>
                      <a:srgbClr val="F7F5F2"/>
                    </a:solidFill>
                  </a:tcPr>
                </a:tc>
                <a:tc>
                  <a:txBody>
                    <a:bodyPr wrap="square"/>
                    <a:lstStyle/>
                    <a:p>
                      <a:r>
                        <a:rPr sz="1350" b="0">
                          <a:solidFill>
                            <a:srgbClr val="1A1A1A"/>
                          </a:solidFill>
                          <a:latin typeface="Calibri"/>
                        </a:rPr>
                        <a:t>Search Wikipedia articles by keyword or phrase</a:t>
                      </a:r>
                    </a:p>
                  </a:txBody>
                  <a:tcPr marL="82296" marR="64008" marT="32004" marB="32004" anchor="ctr">
                    <a:solidFill>
                      <a:srgbClr val="F7F5F2"/>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DUCKDB AND OLAP</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SQL over your files, pivots and statistics, read-only by construction</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duckdb_sql accepts one read-only statement and cannot read arbitrary files or URLs; the OLAP tools bind values instead of pasting them into SQL.</a:t>
            </a:r>
          </a:p>
        </p:txBody>
      </p:sp>
      <p:graphicFrame>
        <p:nvGraphicFramePr>
          <p:cNvPr id="19" name="Table 18"/>
          <p:cNvGraphicFramePr>
            <a:graphicFrameLocks noGrp="1"/>
          </p:cNvGraphicFramePr>
          <p:nvPr/>
        </p:nvGraphicFramePr>
        <p:xfrm>
          <a:off x="777240" y="1290574"/>
          <a:ext cx="10637214" cy="4313106"/>
        </p:xfrm>
        <a:graphic>
          <a:graphicData uri="http://schemas.openxmlformats.org/drawingml/2006/table">
            <a:tbl>
              <a:tblPr firstRow="1">
                <a:tableStyleId>{5C22544A-7EE6-4342-B048-85BDC9FD1C3A}</a:tableStyleId>
              </a:tblPr>
              <a:tblGrid>
                <a:gridCol w="2087048"/>
                <a:gridCol w="3231559"/>
                <a:gridCol w="2087048"/>
                <a:gridCol w="3231559"/>
              </a:tblGrid>
              <a:tr h="294481">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r>
              <a:tr h="479234">
                <a:tc>
                  <a:txBody>
                    <a:bodyPr wrap="square"/>
                    <a:lstStyle/>
                    <a:p>
                      <a:r>
                        <a:rPr sz="1150" b="1">
                          <a:solidFill>
                            <a:srgbClr val="6E1120"/>
                          </a:solidFill>
                          <a:latin typeface="Calibri"/>
                        </a:rPr>
                        <a:t>duckdb_aggregate</a:t>
                      </a:r>
                    </a:p>
                  </a:txBody>
                  <a:tcPr marL="82296" marR="64008" marT="32004" marB="32004" anchor="ctr">
                    <a:solidFill>
                      <a:srgbClr val="FFFFFF"/>
                    </a:solidFill>
                  </a:tcPr>
                </a:tc>
                <a:tc>
                  <a:txBody>
                    <a:bodyPr wrap="square"/>
                    <a:lstStyle/>
                    <a:p>
                      <a:r>
                        <a:rPr sz="1150" b="0">
                          <a:solidFill>
                            <a:srgbClr val="1A1A1A"/>
                          </a:solidFill>
                          <a:latin typeface="Calibri"/>
                        </a:rPr>
                        <a:t>Perform aggregation operations on tables with grouping (SUM…</a:t>
                      </a:r>
                    </a:p>
                  </a:txBody>
                  <a:tcPr marL="82296" marR="64008" marT="32004" marB="32004" anchor="ctr">
                    <a:solidFill>
                      <a:srgbClr val="FFFFFF"/>
                    </a:solidFill>
                  </a:tcPr>
                </a:tc>
                <a:tc>
                  <a:txBody>
                    <a:bodyPr wrap="square"/>
                    <a:lstStyle/>
                    <a:p>
                      <a:r>
                        <a:rPr sz="1150" b="0">
                          <a:solidFill>
                            <a:srgbClr val="1A1A1A"/>
                          </a:solidFill>
                          <a:latin typeface="Calibri"/>
                        </a:rPr>
                        <a:t>olap_pivot_table</a:t>
                      </a:r>
                    </a:p>
                  </a:txBody>
                  <a:tcPr marL="82296" marR="64008" marT="32004" marB="32004" anchor="ctr">
                    <a:solidFill>
                      <a:srgbClr val="FFFFFF"/>
                    </a:solidFill>
                  </a:tcPr>
                </a:tc>
                <a:tc>
                  <a:txBody>
                    <a:bodyPr wrap="square"/>
                    <a:lstStyle/>
                    <a:p>
                      <a:r>
                        <a:rPr sz="1150" b="0">
                          <a:solidFill>
                            <a:srgbClr val="1A1A1A"/>
                          </a:solidFill>
                          <a:latin typeface="Calibri"/>
                        </a:rPr>
                        <a:t>Create interactive pivot tables for multi-dimensional analysis…</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duckdb_describe_table</a:t>
                      </a:r>
                    </a:p>
                  </a:txBody>
                  <a:tcPr marL="82296" marR="64008" marT="32004" marB="32004" anchor="ctr">
                    <a:solidFill>
                      <a:srgbClr val="F7F5F2"/>
                    </a:solidFill>
                  </a:tcPr>
                </a:tc>
                <a:tc>
                  <a:txBody>
                    <a:bodyPr wrap="square"/>
                    <a:lstStyle/>
                    <a:p>
                      <a:r>
                        <a:rPr sz="1150" b="0">
                          <a:solidFill>
                            <a:srgbClr val="1A1A1A"/>
                          </a:solidFill>
                          <a:latin typeface="Calibri"/>
                        </a:rPr>
                        <a:t>Get detailed schema information for a specific table or view…</a:t>
                      </a:r>
                    </a:p>
                  </a:txBody>
                  <a:tcPr marL="82296" marR="64008" marT="32004" marB="32004" anchor="ctr">
                    <a:solidFill>
                      <a:srgbClr val="F7F5F2"/>
                    </a:solidFill>
                  </a:tcPr>
                </a:tc>
                <a:tc>
                  <a:txBody>
                    <a:bodyPr wrap="square"/>
                    <a:lstStyle/>
                    <a:p>
                      <a:r>
                        <a:rPr sz="1150" b="0">
                          <a:solidFill>
                            <a:srgbClr val="1A1A1A"/>
                          </a:solidFill>
                          <a:latin typeface="Calibri"/>
                        </a:rPr>
                        <a:t>olap_time_series</a:t>
                      </a:r>
                    </a:p>
                  </a:txBody>
                  <a:tcPr marL="82296" marR="64008" marT="32004" marB="32004" anchor="ctr">
                    <a:solidFill>
                      <a:srgbClr val="F7F5F2"/>
                    </a:solidFill>
                  </a:tcPr>
                </a:tc>
                <a:tc>
                  <a:txBody>
                    <a:bodyPr wrap="square"/>
                    <a:lstStyle/>
                    <a:p>
                      <a:r>
                        <a:rPr sz="1150" b="0">
                          <a:solidFill>
                            <a:srgbClr val="1A1A1A"/>
                          </a:solidFill>
                          <a:latin typeface="Calibri"/>
                        </a:rPr>
                        <a:t>Analyze time series data with flexible granularity, gap…</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duckdb_get_stats</a:t>
                      </a:r>
                    </a:p>
                  </a:txBody>
                  <a:tcPr marL="82296" marR="64008" marT="32004" marB="32004" anchor="ctr">
                    <a:solidFill>
                      <a:srgbClr val="FFFFFF"/>
                    </a:solidFill>
                  </a:tcPr>
                </a:tc>
                <a:tc>
                  <a:txBody>
                    <a:bodyPr wrap="square"/>
                    <a:lstStyle/>
                    <a:p>
                      <a:r>
                        <a:rPr sz="1150" b="0">
                          <a:solidFill>
                            <a:srgbClr val="1A1A1A"/>
                          </a:solidFill>
                          <a:latin typeface="Calibri"/>
                        </a:rPr>
                        <a:t>Get statistical summary for numeric columns in a table (count…</a:t>
                      </a:r>
                    </a:p>
                  </a:txBody>
                  <a:tcPr marL="82296" marR="64008" marT="32004" marB="32004" anchor="ctr">
                    <a:solidFill>
                      <a:srgbClr val="FFFFFF"/>
                    </a:solidFill>
                  </a:tcPr>
                </a:tc>
                <a:tc>
                  <a:txBody>
                    <a:bodyPr wrap="square"/>
                    <a:lstStyle/>
                    <a:p>
                      <a:r>
                        <a:rPr sz="1150" b="0">
                          <a:solidFill>
                            <a:srgbClr val="1A1A1A"/>
                          </a:solidFill>
                          <a:latin typeface="Calibri"/>
                        </a:rPr>
                        <a:t>sqlselect_count_rows</a:t>
                      </a:r>
                    </a:p>
                  </a:txBody>
                  <a:tcPr marL="82296" marR="64008" marT="32004" marB="32004" anchor="ctr">
                    <a:solidFill>
                      <a:srgbClr val="FFFFFF"/>
                    </a:solidFill>
                  </a:tcPr>
                </a:tc>
                <a:tc>
                  <a:txBody>
                    <a:bodyPr wrap="square"/>
                    <a:lstStyle/>
                    <a:p>
                      <a:r>
                        <a:rPr sz="1150" b="0">
                          <a:solidFill>
                            <a:srgbClr val="1A1A1A"/>
                          </a:solidFill>
                          <a:latin typeface="Calibri"/>
                        </a:rPr>
                        <a:t>Count rows in a data source with optional WHERE clause…</a:t>
                      </a:r>
                    </a:p>
                  </a:txBody>
                  <a:tcPr marL="82296" marR="64008" marT="32004" marB="32004" anchor="ctr">
                    <a:solidFill>
                      <a:srgbClr val="FFFFFF"/>
                    </a:solidFill>
                  </a:tcPr>
                </a:tc>
              </a:tr>
              <a:tr h="663987">
                <a:tc>
                  <a:txBody>
                    <a:bodyPr wrap="square"/>
                    <a:lstStyle/>
                    <a:p>
                      <a:r>
                        <a:rPr sz="1150" b="1">
                          <a:solidFill>
                            <a:srgbClr val="6E1120"/>
                          </a:solidFill>
                          <a:latin typeface="Calibri"/>
                        </a:rPr>
                        <a:t>duckdb_list_files</a:t>
                      </a:r>
                    </a:p>
                  </a:txBody>
                  <a:tcPr marL="82296" marR="64008" marT="32004" marB="32004" anchor="ctr">
                    <a:solidFill>
                      <a:srgbClr val="F7F5F2"/>
                    </a:solidFill>
                  </a:tcPr>
                </a:tc>
                <a:tc>
                  <a:txBody>
                    <a:bodyPr wrap="square"/>
                    <a:lstStyle/>
                    <a:p>
                      <a:r>
                        <a:rPr sz="1150" b="0">
                          <a:solidFill>
                            <a:srgbClr val="1A1A1A"/>
                          </a:solidFill>
                          <a:latin typeface="Calibri"/>
                        </a:rPr>
                        <a:t>List available data files (CSV, Parquet, JSON) in the data…</a:t>
                      </a:r>
                    </a:p>
                  </a:txBody>
                  <a:tcPr marL="82296" marR="64008" marT="32004" marB="32004" anchor="ctr">
                    <a:solidFill>
                      <a:srgbClr val="F7F5F2"/>
                    </a:solidFill>
                  </a:tcPr>
                </a:tc>
                <a:tc>
                  <a:txBody>
                    <a:bodyPr wrap="square"/>
                    <a:lstStyle/>
                    <a:p>
                      <a:r>
                        <a:rPr sz="1150" b="0">
                          <a:solidFill>
                            <a:srgbClr val="1A1A1A"/>
                          </a:solidFill>
                          <a:latin typeface="Calibri"/>
                        </a:rPr>
                        <a:t>sqlselect_describe_source</a:t>
                      </a:r>
                    </a:p>
                  </a:txBody>
                  <a:tcPr marL="82296" marR="64008" marT="32004" marB="32004" anchor="ctr">
                    <a:solidFill>
                      <a:srgbClr val="F7F5F2"/>
                    </a:solidFill>
                  </a:tcPr>
                </a:tc>
                <a:tc>
                  <a:txBody>
                    <a:bodyPr wrap="square"/>
                    <a:lstStyle/>
                    <a:p>
                      <a:r>
                        <a:rPr sz="1150" b="0">
                          <a:solidFill>
                            <a:srgbClr val="1A1A1A"/>
                          </a:solidFill>
                          <a:latin typeface="Calibri"/>
                        </a:rPr>
                        <a:t>Get detailed information about a specific data source including…</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duckdb_list_tables</a:t>
                      </a:r>
                    </a:p>
                  </a:txBody>
                  <a:tcPr marL="82296" marR="64008" marT="32004" marB="32004" anchor="ctr">
                    <a:solidFill>
                      <a:srgbClr val="FFFFFF"/>
                    </a:solidFill>
                  </a:tcPr>
                </a:tc>
                <a:tc>
                  <a:txBody>
                    <a:bodyPr wrap="square"/>
                    <a:lstStyle/>
                    <a:p>
                      <a:r>
                        <a:rPr sz="1150" b="0">
                          <a:solidFill>
                            <a:srgbClr val="1A1A1A"/>
                          </a:solidFill>
                          <a:latin typeface="Calibri"/>
                        </a:rPr>
                        <a:t>List all available tables and views in the DuckDB database</a:t>
                      </a:r>
                    </a:p>
                  </a:txBody>
                  <a:tcPr marL="82296" marR="64008" marT="32004" marB="32004" anchor="ctr">
                    <a:solidFill>
                      <a:srgbClr val="FFFFFF"/>
                    </a:solidFill>
                  </a:tcPr>
                </a:tc>
                <a:tc>
                  <a:txBody>
                    <a:bodyPr wrap="square"/>
                    <a:lstStyle/>
                    <a:p>
                      <a:r>
                        <a:rPr sz="1150" b="0">
                          <a:solidFill>
                            <a:srgbClr val="1A1A1A"/>
                          </a:solidFill>
                          <a:latin typeface="Calibri"/>
                        </a:rPr>
                        <a:t>sqlselect_execute_query</a:t>
                      </a:r>
                    </a:p>
                  </a:txBody>
                  <a:tcPr marL="82296" marR="64008" marT="32004" marB="32004" anchor="ctr">
                    <a:solidFill>
                      <a:srgbClr val="FFFFFF"/>
                    </a:solidFill>
                  </a:tcPr>
                </a:tc>
                <a:tc>
                  <a:txBody>
                    <a:bodyPr wrap="square"/>
                    <a:lstStyle/>
                    <a:p>
                      <a:r>
                        <a:rPr sz="1150" b="0">
                          <a:solidFill>
                            <a:srgbClr val="1A1A1A"/>
                          </a:solidFill>
                          <a:latin typeface="Calibri"/>
                        </a:rPr>
                        <a:t>Execute SQL SELECT queries on configured data sources with…</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duckdb_query</a:t>
                      </a:r>
                    </a:p>
                  </a:txBody>
                  <a:tcPr marL="82296" marR="64008" marT="32004" marB="32004" anchor="ctr">
                    <a:solidFill>
                      <a:srgbClr val="F7F5F2"/>
                    </a:solidFill>
                  </a:tcPr>
                </a:tc>
                <a:tc>
                  <a:txBody>
                    <a:bodyPr wrap="square"/>
                    <a:lstStyle/>
                    <a:p>
                      <a:r>
                        <a:rPr sz="1150" b="0">
                          <a:solidFill>
                            <a:srgbClr val="1A1A1A"/>
                          </a:solidFill>
                          <a:latin typeface="Calibri"/>
                        </a:rPr>
                        <a:t>Execute SQL queries on CSV, Parquet, and JSON files using…</a:t>
                      </a:r>
                    </a:p>
                  </a:txBody>
                  <a:tcPr marL="82296" marR="64008" marT="32004" marB="32004" anchor="ctr">
                    <a:solidFill>
                      <a:srgbClr val="F7F5F2"/>
                    </a:solidFill>
                  </a:tcPr>
                </a:tc>
                <a:tc>
                  <a:txBody>
                    <a:bodyPr wrap="square"/>
                    <a:lstStyle/>
                    <a:p>
                      <a:r>
                        <a:rPr sz="1150" b="0">
                          <a:solidFill>
                            <a:srgbClr val="1A1A1A"/>
                          </a:solidFill>
                          <a:latin typeface="Calibri"/>
                        </a:rPr>
                        <a:t>sqlselect_get_schema</a:t>
                      </a:r>
                    </a:p>
                  </a:txBody>
                  <a:tcPr marL="82296" marR="64008" marT="32004" marB="32004" anchor="ctr">
                    <a:solidFill>
                      <a:srgbClr val="F7F5F2"/>
                    </a:solidFill>
                  </a:tcPr>
                </a:tc>
                <a:tc>
                  <a:txBody>
                    <a:bodyPr wrap="square"/>
                    <a:lstStyle/>
                    <a:p>
                      <a:r>
                        <a:rPr sz="1150" b="0">
                          <a:solidFill>
                            <a:srgbClr val="1A1A1A"/>
                          </a:solidFill>
                          <a:latin typeface="Calibri"/>
                        </a:rPr>
                        <a:t>Get detailed schema information for a data source including…</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duckdb_refresh_views</a:t>
                      </a:r>
                    </a:p>
                  </a:txBody>
                  <a:tcPr marL="82296" marR="64008" marT="32004" marB="32004" anchor="ctr">
                    <a:solidFill>
                      <a:srgbClr val="FFFFFF"/>
                    </a:solidFill>
                  </a:tcPr>
                </a:tc>
                <a:tc>
                  <a:txBody>
                    <a:bodyPr wrap="square"/>
                    <a:lstStyle/>
                    <a:p>
                      <a:r>
                        <a:rPr sz="1150" b="0">
                          <a:solidFill>
                            <a:srgbClr val="1A1A1A"/>
                          </a:solidFill>
                          <a:latin typeface="Calibri"/>
                        </a:rPr>
                        <a:t>Refresh materialized views or reload external data files into…</a:t>
                      </a:r>
                    </a:p>
                  </a:txBody>
                  <a:tcPr marL="82296" marR="64008" marT="32004" marB="32004" anchor="ctr">
                    <a:solidFill>
                      <a:srgbClr val="FFFFFF"/>
                    </a:solidFill>
                  </a:tcPr>
                </a:tc>
                <a:tc>
                  <a:txBody>
                    <a:bodyPr wrap="square"/>
                    <a:lstStyle/>
                    <a:p>
                      <a:r>
                        <a:rPr sz="1150" b="0">
                          <a:solidFill>
                            <a:srgbClr val="1A1A1A"/>
                          </a:solidFill>
                          <a:latin typeface="Calibri"/>
                        </a:rPr>
                        <a:t>sqlselect_list_sources</a:t>
                      </a:r>
                    </a:p>
                  </a:txBody>
                  <a:tcPr marL="82296" marR="64008" marT="32004" marB="32004" anchor="ctr">
                    <a:solidFill>
                      <a:srgbClr val="FFFFFF"/>
                    </a:solidFill>
                  </a:tcPr>
                </a:tc>
                <a:tc>
                  <a:txBody>
                    <a:bodyPr wrap="square"/>
                    <a:lstStyle/>
                    <a:p>
                      <a:r>
                        <a:rPr sz="1150" b="0">
                          <a:solidFill>
                            <a:srgbClr val="1A1A1A"/>
                          </a:solidFill>
                          <a:latin typeface="Calibri"/>
                        </a:rPr>
                        <a:t>List all available data sources with their metadata and file…</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duckdb_sql</a:t>
                      </a:r>
                    </a:p>
                  </a:txBody>
                  <a:tcPr marL="82296" marR="64008" marT="32004" marB="32004" anchor="ctr">
                    <a:solidFill>
                      <a:srgbClr val="F7F5F2"/>
                    </a:solidFill>
                  </a:tcPr>
                </a:tc>
                <a:tc>
                  <a:txBody>
                    <a:bodyPr wrap="square"/>
                    <a:lstStyle/>
                    <a:p>
                      <a:r>
                        <a:rPr sz="1150" b="0">
                          <a:solidFill>
                            <a:srgbClr val="1A1A1A"/>
                          </a:solidFill>
                          <a:latin typeface="Calibri"/>
                        </a:rPr>
                        <a:t>Execute SQL queries directly on CSV data files</a:t>
                      </a:r>
                    </a:p>
                  </a:txBody>
                  <a:tcPr marL="82296" marR="64008" marT="32004" marB="32004" anchor="ctr">
                    <a:solidFill>
                      <a:srgbClr val="F7F5F2"/>
                    </a:solidFill>
                  </a:tcPr>
                </a:tc>
                <a:tc>
                  <a:txBody>
                    <a:bodyPr wrap="square"/>
                    <a:lstStyle/>
                    <a:p>
                      <a:r>
                        <a:rPr sz="1150" b="0">
                          <a:solidFill>
                            <a:srgbClr val="1A1A1A"/>
                          </a:solidFill>
                          <a:latin typeface="Calibri"/>
                        </a:rPr>
                        <a:t>sqlselect_sample_data</a:t>
                      </a:r>
                    </a:p>
                  </a:txBody>
                  <a:tcPr marL="82296" marR="64008" marT="32004" marB="32004" anchor="ctr">
                    <a:solidFill>
                      <a:srgbClr val="F7F5F2"/>
                    </a:solidFill>
                  </a:tcPr>
                </a:tc>
                <a:tc>
                  <a:txBody>
                    <a:bodyPr wrap="square"/>
                    <a:lstStyle/>
                    <a:p>
                      <a:r>
                        <a:rPr sz="1150" b="0">
                          <a:solidFill>
                            <a:srgbClr val="1A1A1A"/>
                          </a:solidFill>
                          <a:latin typeface="Calibri"/>
                        </a:rPr>
                        <a:t>Retrieve sample rows from a data source for quick preview and…</a:t>
                      </a:r>
                    </a:p>
                  </a:txBody>
                  <a:tcPr marL="82296" marR="64008" marT="32004" marB="32004" anchor="ctr">
                    <a:solidFill>
                      <a:srgbClr val="F7F5F2"/>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FINANCIAL CALCULATORS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19 calculators: pure arithmetic, no network, confidence 1.0</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79</a:t>
            </a:r>
          </a:p>
        </p:txBody>
      </p:sp>
      <p:graphicFrame>
        <p:nvGraphicFramePr>
          <p:cNvPr id="17" name="Table 16"/>
          <p:cNvGraphicFramePr>
            <a:graphicFrameLocks noGrp="1"/>
          </p:cNvGraphicFramePr>
          <p:nvPr/>
        </p:nvGraphicFramePr>
        <p:xfrm>
          <a:off x="777240" y="1354836"/>
          <a:ext cx="10637214" cy="4717315"/>
        </p:xfrm>
        <a:graphic>
          <a:graphicData uri="http://schemas.openxmlformats.org/drawingml/2006/table">
            <a:tbl>
              <a:tblPr firstRow="1">
                <a:tableStyleId>{5C22544A-7EE6-4342-B048-85BDC9FD1C3A}</a:tableStyleId>
              </a:tblPr>
              <a:tblGrid>
                <a:gridCol w="2087048"/>
                <a:gridCol w="3231559"/>
                <a:gridCol w="2087048"/>
                <a:gridCol w="3231559"/>
              </a:tblGrid>
              <a:tr h="294481">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r>
              <a:tr h="479234">
                <a:tc>
                  <a:txBody>
                    <a:bodyPr wrap="square"/>
                    <a:lstStyle/>
                    <a:p>
                      <a:r>
                        <a:rPr sz="1150" b="1">
                          <a:solidFill>
                            <a:srgbClr val="6E1120"/>
                          </a:solidFill>
                          <a:latin typeface="Calibri"/>
                        </a:rPr>
                        <a:t>calc_beta</a:t>
                      </a:r>
                    </a:p>
                  </a:txBody>
                  <a:tcPr marL="82296" marR="64008" marT="32004" marB="32004" anchor="ctr">
                    <a:solidFill>
                      <a:srgbClr val="FFFFFF"/>
                    </a:solidFill>
                  </a:tcPr>
                </a:tc>
                <a:tc>
                  <a:txBody>
                    <a:bodyPr wrap="square"/>
                    <a:lstStyle/>
                    <a:p>
                      <a:r>
                        <a:rPr sz="1150" b="0">
                          <a:solidFill>
                            <a:srgbClr val="1A1A1A"/>
                          </a:solidFill>
                          <a:latin typeface="Calibri"/>
                        </a:rPr>
                        <a:t>Calculate stock beta from stock and market return series</a:t>
                      </a:r>
                    </a:p>
                  </a:txBody>
                  <a:tcPr marL="82296" marR="64008" marT="32004" marB="32004" anchor="ctr">
                    <a:solidFill>
                      <a:srgbClr val="FFFFFF"/>
                    </a:solidFill>
                  </a:tcPr>
                </a:tc>
                <a:tc>
                  <a:txBody>
                    <a:bodyPr wrap="square"/>
                    <a:lstStyle/>
                    <a:p>
                      <a:r>
                        <a:rPr sz="1150" b="0">
                          <a:solidFill>
                            <a:srgbClr val="1A1A1A"/>
                          </a:solidFill>
                          <a:latin typeface="Calibri"/>
                        </a:rPr>
                        <a:t>calc_loan_amortization</a:t>
                      </a:r>
                    </a:p>
                  </a:txBody>
                  <a:tcPr marL="82296" marR="64008" marT="32004" marB="32004" anchor="ctr">
                    <a:solidFill>
                      <a:srgbClr val="FFFFFF"/>
                    </a:solidFill>
                  </a:tcPr>
                </a:tc>
                <a:tc>
                  <a:txBody>
                    <a:bodyPr wrap="square"/>
                    <a:lstStyle/>
                    <a:p>
                      <a:r>
                        <a:rPr sz="1150" b="0">
                          <a:solidFill>
                            <a:srgbClr val="1A1A1A"/>
                          </a:solidFill>
                          <a:latin typeface="Calibri"/>
                        </a:rPr>
                        <a:t>Calculate loan amortization</a:t>
                      </a:r>
                    </a:p>
                  </a:txBody>
                  <a:tcPr marL="82296" marR="64008" marT="32004" marB="32004" anchor="ctr">
                    <a:solidFill>
                      <a:srgbClr val="FFFFFF"/>
                    </a:solidFill>
                  </a:tcPr>
                </a:tc>
              </a:tr>
              <a:tr h="479234">
                <a:tc>
                  <a:txBody>
                    <a:bodyPr wrap="square"/>
                    <a:lstStyle/>
                    <a:p>
                      <a:r>
                        <a:rPr sz="1150" b="1">
                          <a:solidFill>
                            <a:srgbClr val="6E1120"/>
                          </a:solidFill>
                          <a:latin typeface="Calibri"/>
                        </a:rPr>
                        <a:t>calc_black_scholes</a:t>
                      </a:r>
                    </a:p>
                  </a:txBody>
                  <a:tcPr marL="82296" marR="64008" marT="32004" marB="32004" anchor="ctr">
                    <a:solidFill>
                      <a:srgbClr val="F7F5F2"/>
                    </a:solidFill>
                  </a:tcPr>
                </a:tc>
                <a:tc>
                  <a:txBody>
                    <a:bodyPr wrap="square"/>
                    <a:lstStyle/>
                    <a:p>
                      <a:r>
                        <a:rPr sz="1150" b="0">
                          <a:solidFill>
                            <a:srgbClr val="1A1A1A"/>
                          </a:solidFill>
                          <a:latin typeface="Calibri"/>
                        </a:rPr>
                        <a:t>Calculate option prices using Black-Scholes model</a:t>
                      </a:r>
                    </a:p>
                  </a:txBody>
                  <a:tcPr marL="82296" marR="64008" marT="32004" marB="32004" anchor="ctr">
                    <a:solidFill>
                      <a:srgbClr val="F7F5F2"/>
                    </a:solidFill>
                  </a:tcPr>
                </a:tc>
                <a:tc>
                  <a:txBody>
                    <a:bodyPr wrap="square"/>
                    <a:lstStyle/>
                    <a:p>
                      <a:r>
                        <a:rPr sz="1150" b="0">
                          <a:solidFill>
                            <a:srgbClr val="1A1A1A"/>
                          </a:solidFill>
                          <a:latin typeface="Calibri"/>
                        </a:rPr>
                        <a:t>calc_max_drawdown</a:t>
                      </a:r>
                    </a:p>
                  </a:txBody>
                  <a:tcPr marL="82296" marR="64008" marT="32004" marB="32004" anchor="ctr">
                    <a:solidFill>
                      <a:srgbClr val="F7F5F2"/>
                    </a:solidFill>
                  </a:tcPr>
                </a:tc>
                <a:tc>
                  <a:txBody>
                    <a:bodyPr wrap="square"/>
                    <a:lstStyle/>
                    <a:p>
                      <a:r>
                        <a:rPr sz="1150" b="0">
                          <a:solidFill>
                            <a:srgbClr val="1A1A1A"/>
                          </a:solidFill>
                          <a:latin typeface="Calibri"/>
                        </a:rPr>
                        <a:t>Calculate maximum drawdown from a series of portfolio values</a:t>
                      </a:r>
                    </a:p>
                  </a:txBody>
                  <a:tcPr marL="82296" marR="64008" marT="32004" marB="32004" anchor="ctr">
                    <a:solidFill>
                      <a:srgbClr val="F7F5F2"/>
                    </a:solidFill>
                  </a:tcPr>
                </a:tc>
              </a:tr>
              <a:tr h="479234">
                <a:tc>
                  <a:txBody>
                    <a:bodyPr wrap="square"/>
                    <a:lstStyle/>
                    <a:p>
                      <a:r>
                        <a:rPr sz="1150" b="1">
                          <a:solidFill>
                            <a:srgbClr val="6E1120"/>
                          </a:solidFill>
                          <a:latin typeface="Calibri"/>
                        </a:rPr>
                        <a:t>calc_bond_price</a:t>
                      </a:r>
                    </a:p>
                  </a:txBody>
                  <a:tcPr marL="82296" marR="64008" marT="32004" marB="32004" anchor="ctr">
                    <a:solidFill>
                      <a:srgbClr val="FFFFFF"/>
                    </a:solidFill>
                  </a:tcPr>
                </a:tc>
                <a:tc>
                  <a:txBody>
                    <a:bodyPr wrap="square"/>
                    <a:lstStyle/>
                    <a:p>
                      <a:r>
                        <a:rPr sz="1150" b="0">
                          <a:solidFill>
                            <a:srgbClr val="1A1A1A"/>
                          </a:solidFill>
                          <a:latin typeface="Calibri"/>
                        </a:rPr>
                        <a:t>Calculate bond price given face value, coupon rate, yield, and…</a:t>
                      </a:r>
                    </a:p>
                  </a:txBody>
                  <a:tcPr marL="82296" marR="64008" marT="32004" marB="32004" anchor="ctr">
                    <a:solidFill>
                      <a:srgbClr val="FFFFFF"/>
                    </a:solidFill>
                  </a:tcPr>
                </a:tc>
                <a:tc>
                  <a:txBody>
                    <a:bodyPr wrap="square"/>
                    <a:lstStyle/>
                    <a:p>
                      <a:r>
                        <a:rPr sz="1150" b="0">
                          <a:solidFill>
                            <a:srgbClr val="1A1A1A"/>
                          </a:solidFill>
                          <a:latin typeface="Calibri"/>
                        </a:rPr>
                        <a:t>calc_npv</a:t>
                      </a:r>
                    </a:p>
                  </a:txBody>
                  <a:tcPr marL="82296" marR="64008" marT="32004" marB="32004" anchor="ctr">
                    <a:solidFill>
                      <a:srgbClr val="FFFFFF"/>
                    </a:solidFill>
                  </a:tcPr>
                </a:tc>
                <a:tc>
                  <a:txBody>
                    <a:bodyPr wrap="square"/>
                    <a:lstStyle/>
                    <a:p>
                      <a:r>
                        <a:rPr sz="1150" b="0">
                          <a:solidFill>
                            <a:srgbClr val="1A1A1A"/>
                          </a:solidFill>
                          <a:latin typeface="Calibri"/>
                        </a:rPr>
                        <a:t>Calculate Net Present Value (NPV) of cash flows at a discount…</a:t>
                      </a:r>
                    </a:p>
                  </a:txBody>
                  <a:tcPr marL="82296" marR="64008" marT="32004" marB="32004" anchor="ctr">
                    <a:solidFill>
                      <a:srgbClr val="FFFFFF"/>
                    </a:solidFill>
                  </a:tcPr>
                </a:tc>
              </a:tr>
              <a:tr h="479234">
                <a:tc>
                  <a:txBody>
                    <a:bodyPr wrap="square"/>
                    <a:lstStyle/>
                    <a:p>
                      <a:r>
                        <a:rPr sz="1150" b="1">
                          <a:solidFill>
                            <a:srgbClr val="6E1120"/>
                          </a:solidFill>
                          <a:latin typeface="Calibri"/>
                        </a:rPr>
                        <a:t>calc_capm</a:t>
                      </a:r>
                    </a:p>
                  </a:txBody>
                  <a:tcPr marL="82296" marR="64008" marT="32004" marB="32004" anchor="ctr">
                    <a:solidFill>
                      <a:srgbClr val="F7F5F2"/>
                    </a:solidFill>
                  </a:tcPr>
                </a:tc>
                <a:tc>
                  <a:txBody>
                    <a:bodyPr wrap="square"/>
                    <a:lstStyle/>
                    <a:p>
                      <a:r>
                        <a:rPr sz="1150" b="0">
                          <a:solidFill>
                            <a:srgbClr val="1A1A1A"/>
                          </a:solidFill>
                          <a:latin typeface="Calibri"/>
                        </a:rPr>
                        <a:t>Calculate expected return using CAPM</a:t>
                      </a:r>
                    </a:p>
                  </a:txBody>
                  <a:tcPr marL="82296" marR="64008" marT="32004" marB="32004" anchor="ctr">
                    <a:solidFill>
                      <a:srgbClr val="F7F5F2"/>
                    </a:solidFill>
                  </a:tcPr>
                </a:tc>
                <a:tc>
                  <a:txBody>
                    <a:bodyPr wrap="square"/>
                    <a:lstStyle/>
                    <a:p>
                      <a:r>
                        <a:rPr sz="1150" b="0">
                          <a:solidFill>
                            <a:srgbClr val="1A1A1A"/>
                          </a:solidFill>
                          <a:latin typeface="Calibri"/>
                        </a:rPr>
                        <a:t>calc_percentage_change</a:t>
                      </a:r>
                    </a:p>
                  </a:txBody>
                  <a:tcPr marL="82296" marR="64008" marT="32004" marB="32004" anchor="ctr">
                    <a:solidFill>
                      <a:srgbClr val="F7F5F2"/>
                    </a:solidFill>
                  </a:tcPr>
                </a:tc>
                <a:tc>
                  <a:txBody>
                    <a:bodyPr wrap="square"/>
                    <a:lstStyle/>
                    <a:p>
                      <a:r>
                        <a:rPr sz="1150" b="0">
                          <a:solidFill>
                            <a:srgbClr val="1A1A1A"/>
                          </a:solidFill>
                          <a:latin typeface="Calibri"/>
                        </a:rPr>
                        <a:t>Calculate percentage change between two values</a:t>
                      </a:r>
                    </a:p>
                  </a:txBody>
                  <a:tcPr marL="82296" marR="64008" marT="32004" marB="32004" anchor="ctr">
                    <a:solidFill>
                      <a:srgbClr val="F7F5F2"/>
                    </a:solidFill>
                  </a:tcPr>
                </a:tc>
              </a:tr>
              <a:tr h="294481">
                <a:tc>
                  <a:txBody>
                    <a:bodyPr wrap="square"/>
                    <a:lstStyle/>
                    <a:p>
                      <a:r>
                        <a:rPr sz="1150" b="1">
                          <a:solidFill>
                            <a:srgbClr val="6E1120"/>
                          </a:solidFill>
                          <a:latin typeface="Calibri"/>
                        </a:rPr>
                        <a:t>calc_compound_interest</a:t>
                      </a:r>
                    </a:p>
                  </a:txBody>
                  <a:tcPr marL="82296" marR="64008" marT="32004" marB="32004" anchor="ctr">
                    <a:solidFill>
                      <a:srgbClr val="FFFFFF"/>
                    </a:solidFill>
                  </a:tcPr>
                </a:tc>
                <a:tc>
                  <a:txBody>
                    <a:bodyPr wrap="square"/>
                    <a:lstStyle/>
                    <a:p>
                      <a:r>
                        <a:rPr sz="1150" b="0">
                          <a:solidFill>
                            <a:srgbClr val="1A1A1A"/>
                          </a:solidFill>
                          <a:latin typeface="Calibri"/>
                        </a:rPr>
                        <a:t>Calculate compound interest</a:t>
                      </a:r>
                    </a:p>
                  </a:txBody>
                  <a:tcPr marL="82296" marR="64008" marT="32004" marB="32004" anchor="ctr">
                    <a:solidFill>
                      <a:srgbClr val="FFFFFF"/>
                    </a:solidFill>
                  </a:tcPr>
                </a:tc>
                <a:tc>
                  <a:txBody>
                    <a:bodyPr wrap="square"/>
                    <a:lstStyle/>
                    <a:p>
                      <a:r>
                        <a:rPr sz="1150" b="0">
                          <a:solidFill>
                            <a:srgbClr val="1A1A1A"/>
                          </a:solidFill>
                          <a:latin typeface="Calibri"/>
                        </a:rPr>
                        <a:t>calc_present_value</a:t>
                      </a:r>
                    </a:p>
                  </a:txBody>
                  <a:tcPr marL="82296" marR="64008" marT="32004" marB="32004" anchor="ctr">
                    <a:solidFill>
                      <a:srgbClr val="FFFFFF"/>
                    </a:solidFill>
                  </a:tcPr>
                </a:tc>
                <a:tc>
                  <a:txBody>
                    <a:bodyPr wrap="square"/>
                    <a:lstStyle/>
                    <a:p>
                      <a:r>
                        <a:rPr sz="1150" b="0">
                          <a:solidFill>
                            <a:srgbClr val="1A1A1A"/>
                          </a:solidFill>
                          <a:latin typeface="Calibri"/>
                        </a:rPr>
                        <a:t>Calculate present value</a:t>
                      </a:r>
                    </a:p>
                  </a:txBody>
                  <a:tcPr marL="82296" marR="64008" marT="32004" marB="32004" anchor="ctr">
                    <a:solidFill>
                      <a:srgbClr val="FFFFFF"/>
                    </a:solidFill>
                  </a:tcPr>
                </a:tc>
              </a:tr>
              <a:tr h="479234">
                <a:tc>
                  <a:txBody>
                    <a:bodyPr wrap="square"/>
                    <a:lstStyle/>
                    <a:p>
                      <a:r>
                        <a:rPr sz="1150" b="1">
                          <a:solidFill>
                            <a:srgbClr val="6E1120"/>
                          </a:solidFill>
                          <a:latin typeface="Calibri"/>
                        </a:rPr>
                        <a:t>calc_correlation</a:t>
                      </a:r>
                    </a:p>
                  </a:txBody>
                  <a:tcPr marL="82296" marR="64008" marT="32004" marB="32004" anchor="ctr">
                    <a:solidFill>
                      <a:srgbClr val="F7F5F2"/>
                    </a:solidFill>
                  </a:tcPr>
                </a:tc>
                <a:tc>
                  <a:txBody>
                    <a:bodyPr wrap="square"/>
                    <a:lstStyle/>
                    <a:p>
                      <a:r>
                        <a:rPr sz="1150" b="0">
                          <a:solidFill>
                            <a:srgbClr val="1A1A1A"/>
                          </a:solidFill>
                          <a:latin typeface="Calibri"/>
                        </a:rPr>
                        <a:t>Calculate Pearson correlation between two data series</a:t>
                      </a:r>
                    </a:p>
                  </a:txBody>
                  <a:tcPr marL="82296" marR="64008" marT="32004" marB="32004" anchor="ctr">
                    <a:solidFill>
                      <a:srgbClr val="F7F5F2"/>
                    </a:solidFill>
                  </a:tcPr>
                </a:tc>
                <a:tc>
                  <a:txBody>
                    <a:bodyPr wrap="square"/>
                    <a:lstStyle/>
                    <a:p>
                      <a:r>
                        <a:rPr sz="1150" b="0">
                          <a:solidFill>
                            <a:srgbClr val="1A1A1A"/>
                          </a:solidFill>
                          <a:latin typeface="Calibri"/>
                        </a:rPr>
                        <a:t>calc_retirement</a:t>
                      </a:r>
                    </a:p>
                  </a:txBody>
                  <a:tcPr marL="82296" marR="64008" marT="32004" marB="32004" anchor="ctr">
                    <a:solidFill>
                      <a:srgbClr val="F7F5F2"/>
                    </a:solidFill>
                  </a:tcPr>
                </a:tc>
                <a:tc>
                  <a:txBody>
                    <a:bodyPr wrap="square"/>
                    <a:lstStyle/>
                    <a:p>
                      <a:r>
                        <a:rPr sz="1150" b="0">
                          <a:solidFill>
                            <a:srgbClr val="1A1A1A"/>
                          </a:solidFill>
                          <a:latin typeface="Calibri"/>
                        </a:rPr>
                        <a:t>Calculate retirement savings projection</a:t>
                      </a:r>
                    </a:p>
                  </a:txBody>
                  <a:tcPr marL="82296" marR="64008" marT="32004" marB="32004" anchor="ctr">
                    <a:solidFill>
                      <a:srgbClr val="F7F5F2"/>
                    </a:solidFill>
                  </a:tcPr>
                </a:tc>
              </a:tr>
              <a:tr h="479234">
                <a:tc>
                  <a:txBody>
                    <a:bodyPr wrap="square"/>
                    <a:lstStyle/>
                    <a:p>
                      <a:r>
                        <a:rPr sz="1150" b="1">
                          <a:solidFill>
                            <a:srgbClr val="6E1120"/>
                          </a:solidFill>
                          <a:latin typeface="Calibri"/>
                        </a:rPr>
                        <a:t>calc_currency_converter</a:t>
                      </a:r>
                    </a:p>
                  </a:txBody>
                  <a:tcPr marL="82296" marR="64008" marT="32004" marB="32004" anchor="ctr">
                    <a:solidFill>
                      <a:srgbClr val="FFFFFF"/>
                    </a:solidFill>
                  </a:tcPr>
                </a:tc>
                <a:tc>
                  <a:txBody>
                    <a:bodyPr wrap="square"/>
                    <a:lstStyle/>
                    <a:p>
                      <a:r>
                        <a:rPr sz="1150" b="0">
                          <a:solidFill>
                            <a:srgbClr val="1A1A1A"/>
                          </a:solidFill>
                          <a:latin typeface="Calibri"/>
                        </a:rPr>
                        <a:t>Convert between currencies using live exchange rates (free API)</a:t>
                      </a:r>
                    </a:p>
                  </a:txBody>
                  <a:tcPr marL="82296" marR="64008" marT="32004" marB="32004" anchor="ctr">
                    <a:solidFill>
                      <a:srgbClr val="FFFFFF"/>
                    </a:solidFill>
                  </a:tcPr>
                </a:tc>
                <a:tc>
                  <a:txBody>
                    <a:bodyPr wrap="square"/>
                    <a:lstStyle/>
                    <a:p>
                      <a:r>
                        <a:rPr sz="1150" b="0">
                          <a:solidFill>
                            <a:srgbClr val="1A1A1A"/>
                          </a:solidFill>
                          <a:latin typeface="Calibri"/>
                        </a:rPr>
                        <a:t>calc_sharpe_ratio</a:t>
                      </a:r>
                    </a:p>
                  </a:txBody>
                  <a:tcPr marL="82296" marR="64008" marT="32004" marB="32004" anchor="ctr">
                    <a:solidFill>
                      <a:srgbClr val="FFFFFF"/>
                    </a:solidFill>
                  </a:tcPr>
                </a:tc>
                <a:tc>
                  <a:txBody>
                    <a:bodyPr wrap="square"/>
                    <a:lstStyle/>
                    <a:p>
                      <a:r>
                        <a:rPr sz="1150" b="0">
                          <a:solidFill>
                            <a:srgbClr val="1A1A1A"/>
                          </a:solidFill>
                          <a:latin typeface="Calibri"/>
                        </a:rPr>
                        <a:t>Calculate Sharpe Ratio</a:t>
                      </a:r>
                    </a:p>
                  </a:txBody>
                  <a:tcPr marL="82296" marR="64008" marT="32004" marB="32004" anchor="ctr">
                    <a:solidFill>
                      <a:srgbClr val="FFFFFF"/>
                    </a:solidFill>
                  </a:tcPr>
                </a:tc>
              </a:tr>
              <a:tr h="294481">
                <a:tc>
                  <a:txBody>
                    <a:bodyPr wrap="square"/>
                    <a:lstStyle/>
                    <a:p>
                      <a:r>
                        <a:rPr sz="1150" b="1">
                          <a:solidFill>
                            <a:srgbClr val="6E1120"/>
                          </a:solidFill>
                          <a:latin typeface="Calibri"/>
                        </a:rPr>
                        <a:t>calc_dcf_model</a:t>
                      </a:r>
                    </a:p>
                  </a:txBody>
                  <a:tcPr marL="82296" marR="64008" marT="32004" marB="32004" anchor="ctr">
                    <a:solidFill>
                      <a:srgbClr val="F7F5F2"/>
                    </a:solidFill>
                  </a:tcPr>
                </a:tc>
                <a:tc>
                  <a:txBody>
                    <a:bodyPr wrap="square"/>
                    <a:lstStyle/>
                    <a:p>
                      <a:r>
                        <a:rPr sz="1150" b="0">
                          <a:solidFill>
                            <a:srgbClr val="1A1A1A"/>
                          </a:solidFill>
                          <a:latin typeface="Calibri"/>
                        </a:rPr>
                        <a:t>Build a DCF valuation model</a:t>
                      </a:r>
                    </a:p>
                  </a:txBody>
                  <a:tcPr marL="82296" marR="64008" marT="32004" marB="32004" anchor="ctr">
                    <a:solidFill>
                      <a:srgbClr val="F7F5F2"/>
                    </a:solidFill>
                  </a:tcPr>
                </a:tc>
                <a:tc>
                  <a:txBody>
                    <a:bodyPr wrap="square"/>
                    <a:lstStyle/>
                    <a:p>
                      <a:r>
                        <a:rPr sz="1150" b="0">
                          <a:solidFill>
                            <a:srgbClr val="1A1A1A"/>
                          </a:solidFill>
                          <a:latin typeface="Calibri"/>
                        </a:rPr>
                        <a:t>calc_sortino_ratio</a:t>
                      </a:r>
                    </a:p>
                  </a:txBody>
                  <a:tcPr marL="82296" marR="64008" marT="32004" marB="32004" anchor="ctr">
                    <a:solidFill>
                      <a:srgbClr val="F7F5F2"/>
                    </a:solidFill>
                  </a:tcPr>
                </a:tc>
                <a:tc>
                  <a:txBody>
                    <a:bodyPr wrap="square"/>
                    <a:lstStyle/>
                    <a:p>
                      <a:r>
                        <a:rPr sz="1150" b="0">
                          <a:solidFill>
                            <a:srgbClr val="1A1A1A"/>
                          </a:solidFill>
                          <a:latin typeface="Calibri"/>
                        </a:rPr>
                        <a:t>Calculate Sortino Ratio</a:t>
                      </a:r>
                    </a:p>
                  </a:txBody>
                  <a:tcPr marL="82296" marR="64008" marT="32004" marB="32004" anchor="ctr">
                    <a:solidFill>
                      <a:srgbClr val="F7F5F2"/>
                    </a:solidFill>
                  </a:tcPr>
                </a:tc>
              </a:tr>
              <a:tr h="479234">
                <a:tc>
                  <a:txBody>
                    <a:bodyPr wrap="square"/>
                    <a:lstStyle/>
                    <a:p>
                      <a:r>
                        <a:rPr sz="1150" b="1">
                          <a:solidFill>
                            <a:srgbClr val="6E1120"/>
                          </a:solidFill>
                          <a:latin typeface="Calibri"/>
                        </a:rPr>
                        <a:t>calc_future_value</a:t>
                      </a:r>
                    </a:p>
                  </a:txBody>
                  <a:tcPr marL="82296" marR="64008" marT="32004" marB="32004" anchor="ctr">
                    <a:solidFill>
                      <a:srgbClr val="FFFFFF"/>
                    </a:solidFill>
                  </a:tcPr>
                </a:tc>
                <a:tc>
                  <a:txBody>
                    <a:bodyPr wrap="square"/>
                    <a:lstStyle/>
                    <a:p>
                      <a:r>
                        <a:rPr sz="1150" b="0">
                          <a:solidFill>
                            <a:srgbClr val="1A1A1A"/>
                          </a:solidFill>
                          <a:latin typeface="Calibri"/>
                        </a:rPr>
                        <a:t>Calculate future value</a:t>
                      </a:r>
                    </a:p>
                  </a:txBody>
                  <a:tcPr marL="82296" marR="64008" marT="32004" marB="32004" anchor="ctr">
                    <a:solidFill>
                      <a:srgbClr val="FFFFFF"/>
                    </a:solidFill>
                  </a:tcPr>
                </a:tc>
                <a:tc>
                  <a:txBody>
                    <a:bodyPr wrap="square"/>
                    <a:lstStyle/>
                    <a:p>
                      <a:r>
                        <a:rPr sz="1150" b="0">
                          <a:solidFill>
                            <a:srgbClr val="1A1A1A"/>
                          </a:solidFill>
                          <a:latin typeface="Calibri"/>
                        </a:rPr>
                        <a:t>calc_wacc</a:t>
                      </a:r>
                    </a:p>
                  </a:txBody>
                  <a:tcPr marL="82296" marR="64008" marT="32004" marB="32004" anchor="ctr">
                    <a:solidFill>
                      <a:srgbClr val="FFFFFF"/>
                    </a:solidFill>
                  </a:tcPr>
                </a:tc>
                <a:tc>
                  <a:txBody>
                    <a:bodyPr wrap="square"/>
                    <a:lstStyle/>
                    <a:p>
                      <a:r>
                        <a:rPr sz="1150" b="0">
                          <a:solidFill>
                            <a:srgbClr val="1A1A1A"/>
                          </a:solidFill>
                          <a:latin typeface="Calibri"/>
                        </a:rPr>
                        <a:t>Calculate Weighted Average Cost of Capital (WACC)</a:t>
                      </a:r>
                    </a:p>
                  </a:txBody>
                  <a:tcPr marL="82296" marR="64008" marT="32004" marB="32004" anchor="ctr">
                    <a:solidFill>
                      <a:srgbClr val="FFFFFF"/>
                    </a:solidFill>
                  </a:tcPr>
                </a:tc>
              </a:tr>
              <a:tr h="479234">
                <a:tc>
                  <a:txBody>
                    <a:bodyPr wrap="square"/>
                    <a:lstStyle/>
                    <a:p>
                      <a:r>
                        <a:rPr sz="1150" b="1">
                          <a:solidFill>
                            <a:srgbClr val="6E1120"/>
                          </a:solidFill>
                          <a:latin typeface="Calibri"/>
                        </a:rPr>
                        <a:t>calc_irr</a:t>
                      </a:r>
                    </a:p>
                  </a:txBody>
                  <a:tcPr marL="82296" marR="64008" marT="32004" marB="32004" anchor="ctr">
                    <a:solidFill>
                      <a:srgbClr val="F7F5F2"/>
                    </a:solidFill>
                  </a:tcPr>
                </a:tc>
                <a:tc>
                  <a:txBody>
                    <a:bodyPr wrap="square"/>
                    <a:lstStyle/>
                    <a:p>
                      <a:r>
                        <a:rPr sz="1150" b="0">
                          <a:solidFill>
                            <a:srgbClr val="1A1A1A"/>
                          </a:solidFill>
                          <a:latin typeface="Calibri"/>
                        </a:rPr>
                        <a:t>Calculate Internal Rate of Return (IRR) for a series of cash…</a:t>
                      </a:r>
                    </a:p>
                  </a:txBody>
                  <a:tcPr marL="82296" marR="64008" marT="32004" marB="32004" anchor="ctr">
                    <a:solidFill>
                      <a:srgbClr val="F7F5F2"/>
                    </a:solidFill>
                  </a:tcPr>
                </a:tc>
                <a:tc>
                  <a:txBody>
                    <a:bodyPr wrap="square"/>
                    <a:lstStyle/>
                    <a:p>
                      <a:r>
                        <a:rPr sz="1150" b="0">
                          <a:solidFill>
                            <a:srgbClr val="1A1A1A"/>
                          </a:solidFill>
                          <a:latin typeface="Calibri"/>
                        </a:rPr>
                        <a:t/>
                      </a:r>
                    </a:p>
                  </a:txBody>
                  <a:tcPr marL="82296" marR="64008" marT="32004" marB="32004" anchor="ctr">
                    <a:solidFill>
                      <a:srgbClr val="F7F5F2"/>
                    </a:solidFill>
                  </a:tcPr>
                </a:tc>
                <a:tc>
                  <a:txBody>
                    <a:bodyPr wrap="square"/>
                    <a:lstStyle/>
                    <a:p>
                      <a:r>
                        <a:rPr sz="1150" b="0">
                          <a:solidFill>
                            <a:srgbClr val="1A1A1A"/>
                          </a:solidFill>
                          <a:latin typeface="Calibri"/>
                        </a:rPr>
                        <a:t/>
                      </a:r>
                    </a:p>
                  </a:txBody>
                  <a:tcPr marL="82296" marR="64008" marT="32004" marB="32004" anchor="ctr">
                    <a:solidFill>
                      <a:srgbClr val="F7F5F2"/>
                    </a:solidFill>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CONNECTOR GUARD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query to your database passes three read-only checks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80</a:t>
            </a:r>
          </a:p>
        </p:txBody>
      </p:sp>
      <p:cxnSp>
        <p:nvCxnSpPr>
          <p:cNvPr id="17" name="Connector 16"/>
          <p:cNvCxnSpPr/>
          <p:nvPr/>
        </p:nvCxnSpPr>
        <p:spPr>
          <a:xfrm>
            <a:off x="2409398"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909143"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408889"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908634"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77240" y="1623481"/>
            <a:ext cx="1595582" cy="2069503"/>
          </a:xfrm>
          <a:prstGeom prst="roundRect">
            <a:avLst>
              <a:gd name="adj" fmla="val 458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Tool call</a:t>
            </a:r>
          </a:p>
          <a:p>
            <a:pPr algn="ctr">
              <a:lnSpc>
                <a:spcPct val="105000"/>
              </a:lnSpc>
              <a:spcBef>
                <a:spcPts val="0"/>
              </a:spcBef>
              <a:spcAft>
                <a:spcPts val="0"/>
              </a:spcAft>
            </a:pPr>
            <a:r>
              <a:rPr sz="1250" b="0" i="0">
                <a:solidFill>
                  <a:srgbClr val="1A1A1A"/>
                </a:solidFill>
                <a:latin typeface="Calibri"/>
              </a:rPr>
              <a:t>query or curated view</a:t>
            </a:r>
          </a:p>
        </p:txBody>
      </p:sp>
      <p:sp>
        <p:nvSpPr>
          <p:cNvPr id="22" name="Rounded Rectangle 21"/>
          <p:cNvSpPr/>
          <p:nvPr/>
        </p:nvSpPr>
        <p:spPr>
          <a:xfrm>
            <a:off x="2957869" y="1623481"/>
            <a:ext cx="1914698" cy="2069503"/>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1  Statement guard</a:t>
            </a:r>
          </a:p>
          <a:p>
            <a:pPr algn="ctr">
              <a:lnSpc>
                <a:spcPct val="105000"/>
              </a:lnSpc>
              <a:spcBef>
                <a:spcPts val="0"/>
              </a:spcBef>
              <a:spcAft>
                <a:spcPts val="0"/>
              </a:spcAft>
            </a:pPr>
            <a:r>
              <a:rPr sz="1250" b="0" i="0">
                <a:solidFill>
                  <a:srgbClr val="FFFFFF"/>
                </a:solidFill>
                <a:latin typeface="Calibri"/>
              </a:rPr>
              <a:t>one SELECT; table allowlist; no procedures</a:t>
            </a:r>
          </a:p>
        </p:txBody>
      </p:sp>
      <p:sp>
        <p:nvSpPr>
          <p:cNvPr id="23" name="Rounded Rectangle 22"/>
          <p:cNvSpPr/>
          <p:nvPr/>
        </p:nvSpPr>
        <p:spPr>
          <a:xfrm>
            <a:off x="5457614" y="1623481"/>
            <a:ext cx="1914698" cy="2069503"/>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2  Read-only session</a:t>
            </a:r>
          </a:p>
          <a:p>
            <a:pPr algn="ctr">
              <a:lnSpc>
                <a:spcPct val="105000"/>
              </a:lnSpc>
              <a:spcBef>
                <a:spcPts val="0"/>
              </a:spcBef>
              <a:spcAft>
                <a:spcPts val="0"/>
              </a:spcAft>
            </a:pPr>
            <a:r>
              <a:rPr sz="1250" b="0" i="0">
                <a:solidFill>
                  <a:srgbClr val="FFFFFF"/>
                </a:solidFill>
                <a:latin typeface="Calibri"/>
              </a:rPr>
              <a:t>the connection itself refuses writes</a:t>
            </a:r>
          </a:p>
        </p:txBody>
      </p:sp>
      <p:sp>
        <p:nvSpPr>
          <p:cNvPr id="24" name="Rounded Rectangle 23"/>
          <p:cNvSpPr/>
          <p:nvPr/>
        </p:nvSpPr>
        <p:spPr>
          <a:xfrm>
            <a:off x="7957360" y="1623481"/>
            <a:ext cx="1914698" cy="2069503"/>
          </a:xfrm>
          <a:prstGeom prst="roundRect">
            <a:avLst>
              <a:gd name="adj" fmla="val 382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3  The login's grants</a:t>
            </a:r>
          </a:p>
          <a:p>
            <a:pPr algn="ctr">
              <a:lnSpc>
                <a:spcPct val="105000"/>
              </a:lnSpc>
              <a:spcBef>
                <a:spcPts val="0"/>
              </a:spcBef>
              <a:spcAft>
                <a:spcPts val="0"/>
              </a:spcAft>
            </a:pPr>
            <a:r>
              <a:rPr sz="1250" b="0" i="0">
                <a:solidFill>
                  <a:srgbClr val="FFFFFF"/>
                </a:solidFill>
                <a:latin typeface="Calibri"/>
              </a:rPr>
              <a:t>the database's own control</a:t>
            </a:r>
          </a:p>
        </p:txBody>
      </p:sp>
      <p:sp>
        <p:nvSpPr>
          <p:cNvPr id="25" name="Rounded Rectangle 24"/>
          <p:cNvSpPr/>
          <p:nvPr/>
        </p:nvSpPr>
        <p:spPr>
          <a:xfrm>
            <a:off x="10457105" y="1623481"/>
            <a:ext cx="957349" cy="2069503"/>
          </a:xfrm>
          <a:prstGeom prst="roundRect">
            <a:avLst>
              <a:gd name="adj" fmla="val 764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Your database</a:t>
            </a:r>
          </a:p>
        </p:txBody>
      </p:sp>
      <p:sp>
        <p:nvSpPr>
          <p:cNvPr id="26" name="TextBox 25"/>
          <p:cNvSpPr txBox="1"/>
          <p:nvPr/>
        </p:nvSpPr>
        <p:spPr>
          <a:xfrm>
            <a:off x="777240" y="4507992"/>
            <a:ext cx="10637215" cy="1737360"/>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A1A1A"/>
                </a:solidFill>
                <a:latin typeface="Calibri"/>
              </a:rPr>
              <a:t>Limits</a:t>
            </a:r>
          </a:p>
          <a:p>
            <a:pPr lvl="1">
              <a:lnSpc>
                <a:spcPct val="120000"/>
              </a:lnSpc>
              <a:spcBef>
                <a:spcPts val="0"/>
              </a:spcBef>
              <a:spcAft>
                <a:spcPts val="0"/>
              </a:spcAft>
            </a:pPr>
            <a:r>
              <a:rPr sz="1250" b="0">
                <a:solidFill>
                  <a:srgbClr val="6B7480"/>
                </a:solidFill>
                <a:latin typeface="Calibri"/>
              </a:rPr>
              <a:t>Row, byte and time limits on every query; masking per column.</a:t>
            </a:r>
          </a:p>
          <a:p>
            <a:pPr>
              <a:lnSpc>
                <a:spcPct val="120000"/>
              </a:lnSpc>
              <a:spcBef>
                <a:spcPts val="500"/>
              </a:spcBef>
              <a:spcAft>
                <a:spcPts val="100"/>
              </a:spcAft>
            </a:pPr>
            <a:r>
              <a:rPr sz="1400" b="1">
                <a:solidFill>
                  <a:srgbClr val="A51C30"/>
                </a:solidFill>
                <a:latin typeface="Calibri"/>
              </a:rPr>
              <a:t>▪  </a:t>
            </a:r>
            <a:r>
              <a:rPr sz="1400" b="1">
                <a:solidFill>
                  <a:srgbClr val="1A1A1A"/>
                </a:solidFill>
                <a:latin typeface="Calibri"/>
              </a:rPr>
              <a:t>Per-user sign-in</a:t>
            </a:r>
          </a:p>
          <a:p>
            <a:pPr lvl="1">
              <a:lnSpc>
                <a:spcPct val="120000"/>
              </a:lnSpc>
              <a:spcBef>
                <a:spcPts val="0"/>
              </a:spcBef>
              <a:spcAft>
                <a:spcPts val="0"/>
              </a:spcAft>
            </a:pPr>
            <a:r>
              <a:rPr sz="1250" b="0">
                <a:solidFill>
                  <a:srgbClr val="6B7480"/>
                </a:solidFill>
                <a:latin typeface="Calibri"/>
              </a:rPr>
              <a:t>snowflake, bigquery and databricks can run as each user, so the database applies that user's own rights.</a:t>
            </a:r>
          </a:p>
          <a:p>
            <a:pPr>
              <a:lnSpc>
                <a:spcPct val="120000"/>
              </a:lnSpc>
              <a:spcBef>
                <a:spcPts val="500"/>
              </a:spcBef>
              <a:spcAft>
                <a:spcPts val="100"/>
              </a:spcAft>
            </a:pPr>
            <a:r>
              <a:rPr sz="1400" b="1">
                <a:solidFill>
                  <a:srgbClr val="A51C30"/>
                </a:solidFill>
                <a:latin typeface="Calibri"/>
              </a:rPr>
              <a:t>▪  </a:t>
            </a:r>
            <a:r>
              <a:rPr sz="1400" b="1">
                <a:solidFill>
                  <a:srgbClr val="1A1A1A"/>
                </a:solidFill>
                <a:latin typeface="Calibri"/>
              </a:rPr>
              <a:t>Honest limit</a:t>
            </a:r>
          </a:p>
          <a:p>
            <a:pPr lvl="1">
              <a:lnSpc>
                <a:spcPct val="120000"/>
              </a:lnSpc>
              <a:spcBef>
                <a:spcPts val="0"/>
              </a:spcBef>
              <a:spcAft>
                <a:spcPts val="0"/>
              </a:spcAft>
            </a:pPr>
            <a:r>
              <a:rPr sz="1250" b="0">
                <a:solidFill>
                  <a:srgbClr val="6B7480"/>
                </a:solidFill>
                <a:latin typeface="Calibri"/>
              </a:rPr>
              <a:t>SAJHA's guard works on query text it can analyse; database-native grants, views and masking are stronger and should back anything sensitive.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SEARCH PLUS ANALYTICS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One session blends outside intelligence with inside data</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81</a:t>
            </a:r>
          </a:p>
        </p:txBody>
      </p:sp>
      <p:sp>
        <p:nvSpPr>
          <p:cNvPr id="17" name="TextBox 16"/>
          <p:cNvSpPr txBox="1"/>
          <p:nvPr/>
        </p:nvSpPr>
        <p:spPr>
          <a:xfrm>
            <a:off x="777240" y="1370901"/>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Illustrative. “What is the market saying about credit spreads, and how are we positioned?”</a:t>
            </a:r>
          </a:p>
        </p:txBody>
      </p:sp>
      <p:sp>
        <p:nvSpPr>
          <p:cNvPr id="18" name="Rectangle 17"/>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Same server, same identity, same rules and the same audit for every step.</a:t>
            </a:r>
          </a:p>
        </p:txBody>
      </p:sp>
      <p:sp>
        <p:nvSpPr>
          <p:cNvPr id="20" name="Rectangle 19"/>
          <p:cNvSpPr/>
          <p:nvPr/>
        </p:nvSpPr>
        <p:spPr>
          <a:xfrm>
            <a:off x="1005840" y="1779968"/>
            <a:ext cx="10408615" cy="74677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77240" y="1924754"/>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1</a:t>
            </a:r>
          </a:p>
        </p:txBody>
      </p:sp>
      <p:sp>
        <p:nvSpPr>
          <p:cNvPr id="22" name="TextBox 21"/>
          <p:cNvSpPr txBox="1"/>
          <p:nvPr/>
        </p:nvSpPr>
        <p:spPr>
          <a:xfrm>
            <a:off x="1417320" y="1834832"/>
            <a:ext cx="2286000" cy="637044"/>
          </a:xfrm>
          <a:prstGeom prst="rect">
            <a:avLst/>
          </a:prstGeom>
          <a:noFill/>
        </p:spPr>
        <p:txBody>
          <a:bodyPr wrap="square" lIns="0" rIns="0" tIns="0" bIns="0" anchor="t">
            <a:spAutoFit/>
          </a:bodyPr>
          <a:lstStyle/>
          <a:p>
            <a:pPr algn="l">
              <a:lnSpc>
                <a:spcPct val="110000"/>
              </a:lnSpc>
              <a:spcBef>
                <a:spcPts val="0"/>
              </a:spcBef>
              <a:spcAft>
                <a:spcPts val="0"/>
              </a:spcAft>
            </a:pPr>
            <a:r>
              <a:rPr sz="1300" b="1" i="0">
                <a:solidFill>
                  <a:srgbClr val="6E1120"/>
                </a:solidFill>
                <a:latin typeface="Consolas"/>
              </a:rPr>
              <a:t>tavily_news_search</a:t>
            </a:r>
          </a:p>
        </p:txBody>
      </p:sp>
      <p:sp>
        <p:nvSpPr>
          <p:cNvPr id="23" name="TextBox 22"/>
          <p:cNvSpPr txBox="1"/>
          <p:nvPr/>
        </p:nvSpPr>
        <p:spPr>
          <a:xfrm>
            <a:off x="3794760" y="1834832"/>
            <a:ext cx="7436815" cy="637044"/>
          </a:xfrm>
          <a:prstGeom prst="rect">
            <a:avLst/>
          </a:prstGeom>
          <a:noFill/>
        </p:spPr>
        <p:txBody>
          <a:bodyPr wrap="square" lIns="0" rIns="0" tIns="0" bIns="0" anchor="t">
            <a:spAutoFit/>
          </a:bodyPr>
          <a:lstStyle/>
          <a:p>
            <a:pPr algn="l">
              <a:lnSpc>
                <a:spcPct val="115000"/>
              </a:lnSpc>
              <a:spcBef>
                <a:spcPts val="0"/>
              </a:spcBef>
              <a:spcAft>
                <a:spcPts val="0"/>
              </a:spcAft>
            </a:pPr>
            <a:r>
              <a:rPr sz="1800" b="0" i="0">
                <a:solidFill>
                  <a:srgbClr val="1A1A1A"/>
                </a:solidFill>
                <a:latin typeface="Calibri"/>
              </a:rPr>
              <a:t>News on the credit-spread outlook: the market's view, with links.</a:t>
            </a:r>
          </a:p>
        </p:txBody>
      </p:sp>
      <p:sp>
        <p:nvSpPr>
          <p:cNvPr id="24" name="Rectangle 23"/>
          <p:cNvSpPr/>
          <p:nvPr/>
        </p:nvSpPr>
        <p:spPr>
          <a:xfrm>
            <a:off x="1005840" y="2618181"/>
            <a:ext cx="10408615" cy="74677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77240" y="2762967"/>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2</a:t>
            </a:r>
          </a:p>
        </p:txBody>
      </p:sp>
      <p:sp>
        <p:nvSpPr>
          <p:cNvPr id="26" name="TextBox 25"/>
          <p:cNvSpPr txBox="1"/>
          <p:nvPr/>
        </p:nvSpPr>
        <p:spPr>
          <a:xfrm>
            <a:off x="1417320" y="2673045"/>
            <a:ext cx="2286000" cy="637044"/>
          </a:xfrm>
          <a:prstGeom prst="rect">
            <a:avLst/>
          </a:prstGeom>
          <a:noFill/>
        </p:spPr>
        <p:txBody>
          <a:bodyPr wrap="square" lIns="0" rIns="0" tIns="0" bIns="0" anchor="t">
            <a:spAutoFit/>
          </a:bodyPr>
          <a:lstStyle/>
          <a:p>
            <a:pPr algn="l">
              <a:lnSpc>
                <a:spcPct val="110000"/>
              </a:lnSpc>
              <a:spcBef>
                <a:spcPts val="0"/>
              </a:spcBef>
              <a:spcAft>
                <a:spcPts val="0"/>
              </a:spcAft>
            </a:pPr>
            <a:r>
              <a:rPr sz="1300" b="1" i="0">
                <a:solidFill>
                  <a:srgbClr val="6E1120"/>
                </a:solidFill>
                <a:latin typeface="Consolas"/>
              </a:rPr>
              <a:t>duckdb_sql</a:t>
            </a:r>
          </a:p>
        </p:txBody>
      </p:sp>
      <p:sp>
        <p:nvSpPr>
          <p:cNvPr id="27" name="TextBox 26"/>
          <p:cNvSpPr txBox="1"/>
          <p:nvPr/>
        </p:nvSpPr>
        <p:spPr>
          <a:xfrm>
            <a:off x="3794760" y="2673045"/>
            <a:ext cx="7436815" cy="637044"/>
          </a:xfrm>
          <a:prstGeom prst="rect">
            <a:avLst/>
          </a:prstGeom>
          <a:noFill/>
        </p:spPr>
        <p:txBody>
          <a:bodyPr wrap="square" lIns="0" rIns="0" tIns="0" bIns="0" anchor="t">
            <a:spAutoFit/>
          </a:bodyPr>
          <a:lstStyle/>
          <a:p>
            <a:pPr algn="l">
              <a:lnSpc>
                <a:spcPct val="115000"/>
              </a:lnSpc>
              <a:spcBef>
                <a:spcPts val="0"/>
              </a:spcBef>
              <a:spcAft>
                <a:spcPts val="0"/>
              </a:spcAft>
            </a:pPr>
            <a:r>
              <a:rPr sz="1800" b="0" i="0">
                <a:solidFill>
                  <a:srgbClr val="1A1A1A"/>
                </a:solidFill>
                <a:latin typeface="Calibri"/>
              </a:rPr>
              <a:t>SELECT sector, rating, spread, duration FROM portfolio: our positions.</a:t>
            </a:r>
          </a:p>
        </p:txBody>
      </p:sp>
      <p:sp>
        <p:nvSpPr>
          <p:cNvPr id="28" name="Rectangle 27"/>
          <p:cNvSpPr/>
          <p:nvPr/>
        </p:nvSpPr>
        <p:spPr>
          <a:xfrm>
            <a:off x="1005840" y="3456393"/>
            <a:ext cx="10408615" cy="74677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77240" y="3601180"/>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3</a:t>
            </a:r>
          </a:p>
        </p:txBody>
      </p:sp>
      <p:sp>
        <p:nvSpPr>
          <p:cNvPr id="30" name="TextBox 29"/>
          <p:cNvSpPr txBox="1"/>
          <p:nvPr/>
        </p:nvSpPr>
        <p:spPr>
          <a:xfrm>
            <a:off x="1417320" y="3511257"/>
            <a:ext cx="2286000" cy="637044"/>
          </a:xfrm>
          <a:prstGeom prst="rect">
            <a:avLst/>
          </a:prstGeom>
          <a:noFill/>
        </p:spPr>
        <p:txBody>
          <a:bodyPr wrap="square" lIns="0" rIns="0" tIns="0" bIns="0" anchor="t">
            <a:spAutoFit/>
          </a:bodyPr>
          <a:lstStyle/>
          <a:p>
            <a:pPr algn="l">
              <a:lnSpc>
                <a:spcPct val="110000"/>
              </a:lnSpc>
              <a:spcBef>
                <a:spcPts val="0"/>
              </a:spcBef>
              <a:spcAft>
                <a:spcPts val="0"/>
              </a:spcAft>
            </a:pPr>
            <a:r>
              <a:rPr sz="1300" b="1" i="0">
                <a:solidFill>
                  <a:srgbClr val="6E1120"/>
                </a:solidFill>
                <a:latin typeface="Consolas"/>
              </a:rPr>
              <a:t>olap_pivot_table</a:t>
            </a:r>
          </a:p>
        </p:txBody>
      </p:sp>
      <p:sp>
        <p:nvSpPr>
          <p:cNvPr id="31" name="TextBox 30"/>
          <p:cNvSpPr txBox="1"/>
          <p:nvPr/>
        </p:nvSpPr>
        <p:spPr>
          <a:xfrm>
            <a:off x="3794760" y="3511257"/>
            <a:ext cx="7436815" cy="637044"/>
          </a:xfrm>
          <a:prstGeom prst="rect">
            <a:avLst/>
          </a:prstGeom>
          <a:noFill/>
        </p:spPr>
        <p:txBody>
          <a:bodyPr wrap="square" lIns="0" rIns="0" tIns="0" bIns="0" anchor="t">
            <a:spAutoFit/>
          </a:bodyPr>
          <a:lstStyle/>
          <a:p>
            <a:pPr algn="l">
              <a:lnSpc>
                <a:spcPct val="115000"/>
              </a:lnSpc>
              <a:spcBef>
                <a:spcPts val="0"/>
              </a:spcBef>
              <a:spcAft>
                <a:spcPts val="0"/>
              </a:spcAft>
            </a:pPr>
            <a:r>
              <a:rPr sz="1800" b="0" i="0">
                <a:solidFill>
                  <a:srgbClr val="1A1A1A"/>
                </a:solidFill>
                <a:latin typeface="Calibri"/>
              </a:rPr>
              <a:t>Exposure by sector and rating: where we are concentrated.</a:t>
            </a:r>
          </a:p>
        </p:txBody>
      </p:sp>
      <p:sp>
        <p:nvSpPr>
          <p:cNvPr id="32" name="Rectangle 31"/>
          <p:cNvSpPr/>
          <p:nvPr/>
        </p:nvSpPr>
        <p:spPr>
          <a:xfrm>
            <a:off x="1005840" y="4294606"/>
            <a:ext cx="10408615" cy="74677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77240" y="443939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4</a:t>
            </a:r>
          </a:p>
        </p:txBody>
      </p:sp>
      <p:sp>
        <p:nvSpPr>
          <p:cNvPr id="34" name="TextBox 33"/>
          <p:cNvSpPr txBox="1"/>
          <p:nvPr/>
        </p:nvSpPr>
        <p:spPr>
          <a:xfrm>
            <a:off x="1417320" y="4349470"/>
            <a:ext cx="2286000" cy="637044"/>
          </a:xfrm>
          <a:prstGeom prst="rect">
            <a:avLst/>
          </a:prstGeom>
          <a:noFill/>
        </p:spPr>
        <p:txBody>
          <a:bodyPr wrap="square" lIns="0" rIns="0" tIns="0" bIns="0" anchor="t">
            <a:spAutoFit/>
          </a:bodyPr>
          <a:lstStyle/>
          <a:p>
            <a:pPr algn="l">
              <a:lnSpc>
                <a:spcPct val="110000"/>
              </a:lnSpc>
              <a:spcBef>
                <a:spcPts val="0"/>
              </a:spcBef>
              <a:spcAft>
                <a:spcPts val="0"/>
              </a:spcAft>
            </a:pPr>
            <a:r>
              <a:rPr sz="1300" b="1" i="0">
                <a:solidFill>
                  <a:srgbClr val="6E1120"/>
                </a:solidFill>
                <a:latin typeface="Consolas"/>
              </a:rPr>
              <a:t>calc_correlation</a:t>
            </a:r>
          </a:p>
        </p:txBody>
      </p:sp>
      <p:sp>
        <p:nvSpPr>
          <p:cNvPr id="35" name="TextBox 34"/>
          <p:cNvSpPr txBox="1"/>
          <p:nvPr/>
        </p:nvSpPr>
        <p:spPr>
          <a:xfrm>
            <a:off x="3794760" y="4349470"/>
            <a:ext cx="7436815" cy="637044"/>
          </a:xfrm>
          <a:prstGeom prst="rect">
            <a:avLst/>
          </a:prstGeom>
          <a:noFill/>
        </p:spPr>
        <p:txBody>
          <a:bodyPr wrap="square" lIns="0" rIns="0" tIns="0" bIns="0" anchor="t">
            <a:spAutoFit/>
          </a:bodyPr>
          <a:lstStyle/>
          <a:p>
            <a:pPr algn="l">
              <a:lnSpc>
                <a:spcPct val="115000"/>
              </a:lnSpc>
              <a:spcBef>
                <a:spcPts val="0"/>
              </a:spcBef>
              <a:spcAft>
                <a:spcPts val="0"/>
              </a:spcAft>
            </a:pPr>
            <a:r>
              <a:rPr sz="1800" b="0" i="0">
                <a:solidFill>
                  <a:srgbClr val="1A1A1A"/>
                </a:solidFill>
                <a:latin typeface="Calibri"/>
              </a:rPr>
              <a:t>How our spreads have moved with the market's: correlation of two series.</a:t>
            </a:r>
          </a:p>
        </p:txBody>
      </p:sp>
      <p:sp>
        <p:nvSpPr>
          <p:cNvPr id="36" name="Rectangle 35"/>
          <p:cNvSpPr/>
          <p:nvPr/>
        </p:nvSpPr>
        <p:spPr>
          <a:xfrm>
            <a:off x="1005840" y="5132819"/>
            <a:ext cx="10408615" cy="74677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77240" y="5277605"/>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5</a:t>
            </a:r>
          </a:p>
        </p:txBody>
      </p:sp>
      <p:sp>
        <p:nvSpPr>
          <p:cNvPr id="38" name="TextBox 37"/>
          <p:cNvSpPr txBox="1"/>
          <p:nvPr/>
        </p:nvSpPr>
        <p:spPr>
          <a:xfrm>
            <a:off x="1417320" y="5187683"/>
            <a:ext cx="2286000" cy="637044"/>
          </a:xfrm>
          <a:prstGeom prst="rect">
            <a:avLst/>
          </a:prstGeom>
          <a:noFill/>
        </p:spPr>
        <p:txBody>
          <a:bodyPr wrap="square" lIns="0" rIns="0" tIns="0" bIns="0" anchor="t">
            <a:spAutoFit/>
          </a:bodyPr>
          <a:lstStyle/>
          <a:p>
            <a:pPr algn="l">
              <a:lnSpc>
                <a:spcPct val="110000"/>
              </a:lnSpc>
              <a:spcBef>
                <a:spcPts val="0"/>
              </a:spcBef>
              <a:spcAft>
                <a:spcPts val="0"/>
              </a:spcAft>
            </a:pPr>
            <a:r>
              <a:rPr sz="1300" b="1" i="0">
                <a:solidFill>
                  <a:srgbClr val="6E1120"/>
                </a:solidFill>
                <a:latin typeface="Consolas"/>
              </a:rPr>
              <a:t>the model</a:t>
            </a:r>
          </a:p>
        </p:txBody>
      </p:sp>
      <p:sp>
        <p:nvSpPr>
          <p:cNvPr id="39" name="TextBox 38"/>
          <p:cNvSpPr txBox="1"/>
          <p:nvPr/>
        </p:nvSpPr>
        <p:spPr>
          <a:xfrm>
            <a:off x="3794760" y="5187683"/>
            <a:ext cx="7436815" cy="637044"/>
          </a:xfrm>
          <a:prstGeom prst="rect">
            <a:avLst/>
          </a:prstGeom>
          <a:noFill/>
        </p:spPr>
        <p:txBody>
          <a:bodyPr wrap="square" lIns="0" rIns="0" tIns="0" bIns="0" anchor="t">
            <a:spAutoFit/>
          </a:bodyPr>
          <a:lstStyle/>
          <a:p>
            <a:pPr algn="l">
              <a:lnSpc>
                <a:spcPct val="115000"/>
              </a:lnSpc>
              <a:spcBef>
                <a:spcPts val="0"/>
              </a:spcBef>
              <a:spcAft>
                <a:spcPts val="0"/>
              </a:spcAft>
            </a:pPr>
            <a:r>
              <a:rPr sz="1800" b="0" i="0">
                <a:solidFill>
                  <a:srgbClr val="1A1A1A"/>
                </a:solidFill>
                <a:latin typeface="Calibri"/>
              </a:rPr>
              <a:t>A synthesis that cites each call, with SAJHA's confidence attached.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07</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Intelligence and operations</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SAJHA needs no language model to serve tools; it has one anyway, for Ask SAJHA, for describing tools and for workflows. Then the deep dives an operator asks for.</a:t>
            </a:r>
          </a:p>
        </p:txBody>
      </p:sp>
      <p:sp>
        <p:nvSpPr>
          <p:cNvPr id="15" name="TextBox 14"/>
          <p:cNvSpPr txBox="1"/>
          <p:nvPr/>
        </p:nvSpPr>
        <p:spPr>
          <a:xfrm>
            <a:off x="1143000" y="4690364"/>
            <a:ext cx="9905695" cy="15275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The intelligence layer   ·   LLM tools   ·   Ask SAJHA, captured   ·   Planners   ·   Memory and RAG   ·   Evals   ·   Tool quality   ·   Observability   ·   Sandbox and accounts   ·   Storage and state   ·   Clients   ·   Configuration   ·   Schema</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INTELLIGENCE LAYER</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18 real provider types behind one OpenAI-style interface, and none is required</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Out of the box every alias points at the offline mock (highlighted): no keys and no network for the model. Swapping a provider never touches the code that uses a model.</a:t>
            </a:r>
          </a:p>
        </p:txBody>
      </p:sp>
      <p:sp>
        <p:nvSpPr>
          <p:cNvPr id="19" name="Rounded Rectangle 18"/>
          <p:cNvSpPr/>
          <p:nvPr/>
        </p:nvSpPr>
        <p:spPr>
          <a:xfrm>
            <a:off x="777240"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Ask SAJHA</a:t>
            </a:r>
          </a:p>
        </p:txBody>
      </p:sp>
      <p:sp>
        <p:nvSpPr>
          <p:cNvPr id="20" name="Rounded Rectangle 19"/>
          <p:cNvSpPr/>
          <p:nvPr/>
        </p:nvSpPr>
        <p:spPr>
          <a:xfrm>
            <a:off x="2574929"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sajha_ask</a:t>
            </a:r>
          </a:p>
        </p:txBody>
      </p:sp>
      <p:sp>
        <p:nvSpPr>
          <p:cNvPr id="21" name="Rounded Rectangle 20"/>
          <p:cNvSpPr/>
          <p:nvPr/>
        </p:nvSpPr>
        <p:spPr>
          <a:xfrm>
            <a:off x="4372618"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LLM tools</a:t>
            </a:r>
          </a:p>
        </p:txBody>
      </p:sp>
      <p:sp>
        <p:nvSpPr>
          <p:cNvPr id="22" name="Rounded Rectangle 21"/>
          <p:cNvSpPr/>
          <p:nvPr/>
        </p:nvSpPr>
        <p:spPr>
          <a:xfrm>
            <a:off x="6170308"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Describe a tool</a:t>
            </a:r>
          </a:p>
        </p:txBody>
      </p:sp>
      <p:sp>
        <p:nvSpPr>
          <p:cNvPr id="23" name="Rounded Rectangle 22"/>
          <p:cNvSpPr/>
          <p:nvPr/>
        </p:nvSpPr>
        <p:spPr>
          <a:xfrm>
            <a:off x="7967997"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 and RAG</a:t>
            </a:r>
          </a:p>
        </p:txBody>
      </p:sp>
      <p:sp>
        <p:nvSpPr>
          <p:cNvPr id="24" name="Rounded Rectangle 23"/>
          <p:cNvSpPr/>
          <p:nvPr/>
        </p:nvSpPr>
        <p:spPr>
          <a:xfrm>
            <a:off x="9765686"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/v1 endpoint</a:t>
            </a:r>
          </a:p>
        </p:txBody>
      </p:sp>
      <p:sp>
        <p:nvSpPr>
          <p:cNvPr id="25" name="Rounded Rectangle 24"/>
          <p:cNvSpPr/>
          <p:nvPr/>
        </p:nvSpPr>
        <p:spPr>
          <a:xfrm>
            <a:off x="777240" y="2425192"/>
            <a:ext cx="10637215" cy="569315"/>
          </a:xfrm>
          <a:prstGeom prst="roundRect">
            <a:avLst>
              <a:gd name="adj" fmla="val 1284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sajha.ai.llm: llm_factory().model(alias)</a:t>
            </a:r>
          </a:p>
          <a:p>
            <a:pPr algn="ctr">
              <a:lnSpc>
                <a:spcPct val="105000"/>
              </a:lnSpc>
              <a:spcBef>
                <a:spcPts val="0"/>
              </a:spcBef>
              <a:spcAft>
                <a:spcPts val="0"/>
              </a:spcAft>
            </a:pPr>
            <a:r>
              <a:rPr sz="1150" b="0" i="0">
                <a:solidFill>
                  <a:srgbClr val="FFFFFF"/>
                </a:solidFill>
                <a:latin typeface="Calibri"/>
              </a:rPr>
              <a:t>OpenAI-style chat_completions_create and embeddings_create; nothing outside imports a vendor SDK</a:t>
            </a:r>
          </a:p>
        </p:txBody>
      </p:sp>
      <p:sp>
        <p:nvSpPr>
          <p:cNvPr id="26" name="Rounded Rectangle 25"/>
          <p:cNvSpPr/>
          <p:nvPr/>
        </p:nvSpPr>
        <p:spPr>
          <a:xfrm>
            <a:off x="777240" y="3279165"/>
            <a:ext cx="10637215"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GovernedModel</a:t>
            </a:r>
          </a:p>
          <a:p>
            <a:pPr algn="ctr">
              <a:lnSpc>
                <a:spcPct val="105000"/>
              </a:lnSpc>
              <a:spcBef>
                <a:spcPts val="0"/>
              </a:spcBef>
              <a:spcAft>
                <a:spcPts val="0"/>
              </a:spcAft>
            </a:pPr>
            <a:r>
              <a:rPr sz="1050" b="0" i="0">
                <a:solidFill>
                  <a:srgbClr val="FFFFFF"/>
                </a:solidFill>
                <a:latin typeface="Calibri"/>
              </a:rPr>
              <a:t>aliases, role policy and token caps, daily budgets, retries and fallback, a breaker per provider, a response cache, audit, usage, one trace span</a:t>
            </a:r>
          </a:p>
        </p:txBody>
      </p:sp>
      <p:sp>
        <p:nvSpPr>
          <p:cNvPr id="27" name="Rounded Rectangle 26"/>
          <p:cNvSpPr/>
          <p:nvPr/>
        </p:nvSpPr>
        <p:spPr>
          <a:xfrm>
            <a:off x="777240"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anthropic</a:t>
            </a:r>
          </a:p>
        </p:txBody>
      </p:sp>
      <p:sp>
        <p:nvSpPr>
          <p:cNvPr id="28" name="Rounded Rectangle 27"/>
          <p:cNvSpPr/>
          <p:nvPr/>
        </p:nvSpPr>
        <p:spPr>
          <a:xfrm>
            <a:off x="2328500"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azure_openai</a:t>
            </a:r>
          </a:p>
        </p:txBody>
      </p:sp>
      <p:sp>
        <p:nvSpPr>
          <p:cNvPr id="29" name="Rounded Rectangle 28"/>
          <p:cNvSpPr/>
          <p:nvPr/>
        </p:nvSpPr>
        <p:spPr>
          <a:xfrm>
            <a:off x="3879761"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bedrock</a:t>
            </a:r>
          </a:p>
        </p:txBody>
      </p:sp>
      <p:sp>
        <p:nvSpPr>
          <p:cNvPr id="30" name="Rounded Rectangle 29"/>
          <p:cNvSpPr/>
          <p:nvPr/>
        </p:nvSpPr>
        <p:spPr>
          <a:xfrm>
            <a:off x="5431021"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cohere</a:t>
            </a:r>
          </a:p>
        </p:txBody>
      </p:sp>
      <p:sp>
        <p:nvSpPr>
          <p:cNvPr id="31" name="Rounded Rectangle 30"/>
          <p:cNvSpPr/>
          <p:nvPr/>
        </p:nvSpPr>
        <p:spPr>
          <a:xfrm>
            <a:off x="6982282"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deepseek</a:t>
            </a:r>
          </a:p>
        </p:txBody>
      </p:sp>
      <p:sp>
        <p:nvSpPr>
          <p:cNvPr id="32" name="Rounded Rectangle 31"/>
          <p:cNvSpPr/>
          <p:nvPr/>
        </p:nvSpPr>
        <p:spPr>
          <a:xfrm>
            <a:off x="8533542"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fireworks</a:t>
            </a:r>
          </a:p>
        </p:txBody>
      </p:sp>
      <p:sp>
        <p:nvSpPr>
          <p:cNvPr id="33" name="Rounded Rectangle 32"/>
          <p:cNvSpPr/>
          <p:nvPr/>
        </p:nvSpPr>
        <p:spPr>
          <a:xfrm>
            <a:off x="10084803"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gemini</a:t>
            </a:r>
          </a:p>
        </p:txBody>
      </p:sp>
      <p:sp>
        <p:nvSpPr>
          <p:cNvPr id="34" name="Rounded Rectangle 33"/>
          <p:cNvSpPr/>
          <p:nvPr/>
        </p:nvSpPr>
        <p:spPr>
          <a:xfrm>
            <a:off x="777240"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groq</a:t>
            </a:r>
          </a:p>
        </p:txBody>
      </p:sp>
      <p:sp>
        <p:nvSpPr>
          <p:cNvPr id="35" name="Rounded Rectangle 34"/>
          <p:cNvSpPr/>
          <p:nvPr/>
        </p:nvSpPr>
        <p:spPr>
          <a:xfrm>
            <a:off x="2328500"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lmstudio</a:t>
            </a:r>
          </a:p>
        </p:txBody>
      </p:sp>
      <p:sp>
        <p:nvSpPr>
          <p:cNvPr id="36" name="Rounded Rectangle 35"/>
          <p:cNvSpPr/>
          <p:nvPr/>
        </p:nvSpPr>
        <p:spPr>
          <a:xfrm>
            <a:off x="3879761"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mistral</a:t>
            </a:r>
          </a:p>
        </p:txBody>
      </p:sp>
      <p:sp>
        <p:nvSpPr>
          <p:cNvPr id="37" name="Rounded Rectangle 36"/>
          <p:cNvSpPr/>
          <p:nvPr/>
        </p:nvSpPr>
        <p:spPr>
          <a:xfrm>
            <a:off x="5431021" y="4722787"/>
            <a:ext cx="1329651" cy="406654"/>
          </a:xfrm>
          <a:prstGeom prst="roundRect">
            <a:avLst>
              <a:gd name="adj" fmla="val 17988"/>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mock</a:t>
            </a:r>
          </a:p>
        </p:txBody>
      </p:sp>
      <p:sp>
        <p:nvSpPr>
          <p:cNvPr id="38" name="Rounded Rectangle 37"/>
          <p:cNvSpPr/>
          <p:nvPr/>
        </p:nvSpPr>
        <p:spPr>
          <a:xfrm>
            <a:off x="6982282"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ollama</a:t>
            </a:r>
          </a:p>
        </p:txBody>
      </p:sp>
      <p:sp>
        <p:nvSpPr>
          <p:cNvPr id="39" name="Rounded Rectangle 38"/>
          <p:cNvSpPr/>
          <p:nvPr/>
        </p:nvSpPr>
        <p:spPr>
          <a:xfrm>
            <a:off x="8533542"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openai</a:t>
            </a:r>
          </a:p>
        </p:txBody>
      </p:sp>
      <p:sp>
        <p:nvSpPr>
          <p:cNvPr id="40" name="Rounded Rectangle 39"/>
          <p:cNvSpPr/>
          <p:nvPr/>
        </p:nvSpPr>
        <p:spPr>
          <a:xfrm>
            <a:off x="10084803"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openai_compatible</a:t>
            </a:r>
          </a:p>
        </p:txBody>
      </p:sp>
      <p:sp>
        <p:nvSpPr>
          <p:cNvPr id="41" name="Rounded Rectangle 40"/>
          <p:cNvSpPr/>
          <p:nvPr/>
        </p:nvSpPr>
        <p:spPr>
          <a:xfrm>
            <a:off x="777240"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openrouter</a:t>
            </a:r>
          </a:p>
        </p:txBody>
      </p:sp>
      <p:sp>
        <p:nvSpPr>
          <p:cNvPr id="42" name="Rounded Rectangle 41"/>
          <p:cNvSpPr/>
          <p:nvPr/>
        </p:nvSpPr>
        <p:spPr>
          <a:xfrm>
            <a:off x="2328500"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perplexity</a:t>
            </a:r>
          </a:p>
        </p:txBody>
      </p:sp>
      <p:sp>
        <p:nvSpPr>
          <p:cNvPr id="43" name="Rounded Rectangle 42"/>
          <p:cNvSpPr/>
          <p:nvPr/>
        </p:nvSpPr>
        <p:spPr>
          <a:xfrm>
            <a:off x="3879761"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together</a:t>
            </a:r>
          </a:p>
        </p:txBody>
      </p:sp>
      <p:sp>
        <p:nvSpPr>
          <p:cNvPr id="44" name="Rounded Rectangle 43"/>
          <p:cNvSpPr/>
          <p:nvPr/>
        </p:nvSpPr>
        <p:spPr>
          <a:xfrm>
            <a:off x="5431021"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vllm</a:t>
            </a:r>
          </a:p>
        </p:txBody>
      </p:sp>
      <p:sp>
        <p:nvSpPr>
          <p:cNvPr id="45" name="Rounded Rectangle 44"/>
          <p:cNvSpPr/>
          <p:nvPr/>
        </p:nvSpPr>
        <p:spPr>
          <a:xfrm>
            <a:off x="6982282"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xai</a:t>
            </a:r>
          </a:p>
        </p:txBody>
      </p:sp>
      <p:cxnSp>
        <p:nvCxnSpPr>
          <p:cNvPr id="46" name="Connector 45"/>
          <p:cNvCxnSpPr/>
          <p:nvPr/>
        </p:nvCxnSpPr>
        <p:spPr>
          <a:xfrm>
            <a:off x="1601624"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3399313"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5197002"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994692"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792381"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0590071"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6095847" y="3040227"/>
            <a:ext cx="0" cy="193218"/>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LLM TOOLS AND THE OPENAI-COMPATIBLE ENDPOINT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An LLM tool is an ordinary tool whose work a model does, in one of 7 modes</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OpenAI-compatible endpoint ships off (ai.openai_api.enabled); when on, a caller sees only the models and LLM tools its role allows.</a:t>
            </a:r>
          </a:p>
        </p:txBody>
      </p:sp>
      <p:sp>
        <p:nvSpPr>
          <p:cNvPr id="19" name="Rounded Rectangle 18"/>
          <p:cNvSpPr/>
          <p:nvPr/>
        </p:nvSpPr>
        <p:spPr>
          <a:xfrm>
            <a:off x="777240"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answer</a:t>
            </a:r>
          </a:p>
        </p:txBody>
      </p:sp>
      <p:sp>
        <p:nvSpPr>
          <p:cNvPr id="20" name="Rounded Rectangle 19"/>
          <p:cNvSpPr/>
          <p:nvPr/>
        </p:nvSpPr>
        <p:spPr>
          <a:xfrm>
            <a:off x="2319636"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complete</a:t>
            </a:r>
          </a:p>
        </p:txBody>
      </p:sp>
      <p:sp>
        <p:nvSpPr>
          <p:cNvPr id="21" name="Rounded Rectangle 20"/>
          <p:cNvSpPr/>
          <p:nvPr/>
        </p:nvSpPr>
        <p:spPr>
          <a:xfrm>
            <a:off x="3862032"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extract</a:t>
            </a:r>
          </a:p>
        </p:txBody>
      </p:sp>
      <p:sp>
        <p:nvSpPr>
          <p:cNvPr id="22" name="Rounded Rectangle 21"/>
          <p:cNvSpPr/>
          <p:nvPr/>
        </p:nvSpPr>
        <p:spPr>
          <a:xfrm>
            <a:off x="5404428"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classify</a:t>
            </a:r>
          </a:p>
        </p:txBody>
      </p:sp>
      <p:sp>
        <p:nvSpPr>
          <p:cNvPr id="23" name="Rounded Rectangle 22"/>
          <p:cNvSpPr/>
          <p:nvPr/>
        </p:nvSpPr>
        <p:spPr>
          <a:xfrm>
            <a:off x="6946824"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grounded</a:t>
            </a:r>
          </a:p>
        </p:txBody>
      </p:sp>
      <p:sp>
        <p:nvSpPr>
          <p:cNvPr id="24" name="Rounded Rectangle 23"/>
          <p:cNvSpPr/>
          <p:nvPr/>
        </p:nvSpPr>
        <p:spPr>
          <a:xfrm>
            <a:off x="8489221"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narrate</a:t>
            </a:r>
          </a:p>
        </p:txBody>
      </p:sp>
      <p:sp>
        <p:nvSpPr>
          <p:cNvPr id="25" name="Rounded Rectangle 24"/>
          <p:cNvSpPr/>
          <p:nvPr/>
        </p:nvSpPr>
        <p:spPr>
          <a:xfrm>
            <a:off x="10031617"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judge</a:t>
            </a:r>
          </a:p>
        </p:txBody>
      </p:sp>
      <p:sp>
        <p:nvSpPr>
          <p:cNvPr id="26" name="Rounded Rectangle 25"/>
          <p:cNvSpPr/>
          <p:nvPr/>
        </p:nvSpPr>
        <p:spPr>
          <a:xfrm>
            <a:off x="777240" y="1611884"/>
            <a:ext cx="319116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An LLM tool</a:t>
            </a:r>
          </a:p>
          <a:p>
            <a:pPr algn="ctr">
              <a:lnSpc>
                <a:spcPct val="105000"/>
              </a:lnSpc>
              <a:spcBef>
                <a:spcPts val="0"/>
              </a:spcBef>
              <a:spcAft>
                <a:spcPts val="0"/>
              </a:spcAft>
            </a:pPr>
            <a:r>
              <a:rPr sz="1250" b="0" i="0">
                <a:solidFill>
                  <a:srgbClr val="FFFFFF"/>
                </a:solidFill>
                <a:latin typeface="Calibri"/>
              </a:rPr>
              <a:t>a config file in config/tools: name, schemas, a prompt, a mode</a:t>
            </a:r>
          </a:p>
        </p:txBody>
      </p:sp>
      <p:sp>
        <p:nvSpPr>
          <p:cNvPr id="27" name="Rounded Rectangle 26"/>
          <p:cNvSpPr/>
          <p:nvPr/>
        </p:nvSpPr>
        <p:spPr>
          <a:xfrm>
            <a:off x="4500265" y="1611884"/>
            <a:ext cx="3191164" cy="894638"/>
          </a:xfrm>
          <a:prstGeom prst="roundRect">
            <a:avLst>
              <a:gd name="adj" fmla="val 8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governed like every tool</a:t>
            </a:r>
          </a:p>
          <a:p>
            <a:pPr algn="ctr">
              <a:lnSpc>
                <a:spcPct val="105000"/>
              </a:lnSpc>
              <a:spcBef>
                <a:spcPts val="0"/>
              </a:spcBef>
              <a:spcAft>
                <a:spcPts val="0"/>
              </a:spcAft>
            </a:pPr>
            <a:r>
              <a:rPr sz="1150" b="0" i="0">
                <a:solidFill>
                  <a:srgbClr val="1A1A1A"/>
                </a:solidFill>
                <a:latin typeface="Calibri"/>
              </a:rPr>
              <a:t>access, policy, audit, budgets, tests, versions</a:t>
            </a:r>
          </a:p>
        </p:txBody>
      </p:sp>
      <p:sp>
        <p:nvSpPr>
          <p:cNvPr id="28" name="Rounded Rectangle 27"/>
          <p:cNvSpPr/>
          <p:nvPr/>
        </p:nvSpPr>
        <p:spPr>
          <a:xfrm>
            <a:off x="8223290" y="1611884"/>
            <a:ext cx="3191164" cy="894638"/>
          </a:xfrm>
          <a:prstGeom prst="roundRect">
            <a:avLst>
              <a:gd name="adj" fmla="val 8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shared across a net</a:t>
            </a:r>
          </a:p>
          <a:p>
            <a:pPr algn="ctr">
              <a:lnSpc>
                <a:spcPct val="105000"/>
              </a:lnSpc>
              <a:spcBef>
                <a:spcPts val="0"/>
              </a:spcBef>
              <a:spcAft>
                <a:spcPts val="0"/>
              </a:spcAft>
            </a:pPr>
            <a:r>
              <a:rPr sz="1150" b="0" i="0">
                <a:solidFill>
                  <a:srgbClr val="1A1A1A"/>
                </a:solidFill>
                <a:latin typeface="Calibri"/>
              </a:rPr>
              <a:t>runs on its host's models and budgets</a:t>
            </a:r>
          </a:p>
        </p:txBody>
      </p:sp>
      <p:sp>
        <p:nvSpPr>
          <p:cNvPr id="29" name="Rounded Rectangle 28"/>
          <p:cNvSpPr/>
          <p:nvPr/>
        </p:nvSpPr>
        <p:spPr>
          <a:xfrm>
            <a:off x="777240" y="4865116"/>
            <a:ext cx="2340187"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clients</a:t>
            </a:r>
          </a:p>
          <a:p>
            <a:pPr algn="ctr">
              <a:lnSpc>
                <a:spcPct val="105000"/>
              </a:lnSpc>
              <a:spcBef>
                <a:spcPts val="0"/>
              </a:spcBef>
              <a:spcAft>
                <a:spcPts val="0"/>
              </a:spcAft>
            </a:pPr>
            <a:r>
              <a:rPr sz="1050" b="0" i="0">
                <a:solidFill>
                  <a:srgbClr val="1A1A1A"/>
                </a:solidFill>
                <a:latin typeface="Calibri"/>
              </a:rPr>
              <a:t>tools/call</a:t>
            </a:r>
          </a:p>
        </p:txBody>
      </p:sp>
      <p:sp>
        <p:nvSpPr>
          <p:cNvPr id="30" name="Rounded Rectangle 29"/>
          <p:cNvSpPr/>
          <p:nvPr/>
        </p:nvSpPr>
        <p:spPr>
          <a:xfrm>
            <a:off x="3542915" y="4865116"/>
            <a:ext cx="2340187"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workflows, composites, A2A</a:t>
            </a:r>
          </a:p>
          <a:p>
            <a:pPr algn="ctr">
              <a:lnSpc>
                <a:spcPct val="105000"/>
              </a:lnSpc>
              <a:spcBef>
                <a:spcPts val="0"/>
              </a:spcBef>
              <a:spcAft>
                <a:spcPts val="0"/>
              </a:spcAft>
            </a:pPr>
            <a:r>
              <a:rPr sz="1050" b="0" i="0">
                <a:solidFill>
                  <a:srgbClr val="1A1A1A"/>
                </a:solidFill>
                <a:latin typeface="Calibri"/>
              </a:rPr>
              <a:t>as a step</a:t>
            </a:r>
          </a:p>
        </p:txBody>
      </p:sp>
      <p:sp>
        <p:nvSpPr>
          <p:cNvPr id="31" name="Rounded Rectangle 30"/>
          <p:cNvSpPr/>
          <p:nvPr/>
        </p:nvSpPr>
        <p:spPr>
          <a:xfrm>
            <a:off x="6308591" y="4865116"/>
            <a:ext cx="2552931"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/v1/chat/completions</a:t>
            </a:r>
          </a:p>
          <a:p>
            <a:pPr algn="ctr">
              <a:lnSpc>
                <a:spcPct val="105000"/>
              </a:lnSpc>
              <a:spcBef>
                <a:spcPts val="0"/>
              </a:spcBef>
              <a:spcAft>
                <a:spcPts val="0"/>
              </a:spcAft>
            </a:pPr>
            <a:r>
              <a:rPr sz="1050" b="0" i="0">
                <a:solidFill>
                  <a:srgbClr val="1A1A1A"/>
                </a:solidFill>
                <a:latin typeface="Calibri"/>
              </a:rPr>
              <a:t>the tool listed as model sajha:&lt;tool&gt;</a:t>
            </a:r>
          </a:p>
        </p:txBody>
      </p:sp>
      <p:sp>
        <p:nvSpPr>
          <p:cNvPr id="32" name="Rounded Rectangle 31"/>
          <p:cNvSpPr/>
          <p:nvPr/>
        </p:nvSpPr>
        <p:spPr>
          <a:xfrm>
            <a:off x="9287012" y="4865116"/>
            <a:ext cx="2127443" cy="731977"/>
          </a:xfrm>
          <a:prstGeom prst="roundRect">
            <a:avLst>
              <a:gd name="adj" fmla="val 9993"/>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any OpenAI SDK</a:t>
            </a:r>
          </a:p>
          <a:p>
            <a:pPr algn="ctr">
              <a:lnSpc>
                <a:spcPct val="105000"/>
              </a:lnSpc>
              <a:spcBef>
                <a:spcPts val="0"/>
              </a:spcBef>
              <a:spcAft>
                <a:spcPts val="0"/>
              </a:spcAft>
            </a:pPr>
            <a:r>
              <a:rPr sz="1050" b="0" i="0">
                <a:solidFill>
                  <a:srgbClr val="6E1120"/>
                </a:solidFill>
                <a:latin typeface="Calibri"/>
              </a:rPr>
              <a:t>base URL and a SAJHA key</a:t>
            </a:r>
          </a:p>
        </p:txBody>
      </p:sp>
      <p:sp>
        <p:nvSpPr>
          <p:cNvPr id="33" name="TextBox 32"/>
          <p:cNvSpPr txBox="1"/>
          <p:nvPr/>
        </p:nvSpPr>
        <p:spPr>
          <a:xfrm>
            <a:off x="777240" y="3075838"/>
            <a:ext cx="10637215" cy="40665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MODES</a:t>
            </a:r>
          </a:p>
        </p:txBody>
      </p:sp>
      <p:sp>
        <p:nvSpPr>
          <p:cNvPr id="34" name="TextBox 33"/>
          <p:cNvSpPr txBox="1"/>
          <p:nvPr/>
        </p:nvSpPr>
        <p:spPr>
          <a:xfrm>
            <a:off x="777240" y="4377131"/>
            <a:ext cx="10637215" cy="40665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CALLED FROM</a:t>
            </a:r>
          </a:p>
        </p:txBody>
      </p:sp>
      <p:cxnSp>
        <p:nvCxnSpPr>
          <p:cNvPr id="35" name="Connector 34"/>
          <p:cNvCxnSpPr/>
          <p:nvPr/>
        </p:nvCxnSpPr>
        <p:spPr>
          <a:xfrm>
            <a:off x="4014124" y="205920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737149" y="205920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8907243" y="5231104"/>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SEMANTIC DISCOVERY AND ASK SAJHA</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Ask SAJHA answers in four moves, and the browser draws each one</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85</a:t>
            </a:r>
          </a:p>
        </p:txBody>
      </p:sp>
      <p:sp>
        <p:nvSpPr>
          <p:cNvPr id="17" name="TextBox 16"/>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On /ask the catalog is drawn as a constellation: one star per tool, clustered by group. As a question is answered, the shortlisted stars light up and a line is drawn to each tool called.</a:t>
            </a:r>
          </a:p>
        </p:txBody>
      </p:sp>
      <p:sp>
        <p:nvSpPr>
          <p:cNvPr id="18" name="Rectangle 17"/>
          <p:cNvSpPr/>
          <p:nvPr/>
        </p:nvSpPr>
        <p:spPr>
          <a:xfrm>
            <a:off x="777240" y="1976247"/>
            <a:ext cx="2467279" cy="20116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97624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214083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1  Shortlist</a:t>
            </a:r>
          </a:p>
        </p:txBody>
      </p:sp>
      <p:sp>
        <p:nvSpPr>
          <p:cNvPr id="21" name="TextBox 20"/>
          <p:cNvSpPr txBox="1"/>
          <p:nvPr/>
        </p:nvSpPr>
        <p:spPr>
          <a:xfrm>
            <a:off x="960120" y="2537523"/>
            <a:ext cx="2101519" cy="1322387"/>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Every tool's name and description is ranked against the question (embeddings, or BM25 when none is configured); tools the caller may not run are dropped first.</a:t>
            </a:r>
          </a:p>
        </p:txBody>
      </p:sp>
      <p:sp>
        <p:nvSpPr>
          <p:cNvPr id="22" name="Rectangle 21"/>
          <p:cNvSpPr/>
          <p:nvPr/>
        </p:nvSpPr>
        <p:spPr>
          <a:xfrm>
            <a:off x="3500551" y="1976247"/>
            <a:ext cx="2467279" cy="20116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500551" y="197624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83431" y="214083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2  Plan</a:t>
            </a:r>
          </a:p>
        </p:txBody>
      </p:sp>
      <p:sp>
        <p:nvSpPr>
          <p:cNvPr id="25" name="TextBox 24"/>
          <p:cNvSpPr txBox="1"/>
          <p:nvPr/>
        </p:nvSpPr>
        <p:spPr>
          <a:xfrm>
            <a:off x="3683431" y="2537523"/>
            <a:ext cx="2101519" cy="1322387"/>
          </a:xfrm>
          <a:prstGeom prst="rect">
            <a:avLst/>
          </a:prstGeom>
          <a:noFill/>
        </p:spPr>
        <p:txBody>
          <a:bodyPr wrap="square" lIns="0" rIns="0" tIns="0" bIns="0" anchor="t">
            <a:spAutoFit/>
          </a:bodyPr>
          <a:lstStyle/>
          <a:p>
            <a:pPr algn="l">
              <a:lnSpc>
                <a:spcPct val="120000"/>
              </a:lnSpc>
              <a:spcBef>
                <a:spcPts val="0"/>
              </a:spcBef>
              <a:spcAft>
                <a:spcPts val="0"/>
              </a:spcAft>
            </a:pPr>
            <a:r>
              <a:rPr sz="1550" b="0" i="0">
                <a:solidFill>
                  <a:srgbClr val="6B7480"/>
                </a:solidFill>
                <a:latin typeface="Calibri"/>
              </a:rPr>
              <a:t>A planner asks the model what to do next: answer, or call which shortlisted tools.</a:t>
            </a:r>
          </a:p>
        </p:txBody>
      </p:sp>
      <p:cxnSp>
        <p:nvCxnSpPr>
          <p:cNvPr id="26" name="Connector 25"/>
          <p:cNvCxnSpPr/>
          <p:nvPr/>
        </p:nvCxnSpPr>
        <p:spPr>
          <a:xfrm>
            <a:off x="3271951" y="2982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6223863" y="1976247"/>
            <a:ext cx="2467279" cy="20116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23863" y="197624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6743" y="214083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3  Governed call</a:t>
            </a:r>
          </a:p>
        </p:txBody>
      </p:sp>
      <p:sp>
        <p:nvSpPr>
          <p:cNvPr id="30" name="TextBox 29"/>
          <p:cNvSpPr txBox="1"/>
          <p:nvPr/>
        </p:nvSpPr>
        <p:spPr>
          <a:xfrm>
            <a:off x="6406743" y="2842768"/>
            <a:ext cx="2101519" cy="1017142"/>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6B7480"/>
                </a:solidFill>
                <a:latin typeface="Calibri"/>
              </a:rPr>
              <a:t>Each call takes the path every client's call takes: schema, access, policy, cache, audit.</a:t>
            </a:r>
          </a:p>
        </p:txBody>
      </p:sp>
      <p:cxnSp>
        <p:nvCxnSpPr>
          <p:cNvPr id="31" name="Connector 30"/>
          <p:cNvCxnSpPr/>
          <p:nvPr/>
        </p:nvCxnSpPr>
        <p:spPr>
          <a:xfrm>
            <a:off x="5995263" y="2982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8947175" y="1976247"/>
            <a:ext cx="2467279" cy="20116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947175" y="197624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30055" y="214083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4  Answer</a:t>
            </a:r>
          </a:p>
        </p:txBody>
      </p:sp>
      <p:sp>
        <p:nvSpPr>
          <p:cNvPr id="35" name="TextBox 34"/>
          <p:cNvSpPr txBox="1"/>
          <p:nvPr/>
        </p:nvSpPr>
        <p:spPr>
          <a:xfrm>
            <a:off x="9130055" y="2537523"/>
            <a:ext cx="2101519" cy="1322387"/>
          </a:xfrm>
          <a:prstGeom prst="rect">
            <a:avLst/>
          </a:prstGeom>
          <a:noFill/>
        </p:spPr>
        <p:txBody>
          <a:bodyPr wrap="square" lIns="0" rIns="0" tIns="0" bIns="0" anchor="t">
            <a:spAutoFit/>
          </a:bodyPr>
          <a:lstStyle/>
          <a:p>
            <a:pPr algn="l">
              <a:lnSpc>
                <a:spcPct val="120000"/>
              </a:lnSpc>
              <a:spcBef>
                <a:spcPts val="0"/>
              </a:spcBef>
              <a:spcAft>
                <a:spcPts val="0"/>
              </a:spcAft>
            </a:pPr>
            <a:r>
              <a:rPr sz="1550" b="0" i="0">
                <a:solidFill>
                  <a:srgbClr val="6B7480"/>
                </a:solidFill>
                <a:latin typeface="Calibri"/>
              </a:rPr>
              <a:t>The answer cites the calls it rests on; SAJHA attaches a confidence it computed itself.</a:t>
            </a:r>
          </a:p>
        </p:txBody>
      </p:sp>
      <p:cxnSp>
        <p:nvCxnSpPr>
          <p:cNvPr id="36" name="Connector 35"/>
          <p:cNvCxnSpPr/>
          <p:nvPr/>
        </p:nvCxnSpPr>
        <p:spPr>
          <a:xfrm>
            <a:off x="8718575" y="2982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77240" y="4198239"/>
            <a:ext cx="10637215" cy="2047113"/>
          </a:xfrm>
          <a:prstGeom prst="rect">
            <a:avLst/>
          </a:prstGeom>
          <a:noFill/>
        </p:spPr>
        <p:txBody>
          <a:bodyPr wrap="square" lIns="0" rIns="0" tIns="0" bIns="0" anchor="t">
            <a:spAutoFit/>
          </a:bodyPr>
          <a:lstStyle/>
          <a:p>
            <a:pPr algn="l">
              <a:lnSpc>
                <a:spcPct val="120000"/>
              </a:lnSpc>
              <a:spcBef>
                <a:spcPts val="0"/>
              </a:spcBef>
              <a:spcAft>
                <a:spcPts val="0"/>
              </a:spcAft>
            </a:pPr>
            <a:r>
              <a:rPr sz="1800" b="1">
                <a:solidFill>
                  <a:srgbClr val="A51C30"/>
                </a:solidFill>
                <a:latin typeface="Calibri"/>
              </a:rPr>
              <a:t>▪  </a:t>
            </a:r>
            <a:r>
              <a:rPr sz="1800" b="0">
                <a:solidFill>
                  <a:srgbClr val="1A1A1A"/>
                </a:solidFill>
                <a:latin typeface="Calibri"/>
              </a:rPr>
              <a:t>The page animates the run's events, in the order emitted: shortlist → planner_chosen → stage_start → model → tool_call → tool_result → stage_end → stage_start → model → stage_end → stage_start → stage_end → answer → confidence → done.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SHORTLIST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512 tools in, 12 offered to the model</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86</a:t>
            </a:r>
          </a:p>
        </p:txBody>
      </p:sp>
      <p:sp>
        <p:nvSpPr>
          <p:cNvPr id="17" name="Rectangle 16"/>
          <p:cNvSpPr/>
          <p:nvPr/>
        </p:nvSpPr>
        <p:spPr>
          <a:xfrm>
            <a:off x="777240"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The shortlist event</a:t>
            </a:r>
          </a:p>
        </p:txBody>
      </p:sp>
      <p:sp>
        <p:nvSpPr>
          <p:cNvPr id="20" name="Rectangle 19"/>
          <p:cNvSpPr/>
          <p:nvPr/>
        </p:nvSpPr>
        <p:spPr>
          <a:xfrm>
            <a:off x="777240" y="1899031"/>
            <a:ext cx="5135727" cy="4346321"/>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1899031"/>
            <a:ext cx="41148" cy="434632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2045335"/>
            <a:ext cx="4751679" cy="4072001"/>
          </a:xfrm>
          <a:prstGeom prst="rect">
            <a:avLst/>
          </a:prstGeom>
          <a:noFill/>
        </p:spPr>
        <p:txBody>
          <a:bodyPr wrap="square" lIns="0" rIns="0" tIns="0" bIns="0" anchor="t">
            <a:spAutoFit/>
          </a:bodyPr>
          <a:lstStyle/>
          <a:p>
            <a:pPr algn="l">
              <a:lnSpc>
                <a:spcPct val="110000"/>
              </a:lnSpc>
              <a:spcBef>
                <a:spcPts val="0"/>
              </a:spcBef>
              <a:spcAft>
                <a:spcPts val="200"/>
              </a:spcAft>
            </a:pPr>
            <a:r>
              <a:rPr sz="995" b="0" i="0">
                <a:solidFill>
                  <a:srgbClr val="6B7480"/>
                </a:solidFill>
                <a:latin typeface="Consolas"/>
              </a:rPr>
              <a:t># question: What is the percentage change from 80 to 100?</a:t>
            </a:r>
          </a:p>
          <a:p>
            <a:pPr>
              <a:lnSpc>
                <a:spcPct val="110000"/>
              </a:lnSpc>
              <a:spcBef>
                <a:spcPts val="0"/>
              </a:spcBef>
              <a:spcAft>
                <a:spcPts val="200"/>
              </a:spcAft>
            </a:pPr>
            <a:r>
              <a:rPr sz="995" b="0" i="0">
                <a:solidFill>
                  <a:srgbClr val="6B7480"/>
                </a:solidFill>
                <a:latin typeface="Consolas"/>
              </a:rPr>
              <a:t># score  tool</a:t>
            </a:r>
          </a:p>
          <a:p>
            <a:pPr>
              <a:lnSpc>
                <a:spcPct val="110000"/>
              </a:lnSpc>
              <a:spcBef>
                <a:spcPts val="0"/>
              </a:spcBef>
              <a:spcAft>
                <a:spcPts val="200"/>
              </a:spcAft>
            </a:pPr>
            <a:r>
              <a:rPr sz="995" b="0" i="0">
                <a:solidFill>
                  <a:srgbClr val="1A1A1A"/>
                </a:solidFill>
                <a:latin typeface="Consolas"/>
              </a:rPr>
              <a:t>0.739  calc_percentage_change</a:t>
            </a:r>
          </a:p>
          <a:p>
            <a:pPr>
              <a:lnSpc>
                <a:spcPct val="110000"/>
              </a:lnSpc>
              <a:spcBef>
                <a:spcPts val="0"/>
              </a:spcBef>
              <a:spcAft>
                <a:spcPts val="200"/>
              </a:spcAft>
            </a:pPr>
            <a:r>
              <a:rPr sz="995" b="0" i="0">
                <a:solidFill>
                  <a:srgbClr val="1A1A1A"/>
                </a:solidFill>
                <a:latin typeface="Consolas"/>
              </a:rPr>
              <a:t>0.648  fmp_sector_performance</a:t>
            </a:r>
          </a:p>
          <a:p>
            <a:pPr>
              <a:lnSpc>
                <a:spcPct val="110000"/>
              </a:lnSpc>
              <a:spcBef>
                <a:spcPts val="0"/>
              </a:spcBef>
              <a:spcAft>
                <a:spcPts val="200"/>
              </a:spcAft>
            </a:pPr>
            <a:r>
              <a:rPr sz="995" b="0" i="0">
                <a:solidFill>
                  <a:srgbClr val="1A1A1A"/>
                </a:solidFill>
                <a:latin typeface="Consolas"/>
              </a:rPr>
              <a:t>0.638  fmp_market_gainers</a:t>
            </a:r>
          </a:p>
          <a:p>
            <a:pPr>
              <a:lnSpc>
                <a:spcPct val="110000"/>
              </a:lnSpc>
              <a:spcBef>
                <a:spcPts val="0"/>
              </a:spcBef>
              <a:spcAft>
                <a:spcPts val="200"/>
              </a:spcAft>
            </a:pPr>
            <a:r>
              <a:rPr sz="995" b="0" i="0">
                <a:solidFill>
                  <a:srgbClr val="1A1A1A"/>
                </a:solidFill>
                <a:latin typeface="Consolas"/>
              </a:rPr>
              <a:t>0.638  fmp_market_losers</a:t>
            </a:r>
          </a:p>
          <a:p>
            <a:pPr>
              <a:lnSpc>
                <a:spcPct val="110000"/>
              </a:lnSpc>
              <a:spcBef>
                <a:spcPts val="0"/>
              </a:spcBef>
              <a:spcAft>
                <a:spcPts val="200"/>
              </a:spcAft>
            </a:pPr>
            <a:r>
              <a:rPr sz="995" b="0" i="0">
                <a:solidFill>
                  <a:srgbClr val="1A1A1A"/>
                </a:solidFill>
                <a:latin typeface="Consolas"/>
              </a:rPr>
              <a:t>0.538  fmp_nasdaq_constituents</a:t>
            </a:r>
          </a:p>
          <a:p>
            <a:pPr>
              <a:lnSpc>
                <a:spcPct val="110000"/>
              </a:lnSpc>
              <a:spcBef>
                <a:spcPts val="0"/>
              </a:spcBef>
              <a:spcAft>
                <a:spcPts val="200"/>
              </a:spcAft>
            </a:pPr>
            <a:r>
              <a:rPr sz="995" b="0" i="0">
                <a:solidFill>
                  <a:srgbClr val="1A1A1A"/>
                </a:solidFill>
                <a:latin typeface="Consolas"/>
              </a:rPr>
              <a:t>0.494  duckdb_sql</a:t>
            </a:r>
          </a:p>
          <a:p>
            <a:pPr>
              <a:lnSpc>
                <a:spcPct val="110000"/>
              </a:lnSpc>
              <a:spcBef>
                <a:spcPts val="0"/>
              </a:spcBef>
              <a:spcAft>
                <a:spcPts val="200"/>
              </a:spcAft>
            </a:pPr>
            <a:r>
              <a:rPr sz="995" b="0" i="0">
                <a:solidFill>
                  <a:srgbClr val="1A1A1A"/>
                </a:solidFill>
                <a:latin typeface="Consolas"/>
              </a:rPr>
              <a:t>0.459  openbb_index_constituents</a:t>
            </a:r>
          </a:p>
          <a:p>
            <a:pPr>
              <a:lnSpc>
                <a:spcPct val="110000"/>
              </a:lnSpc>
              <a:spcBef>
                <a:spcPts val="0"/>
              </a:spcBef>
              <a:spcAft>
                <a:spcPts val="200"/>
              </a:spcAft>
            </a:pPr>
            <a:r>
              <a:rPr sz="995" b="0" i="0">
                <a:solidFill>
                  <a:srgbClr val="1A1A1A"/>
                </a:solidFill>
                <a:latin typeface="Consolas"/>
              </a:rPr>
              <a:t>0.456  av_stock_quote</a:t>
            </a:r>
          </a:p>
          <a:p>
            <a:pPr>
              <a:lnSpc>
                <a:spcPct val="110000"/>
              </a:lnSpc>
              <a:spcBef>
                <a:spcPts val="0"/>
              </a:spcBef>
              <a:spcAft>
                <a:spcPts val="200"/>
              </a:spcAft>
            </a:pPr>
            <a:r>
              <a:rPr sz="995" b="0" i="0">
                <a:solidFill>
                  <a:srgbClr val="1A1A1A"/>
                </a:solidFill>
                <a:latin typeface="Consolas"/>
              </a:rPr>
              <a:t>0.445  cg_coin_categories_market</a:t>
            </a:r>
          </a:p>
          <a:p>
            <a:pPr>
              <a:lnSpc>
                <a:spcPct val="110000"/>
              </a:lnSpc>
              <a:spcBef>
                <a:spcPts val="0"/>
              </a:spcBef>
              <a:spcAft>
                <a:spcPts val="200"/>
              </a:spcAft>
            </a:pPr>
            <a:r>
              <a:rPr sz="995" b="0" i="0">
                <a:solidFill>
                  <a:srgbClr val="1A1A1A"/>
                </a:solidFill>
                <a:latin typeface="Consolas"/>
              </a:rPr>
              <a:t>0.440  fbi_get_agency_statistics</a:t>
            </a:r>
          </a:p>
          <a:p>
            <a:pPr>
              <a:lnSpc>
                <a:spcPct val="110000"/>
              </a:lnSpc>
              <a:spcBef>
                <a:spcPts val="0"/>
              </a:spcBef>
              <a:spcAft>
                <a:spcPts val="200"/>
              </a:spcAft>
            </a:pPr>
            <a:r>
              <a:rPr sz="995" b="0" i="0">
                <a:solidFill>
                  <a:srgbClr val="1A1A1A"/>
                </a:solidFill>
                <a:latin typeface="Consolas"/>
              </a:rPr>
              <a:t>0.440  cg_coin_markets</a:t>
            </a:r>
          </a:p>
          <a:p>
            <a:pPr>
              <a:lnSpc>
                <a:spcPct val="110000"/>
              </a:lnSpc>
              <a:spcBef>
                <a:spcPts val="0"/>
              </a:spcBef>
              <a:spcAft>
                <a:spcPts val="200"/>
              </a:spcAft>
            </a:pPr>
            <a:r>
              <a:rPr sz="995" b="0" i="0">
                <a:solidFill>
                  <a:srgbClr val="1A1A1A"/>
                </a:solidFill>
                <a:latin typeface="Consolas"/>
              </a:rPr>
              <a:t>0.440  cg_coin_price</a:t>
            </a:r>
          </a:p>
        </p:txBody>
      </p:sp>
      <p:sp>
        <p:nvSpPr>
          <p:cNvPr id="23" name="Rectangle 22"/>
          <p:cNvSpPr/>
          <p:nvPr/>
        </p:nvSpPr>
        <p:spPr>
          <a:xfrm>
            <a:off x="6278727"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What happened</a:t>
            </a:r>
          </a:p>
        </p:txBody>
      </p:sp>
      <p:sp>
        <p:nvSpPr>
          <p:cNvPr id="26" name="TextBox 25"/>
          <p:cNvSpPr txBox="1"/>
          <p:nvPr/>
        </p:nvSpPr>
        <p:spPr>
          <a:xfrm>
            <a:off x="6278727" y="1899031"/>
            <a:ext cx="5135727" cy="4346321"/>
          </a:xfrm>
          <a:prstGeom prst="rect">
            <a:avLst/>
          </a:prstGeom>
          <a:noFill/>
        </p:spPr>
        <p:txBody>
          <a:bodyPr wrap="square" lIns="0" rIns="0" tIns="0" bIns="0" anchor="t">
            <a:spAutoFit/>
          </a:bodyPr>
          <a:lstStyle/>
          <a:p>
            <a:pPr algn="l">
              <a:lnSpc>
                <a:spcPct val="120000"/>
              </a:lnSpc>
              <a:spcBef>
                <a:spcPts val="0"/>
              </a:spcBef>
              <a:spcAft>
                <a:spcPts val="0"/>
              </a:spcAft>
            </a:pPr>
            <a:r>
              <a:rPr sz="1900" b="1">
                <a:solidFill>
                  <a:srgbClr val="A51C30"/>
                </a:solidFill>
                <a:latin typeface="Calibri"/>
              </a:rPr>
              <a:t>▪  </a:t>
            </a:r>
            <a:r>
              <a:rPr sz="1900" b="0">
                <a:solidFill>
                  <a:srgbClr val="1A1A1A"/>
                </a:solidFill>
                <a:latin typeface="Calibri"/>
              </a:rPr>
              <a:t>No model chose these: the resolver ranked all 512 descriptions by word overlap (BM25), because no embedding model is configured.</a:t>
            </a:r>
          </a:p>
          <a:p>
            <a:pPr>
              <a:lnSpc>
                <a:spcPct val="120000"/>
              </a:lnSpc>
              <a:spcBef>
                <a:spcPts val="600"/>
              </a:spcBef>
              <a:spcAft>
                <a:spcPts val="0"/>
              </a:spcAft>
            </a:pPr>
            <a:r>
              <a:rPr sz="1900" b="1">
                <a:solidFill>
                  <a:srgbClr val="A51C30"/>
                </a:solidFill>
                <a:latin typeface="Calibri"/>
              </a:rPr>
              <a:t>▪  </a:t>
            </a:r>
            <a:r>
              <a:rPr sz="1900" b="0">
                <a:solidFill>
                  <a:srgbClr val="1A1A1A"/>
                </a:solidFill>
                <a:latin typeface="Calibri"/>
              </a:rPr>
              <a:t>The calculator ranks first; the model, not the shortlist, makes the final choice.</a:t>
            </a:r>
          </a:p>
          <a:p>
            <a:pPr>
              <a:lnSpc>
                <a:spcPct val="120000"/>
              </a:lnSpc>
              <a:spcBef>
                <a:spcPts val="600"/>
              </a:spcBef>
              <a:spcAft>
                <a:spcPts val="0"/>
              </a:spcAft>
            </a:pPr>
            <a:r>
              <a:rPr sz="1900" b="1">
                <a:solidFill>
                  <a:srgbClr val="A51C30"/>
                </a:solidFill>
                <a:latin typeface="Calibri"/>
              </a:rPr>
              <a:t>▪  </a:t>
            </a:r>
            <a:r>
              <a:rPr sz="1900" b="0">
                <a:solidFill>
                  <a:srgbClr val="1A1A1A"/>
                </a:solidFill>
                <a:latin typeface="Calibri"/>
              </a:rPr>
              <a:t>Tools the caller may not run were removed first: a model cannot be talked into a tool its user cannot call.</a:t>
            </a:r>
          </a:p>
          <a:p>
            <a:pPr>
              <a:lnSpc>
                <a:spcPct val="120000"/>
              </a:lnSpc>
              <a:spcBef>
                <a:spcPts val="600"/>
              </a:spcBef>
              <a:spcAft>
                <a:spcPts val="0"/>
              </a:spcAft>
            </a:pPr>
            <a:r>
              <a:rPr sz="1900" b="1">
                <a:solidFill>
                  <a:srgbClr val="A51C30"/>
                </a:solidFill>
                <a:latin typeface="Calibri"/>
              </a:rPr>
              <a:t>▪  </a:t>
            </a:r>
            <a:r>
              <a:rPr sz="1900" b="0">
                <a:solidFill>
                  <a:srgbClr val="1A1A1A"/>
                </a:solidFill>
                <a:latin typeface="Calibri"/>
              </a:rPr>
              <a:t>Only the top 12 (ai.ask.shortlist) reach the model.</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CALL</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model asked for one call, and SAJHA ran it as it runs any client's</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87</a:t>
            </a:r>
          </a:p>
        </p:txBody>
      </p:sp>
      <p:sp>
        <p:nvSpPr>
          <p:cNvPr id="17" name="Rectangle 16"/>
          <p:cNvSpPr/>
          <p:nvPr/>
        </p:nvSpPr>
        <p:spPr>
          <a:xfrm>
            <a:off x="777240" y="1290574"/>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29057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136372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The plan and the call</a:t>
            </a:r>
          </a:p>
        </p:txBody>
      </p:sp>
      <p:sp>
        <p:nvSpPr>
          <p:cNvPr id="20" name="Rectangle 19"/>
          <p:cNvSpPr/>
          <p:nvPr/>
        </p:nvSpPr>
        <p:spPr>
          <a:xfrm>
            <a:off x="777240" y="1802638"/>
            <a:ext cx="5135727" cy="4442714"/>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1802638"/>
            <a:ext cx="41148" cy="444271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1948942"/>
            <a:ext cx="4751679" cy="4168394"/>
          </a:xfrm>
          <a:prstGeom prst="rect">
            <a:avLst/>
          </a:prstGeom>
          <a:noFill/>
        </p:spPr>
        <p:txBody>
          <a:bodyPr wrap="square" lIns="0" rIns="0" tIns="0" bIns="0" anchor="t">
            <a:spAutoFit/>
          </a:bodyPr>
          <a:lstStyle/>
          <a:p>
            <a:pPr algn="l">
              <a:lnSpc>
                <a:spcPct val="110000"/>
              </a:lnSpc>
              <a:spcBef>
                <a:spcPts val="0"/>
              </a:spcBef>
              <a:spcAft>
                <a:spcPts val="200"/>
              </a:spcAft>
            </a:pPr>
            <a:r>
              <a:rPr sz="1260" b="0" i="0">
                <a:solidFill>
                  <a:srgbClr val="6B7480"/>
                </a:solidFill>
                <a:latin typeface="Consolas"/>
              </a:rPr>
              <a:t># model mock/mock-planner, planner react</a:t>
            </a:r>
          </a:p>
          <a:p>
            <a:pPr>
              <a:lnSpc>
                <a:spcPct val="110000"/>
              </a:lnSpc>
              <a:spcBef>
                <a:spcPts val="0"/>
              </a:spcBef>
              <a:spcAft>
                <a:spcPts val="200"/>
              </a:spcAft>
            </a:pPr>
            <a:r>
              <a:rPr sz="1260" b="1" i="0">
                <a:solidFill>
                  <a:srgbClr val="6E1120"/>
                </a:solidFill>
                <a:latin typeface="Consolas"/>
              </a:rPr>
              <a:t>→ tool_call calc_percentage_change</a:t>
            </a:r>
          </a:p>
          <a:p>
            <a:pPr>
              <a:lnSpc>
                <a:spcPct val="110000"/>
              </a:lnSpc>
              <a:spcBef>
                <a:spcPts val="0"/>
              </a:spcBef>
              <a:spcAft>
                <a:spcPts val="200"/>
              </a:spcAft>
            </a:pPr>
            <a:r>
              <a:rPr sz="1260" b="0" i="0">
                <a:solidFill>
                  <a:srgbClr val="1A1A1A"/>
                </a:solidFill>
                <a:latin typeface="Consolas"/>
              </a:rPr>
              <a:t>arguments {"new_value": 100, "old_value": 80}</a:t>
            </a:r>
          </a:p>
          <a:p>
            <a:pPr>
              <a:lnSpc>
                <a:spcPct val="110000"/>
              </a:lnSpc>
              <a:spcBef>
                <a:spcPts val="0"/>
              </a:spcBef>
              <a:spcAft>
                <a:spcPts val="200"/>
              </a:spcAft>
            </a:pPr>
            <a:r>
              <a:rPr sz="1260" b="0" i="0">
                <a:solidFill>
                  <a:srgbClr val="1A1A1A"/>
                </a:solidFill>
                <a:latin typeface="Consolas"/>
              </a:rPr>
              <a:t/>
            </a:r>
          </a:p>
          <a:p>
            <a:pPr>
              <a:lnSpc>
                <a:spcPct val="110000"/>
              </a:lnSpc>
              <a:spcBef>
                <a:spcPts val="0"/>
              </a:spcBef>
              <a:spcAft>
                <a:spcPts val="200"/>
              </a:spcAft>
            </a:pPr>
            <a:r>
              <a:rPr sz="1260" b="1" i="0">
                <a:solidFill>
                  <a:srgbClr val="6E1120"/>
                </a:solidFill>
                <a:latin typeface="Consolas"/>
              </a:rPr>
              <a:t>→ tool_result ok, 32 ms</a:t>
            </a:r>
          </a:p>
          <a:p>
            <a:pPr>
              <a:lnSpc>
                <a:spcPct val="110000"/>
              </a:lnSpc>
              <a:spcBef>
                <a:spcPts val="0"/>
              </a:spcBef>
              <a:spcAft>
                <a:spcPts val="200"/>
              </a:spcAft>
            </a:pPr>
            <a:r>
              <a:rPr sz="1260" b="0" i="0">
                <a:solidFill>
                  <a:srgbClr val="1A1A1A"/>
                </a:solidFill>
                <a:latin typeface="Consolas"/>
              </a:rPr>
              <a:t>{"old_value": 80, "new_value": 100,</a:t>
            </a:r>
          </a:p>
          <a:p>
            <a:pPr>
              <a:lnSpc>
                <a:spcPct val="110000"/>
              </a:lnSpc>
              <a:spcBef>
                <a:spcPts val="0"/>
              </a:spcBef>
              <a:spcAft>
                <a:spcPts val="200"/>
              </a:spcAft>
            </a:pPr>
            <a:r>
              <a:rPr sz="1260" b="0" i="0">
                <a:solidFill>
                  <a:srgbClr val="1A1A1A"/>
                </a:solidFill>
                <a:latin typeface="Consolas"/>
              </a:rPr>
              <a:t>  "percentage_change": 25.0}</a:t>
            </a:r>
          </a:p>
        </p:txBody>
      </p:sp>
      <p:sp>
        <p:nvSpPr>
          <p:cNvPr id="23" name="Rectangle 22"/>
          <p:cNvSpPr/>
          <p:nvPr/>
        </p:nvSpPr>
        <p:spPr>
          <a:xfrm>
            <a:off x="6278727" y="1290574"/>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78727" y="129057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3319" y="136372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On the way, SAJHA</a:t>
            </a:r>
          </a:p>
        </p:txBody>
      </p:sp>
      <p:sp>
        <p:nvSpPr>
          <p:cNvPr id="26" name="TextBox 25"/>
          <p:cNvSpPr txBox="1"/>
          <p:nvPr/>
        </p:nvSpPr>
        <p:spPr>
          <a:xfrm>
            <a:off x="6278727" y="1802638"/>
            <a:ext cx="5135727" cy="4442714"/>
          </a:xfrm>
          <a:prstGeom prst="rect">
            <a:avLst/>
          </a:prstGeom>
          <a:noFill/>
        </p:spPr>
        <p:txBody>
          <a:bodyPr wrap="square" lIns="0" rIns="0" tIns="0" bIns="0" anchor="t">
            <a:spAutoFit/>
          </a:bodyPr>
          <a:lstStyle/>
          <a:p>
            <a:pPr algn="l">
              <a:lnSpc>
                <a:spcPct val="120000"/>
              </a:lnSpc>
              <a:spcBef>
                <a:spcPts val="0"/>
              </a:spcBef>
              <a:spcAft>
                <a:spcPts val="100"/>
              </a:spcAft>
            </a:pPr>
            <a:r>
              <a:rPr sz="1800" b="1">
                <a:solidFill>
                  <a:srgbClr val="A51C30"/>
                </a:solidFill>
                <a:latin typeface="Calibri"/>
              </a:rPr>
              <a:t>▪  </a:t>
            </a:r>
            <a:r>
              <a:rPr sz="1800" b="1">
                <a:solidFill>
                  <a:srgbClr val="1A1A1A"/>
                </a:solidFill>
                <a:latin typeface="Calibri"/>
              </a:rPr>
              <a:t>Checked</a:t>
            </a:r>
          </a:p>
          <a:p>
            <a:pPr lvl="1">
              <a:lnSpc>
                <a:spcPct val="120000"/>
              </a:lnSpc>
              <a:spcBef>
                <a:spcPts val="0"/>
              </a:spcBef>
              <a:spcAft>
                <a:spcPts val="0"/>
              </a:spcAft>
            </a:pPr>
            <a:r>
              <a:rPr sz="1650" b="0">
                <a:solidFill>
                  <a:srgbClr val="6B7480"/>
                </a:solidFill>
                <a:latin typeface="Calibri"/>
              </a:rPr>
              <a:t>Arguments against the schema, the caller's access, and the policy rules in force.</a:t>
            </a:r>
          </a:p>
          <a:p>
            <a:pPr>
              <a:lnSpc>
                <a:spcPct val="120000"/>
              </a:lnSpc>
              <a:spcBef>
                <a:spcPts val="500"/>
              </a:spcBef>
              <a:spcAft>
                <a:spcPts val="100"/>
              </a:spcAft>
            </a:pPr>
            <a:r>
              <a:rPr sz="1800" b="1">
                <a:solidFill>
                  <a:srgbClr val="A51C30"/>
                </a:solidFill>
                <a:latin typeface="Calibri"/>
              </a:rPr>
              <a:t>▪  </a:t>
            </a:r>
            <a:r>
              <a:rPr sz="1800" b="1">
                <a:solidFill>
                  <a:srgbClr val="1A1A1A"/>
                </a:solidFill>
                <a:latin typeface="Calibri"/>
              </a:rPr>
              <a:t>Ran</a:t>
            </a:r>
          </a:p>
          <a:p>
            <a:pPr lvl="1">
              <a:lnSpc>
                <a:spcPct val="120000"/>
              </a:lnSpc>
              <a:spcBef>
                <a:spcPts val="0"/>
              </a:spcBef>
              <a:spcAft>
                <a:spcPts val="0"/>
              </a:spcAft>
            </a:pPr>
            <a:r>
              <a:rPr sz="1650" b="0">
                <a:solidFill>
                  <a:srgbClr val="6B7480"/>
                </a:solidFill>
                <a:latin typeface="Calibri"/>
              </a:rPr>
              <a:t>Through the tool's cache and its provider's circuit breaker, counted in the metrics.</a:t>
            </a:r>
          </a:p>
          <a:p>
            <a:pPr>
              <a:lnSpc>
                <a:spcPct val="120000"/>
              </a:lnSpc>
              <a:spcBef>
                <a:spcPts val="500"/>
              </a:spcBef>
              <a:spcAft>
                <a:spcPts val="100"/>
              </a:spcAft>
            </a:pPr>
            <a:r>
              <a:rPr sz="1800" b="1">
                <a:solidFill>
                  <a:srgbClr val="A51C30"/>
                </a:solidFill>
                <a:latin typeface="Calibri"/>
              </a:rPr>
              <a:t>▪  </a:t>
            </a:r>
            <a:r>
              <a:rPr sz="1800" b="1">
                <a:solidFill>
                  <a:srgbClr val="1A1A1A"/>
                </a:solidFill>
                <a:latin typeface="Calibri"/>
              </a:rPr>
              <a:t>Refused what was not offered</a:t>
            </a:r>
          </a:p>
          <a:p>
            <a:pPr lvl="1">
              <a:lnSpc>
                <a:spcPct val="120000"/>
              </a:lnSpc>
              <a:spcBef>
                <a:spcPts val="0"/>
              </a:spcBef>
              <a:spcAft>
                <a:spcPts val="0"/>
              </a:spcAft>
            </a:pPr>
            <a:r>
              <a:rPr sz="1650" b="0">
                <a:solidFill>
                  <a:srgbClr val="6B7480"/>
                </a:solidFill>
                <a:latin typeface="Calibri"/>
              </a:rPr>
              <a:t>A call outside the shortlist is refused; a destructive tool waits for the user's confirmation.</a:t>
            </a:r>
          </a:p>
          <a:p>
            <a:pPr>
              <a:lnSpc>
                <a:spcPct val="120000"/>
              </a:lnSpc>
              <a:spcBef>
                <a:spcPts val="500"/>
              </a:spcBef>
              <a:spcAft>
                <a:spcPts val="100"/>
              </a:spcAft>
            </a:pPr>
            <a:r>
              <a:rPr sz="1800" b="1">
                <a:solidFill>
                  <a:srgbClr val="A51C30"/>
                </a:solidFill>
                <a:latin typeface="Calibri"/>
              </a:rPr>
              <a:t>▪  </a:t>
            </a:r>
            <a:r>
              <a:rPr sz="1800" b="1">
                <a:solidFill>
                  <a:srgbClr val="1A1A1A"/>
                </a:solidFill>
                <a:latin typeface="Calibri"/>
              </a:rPr>
              <a:t>Treated the result as data</a:t>
            </a:r>
          </a:p>
          <a:p>
            <a:pPr lvl="1">
              <a:lnSpc>
                <a:spcPct val="120000"/>
              </a:lnSpc>
              <a:spcBef>
                <a:spcPts val="0"/>
              </a:spcBef>
              <a:spcAft>
                <a:spcPts val="0"/>
              </a:spcAft>
            </a:pPr>
            <a:r>
              <a:rPr sz="1650" b="0">
                <a:solidFill>
                  <a:srgbClr val="6B7480"/>
                </a:solidFill>
                <a:latin typeface="Calibri"/>
              </a:rPr>
              <a:t>Tool output is never an instruction to the model.</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ANSWER</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The answer cites its source, and SAJHA sets the confidence</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88</a:t>
            </a:r>
          </a:p>
        </p:txBody>
      </p:sp>
      <p:sp>
        <p:nvSpPr>
          <p:cNvPr id="17" name="Rectangle 16"/>
          <p:cNvSpPr/>
          <p:nvPr/>
        </p:nvSpPr>
        <p:spPr>
          <a:xfrm>
            <a:off x="777240" y="135483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5483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142798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The answer</a:t>
            </a:r>
          </a:p>
        </p:txBody>
      </p:sp>
      <p:sp>
        <p:nvSpPr>
          <p:cNvPr id="20" name="Rectangle 19"/>
          <p:cNvSpPr/>
          <p:nvPr/>
        </p:nvSpPr>
        <p:spPr>
          <a:xfrm>
            <a:off x="777240" y="1866899"/>
            <a:ext cx="5135727" cy="437845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1866899"/>
            <a:ext cx="41148" cy="437845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2013204"/>
            <a:ext cx="4751679" cy="4104132"/>
          </a:xfrm>
          <a:prstGeom prst="rect">
            <a:avLst/>
          </a:prstGeom>
          <a:noFill/>
        </p:spPr>
        <p:txBody>
          <a:bodyPr wrap="square" lIns="0" rIns="0" tIns="0" bIns="0" anchor="t">
            <a:spAutoFit/>
          </a:bodyPr>
          <a:lstStyle/>
          <a:p>
            <a:pPr algn="l">
              <a:lnSpc>
                <a:spcPct val="110000"/>
              </a:lnSpc>
              <a:spcBef>
                <a:spcPts val="0"/>
              </a:spcBef>
              <a:spcAft>
                <a:spcPts val="200"/>
              </a:spcAft>
            </a:pPr>
            <a:r>
              <a:rPr sz="1031" b="1" i="0">
                <a:solidFill>
                  <a:srgbClr val="6E1120"/>
                </a:solidFill>
                <a:latin typeface="Consolas"/>
              </a:rPr>
              <a:t>→ answer</a:t>
            </a:r>
          </a:p>
          <a:p>
            <a:pPr>
              <a:lnSpc>
                <a:spcPct val="110000"/>
              </a:lnSpc>
              <a:spcBef>
                <a:spcPts val="0"/>
              </a:spcBef>
              <a:spcAft>
                <a:spcPts val="200"/>
              </a:spcAft>
            </a:pPr>
            <a:r>
              <a:rPr sz="1031" b="0" i="0">
                <a:solidFill>
                  <a:srgbClr val="1A1A1A"/>
                </a:solidFill>
                <a:latin typeface="Consolas"/>
              </a:rPr>
              <a:t>percentage change = 25.0 (from</a:t>
            </a:r>
          </a:p>
          <a:p>
            <a:pPr>
              <a:lnSpc>
                <a:spcPct val="110000"/>
              </a:lnSpc>
              <a:spcBef>
                <a:spcPts val="0"/>
              </a:spcBef>
              <a:spcAft>
                <a:spcPts val="200"/>
              </a:spcAft>
            </a:pPr>
            <a:r>
              <a:rPr sz="1031" b="0" i="0">
                <a:solidFill>
                  <a:srgbClr val="1A1A1A"/>
                </a:solidFill>
                <a:latin typeface="Consolas"/>
              </a:rPr>
              <a:t>  calc_percentage_change with old_value=80,</a:t>
            </a:r>
          </a:p>
          <a:p>
            <a:pPr>
              <a:lnSpc>
                <a:spcPct val="110000"/>
              </a:lnSpc>
              <a:spcBef>
                <a:spcPts val="0"/>
              </a:spcBef>
              <a:spcAft>
                <a:spcPts val="200"/>
              </a:spcAft>
            </a:pPr>
            <a:r>
              <a:rPr sz="1031" b="0" i="0">
                <a:solidFill>
                  <a:srgbClr val="1A1A1A"/>
                </a:solidFill>
                <a:latin typeface="Consolas"/>
              </a:rPr>
              <a:t>  new_value=100).</a:t>
            </a:r>
          </a:p>
          <a:p>
            <a:pPr>
              <a:lnSpc>
                <a:spcPct val="110000"/>
              </a:lnSpc>
              <a:spcBef>
                <a:spcPts val="0"/>
              </a:spcBef>
              <a:spcAft>
                <a:spcPts val="200"/>
              </a:spcAft>
            </a:pPr>
            <a:r>
              <a:rPr sz="1031" b="0" i="0">
                <a:solidFill>
                  <a:srgbClr val="1A1A1A"/>
                </a:solidFill>
                <a:latin typeface="Consolas"/>
              </a:rPr>
              <a:t/>
            </a:r>
          </a:p>
          <a:p>
            <a:pPr>
              <a:lnSpc>
                <a:spcPct val="110000"/>
              </a:lnSpc>
              <a:spcBef>
                <a:spcPts val="0"/>
              </a:spcBef>
              <a:spcAft>
                <a:spcPts val="200"/>
              </a:spcAft>
            </a:pPr>
            <a:r>
              <a:rPr sz="1031" b="1" i="0">
                <a:solidFill>
                  <a:srgbClr val="6E1120"/>
                </a:solidFill>
                <a:latin typeface="Consolas"/>
              </a:rPr>
              <a:t>→ citations call_1_cd51247c</a:t>
            </a:r>
          </a:p>
          <a:p>
            <a:pPr>
              <a:lnSpc>
                <a:spcPct val="110000"/>
              </a:lnSpc>
              <a:spcBef>
                <a:spcPts val="0"/>
              </a:spcBef>
              <a:spcAft>
                <a:spcPts val="200"/>
              </a:spcAft>
            </a:pPr>
            <a:r>
              <a:rPr sz="1031" b="1" i="0">
                <a:solidFill>
                  <a:srgbClr val="6E1120"/>
                </a:solidFill>
                <a:latin typeface="Consolas"/>
              </a:rPr>
              <a:t>→ confidence 1.00  (basis: calc_percentage_change 1.00)</a:t>
            </a:r>
          </a:p>
          <a:p>
            <a:pPr>
              <a:lnSpc>
                <a:spcPct val="110000"/>
              </a:lnSpc>
              <a:spcBef>
                <a:spcPts val="0"/>
              </a:spcBef>
              <a:spcAft>
                <a:spcPts val="200"/>
              </a:spcAft>
            </a:pPr>
            <a:r>
              <a:rPr sz="1031" b="0" i="0">
                <a:solidFill>
                  <a:srgbClr val="1A1A1A"/>
                </a:solidFill>
                <a:latin typeface="Consolas"/>
              </a:rPr>
              <a:t/>
            </a:r>
          </a:p>
          <a:p>
            <a:pPr>
              <a:lnSpc>
                <a:spcPct val="110000"/>
              </a:lnSpc>
              <a:spcBef>
                <a:spcPts val="0"/>
              </a:spcBef>
              <a:spcAft>
                <a:spcPts val="200"/>
              </a:spcAft>
            </a:pPr>
            <a:r>
              <a:rPr sz="1031" b="0" i="0">
                <a:solidFill>
                  <a:srgbClr val="6B7480"/>
                </a:solidFill>
                <a:latin typeface="Consolas"/>
              </a:rPr>
              <a:t># 2734 tokens, 55 ms end to end</a:t>
            </a:r>
          </a:p>
        </p:txBody>
      </p:sp>
      <p:sp>
        <p:nvSpPr>
          <p:cNvPr id="23" name="Rectangle 22"/>
          <p:cNvSpPr/>
          <p:nvPr/>
        </p:nvSpPr>
        <p:spPr>
          <a:xfrm>
            <a:off x="6278727" y="135483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78727" y="135483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3319" y="142798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How the number is made</a:t>
            </a:r>
          </a:p>
        </p:txBody>
      </p:sp>
      <p:sp>
        <p:nvSpPr>
          <p:cNvPr id="26" name="TextBox 25"/>
          <p:cNvSpPr txBox="1"/>
          <p:nvPr/>
        </p:nvSpPr>
        <p:spPr>
          <a:xfrm>
            <a:off x="6278727" y="1866899"/>
            <a:ext cx="5135727" cy="4378452"/>
          </a:xfrm>
          <a:prstGeom prst="rect">
            <a:avLst/>
          </a:prstGeom>
          <a:noFill/>
        </p:spPr>
        <p:txBody>
          <a:bodyPr wrap="square" lIns="0" rIns="0" tIns="0" bIns="0" anchor="t">
            <a:spAutoFit/>
          </a:bodyPr>
          <a:lstStyle/>
          <a:p>
            <a:pPr algn="l">
              <a:lnSpc>
                <a:spcPct val="120000"/>
              </a:lnSpc>
              <a:spcBef>
                <a:spcPts val="0"/>
              </a:spcBef>
              <a:spcAft>
                <a:spcPts val="100"/>
              </a:spcAft>
            </a:pPr>
            <a:r>
              <a:rPr sz="1900" b="1">
                <a:solidFill>
                  <a:srgbClr val="A51C30"/>
                </a:solidFill>
                <a:latin typeface="Calibri"/>
              </a:rPr>
              <a:t>▪  </a:t>
            </a:r>
            <a:r>
              <a:rPr sz="1900" b="1">
                <a:solidFill>
                  <a:srgbClr val="1A1A1A"/>
                </a:solidFill>
                <a:latin typeface="Calibri"/>
              </a:rPr>
              <a:t>Confidence</a:t>
            </a:r>
          </a:p>
          <a:p>
            <a:pPr lvl="1">
              <a:lnSpc>
                <a:spcPct val="120000"/>
              </a:lnSpc>
              <a:spcBef>
                <a:spcPts val="0"/>
              </a:spcBef>
              <a:spcAft>
                <a:spcPts val="0"/>
              </a:spcAft>
            </a:pPr>
            <a:r>
              <a:rPr sz="1750" b="0">
                <a:solidFill>
                  <a:srgbClr val="6B7480"/>
                </a:solidFill>
                <a:latin typeface="Calibri"/>
              </a:rPr>
              <a:t>Each cited step contributes its tool's confidence (1.00 for a calculator, 0.95 for FRED, 0.80 for a web fetch), chained.</a:t>
            </a:r>
          </a:p>
          <a:p>
            <a:pPr>
              <a:lnSpc>
                <a:spcPct val="120000"/>
              </a:lnSpc>
              <a:spcBef>
                <a:spcPts val="500"/>
              </a:spcBef>
              <a:spcAft>
                <a:spcPts val="100"/>
              </a:spcAft>
            </a:pPr>
            <a:r>
              <a:rPr sz="1900" b="1">
                <a:solidFill>
                  <a:srgbClr val="A51C30"/>
                </a:solidFill>
                <a:latin typeface="Calibri"/>
              </a:rPr>
              <a:t>▪  </a:t>
            </a:r>
            <a:r>
              <a:rPr sz="1900" b="1">
                <a:solidFill>
                  <a:srgbClr val="1A1A1A"/>
                </a:solidFill>
                <a:latin typeface="Calibri"/>
              </a:rPr>
              <a:t>Not an opinion</a:t>
            </a:r>
          </a:p>
          <a:p>
            <a:pPr lvl="1">
              <a:lnSpc>
                <a:spcPct val="120000"/>
              </a:lnSpc>
              <a:spcBef>
                <a:spcPts val="0"/>
              </a:spcBef>
              <a:spcAft>
                <a:spcPts val="0"/>
              </a:spcAft>
            </a:pPr>
            <a:r>
              <a:rPr sz="1750" b="0">
                <a:solidFill>
                  <a:srgbClr val="6B7480"/>
                </a:solidFill>
                <a:latin typeface="Calibri"/>
              </a:rPr>
              <a:t>A failed call contributes 0.9, an incomplete loop 0.8, an answer on no tool 0.5; the model is never asked.</a:t>
            </a:r>
          </a:p>
          <a:p>
            <a:pPr>
              <a:lnSpc>
                <a:spcPct val="120000"/>
              </a:lnSpc>
              <a:spcBef>
                <a:spcPts val="500"/>
              </a:spcBef>
              <a:spcAft>
                <a:spcPts val="100"/>
              </a:spcAft>
            </a:pPr>
            <a:r>
              <a:rPr sz="1900" b="1">
                <a:solidFill>
                  <a:srgbClr val="A51C30"/>
                </a:solidFill>
                <a:latin typeface="Calibri"/>
              </a:rPr>
              <a:t>▪  </a:t>
            </a:r>
            <a:r>
              <a:rPr sz="1900" b="1">
                <a:solidFill>
                  <a:srgbClr val="1A1A1A"/>
                </a:solidFill>
                <a:latin typeface="Calibri"/>
              </a:rPr>
              <a:t>What the mock shows</a:t>
            </a:r>
          </a:p>
          <a:p>
            <a:pPr lvl="1">
              <a:lnSpc>
                <a:spcPct val="120000"/>
              </a:lnSpc>
              <a:spcBef>
                <a:spcPts val="0"/>
              </a:spcBef>
              <a:spcAft>
                <a:spcPts val="0"/>
              </a:spcAft>
            </a:pPr>
            <a:r>
              <a:rPr sz="1750" b="0">
                <a:solidFill>
                  <a:srgbClr val="6B7480"/>
                </a:solidFill>
                <a:latin typeface="Calibri"/>
              </a:rPr>
              <a:t>The mechanism, not reasoning. The shipped eval set passed 3/3 with react and 3/3 with plan_execute on it; real questions need a real model.</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PLANNERS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The planner decides the next step; the service keeps every safeguard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89</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Whatever the planner: the access-filtered shortlist, refusal of tools not offered, confirmation of destructive tools, limits, citations, confidence and audit. A planner never touches a tool.</a:t>
            </a:r>
          </a:p>
        </p:txBody>
      </p:sp>
      <p:graphicFrame>
        <p:nvGraphicFramePr>
          <p:cNvPr id="19" name="Table 18"/>
          <p:cNvGraphicFramePr>
            <a:graphicFrameLocks noGrp="1"/>
          </p:cNvGraphicFramePr>
          <p:nvPr/>
        </p:nvGraphicFramePr>
        <p:xfrm>
          <a:off x="777240" y="1306639"/>
          <a:ext cx="10637214" cy="3946492"/>
        </p:xfrm>
        <a:graphic>
          <a:graphicData uri="http://schemas.openxmlformats.org/drawingml/2006/table">
            <a:tbl>
              <a:tblPr firstRow="1">
                <a:tableStyleId>{5C22544A-7EE6-4342-B048-85BDC9FD1C3A}</a:tableStyleId>
              </a:tblPr>
              <a:tblGrid>
                <a:gridCol w="1819523"/>
                <a:gridCol w="6018424"/>
                <a:gridCol w="2799267"/>
              </a:tblGrid>
              <a:tr h="591693">
                <a:tc>
                  <a:txBody>
                    <a:bodyPr wrap="square"/>
                    <a:lstStyle/>
                    <a:p>
                      <a:r>
                        <a:rPr sz="1500" b="1">
                          <a:solidFill>
                            <a:srgbClr val="FFFFFF"/>
                          </a:solidFill>
                          <a:latin typeface="Calibri"/>
                        </a:rPr>
                        <a:t>Planner</a:t>
                      </a:r>
                    </a:p>
                  </a:txBody>
                  <a:tcPr marL="82296" marR="64008" marT="32004" marB="32004" anchor="ctr">
                    <a:solidFill>
                      <a:srgbClr val="A51C30"/>
                    </a:solidFill>
                  </a:tcPr>
                </a:tc>
                <a:tc>
                  <a:txBody>
                    <a:bodyPr wrap="square"/>
                    <a:lstStyle/>
                    <a:p>
                      <a:r>
                        <a:rPr sz="1500" b="1">
                          <a:solidFill>
                            <a:srgbClr val="FFFFFF"/>
                          </a:solidFill>
                          <a:latin typeface="Calibri"/>
                        </a:rPr>
                        <a:t>What it does</a:t>
                      </a:r>
                    </a:p>
                  </a:txBody>
                  <a:tcPr marL="82296" marR="64008" marT="32004" marB="32004" anchor="ctr">
                    <a:solidFill>
                      <a:srgbClr val="A51C30"/>
                    </a:solidFill>
                  </a:tcPr>
                </a:tc>
                <a:tc>
                  <a:txBody>
                    <a:bodyPr wrap="square"/>
                    <a:lstStyle/>
                    <a:p>
                      <a:r>
                        <a:rPr sz="1500" b="1">
                          <a:solidFill>
                            <a:srgbClr val="FFFFFF"/>
                          </a:solidFill>
                          <a:latin typeface="Calibri"/>
                        </a:rPr>
                        <a:t>Model calls, two-tool question</a:t>
                      </a:r>
                    </a:p>
                  </a:txBody>
                  <a:tcPr marL="82296" marR="64008" marT="32004" marB="32004" anchor="ctr">
                    <a:solidFill>
                      <a:srgbClr val="A51C30"/>
                    </a:solidFill>
                  </a:tcPr>
                </a:tc>
              </a:tr>
              <a:tr h="639889">
                <a:tc>
                  <a:txBody>
                    <a:bodyPr wrap="square"/>
                    <a:lstStyle/>
                    <a:p>
                      <a:r>
                        <a:rPr sz="1650" b="1">
                          <a:solidFill>
                            <a:srgbClr val="6E1120"/>
                          </a:solidFill>
                          <a:latin typeface="Calibri"/>
                        </a:rPr>
                        <a:t>react</a:t>
                      </a:r>
                    </a:p>
                  </a:txBody>
                  <a:tcPr marL="82296" marR="64008" marT="32004" marB="32004" anchor="ctr">
                    <a:solidFill>
                      <a:srgbClr val="FFFFFF"/>
                    </a:solidFill>
                  </a:tcPr>
                </a:tc>
                <a:tc>
                  <a:txBody>
                    <a:bodyPr wrap="square"/>
                    <a:lstStyle/>
                    <a:p>
                      <a:r>
                        <a:rPr sz="1650" b="0">
                          <a:solidFill>
                            <a:srgbClr val="1A1A1A"/>
                          </a:solidFill>
                          <a:latin typeface="Calibri"/>
                        </a:rPr>
                        <a:t>The default: one model call per step, answer or call which offered tools</a:t>
                      </a:r>
                    </a:p>
                  </a:txBody>
                  <a:tcPr marL="82296" marR="64008" marT="32004" marB="32004" anchor="ctr">
                    <a:solidFill>
                      <a:srgbClr val="FFFFFF"/>
                    </a:solidFill>
                  </a:tcPr>
                </a:tc>
                <a:tc>
                  <a:txBody>
                    <a:bodyPr wrap="square"/>
                    <a:lstStyle/>
                    <a:p>
                      <a:r>
                        <a:rPr sz="1650" b="0">
                          <a:solidFill>
                            <a:srgbClr val="1A1A1A"/>
                          </a:solidFill>
                          <a:latin typeface="Calibri"/>
                        </a:rPr>
                        <a:t>One per step, plus the answer</a:t>
                      </a:r>
                    </a:p>
                  </a:txBody>
                  <a:tcPr marL="82296" marR="64008" marT="32004" marB="32004" anchor="ctr">
                    <a:solidFill>
                      <a:srgbClr val="FFFFFF"/>
                    </a:solidFill>
                  </a:tcPr>
                </a:tc>
              </a:tr>
              <a:tr h="904970">
                <a:tc>
                  <a:txBody>
                    <a:bodyPr wrap="square"/>
                    <a:lstStyle/>
                    <a:p>
                      <a:r>
                        <a:rPr sz="1650" b="1">
                          <a:solidFill>
                            <a:srgbClr val="6E1120"/>
                          </a:solidFill>
                          <a:latin typeface="Calibri"/>
                        </a:rPr>
                        <a:t>plan_execute</a:t>
                      </a:r>
                    </a:p>
                  </a:txBody>
                  <a:tcPr marL="82296" marR="64008" marT="32004" marB="32004" anchor="ctr">
                    <a:solidFill>
                      <a:srgbClr val="F7F5F2"/>
                    </a:solidFill>
                  </a:tcPr>
                </a:tc>
                <a:tc>
                  <a:txBody>
                    <a:bodyPr wrap="square"/>
                    <a:lstStyle/>
                    <a:p>
                      <a:r>
                        <a:rPr sz="1650" b="0">
                          <a:solidFill>
                            <a:srgbClr val="1A1A1A"/>
                          </a:solidFill>
                          <a:latin typeface="Calibri"/>
                        </a:rPr>
                        <a:t>One planning call returns steps with dependencies; independent steps run together; one re-plan after a failure</a:t>
                      </a:r>
                    </a:p>
                  </a:txBody>
                  <a:tcPr marL="82296" marR="64008" marT="32004" marB="32004" anchor="ctr">
                    <a:solidFill>
                      <a:srgbClr val="F7F5F2"/>
                    </a:solidFill>
                  </a:tcPr>
                </a:tc>
                <a:tc>
                  <a:txBody>
                    <a:bodyPr wrap="square"/>
                    <a:lstStyle/>
                    <a:p>
                      <a:r>
                        <a:rPr sz="1650" b="0">
                          <a:solidFill>
                            <a:srgbClr val="1A1A1A"/>
                          </a:solidFill>
                          <a:latin typeface="Calibri"/>
                        </a:rPr>
                        <a:t>One, plus the answer</a:t>
                      </a:r>
                    </a:p>
                  </a:txBody>
                  <a:tcPr marL="82296" marR="64008" marT="32004" marB="32004" anchor="ctr">
                    <a:solidFill>
                      <a:srgbClr val="F7F5F2"/>
                    </a:solidFill>
                  </a:tcPr>
                </a:tc>
              </a:tr>
              <a:tr h="904970">
                <a:tc>
                  <a:txBody>
                    <a:bodyPr wrap="square"/>
                    <a:lstStyle/>
                    <a:p>
                      <a:r>
                        <a:rPr sz="1650" b="1">
                          <a:solidFill>
                            <a:srgbClr val="6E1120"/>
                          </a:solidFill>
                          <a:latin typeface="Calibri"/>
                        </a:rPr>
                        <a:t>recipes</a:t>
                      </a:r>
                    </a:p>
                  </a:txBody>
                  <a:tcPr marL="82296" marR="64008" marT="32004" marB="32004" anchor="ctr">
                    <a:solidFill>
                      <a:srgbClr val="FFFFFF"/>
                    </a:solidFill>
                  </a:tcPr>
                </a:tc>
                <a:tc>
                  <a:txBody>
                    <a:bodyPr wrap="square"/>
                    <a:lstStyle/>
                    <a:p>
                      <a:r>
                        <a:rPr sz="1650" b="0">
                          <a:solidFill>
                            <a:srgbClr val="1A1A1A"/>
                          </a:solidFill>
                          <a:latin typeface="Calibri"/>
                        </a:rPr>
                        <a:t>Regular-expression or keyword recipes from configuration map a question to a tool and its arguments</a:t>
                      </a:r>
                    </a:p>
                  </a:txBody>
                  <a:tcPr marL="82296" marR="64008" marT="32004" marB="32004" anchor="ctr">
                    <a:solidFill>
                      <a:srgbClr val="FFFFFF"/>
                    </a:solidFill>
                  </a:tcPr>
                </a:tc>
                <a:tc>
                  <a:txBody>
                    <a:bodyPr wrap="square"/>
                    <a:lstStyle/>
                    <a:p>
                      <a:r>
                        <a:rPr sz="1650" b="0">
                          <a:solidFill>
                            <a:srgbClr val="1A1A1A"/>
                          </a:solidFill>
                          <a:latin typeface="Calibri"/>
                        </a:rPr>
                        <a:t>None when the recipe has an answer template</a:t>
                      </a:r>
                    </a:p>
                  </a:txBody>
                  <a:tcPr marL="82296" marR="64008" marT="32004" marB="32004" anchor="ctr">
                    <a:solidFill>
                      <a:srgbClr val="FFFFFF"/>
                    </a:solidFill>
                  </a:tcPr>
                </a:tc>
              </a:tr>
              <a:tr h="904970">
                <a:tc>
                  <a:txBody>
                    <a:bodyPr wrap="square"/>
                    <a:lstStyle/>
                    <a:p>
                      <a:r>
                        <a:rPr sz="1650" b="1">
                          <a:solidFill>
                            <a:srgbClr val="6E1120"/>
                          </a:solidFill>
                          <a:latin typeface="Calibri"/>
                        </a:rPr>
                        <a:t>router</a:t>
                      </a:r>
                    </a:p>
                  </a:txBody>
                  <a:tcPr marL="82296" marR="64008" marT="32004" marB="32004" anchor="ctr">
                    <a:solidFill>
                      <a:srgbClr val="F7F5F2"/>
                    </a:solidFill>
                  </a:tcPr>
                </a:tc>
                <a:tc>
                  <a:txBody>
                    <a:bodyPr wrap="square"/>
                    <a:lstStyle/>
                    <a:p>
                      <a:r>
                        <a:rPr sz="1650" b="0">
                          <a:solidFill>
                            <a:srgbClr val="1A1A1A"/>
                          </a:solidFill>
                          <a:latin typeface="Calibri"/>
                        </a:rPr>
                        <a:t>Chooses per question: rules, then a matching recipe, then plan_execute for multi-part questions, else react</a:t>
                      </a:r>
                    </a:p>
                  </a:txBody>
                  <a:tcPr marL="82296" marR="64008" marT="32004" marB="32004" anchor="ctr">
                    <a:solidFill>
                      <a:srgbClr val="F7F5F2"/>
                    </a:solidFill>
                  </a:tcPr>
                </a:tc>
                <a:tc>
                  <a:txBody>
                    <a:bodyPr wrap="square"/>
                    <a:lstStyle/>
                    <a:p>
                      <a:r>
                        <a:rPr sz="1650" b="0">
                          <a:solidFill>
                            <a:srgbClr val="1A1A1A"/>
                          </a:solidFill>
                          <a:latin typeface="Calibri"/>
                        </a:rPr>
                        <a:t>As the planner it chose</a:t>
                      </a:r>
                    </a:p>
                  </a:txBody>
                  <a:tcPr marL="82296" marR="64008" marT="32004" marB="32004" anchor="ctr">
                    <a:solidFill>
                      <a:srgbClr val="F7F5F2"/>
                    </a:solidFill>
                  </a:tcPr>
                </a:tc>
              </a:tr>
            </a:tbl>
          </a:graphicData>
        </a:graphic>
      </p:graphicFrame>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MEMORY AND RAG</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Document search cites its passages; memory is per user and deletable</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90</a:t>
            </a:r>
          </a:p>
        </p:txBody>
      </p:sp>
      <p:sp>
        <p:nvSpPr>
          <p:cNvPr id="17" name="Rectangle 16"/>
          <p:cNvSpPr/>
          <p:nvPr/>
        </p:nvSpPr>
        <p:spPr>
          <a:xfrm>
            <a:off x="777240" y="1306639"/>
            <a:ext cx="10637215" cy="296322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DOCUMENT SEARCH (RAG)</a:t>
            </a:r>
          </a:p>
        </p:txBody>
      </p:sp>
      <p:sp>
        <p:nvSpPr>
          <p:cNvPr id="19" name="Rectangle 18"/>
          <p:cNvSpPr/>
          <p:nvPr/>
        </p:nvSpPr>
        <p:spPr>
          <a:xfrm>
            <a:off x="777240" y="4566189"/>
            <a:ext cx="10637215" cy="167916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463019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CONVERSATION MEMORY</a:t>
            </a:r>
          </a:p>
        </p:txBody>
      </p:sp>
      <p:sp>
        <p:nvSpPr>
          <p:cNvPr id="21" name="Rounded Rectangle 20"/>
          <p:cNvSpPr/>
          <p:nvPr/>
        </p:nvSpPr>
        <p:spPr>
          <a:xfrm>
            <a:off x="936798" y="1800510"/>
            <a:ext cx="1808326"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Sources</a:t>
            </a:r>
          </a:p>
          <a:p>
            <a:pPr algn="ctr">
              <a:lnSpc>
                <a:spcPct val="105000"/>
              </a:lnSpc>
              <a:spcBef>
                <a:spcPts val="0"/>
              </a:spcBef>
              <a:spcAft>
                <a:spcPts val="0"/>
              </a:spcAft>
            </a:pPr>
            <a:r>
              <a:rPr sz="1250" b="0" i="0">
                <a:solidFill>
                  <a:srgbClr val="1A1A1A"/>
                </a:solidFill>
                <a:latin typeface="Calibri"/>
              </a:rPr>
              <a:t>guides, named folders, uploads</a:t>
            </a:r>
          </a:p>
        </p:txBody>
      </p:sp>
      <p:sp>
        <p:nvSpPr>
          <p:cNvPr id="22" name="Rounded Rectangle 21"/>
          <p:cNvSpPr/>
          <p:nvPr/>
        </p:nvSpPr>
        <p:spPr>
          <a:xfrm>
            <a:off x="936798" y="3380898"/>
            <a:ext cx="1808326" cy="691419"/>
          </a:xfrm>
          <a:prstGeom prst="roundRect">
            <a:avLst>
              <a:gd name="adj" fmla="val 1057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Markdown, text, HTML, PDF, Word</a:t>
            </a:r>
          </a:p>
        </p:txBody>
      </p:sp>
      <p:sp>
        <p:nvSpPr>
          <p:cNvPr id="23" name="Rounded Rectangle 22"/>
          <p:cNvSpPr/>
          <p:nvPr/>
        </p:nvSpPr>
        <p:spPr>
          <a:xfrm>
            <a:off x="3117427" y="1800510"/>
            <a:ext cx="1595582"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Passages</a:t>
            </a:r>
          </a:p>
          <a:p>
            <a:pPr algn="ctr">
              <a:lnSpc>
                <a:spcPct val="105000"/>
              </a:lnSpc>
              <a:spcBef>
                <a:spcPts val="0"/>
              </a:spcBef>
              <a:spcAft>
                <a:spcPts val="0"/>
              </a:spcAft>
            </a:pPr>
            <a:r>
              <a:rPr sz="1250" b="0" i="0">
                <a:solidFill>
                  <a:srgbClr val="1A1A1A"/>
                </a:solidFill>
                <a:latin typeface="Calibri"/>
              </a:rPr>
              <a:t>split at headings</a:t>
            </a:r>
          </a:p>
        </p:txBody>
      </p:sp>
      <p:sp>
        <p:nvSpPr>
          <p:cNvPr id="24" name="Rounded Rectangle 23"/>
          <p:cNvSpPr/>
          <p:nvPr/>
        </p:nvSpPr>
        <p:spPr>
          <a:xfrm>
            <a:off x="5085312" y="1800510"/>
            <a:ext cx="1595582"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Embeddings</a:t>
            </a:r>
          </a:p>
          <a:p>
            <a:pPr algn="ctr">
              <a:lnSpc>
                <a:spcPct val="105000"/>
              </a:lnSpc>
              <a:spcBef>
                <a:spcPts val="0"/>
              </a:spcBef>
              <a:spcAft>
                <a:spcPts val="0"/>
              </a:spcAft>
            </a:pPr>
            <a:r>
              <a:rPr sz="1250" b="0" i="0">
                <a:solidFill>
                  <a:srgbClr val="1A1A1A"/>
                </a:solidFill>
                <a:latin typeface="Calibri"/>
              </a:rPr>
              <a:t>the embedding alias</a:t>
            </a:r>
          </a:p>
        </p:txBody>
      </p:sp>
      <p:sp>
        <p:nvSpPr>
          <p:cNvPr id="25" name="Can 24"/>
          <p:cNvSpPr/>
          <p:nvPr/>
        </p:nvSpPr>
        <p:spPr>
          <a:xfrm>
            <a:off x="7053196" y="1701736"/>
            <a:ext cx="1648768" cy="1481613"/>
          </a:xfrm>
          <a:prstGeom prst="ca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Store</a:t>
            </a:r>
          </a:p>
          <a:p>
            <a:pPr algn="ctr">
              <a:lnSpc>
                <a:spcPct val="105000"/>
              </a:lnSpc>
              <a:spcBef>
                <a:spcPts val="0"/>
              </a:spcBef>
              <a:spcAft>
                <a:spcPts val="0"/>
              </a:spcAft>
            </a:pPr>
            <a:r>
              <a:rPr sz="1250" b="0" i="0">
                <a:solidFill>
                  <a:srgbClr val="FFFFFF"/>
                </a:solidFill>
                <a:latin typeface="Calibri"/>
              </a:rPr>
              <a:t>memory, pgvector or sqlite_vec</a:t>
            </a:r>
          </a:p>
        </p:txBody>
      </p:sp>
      <p:sp>
        <p:nvSpPr>
          <p:cNvPr id="26" name="Rounded Rectangle 25"/>
          <p:cNvSpPr/>
          <p:nvPr/>
        </p:nvSpPr>
        <p:spPr>
          <a:xfrm>
            <a:off x="9074267" y="1800510"/>
            <a:ext cx="2180629"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Hybrid search</a:t>
            </a:r>
          </a:p>
          <a:p>
            <a:pPr algn="ctr">
              <a:lnSpc>
                <a:spcPct val="105000"/>
              </a:lnSpc>
              <a:spcBef>
                <a:spcPts val="0"/>
              </a:spcBef>
              <a:spcAft>
                <a:spcPts val="0"/>
              </a:spcAft>
            </a:pPr>
            <a:r>
              <a:rPr sz="1250" b="0" i="0">
                <a:solidFill>
                  <a:srgbClr val="FFFFFF"/>
                </a:solidFill>
                <a:latin typeface="Calibri"/>
              </a:rPr>
              <a:t>vector and BM25, fused by rank</a:t>
            </a:r>
          </a:p>
        </p:txBody>
      </p:sp>
      <p:sp>
        <p:nvSpPr>
          <p:cNvPr id="27" name="Rounded Rectangle 26"/>
          <p:cNvSpPr/>
          <p:nvPr/>
        </p:nvSpPr>
        <p:spPr>
          <a:xfrm>
            <a:off x="9074267" y="3331511"/>
            <a:ext cx="2180629" cy="790194"/>
          </a:xfrm>
          <a:prstGeom prst="roundRect">
            <a:avLst>
              <a:gd name="adj" fmla="val 92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sajha_search_docs</a:t>
            </a:r>
          </a:p>
          <a:p>
            <a:pPr algn="ctr">
              <a:lnSpc>
                <a:spcPct val="105000"/>
              </a:lnSpc>
              <a:spcBef>
                <a:spcPts val="0"/>
              </a:spcBef>
              <a:spcAft>
                <a:spcPts val="0"/>
              </a:spcAft>
            </a:pPr>
            <a:r>
              <a:rPr sz="1150" b="0" i="0">
                <a:solidFill>
                  <a:srgbClr val="1A1A1A"/>
                </a:solidFill>
                <a:latin typeface="Calibri"/>
              </a:rPr>
              <a:t>document, section, link, citation</a:t>
            </a:r>
          </a:p>
        </p:txBody>
      </p:sp>
      <p:sp>
        <p:nvSpPr>
          <p:cNvPr id="28" name="Rounded Rectangle 27"/>
          <p:cNvSpPr/>
          <p:nvPr/>
        </p:nvSpPr>
        <p:spPr>
          <a:xfrm>
            <a:off x="936798" y="5060061"/>
            <a:ext cx="1701954" cy="888968"/>
          </a:xfrm>
          <a:prstGeom prst="roundRect">
            <a:avLst>
              <a:gd name="adj" fmla="val 82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follow-up question</a:t>
            </a:r>
          </a:p>
        </p:txBody>
      </p:sp>
      <p:sp>
        <p:nvSpPr>
          <p:cNvPr id="29" name="Rounded Rectangle 28"/>
          <p:cNvSpPr/>
          <p:nvPr/>
        </p:nvSpPr>
        <p:spPr>
          <a:xfrm>
            <a:off x="3436543" y="5060061"/>
            <a:ext cx="2552931" cy="888968"/>
          </a:xfrm>
          <a:prstGeom prst="roundRect">
            <a:avLst>
              <a:gd name="adj" fmla="val 82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recent turns + a summary of older ones</a:t>
            </a:r>
          </a:p>
        </p:txBody>
      </p:sp>
      <p:sp>
        <p:nvSpPr>
          <p:cNvPr id="30" name="Rounded Rectangle 29"/>
          <p:cNvSpPr/>
          <p:nvPr/>
        </p:nvSpPr>
        <p:spPr>
          <a:xfrm>
            <a:off x="6787266" y="5060061"/>
            <a:ext cx="1914698" cy="888968"/>
          </a:xfrm>
          <a:prstGeom prst="roundRect">
            <a:avLst>
              <a:gd name="adj" fmla="val 82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rewritten to stand alone</a:t>
            </a:r>
          </a:p>
        </p:txBody>
      </p:sp>
      <p:sp>
        <p:nvSpPr>
          <p:cNvPr id="31" name="Rounded Rectangle 30"/>
          <p:cNvSpPr/>
          <p:nvPr/>
        </p:nvSpPr>
        <p:spPr>
          <a:xfrm>
            <a:off x="9340198" y="5060061"/>
            <a:ext cx="1914698" cy="888968"/>
          </a:xfrm>
          <a:prstGeom prst="roundRect">
            <a:avLst>
              <a:gd name="adj" fmla="val 822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per user; expires; deletable</a:t>
            </a:r>
          </a:p>
        </p:txBody>
      </p:sp>
      <p:cxnSp>
        <p:nvCxnSpPr>
          <p:cNvPr id="32" name="Connector 31"/>
          <p:cNvCxnSpPr/>
          <p:nvPr/>
        </p:nvCxnSpPr>
        <p:spPr>
          <a:xfrm>
            <a:off x="2790844" y="2442543"/>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58729" y="2442543"/>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726614" y="2442543"/>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47685" y="2442543"/>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4582" y="3130296"/>
            <a:ext cx="0" cy="155495"/>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840961" y="3130296"/>
            <a:ext cx="0" cy="20488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684472" y="5504545"/>
            <a:ext cx="70635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035195" y="5504545"/>
            <a:ext cx="70635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747685" y="5504545"/>
            <a:ext cx="546793"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EVALS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Evals measure a model on golden questions before anyone trusts it</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91</a:t>
            </a:r>
          </a:p>
        </p:txBody>
      </p:sp>
      <p:sp>
        <p:nvSpPr>
          <p:cNvPr id="17" name="TextBox 16"/>
          <p:cNvSpPr txBox="1"/>
          <p:nvPr/>
        </p:nvSpPr>
        <p:spPr>
          <a:xfrm>
            <a:off x="777240" y="1322705"/>
            <a:ext cx="10637215" cy="4922647"/>
          </a:xfrm>
          <a:prstGeom prst="rect">
            <a:avLst/>
          </a:prstGeom>
          <a:noFill/>
        </p:spPr>
        <p:txBody>
          <a:bodyPr wrap="square" lIns="0" rIns="0" tIns="0" bIns="0" anchor="t">
            <a:spAutoFit/>
          </a:bodyPr>
          <a:lstStyle/>
          <a:p>
            <a:pPr algn="l">
              <a:lnSpc>
                <a:spcPct val="120000"/>
              </a:lnSpc>
              <a:spcBef>
                <a:spcPts val="0"/>
              </a:spcBef>
              <a:spcAft>
                <a:spcPts val="100"/>
              </a:spcAft>
            </a:pPr>
            <a:r>
              <a:rPr sz="2000" b="1">
                <a:solidFill>
                  <a:srgbClr val="A51C30"/>
                </a:solidFill>
                <a:latin typeface="Calibri"/>
              </a:rPr>
              <a:t>▪  </a:t>
            </a:r>
            <a:r>
              <a:rPr sz="2000" b="1">
                <a:solidFill>
                  <a:srgbClr val="1A1A1A"/>
                </a:solidFill>
                <a:latin typeface="Calibri"/>
              </a:rPr>
              <a:t>Golden questions</a:t>
            </a:r>
          </a:p>
          <a:p>
            <a:pPr lvl="1">
              <a:lnSpc>
                <a:spcPct val="120000"/>
              </a:lnSpc>
              <a:spcBef>
                <a:spcPts val="0"/>
              </a:spcBef>
              <a:spcAft>
                <a:spcPts val="0"/>
              </a:spcAft>
            </a:pPr>
            <a:r>
              <a:rPr sz="1850" b="0">
                <a:solidFill>
                  <a:srgbClr val="6B7480"/>
                </a:solidFill>
                <a:latin typeface="Calibri"/>
              </a:rPr>
              <a:t>A set names questions, the tools that must and must not be called, checks on the answer, and limits on steps, tokens, cost and latency.</a:t>
            </a:r>
          </a:p>
          <a:p>
            <a:pPr>
              <a:lnSpc>
                <a:spcPct val="120000"/>
              </a:lnSpc>
              <a:spcBef>
                <a:spcPts val="500"/>
              </a:spcBef>
              <a:spcAft>
                <a:spcPts val="100"/>
              </a:spcAft>
            </a:pPr>
            <a:r>
              <a:rPr sz="2000" b="1">
                <a:solidFill>
                  <a:srgbClr val="A51C30"/>
                </a:solidFill>
                <a:latin typeface="Calibri"/>
              </a:rPr>
              <a:t>▪  </a:t>
            </a:r>
            <a:r>
              <a:rPr sz="2000" b="1">
                <a:solidFill>
                  <a:srgbClr val="1A1A1A"/>
                </a:solidFill>
                <a:latin typeface="Calibri"/>
              </a:rPr>
              <a:t>Measured</a:t>
            </a:r>
          </a:p>
          <a:p>
            <a:pPr lvl="1">
              <a:lnSpc>
                <a:spcPct val="120000"/>
              </a:lnSpc>
              <a:spcBef>
                <a:spcPts val="0"/>
              </a:spcBef>
              <a:spcAft>
                <a:spcPts val="0"/>
              </a:spcAft>
            </a:pPr>
            <a:r>
              <a:rPr sz="1850" b="0">
                <a:solidFill>
                  <a:srgbClr val="6B7480"/>
                </a:solidFill>
                <a:latin typeface="Calibri"/>
              </a:rPr>
              <a:t>Pass rate, tool-selection accuracy, answer accuracy, tokens, cost, mean and p95 latency, per model and planner; two runs compared question by question.</a:t>
            </a:r>
          </a:p>
          <a:p>
            <a:pPr>
              <a:lnSpc>
                <a:spcPct val="120000"/>
              </a:lnSpc>
              <a:spcBef>
                <a:spcPts val="500"/>
              </a:spcBef>
              <a:spcAft>
                <a:spcPts val="100"/>
              </a:spcAft>
            </a:pPr>
            <a:r>
              <a:rPr sz="2000" b="1">
                <a:solidFill>
                  <a:srgbClr val="A51C30"/>
                </a:solidFill>
                <a:latin typeface="Calibri"/>
              </a:rPr>
              <a:t>▪  </a:t>
            </a:r>
            <a:r>
              <a:rPr sz="2000" b="1">
                <a:solidFill>
                  <a:srgbClr val="1A1A1A"/>
                </a:solidFill>
                <a:latin typeface="Calibri"/>
              </a:rPr>
              <a:t>On the mock, at this build</a:t>
            </a:r>
          </a:p>
          <a:p>
            <a:pPr lvl="1">
              <a:lnSpc>
                <a:spcPct val="120000"/>
              </a:lnSpc>
              <a:spcBef>
                <a:spcPts val="0"/>
              </a:spcBef>
              <a:spcAft>
                <a:spcPts val="0"/>
              </a:spcAft>
            </a:pPr>
            <a:r>
              <a:rPr sz="1850" b="0">
                <a:solidFill>
                  <a:srgbClr val="6B7480"/>
                </a:solidFill>
                <a:latin typeface="Calibri"/>
              </a:rPr>
              <a:t>“calculators”: 3/3 with react, 3/3 with plan_execute, tool-selection accuracy 100%, at zero cost.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TOOL QUALITY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Tools are tested, linted, probed, versioned and released by canary</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92</a:t>
            </a:r>
          </a:p>
        </p:txBody>
      </p:sp>
      <p:sp>
        <p:nvSpPr>
          <p:cNvPr id="17" name="Rectangle 16"/>
          <p:cNvSpPr/>
          <p:nvPr/>
        </p:nvSpPr>
        <p:spPr>
          <a:xfrm>
            <a:off x="777240" y="1306639"/>
            <a:ext cx="3436010" cy="23870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47123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TESTS</a:t>
            </a:r>
          </a:p>
        </p:txBody>
      </p:sp>
      <p:sp>
        <p:nvSpPr>
          <p:cNvPr id="20" name="TextBox 19"/>
          <p:cNvSpPr txBox="1"/>
          <p:nvPr/>
        </p:nvSpPr>
        <p:spPr>
          <a:xfrm>
            <a:off x="960120" y="1727263"/>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Recorded, replayable</a:t>
            </a:r>
          </a:p>
        </p:txBody>
      </p:sp>
      <p:sp>
        <p:nvSpPr>
          <p:cNvPr id="21" name="TextBox 20"/>
          <p:cNvSpPr txBox="1"/>
          <p:nvPr/>
        </p:nvSpPr>
        <p:spPr>
          <a:xfrm>
            <a:off x="960120" y="2123948"/>
            <a:ext cx="3070250" cy="1441735"/>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Test cases with HTTP cassettes replayed offline; JUnit output for CI.</a:t>
            </a:r>
          </a:p>
        </p:txBody>
      </p:sp>
      <p:sp>
        <p:nvSpPr>
          <p:cNvPr id="22" name="Rectangle 21"/>
          <p:cNvSpPr/>
          <p:nvPr/>
        </p:nvSpPr>
        <p:spPr>
          <a:xfrm>
            <a:off x="4377842" y="1306639"/>
            <a:ext cx="3436010" cy="23870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7842" y="130663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60722" y="147123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LINT</a:t>
            </a:r>
          </a:p>
        </p:txBody>
      </p:sp>
      <p:sp>
        <p:nvSpPr>
          <p:cNvPr id="25" name="TextBox 24"/>
          <p:cNvSpPr txBox="1"/>
          <p:nvPr/>
        </p:nvSpPr>
        <p:spPr>
          <a:xfrm>
            <a:off x="4560722" y="1727263"/>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Schemas that models can use</a:t>
            </a:r>
          </a:p>
        </p:txBody>
      </p:sp>
      <p:sp>
        <p:nvSpPr>
          <p:cNvPr id="26" name="TextBox 25"/>
          <p:cNvSpPr txBox="1"/>
          <p:nvPr/>
        </p:nvSpPr>
        <p:spPr>
          <a:xfrm>
            <a:off x="4560722" y="2429192"/>
            <a:ext cx="3070250" cy="1136491"/>
          </a:xfrm>
          <a:prstGeom prst="rect">
            <a:avLst/>
          </a:prstGeom>
          <a:noFill/>
        </p:spPr>
        <p:txBody>
          <a:bodyPr wrap="square" lIns="0" rIns="0" tIns="0" bIns="0" anchor="t">
            <a:spAutoFit/>
          </a:bodyPr>
          <a:lstStyle/>
          <a:p>
            <a:pPr algn="l">
              <a:lnSpc>
                <a:spcPct val="120000"/>
              </a:lnSpc>
              <a:spcBef>
                <a:spcPts val="0"/>
              </a:spcBef>
              <a:spcAft>
                <a:spcPts val="0"/>
              </a:spcAft>
            </a:pPr>
            <a:r>
              <a:rPr sz="1650" b="0" i="0">
                <a:solidFill>
                  <a:srgbClr val="6B7480"/>
                </a:solidFill>
                <a:latin typeface="Calibri"/>
              </a:rPr>
              <a:t>A static linter: valid JSON Schema 2020-12, descriptions, examples, MCP names, annotations.</a:t>
            </a:r>
          </a:p>
        </p:txBody>
      </p:sp>
      <p:sp>
        <p:nvSpPr>
          <p:cNvPr id="27" name="Rectangle 26"/>
          <p:cNvSpPr/>
          <p:nvPr/>
        </p:nvSpPr>
        <p:spPr>
          <a:xfrm>
            <a:off x="7978444" y="1306639"/>
            <a:ext cx="3436010" cy="23870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978444" y="130663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61324" y="147123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PROBES</a:t>
            </a:r>
          </a:p>
        </p:txBody>
      </p:sp>
      <p:sp>
        <p:nvSpPr>
          <p:cNvPr id="30" name="TextBox 29"/>
          <p:cNvSpPr txBox="1"/>
          <p:nvPr/>
        </p:nvSpPr>
        <p:spPr>
          <a:xfrm>
            <a:off x="8161324" y="1727263"/>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Health on a schedule</a:t>
            </a:r>
          </a:p>
        </p:txBody>
      </p:sp>
      <p:sp>
        <p:nvSpPr>
          <p:cNvPr id="31" name="TextBox 30"/>
          <p:cNvSpPr txBox="1"/>
          <p:nvPr/>
        </p:nvSpPr>
        <p:spPr>
          <a:xfrm>
            <a:off x="8161324" y="2123948"/>
            <a:ext cx="3070250" cy="1441735"/>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Probes call tools periodically; one worker claims each slot.</a:t>
            </a:r>
          </a:p>
        </p:txBody>
      </p:sp>
      <p:sp>
        <p:nvSpPr>
          <p:cNvPr id="32" name="Rectangle 31"/>
          <p:cNvSpPr/>
          <p:nvPr/>
        </p:nvSpPr>
        <p:spPr>
          <a:xfrm>
            <a:off x="777240" y="3858291"/>
            <a:ext cx="3436010" cy="23870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3858291"/>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0120" y="4022883"/>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VERSIONS</a:t>
            </a:r>
          </a:p>
        </p:txBody>
      </p:sp>
      <p:sp>
        <p:nvSpPr>
          <p:cNvPr id="35" name="TextBox 34"/>
          <p:cNvSpPr txBox="1"/>
          <p:nvPr/>
        </p:nvSpPr>
        <p:spPr>
          <a:xfrm>
            <a:off x="960120" y="4278915"/>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Several behind one name</a:t>
            </a:r>
          </a:p>
        </p:txBody>
      </p:sp>
      <p:sp>
        <p:nvSpPr>
          <p:cNvPr id="36" name="TextBox 35"/>
          <p:cNvSpPr txBox="1"/>
          <p:nvPr/>
        </p:nvSpPr>
        <p:spPr>
          <a:xfrm>
            <a:off x="960120" y="4980844"/>
            <a:ext cx="3070250" cy="1136491"/>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Routed by pin, user, role or canary percentage.</a:t>
            </a:r>
          </a:p>
        </p:txBody>
      </p:sp>
      <p:sp>
        <p:nvSpPr>
          <p:cNvPr id="37" name="Rectangle 36"/>
          <p:cNvSpPr/>
          <p:nvPr/>
        </p:nvSpPr>
        <p:spPr>
          <a:xfrm>
            <a:off x="4377842" y="3858291"/>
            <a:ext cx="3436010" cy="23870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377842" y="3858291"/>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60722" y="4022883"/>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ROLLBACK</a:t>
            </a:r>
          </a:p>
        </p:txBody>
      </p:sp>
      <p:sp>
        <p:nvSpPr>
          <p:cNvPr id="40" name="TextBox 39"/>
          <p:cNvSpPr txBox="1"/>
          <p:nvPr/>
        </p:nvSpPr>
        <p:spPr>
          <a:xfrm>
            <a:off x="4560722" y="4278915"/>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Automatic</a:t>
            </a:r>
          </a:p>
        </p:txBody>
      </p:sp>
      <p:sp>
        <p:nvSpPr>
          <p:cNvPr id="41" name="TextBox 40"/>
          <p:cNvSpPr txBox="1"/>
          <p:nvPr/>
        </p:nvSpPr>
        <p:spPr>
          <a:xfrm>
            <a:off x="4560722" y="4675600"/>
            <a:ext cx="3070250" cy="1441735"/>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 canary that errors or slows down is rolled back; sunset dates retire versions.</a:t>
            </a:r>
          </a:p>
        </p:txBody>
      </p:sp>
      <p:sp>
        <p:nvSpPr>
          <p:cNvPr id="42" name="Rectangle 41"/>
          <p:cNvSpPr/>
          <p:nvPr/>
        </p:nvSpPr>
        <p:spPr>
          <a:xfrm>
            <a:off x="7978444" y="3858291"/>
            <a:ext cx="3436010" cy="23870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978444" y="3858291"/>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61324" y="4022883"/>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EVALS</a:t>
            </a:r>
          </a:p>
        </p:txBody>
      </p:sp>
      <p:sp>
        <p:nvSpPr>
          <p:cNvPr id="45" name="TextBox 44"/>
          <p:cNvSpPr txBox="1"/>
          <p:nvPr/>
        </p:nvSpPr>
        <p:spPr>
          <a:xfrm>
            <a:off x="8161324" y="4278915"/>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For the model too</a:t>
            </a:r>
          </a:p>
        </p:txBody>
      </p:sp>
      <p:sp>
        <p:nvSpPr>
          <p:cNvPr id="46" name="TextBox 45"/>
          <p:cNvSpPr txBox="1"/>
          <p:nvPr/>
        </p:nvSpPr>
        <p:spPr>
          <a:xfrm>
            <a:off x="8161324" y="4675600"/>
            <a:ext cx="3070250" cy="1441735"/>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The same harness measures models and planners (previous slide).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OBSERVABILITY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Metrics, traces, cost and alerts, out of the box</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93</a:t>
            </a:r>
          </a:p>
        </p:txBody>
      </p:sp>
      <p:sp>
        <p:nvSpPr>
          <p:cNvPr id="17" name="Rectangle 16"/>
          <p:cNvSpPr/>
          <p:nvPr/>
        </p:nvSpPr>
        <p:spPr>
          <a:xfrm>
            <a:off x="777240" y="1386967"/>
            <a:ext cx="5236311" cy="2346896"/>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86967"/>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551559"/>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METRICS</a:t>
            </a:r>
          </a:p>
        </p:txBody>
      </p:sp>
      <p:sp>
        <p:nvSpPr>
          <p:cNvPr id="20" name="TextBox 19"/>
          <p:cNvSpPr txBox="1"/>
          <p:nvPr/>
        </p:nvSpPr>
        <p:spPr>
          <a:xfrm>
            <a:off x="960120" y="1807591"/>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Prometheus at /metrics, protected</a:t>
            </a:r>
          </a:p>
        </p:txBody>
      </p:sp>
      <p:sp>
        <p:nvSpPr>
          <p:cNvPr id="21" name="TextBox 20"/>
          <p:cNvSpPr txBox="1"/>
          <p:nvPr/>
        </p:nvSpPr>
        <p:spPr>
          <a:xfrm>
            <a:off x="960120" y="2204275"/>
            <a:ext cx="4870551" cy="1401571"/>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HTTP, MCP and tool calls and latency, cache hits, LLM tokens and spend, sandbox runs, policy decisions, audit export.</a:t>
            </a:r>
          </a:p>
        </p:txBody>
      </p:sp>
      <p:sp>
        <p:nvSpPr>
          <p:cNvPr id="22" name="Rectangle 21"/>
          <p:cNvSpPr/>
          <p:nvPr/>
        </p:nvSpPr>
        <p:spPr>
          <a:xfrm>
            <a:off x="6178143" y="1386967"/>
            <a:ext cx="5236311" cy="2346896"/>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8143" y="1386967"/>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1023" y="1551559"/>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TRACES</a:t>
            </a:r>
          </a:p>
        </p:txBody>
      </p:sp>
      <p:sp>
        <p:nvSpPr>
          <p:cNvPr id="25" name="TextBox 24"/>
          <p:cNvSpPr txBox="1"/>
          <p:nvPr/>
        </p:nvSpPr>
        <p:spPr>
          <a:xfrm>
            <a:off x="6361023" y="1807591"/>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OpenTelemetry over OTLP, opt-in</a:t>
            </a:r>
          </a:p>
        </p:txBody>
      </p:sp>
      <p:sp>
        <p:nvSpPr>
          <p:cNvPr id="26" name="TextBox 25"/>
          <p:cNvSpPr txBox="1"/>
          <p:nvPr/>
        </p:nvSpPr>
        <p:spPr>
          <a:xfrm>
            <a:off x="6361023" y="2204275"/>
            <a:ext cx="4870551" cy="1401571"/>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 span per request, tool call and model call, with the caller attached.</a:t>
            </a:r>
          </a:p>
        </p:txBody>
      </p:sp>
      <p:sp>
        <p:nvSpPr>
          <p:cNvPr id="27" name="Rectangle 26"/>
          <p:cNvSpPr/>
          <p:nvPr/>
        </p:nvSpPr>
        <p:spPr>
          <a:xfrm>
            <a:off x="777240" y="3898455"/>
            <a:ext cx="5236311" cy="2346896"/>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898455"/>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4063047"/>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COST</a:t>
            </a:r>
          </a:p>
        </p:txBody>
      </p:sp>
      <p:sp>
        <p:nvSpPr>
          <p:cNvPr id="30" name="TextBox 29"/>
          <p:cNvSpPr txBox="1"/>
          <p:nvPr/>
        </p:nvSpPr>
        <p:spPr>
          <a:xfrm>
            <a:off x="960120" y="4319079"/>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A usage and cost dashboard</a:t>
            </a:r>
          </a:p>
        </p:txBody>
      </p:sp>
      <p:sp>
        <p:nvSpPr>
          <p:cNvPr id="31" name="TextBox 30"/>
          <p:cNvSpPr txBox="1"/>
          <p:nvPr/>
        </p:nvSpPr>
        <p:spPr>
          <a:xfrm>
            <a:off x="960120" y="4715764"/>
            <a:ext cx="4870551" cy="1401572"/>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Calls, errors, tokens and spend by user, key, role, model, tool and day; budgets; CSV export.</a:t>
            </a:r>
          </a:p>
        </p:txBody>
      </p:sp>
      <p:sp>
        <p:nvSpPr>
          <p:cNvPr id="32" name="Rectangle 31"/>
          <p:cNvSpPr/>
          <p:nvPr/>
        </p:nvSpPr>
        <p:spPr>
          <a:xfrm>
            <a:off x="6178143" y="3898455"/>
            <a:ext cx="5236311" cy="2346896"/>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8143" y="3898455"/>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61023" y="4063047"/>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ALERTS</a:t>
            </a:r>
          </a:p>
        </p:txBody>
      </p:sp>
      <p:sp>
        <p:nvSpPr>
          <p:cNvPr id="35" name="TextBox 34"/>
          <p:cNvSpPr txBox="1"/>
          <p:nvPr/>
        </p:nvSpPr>
        <p:spPr>
          <a:xfrm>
            <a:off x="6361023" y="4319079"/>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Rules on rates, latency and spend</a:t>
            </a:r>
          </a:p>
        </p:txBody>
      </p:sp>
      <p:sp>
        <p:nvSpPr>
          <p:cNvPr id="36" name="TextBox 35"/>
          <p:cNvSpPr txBox="1"/>
          <p:nvPr/>
        </p:nvSpPr>
        <p:spPr>
          <a:xfrm>
            <a:off x="6361023" y="4715764"/>
            <a:ext cx="4870551" cy="1401572"/>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Error rates, p95 latency, LLM spend, open circuit breakers; to a log, an email or a guarded webhook.</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SANDBOX AND CONNECTED ACCOUNTS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User code runs in a sandbox; a user's tokens stay in a vault</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94</a:t>
            </a:r>
          </a:p>
        </p:txBody>
      </p:sp>
      <p:sp>
        <p:nvSpPr>
          <p:cNvPr id="17" name="Rectangle 16"/>
          <p:cNvSpPr/>
          <p:nvPr/>
        </p:nvSpPr>
        <p:spPr>
          <a:xfrm>
            <a:off x="777240" y="1354836"/>
            <a:ext cx="5236311" cy="236296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54836"/>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519428"/>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SANDBOX</a:t>
            </a:r>
          </a:p>
        </p:txBody>
      </p:sp>
      <p:sp>
        <p:nvSpPr>
          <p:cNvPr id="20" name="TextBox 19"/>
          <p:cNvSpPr txBox="1"/>
          <p:nvPr/>
        </p:nvSpPr>
        <p:spPr>
          <a:xfrm>
            <a:off x="960120" y="1775460"/>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Every call of user code in its own process</a:t>
            </a:r>
          </a:p>
        </p:txBody>
      </p:sp>
      <p:sp>
        <p:nvSpPr>
          <p:cNvPr id="21" name="TextBox 20"/>
          <p:cNvSpPr txBox="1"/>
          <p:nvPr/>
        </p:nvSpPr>
        <p:spPr>
          <a:xfrm>
            <a:off x="960120" y="2477389"/>
            <a:ext cx="4870551" cy="1112393"/>
          </a:xfrm>
          <a:prstGeom prst="rect">
            <a:avLst/>
          </a:prstGeom>
          <a:noFill/>
        </p:spPr>
        <p:txBody>
          <a:bodyPr wrap="square" lIns="0" rIns="0" tIns="0" bIns="0" anchor="t">
            <a:spAutoFit/>
          </a:bodyPr>
          <a:lstStyle/>
          <a:p>
            <a:pPr algn="l">
              <a:lnSpc>
                <a:spcPct val="120000"/>
              </a:lnSpc>
              <a:spcBef>
                <a:spcPts val="0"/>
              </a:spcBef>
              <a:spcAft>
                <a:spcPts val="0"/>
              </a:spcAft>
            </a:pPr>
            <a:r>
              <a:rPr sz="1650" b="0" i="0">
                <a:solidFill>
                  <a:srgbClr val="6B7480"/>
                </a:solidFill>
                <a:latin typeface="Calibri"/>
              </a:rPr>
              <a:t>Studio Python and script tools, and the admin shell, run with no server environment and no network unless allowed. Backends: subprocess, bwrap, nsjail or docker.</a:t>
            </a:r>
          </a:p>
        </p:txBody>
      </p:sp>
      <p:sp>
        <p:nvSpPr>
          <p:cNvPr id="22" name="Rectangle 21"/>
          <p:cNvSpPr/>
          <p:nvPr/>
        </p:nvSpPr>
        <p:spPr>
          <a:xfrm>
            <a:off x="6178143" y="1354836"/>
            <a:ext cx="5236311" cy="236296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8143" y="1354836"/>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1023" y="1519428"/>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WHAT IT DOES NOT COVER</a:t>
            </a:r>
          </a:p>
        </p:txBody>
      </p:sp>
      <p:sp>
        <p:nvSpPr>
          <p:cNvPr id="25" name="TextBox 24"/>
          <p:cNvSpPr txBox="1"/>
          <p:nvPr/>
        </p:nvSpPr>
        <p:spPr>
          <a:xfrm>
            <a:off x="6361023" y="1775460"/>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Built-in tools are not sandboxed</a:t>
            </a:r>
          </a:p>
        </p:txBody>
      </p:sp>
      <p:sp>
        <p:nvSpPr>
          <p:cNvPr id="26" name="TextBox 25"/>
          <p:cNvSpPr txBox="1"/>
          <p:nvPr/>
        </p:nvSpPr>
        <p:spPr>
          <a:xfrm>
            <a:off x="6361023" y="2172144"/>
            <a:ext cx="4870551" cy="141763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Shipped tools run in-process; on macOS and Windows the default gives only a clean environment and limits.</a:t>
            </a:r>
          </a:p>
        </p:txBody>
      </p:sp>
      <p:sp>
        <p:nvSpPr>
          <p:cNvPr id="27" name="Rectangle 26"/>
          <p:cNvSpPr/>
          <p:nvPr/>
        </p:nvSpPr>
        <p:spPr>
          <a:xfrm>
            <a:off x="777240" y="3882390"/>
            <a:ext cx="5236311" cy="236296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882390"/>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4046982"/>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CONNECTED ACCOUNTS</a:t>
            </a:r>
          </a:p>
        </p:txBody>
      </p:sp>
      <p:sp>
        <p:nvSpPr>
          <p:cNvPr id="30" name="TextBox 29"/>
          <p:cNvSpPr txBox="1"/>
          <p:nvPr/>
        </p:nvSpPr>
        <p:spPr>
          <a:xfrm>
            <a:off x="960120" y="4303014"/>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A tool acts as the user</a:t>
            </a:r>
          </a:p>
        </p:txBody>
      </p:sp>
      <p:sp>
        <p:nvSpPr>
          <p:cNvPr id="31" name="TextBox 30"/>
          <p:cNvSpPr txBox="1"/>
          <p:nvPr/>
        </p:nvSpPr>
        <p:spPr>
          <a:xfrm>
            <a:off x="960120" y="4699698"/>
            <a:ext cx="4870551" cy="141763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 user links github, slack, google, microsoft, atlassian and notion or any OAuth 2.0 service once; tools that declare it call with that user's token.</a:t>
            </a:r>
          </a:p>
        </p:txBody>
      </p:sp>
      <p:sp>
        <p:nvSpPr>
          <p:cNvPr id="32" name="Rectangle 31"/>
          <p:cNvSpPr/>
          <p:nvPr/>
        </p:nvSpPr>
        <p:spPr>
          <a:xfrm>
            <a:off x="6178143" y="3882390"/>
            <a:ext cx="5236311" cy="236296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8143" y="3882390"/>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61023" y="4046982"/>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THE VAULT</a:t>
            </a:r>
          </a:p>
        </p:txBody>
      </p:sp>
      <p:sp>
        <p:nvSpPr>
          <p:cNvPr id="35" name="TextBox 34"/>
          <p:cNvSpPr txBox="1"/>
          <p:nvPr/>
        </p:nvSpPr>
        <p:spPr>
          <a:xfrm>
            <a:off x="6361023" y="4303014"/>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Encrypted, bound, fenced</a:t>
            </a:r>
          </a:p>
        </p:txBody>
      </p:sp>
      <p:sp>
        <p:nvSpPr>
          <p:cNvPr id="36" name="TextBox 35"/>
          <p:cNvSpPr txBox="1"/>
          <p:nvPr/>
        </p:nvSpPr>
        <p:spPr>
          <a:xfrm>
            <a:off x="6361023" y="4699698"/>
            <a:ext cx="4870551" cy="141763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AES-256-GCM, bound to user and provider, sent only to the provider's listed hosts; per-user results never cached.</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STORAGE AND STATE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One process on a laptop, or several pods in a cluster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Shared through the store: sessions, tasks, OAuth codes, rate-limit and budget counters, approvals. Per process on purpose: caches, circuit breakers and metrics.</a:t>
            </a:r>
          </a:p>
        </p:txBody>
      </p:sp>
      <p:graphicFrame>
        <p:nvGraphicFramePr>
          <p:cNvPr id="19" name="Table 18"/>
          <p:cNvGraphicFramePr>
            <a:graphicFrameLocks noGrp="1"/>
          </p:cNvGraphicFramePr>
          <p:nvPr/>
        </p:nvGraphicFramePr>
        <p:xfrm>
          <a:off x="777240" y="1386967"/>
          <a:ext cx="10637214" cy="2910266"/>
        </p:xfrm>
        <a:graphic>
          <a:graphicData uri="http://schemas.openxmlformats.org/drawingml/2006/table">
            <a:tbl>
              <a:tblPr firstRow="1">
                <a:tableStyleId>{5C22544A-7EE6-4342-B048-85BDC9FD1C3A}</a:tableStyleId>
              </a:tblPr>
              <a:tblGrid>
                <a:gridCol w="2348476"/>
                <a:gridCol w="3591786"/>
                <a:gridCol w="4696952"/>
              </a:tblGrid>
              <a:tr h="350710">
                <a:tc>
                  <a:txBody>
                    <a:bodyPr wrap="square"/>
                    <a:lstStyle/>
                    <a:p>
                      <a:r>
                        <a:rPr sz="1500" b="1">
                          <a:solidFill>
                            <a:srgbClr val="FFFFFF"/>
                          </a:solidFill>
                          <a:latin typeface="Calibri"/>
                        </a:rPr>
                        <a:t>Concern</a:t>
                      </a:r>
                    </a:p>
                  </a:txBody>
                  <a:tcPr marL="82296" marR="64008" marT="32004" marB="32004" anchor="ctr">
                    <a:solidFill>
                      <a:srgbClr val="A51C30"/>
                    </a:solidFill>
                  </a:tcPr>
                </a:tc>
                <a:tc>
                  <a:txBody>
                    <a:bodyPr wrap="square"/>
                    <a:lstStyle/>
                    <a:p>
                      <a:r>
                        <a:rPr sz="1500" b="1">
                          <a:solidFill>
                            <a:srgbClr val="FFFFFF"/>
                          </a:solidFill>
                          <a:latin typeface="Calibri"/>
                        </a:rPr>
                        <a:t>Choices</a:t>
                      </a:r>
                    </a:p>
                  </a:txBody>
                  <a:tcPr marL="82296" marR="64008" marT="32004" marB="32004" anchor="ctr">
                    <a:solidFill>
                      <a:srgbClr val="A51C30"/>
                    </a:solidFill>
                  </a:tcPr>
                </a:tc>
                <a:tc>
                  <a:txBody>
                    <a:bodyPr wrap="square"/>
                    <a:lstStyle/>
                    <a:p>
                      <a:r>
                        <a:rPr sz="1500" b="1">
                          <a:solidFill>
                            <a:srgbClr val="FFFFFF"/>
                          </a:solidFill>
                          <a:latin typeface="Calibri"/>
                        </a:rPr>
                        <a:t>Default, and when to change it</a:t>
                      </a:r>
                    </a:p>
                  </a:txBody>
                  <a:tcPr marL="82296" marR="64008" marT="32004" marB="32004" anchor="ctr">
                    <a:solidFill>
                      <a:srgbClr val="A51C30"/>
                    </a:solidFill>
                  </a:tcPr>
                </a:tc>
              </a:tr>
              <a:tr h="639889">
                <a:tc>
                  <a:txBody>
                    <a:bodyPr wrap="square"/>
                    <a:lstStyle/>
                    <a:p>
                      <a:r>
                        <a:rPr sz="1650" b="1">
                          <a:solidFill>
                            <a:srgbClr val="6E1120"/>
                          </a:solidFill>
                          <a:latin typeface="Calibri"/>
                        </a:rPr>
                        <a:t>Configuration and tool files</a:t>
                      </a:r>
                    </a:p>
                  </a:txBody>
                  <a:tcPr marL="82296" marR="64008" marT="32004" marB="32004" anchor="ctr">
                    <a:solidFill>
                      <a:srgbClr val="FFFFFF"/>
                    </a:solidFill>
                  </a:tcPr>
                </a:tc>
                <a:tc>
                  <a:txBody>
                    <a:bodyPr wrap="square"/>
                    <a:lstStyle/>
                    <a:p>
                      <a:r>
                        <a:rPr sz="1650" b="0">
                          <a:solidFill>
                            <a:srgbClr val="1A1A1A"/>
                          </a:solidFill>
                          <a:latin typeface="Calibri"/>
                        </a:rPr>
                        <a:t>local disk, S3, Azure Blob or GCS</a:t>
                      </a:r>
                    </a:p>
                  </a:txBody>
                  <a:tcPr marL="82296" marR="64008" marT="32004" marB="32004" anchor="ctr">
                    <a:solidFill>
                      <a:srgbClr val="FFFFFF"/>
                    </a:solidFill>
                  </a:tcPr>
                </a:tc>
                <a:tc>
                  <a:txBody>
                    <a:bodyPr wrap="square"/>
                    <a:lstStyle/>
                    <a:p>
                      <a:r>
                        <a:rPr sz="1650" b="0">
                          <a:solidFill>
                            <a:srgbClr val="1A1A1A"/>
                          </a:solidFill>
                          <a:latin typeface="Calibri"/>
                        </a:rPr>
                        <a:t>Local disk; an object store when pods share files, with hot reload</a:t>
                      </a:r>
                    </a:p>
                  </a:txBody>
                  <a:tcPr marL="82296" marR="64008" marT="32004" marB="32004" anchor="ctr">
                    <a:solidFill>
                      <a:srgbClr val="FFFFFF"/>
                    </a:solidFill>
                  </a:tcPr>
                </a:tc>
              </a:tr>
              <a:tr h="639889">
                <a:tc>
                  <a:txBody>
                    <a:bodyPr wrap="square"/>
                    <a:lstStyle/>
                    <a:p>
                      <a:r>
                        <a:rPr sz="1650" b="1">
                          <a:solidFill>
                            <a:srgbClr val="6E1120"/>
                          </a:solidFill>
                          <a:latin typeface="Calibri"/>
                        </a:rPr>
                        <a:t>Shared protocol state</a:t>
                      </a:r>
                    </a:p>
                  </a:txBody>
                  <a:tcPr marL="82296" marR="64008" marT="32004" marB="32004" anchor="ctr">
                    <a:solidFill>
                      <a:srgbClr val="F7F5F2"/>
                    </a:solidFill>
                  </a:tcPr>
                </a:tc>
                <a:tc>
                  <a:txBody>
                    <a:bodyPr wrap="square"/>
                    <a:lstStyle/>
                    <a:p>
                      <a:r>
                        <a:rPr sz="1650" b="0">
                          <a:solidFill>
                            <a:srgbClr val="1A1A1A"/>
                          </a:solidFill>
                          <a:latin typeface="Calibri"/>
                        </a:rPr>
                        <a:t>memory, redis or database</a:t>
                      </a:r>
                    </a:p>
                  </a:txBody>
                  <a:tcPr marL="82296" marR="64008" marT="32004" marB="32004" anchor="ctr">
                    <a:solidFill>
                      <a:srgbClr val="F7F5F2"/>
                    </a:solidFill>
                  </a:tcPr>
                </a:tc>
                <a:tc>
                  <a:txBody>
                    <a:bodyPr wrap="square"/>
                    <a:lstStyle/>
                    <a:p>
                      <a:r>
                        <a:rPr sz="1650" b="0">
                          <a:solidFill>
                            <a:srgbClr val="1A1A1A"/>
                          </a:solidFill>
                          <a:latin typeface="Calibri"/>
                        </a:rPr>
                        <a:t>memory for one worker; redis or database for several</a:t>
                      </a:r>
                    </a:p>
                  </a:txBody>
                  <a:tcPr marL="82296" marR="64008" marT="32004" marB="32004" anchor="ctr">
                    <a:solidFill>
                      <a:srgbClr val="F7F5F2"/>
                    </a:solidFill>
                  </a:tcPr>
                </a:tc>
              </a:tr>
              <a:tr h="639889">
                <a:tc>
                  <a:txBody>
                    <a:bodyPr wrap="square"/>
                    <a:lstStyle/>
                    <a:p>
                      <a:r>
                        <a:rPr sz="1650" b="1">
                          <a:solidFill>
                            <a:srgbClr val="6E1120"/>
                          </a:solidFill>
                          <a:latin typeface="Calibri"/>
                        </a:rPr>
                        <a:t>Database</a:t>
                      </a:r>
                    </a:p>
                  </a:txBody>
                  <a:tcPr marL="82296" marR="64008" marT="32004" marB="32004" anchor="ctr">
                    <a:solidFill>
                      <a:srgbClr val="FFFFFF"/>
                    </a:solidFill>
                  </a:tcPr>
                </a:tc>
                <a:tc>
                  <a:txBody>
                    <a:bodyPr wrap="square"/>
                    <a:lstStyle/>
                    <a:p>
                      <a:r>
                        <a:rPr sz="1650" b="0">
                          <a:solidFill>
                            <a:srgbClr val="1A1A1A"/>
                          </a:solidFill>
                          <a:latin typeface="Calibri"/>
                        </a:rPr>
                        <a:t>postgresql or sqlite</a:t>
                      </a:r>
                    </a:p>
                  </a:txBody>
                  <a:tcPr marL="82296" marR="64008" marT="32004" marB="32004" anchor="ctr">
                    <a:solidFill>
                      <a:srgbClr val="FFFFFF"/>
                    </a:solidFill>
                  </a:tcPr>
                </a:tc>
                <a:tc>
                  <a:txBody>
                    <a:bodyPr wrap="square"/>
                    <a:lstStyle/>
                    <a:p>
                      <a:r>
                        <a:rPr sz="1650" b="0">
                          <a:solidFill>
                            <a:srgbClr val="1A1A1A"/>
                          </a:solidFill>
                          <a:latin typeface="Calibri"/>
                        </a:rPr>
                        <a:t>SQLite for development; PostgreSQL from one schema file an operator runs</a:t>
                      </a:r>
                    </a:p>
                  </a:txBody>
                  <a:tcPr marL="82296" marR="64008" marT="32004" marB="32004" anchor="ctr">
                    <a:solidFill>
                      <a:srgbClr val="FFFFFF"/>
                    </a:solidFill>
                  </a:tcPr>
                </a:tc>
              </a:tr>
              <a:tr h="639889">
                <a:tc>
                  <a:txBody>
                    <a:bodyPr wrap="square"/>
                    <a:lstStyle/>
                    <a:p>
                      <a:r>
                        <a:rPr sz="1650" b="1">
                          <a:solidFill>
                            <a:srgbClr val="6E1120"/>
                          </a:solidFill>
                          <a:latin typeface="Calibri"/>
                        </a:rPr>
                        <a:t>Packaging</a:t>
                      </a:r>
                    </a:p>
                  </a:txBody>
                  <a:tcPr marL="82296" marR="64008" marT="32004" marB="32004" anchor="ctr">
                    <a:solidFill>
                      <a:srgbClr val="F7F5F2"/>
                    </a:solidFill>
                  </a:tcPr>
                </a:tc>
                <a:tc>
                  <a:txBody>
                    <a:bodyPr wrap="square"/>
                    <a:lstStyle/>
                    <a:p>
                      <a:r>
                        <a:rPr sz="1650" b="0">
                          <a:solidFill>
                            <a:srgbClr val="1A1A1A"/>
                          </a:solidFill>
                          <a:latin typeface="Calibri"/>
                        </a:rPr>
                        <a:t>A non-root container image, a Helm chart, Kustomize</a:t>
                      </a:r>
                    </a:p>
                  </a:txBody>
                  <a:tcPr marL="82296" marR="64008" marT="32004" marB="32004" anchor="ctr">
                    <a:solidFill>
                      <a:srgbClr val="F7F5F2"/>
                    </a:solidFill>
                  </a:tcPr>
                </a:tc>
                <a:tc>
                  <a:txBody>
                    <a:bodyPr wrap="square"/>
                    <a:lstStyle/>
                    <a:p>
                      <a:r>
                        <a:rPr sz="1650" b="0">
                          <a:solidFill>
                            <a:srgbClr val="1A1A1A"/>
                          </a:solidFill>
                          <a:latin typeface="Calibri"/>
                        </a:rPr>
                        <a:t>Plus recipes: aws, baremetal, hetzner, local-lab and sajhanet-demo</a:t>
                      </a:r>
                    </a:p>
                  </a:txBody>
                  <a:tcPr marL="82296" marR="64008" marT="32004" marB="32004" anchor="ctr">
                    <a:solidFill>
                      <a:srgbClr val="F7F5F2"/>
                    </a:solidFill>
                  </a:tcPr>
                </a:tc>
              </a:tr>
            </a:tbl>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CLIENTS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Python client, a command line, and agent-to-agent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96</a:t>
            </a:r>
          </a:p>
        </p:txBody>
      </p:sp>
      <p:sp>
        <p:nvSpPr>
          <p:cNvPr id="17" name="TextBox 16"/>
          <p:cNvSpPr txBox="1"/>
          <p:nvPr/>
        </p:nvSpPr>
        <p:spPr>
          <a:xfrm>
            <a:off x="777240" y="5330952"/>
            <a:ext cx="10637215" cy="914400"/>
          </a:xfrm>
          <a:prstGeom prst="rect">
            <a:avLst/>
          </a:prstGeom>
          <a:noFill/>
        </p:spPr>
        <p:txBody>
          <a:bodyPr wrap="square" lIns="0" rIns="0" tIns="0" bIns="0" anchor="t">
            <a:spAutoFit/>
          </a:bodyPr>
          <a:lstStyle/>
          <a:p>
            <a:pPr algn="l">
              <a:lnSpc>
                <a:spcPct val="120000"/>
              </a:lnSpc>
              <a:spcBef>
                <a:spcPts val="0"/>
              </a:spcBef>
              <a:spcAft>
                <a:spcPts val="100"/>
              </a:spcAft>
            </a:pPr>
            <a:r>
              <a:rPr sz="1800" b="1">
                <a:solidFill>
                  <a:srgbClr val="A51C30"/>
                </a:solidFill>
                <a:latin typeface="Calibri"/>
              </a:rPr>
              <a:t>▪  </a:t>
            </a:r>
            <a:r>
              <a:rPr sz="1800" b="1">
                <a:solidFill>
                  <a:srgbClr val="1A1A1A"/>
                </a:solidFill>
                <a:latin typeface="Calibri"/>
              </a:rPr>
              <a:t>Desktop clients</a:t>
            </a:r>
          </a:p>
          <a:p>
            <a:pPr lvl="1">
              <a:lnSpc>
                <a:spcPct val="120000"/>
              </a:lnSpc>
              <a:spcBef>
                <a:spcPts val="0"/>
              </a:spcBef>
              <a:spcAft>
                <a:spcPts val="0"/>
              </a:spcAft>
            </a:pPr>
            <a:r>
              <a:rPr sz="1650" b="0">
                <a:solidFill>
                  <a:srgbClr val="6B7480"/>
                </a:solidFill>
                <a:latin typeface="Calibri"/>
              </a:rPr>
              <a:t>sajha serve --stdio runs SAJHA as a stdio server for Claude Desktop, Claude Code and other local clients; the caller is set by --user or --api-key.</a:t>
            </a:r>
          </a:p>
        </p:txBody>
      </p:sp>
      <p:sp>
        <p:nvSpPr>
          <p:cNvPr id="18" name="Rectangle 17"/>
          <p:cNvSpPr/>
          <p:nvPr/>
        </p:nvSpPr>
        <p:spPr>
          <a:xfrm>
            <a:off x="777240" y="1386967"/>
            <a:ext cx="3436010" cy="3779393"/>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CLIENT SDK</a:t>
            </a:r>
          </a:p>
        </p:txBody>
      </p:sp>
      <p:sp>
        <p:nvSpPr>
          <p:cNvPr id="21" name="TextBox 20"/>
          <p:cNvSpPr txBox="1"/>
          <p:nvPr/>
        </p:nvSpPr>
        <p:spPr>
          <a:xfrm>
            <a:off x="960120"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sajhaclient</a:t>
            </a:r>
          </a:p>
        </p:txBody>
      </p:sp>
      <p:sp>
        <p:nvSpPr>
          <p:cNvPr id="22" name="TextBox 21"/>
          <p:cNvSpPr txBox="1"/>
          <p:nvPr/>
        </p:nvSpPr>
        <p:spPr>
          <a:xfrm>
            <a:off x="960120" y="2204275"/>
            <a:ext cx="3070250" cy="2834068"/>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Built on the official MCP SDK; adopts the newest era the server offers; REST and A2A clients; API key, JWT and OAuth auth.</a:t>
            </a:r>
          </a:p>
        </p:txBody>
      </p:sp>
      <p:sp>
        <p:nvSpPr>
          <p:cNvPr id="23" name="Rectangle 22"/>
          <p:cNvSpPr/>
          <p:nvPr/>
        </p:nvSpPr>
        <p:spPr>
          <a:xfrm>
            <a:off x="4377842" y="1386967"/>
            <a:ext cx="3436010" cy="3779393"/>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77842"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60722"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COMMAND LINE</a:t>
            </a:r>
          </a:p>
        </p:txBody>
      </p:sp>
      <p:sp>
        <p:nvSpPr>
          <p:cNvPr id="26" name="TextBox 25"/>
          <p:cNvSpPr txBox="1"/>
          <p:nvPr/>
        </p:nvSpPr>
        <p:spPr>
          <a:xfrm>
            <a:off x="4560722"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sajha</a:t>
            </a:r>
          </a:p>
        </p:txBody>
      </p:sp>
      <p:sp>
        <p:nvSpPr>
          <p:cNvPr id="27" name="TextBox 26"/>
          <p:cNvSpPr txBox="1"/>
          <p:nvPr/>
        </p:nvSpPr>
        <p:spPr>
          <a:xfrm>
            <a:off x="4560722" y="2204275"/>
            <a:ext cx="3070250" cy="2834068"/>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Commands: login, logout, profile, health, config, tools, prompts, ask, studio, federation, net, workflows, serve, db, completion and version; profiles per server; JSON output.</a:t>
            </a:r>
          </a:p>
        </p:txBody>
      </p:sp>
      <p:sp>
        <p:nvSpPr>
          <p:cNvPr id="28" name="Rectangle 27"/>
          <p:cNvSpPr/>
          <p:nvPr/>
        </p:nvSpPr>
        <p:spPr>
          <a:xfrm>
            <a:off x="7978444" y="1386967"/>
            <a:ext cx="3436010" cy="3779393"/>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978444"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61324"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A2A</a:t>
            </a:r>
          </a:p>
        </p:txBody>
      </p:sp>
      <p:sp>
        <p:nvSpPr>
          <p:cNvPr id="31" name="TextBox 30"/>
          <p:cNvSpPr txBox="1"/>
          <p:nvPr/>
        </p:nvSpPr>
        <p:spPr>
          <a:xfrm>
            <a:off x="8161324"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Agent to agent</a:t>
            </a:r>
          </a:p>
        </p:txBody>
      </p:sp>
      <p:sp>
        <p:nvSpPr>
          <p:cNvPr id="32" name="TextBox 31"/>
          <p:cNvSpPr txBox="1"/>
          <p:nvPr/>
        </p:nvSpPr>
        <p:spPr>
          <a:xfrm>
            <a:off x="8161324" y="2204275"/>
            <a:ext cx="3070250" cy="2834068"/>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An agent card at /.well-known/agent.json; POST /a2a (JSON-RPC) with tasks/send, tasks/get and tasks/cancel, under the same tool access.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CONFIGURATION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One YAML file, overridden by the environment, with no secrets in it</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97</a:t>
            </a:r>
          </a:p>
        </p:txBody>
      </p:sp>
      <p:sp>
        <p:nvSpPr>
          <p:cNvPr id="17" name="Rounded Rectangle 16"/>
          <p:cNvSpPr/>
          <p:nvPr/>
        </p:nvSpPr>
        <p:spPr>
          <a:xfrm>
            <a:off x="777240" y="1800510"/>
            <a:ext cx="2872048" cy="1185291"/>
          </a:xfrm>
          <a:prstGeom prst="roundRect">
            <a:avLst>
              <a:gd name="adj" fmla="val 617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SAJHA_&lt;DOTTED_KEY&gt;</a:t>
            </a:r>
          </a:p>
          <a:p>
            <a:pPr algn="ctr">
              <a:lnSpc>
                <a:spcPct val="105000"/>
              </a:lnSpc>
              <a:spcBef>
                <a:spcPts val="0"/>
              </a:spcBef>
              <a:spcAft>
                <a:spcPts val="0"/>
              </a:spcAft>
            </a:pPr>
            <a:r>
              <a:rPr sz="1350" b="0" i="0">
                <a:solidFill>
                  <a:srgbClr val="FFFFFF"/>
                </a:solidFill>
                <a:latin typeface="Calibri"/>
              </a:rPr>
              <a:t>the environment</a:t>
            </a:r>
          </a:p>
        </p:txBody>
      </p:sp>
      <p:sp>
        <p:nvSpPr>
          <p:cNvPr id="18" name="Rounded Rectangle 17"/>
          <p:cNvSpPr/>
          <p:nvPr/>
        </p:nvSpPr>
        <p:spPr>
          <a:xfrm>
            <a:off x="4500265" y="1800510"/>
            <a:ext cx="2872048" cy="1185291"/>
          </a:xfrm>
          <a:prstGeom prst="roundRect">
            <a:avLst>
              <a:gd name="adj" fmla="val 617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config/application.yml</a:t>
            </a:r>
          </a:p>
          <a:p>
            <a:pPr algn="ctr">
              <a:lnSpc>
                <a:spcPct val="105000"/>
              </a:lnSpc>
              <a:spcBef>
                <a:spcPts val="0"/>
              </a:spcBef>
              <a:spcAft>
                <a:spcPts val="0"/>
              </a:spcAft>
            </a:pPr>
            <a:r>
              <a:rPr sz="1350" b="0" i="0">
                <a:solidFill>
                  <a:srgbClr val="FFFFFF"/>
                </a:solidFill>
                <a:latin typeface="Calibri"/>
              </a:rPr>
              <a:t>with ${ENV:default}</a:t>
            </a:r>
          </a:p>
        </p:txBody>
      </p:sp>
      <p:sp>
        <p:nvSpPr>
          <p:cNvPr id="19" name="Rounded Rectangle 18"/>
          <p:cNvSpPr/>
          <p:nvPr/>
        </p:nvSpPr>
        <p:spPr>
          <a:xfrm>
            <a:off x="8223290" y="1800510"/>
            <a:ext cx="2340187" cy="1185291"/>
          </a:xfrm>
          <a:prstGeom prst="roundRect">
            <a:avLst>
              <a:gd name="adj" fmla="val 61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the code's default</a:t>
            </a:r>
          </a:p>
        </p:txBody>
      </p:sp>
      <p:sp>
        <p:nvSpPr>
          <p:cNvPr id="20" name="Rounded Rectangle 19"/>
          <p:cNvSpPr/>
          <p:nvPr/>
        </p:nvSpPr>
        <p:spPr>
          <a:xfrm>
            <a:off x="777240" y="3775995"/>
            <a:ext cx="2872048" cy="1086516"/>
          </a:xfrm>
          <a:prstGeom prst="roundRect">
            <a:avLst>
              <a:gd name="adj" fmla="val 67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SAJHA_AI_&lt;SECTION&gt;_&lt;FIELD&gt;</a:t>
            </a:r>
          </a:p>
        </p:txBody>
      </p:sp>
      <p:sp>
        <p:nvSpPr>
          <p:cNvPr id="21" name="Rounded Rectangle 20"/>
          <p:cNvSpPr/>
          <p:nvPr/>
        </p:nvSpPr>
        <p:spPr>
          <a:xfrm>
            <a:off x="4074776" y="3775995"/>
            <a:ext cx="1914698"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the vendor's own variable</a:t>
            </a:r>
          </a:p>
        </p:txBody>
      </p:sp>
      <p:sp>
        <p:nvSpPr>
          <p:cNvPr id="22" name="Rounded Rectangle 21"/>
          <p:cNvSpPr/>
          <p:nvPr/>
        </p:nvSpPr>
        <p:spPr>
          <a:xfrm>
            <a:off x="6414964" y="3775995"/>
            <a:ext cx="1063721" cy="1086516"/>
          </a:xfrm>
          <a:prstGeom prst="roundRect">
            <a:avLst>
              <a:gd name="adj" fmla="val 687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YAML</a:t>
            </a:r>
          </a:p>
        </p:txBody>
      </p:sp>
      <p:sp>
        <p:nvSpPr>
          <p:cNvPr id="23" name="Rounded Rectangle 22"/>
          <p:cNvSpPr/>
          <p:nvPr/>
        </p:nvSpPr>
        <p:spPr>
          <a:xfrm>
            <a:off x="7904174" y="3775995"/>
            <a:ext cx="1382837"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the database</a:t>
            </a:r>
          </a:p>
        </p:txBody>
      </p:sp>
      <p:sp>
        <p:nvSpPr>
          <p:cNvPr id="24" name="Rounded Rectangle 23"/>
          <p:cNvSpPr/>
          <p:nvPr/>
        </p:nvSpPr>
        <p:spPr>
          <a:xfrm>
            <a:off x="9712500" y="3775995"/>
            <a:ext cx="1063721" cy="1086516"/>
          </a:xfrm>
          <a:prstGeom prst="roundRect">
            <a:avLst>
              <a:gd name="adj" fmla="val 68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default</a:t>
            </a:r>
          </a:p>
        </p:txBody>
      </p:sp>
      <p:sp>
        <p:nvSpPr>
          <p:cNvPr id="25" name="Rounded Rectangle 24"/>
          <p:cNvSpPr/>
          <p:nvPr/>
        </p:nvSpPr>
        <p:spPr>
          <a:xfrm>
            <a:off x="777240" y="5257609"/>
            <a:ext cx="10637215" cy="888968"/>
          </a:xfrm>
          <a:prstGeom prst="roundRect">
            <a:avLst>
              <a:gd name="adj" fmla="val 822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Secrets: never in application.yml</a:t>
            </a:r>
          </a:p>
          <a:p>
            <a:pPr algn="ctr">
              <a:lnSpc>
                <a:spcPct val="105000"/>
              </a:lnSpc>
              <a:spcBef>
                <a:spcPts val="0"/>
              </a:spcBef>
              <a:spcAft>
                <a:spcPts val="0"/>
              </a:spcAft>
            </a:pPr>
            <a:r>
              <a:rPr sz="1150" b="0" i="0">
                <a:solidFill>
                  <a:srgbClr val="1A1A1A"/>
                </a:solidFill>
                <a:latin typeface="Calibri"/>
              </a:rPr>
              <a:t>it is tracked: environment variables; the OAuth signing key in data/oauth/; a known placeholder secret stops start-up</a:t>
            </a:r>
          </a:p>
        </p:txBody>
      </p:sp>
      <p:sp>
        <p:nvSpPr>
          <p:cNvPr id="26" name="TextBox 25"/>
          <p:cNvSpPr txBox="1"/>
          <p:nvPr/>
        </p:nvSpPr>
        <p:spPr>
          <a:xfrm>
            <a:off x="777240" y="1306639"/>
            <a:ext cx="8509772" cy="39509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MOST KEYS</a:t>
            </a:r>
          </a:p>
        </p:txBody>
      </p:sp>
      <p:sp>
        <p:nvSpPr>
          <p:cNvPr id="27" name="TextBox 26"/>
          <p:cNvSpPr txBox="1"/>
          <p:nvPr/>
        </p:nvSpPr>
        <p:spPr>
          <a:xfrm>
            <a:off x="777240" y="3183350"/>
            <a:ext cx="8509772" cy="39509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THE INTELLIGENCE LAYER (ai.*)</a:t>
            </a:r>
          </a:p>
        </p:txBody>
      </p:sp>
      <p:cxnSp>
        <p:nvCxnSpPr>
          <p:cNvPr id="28" name="Connector 27"/>
          <p:cNvCxnSpPr/>
          <p:nvPr/>
        </p:nvCxnSpPr>
        <p:spPr>
          <a:xfrm>
            <a:off x="3695008" y="2393156"/>
            <a:ext cx="75953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841096" y="2155412"/>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a:t>
            </a:r>
          </a:p>
        </p:txBody>
      </p:sp>
      <p:cxnSp>
        <p:nvCxnSpPr>
          <p:cNvPr id="30" name="Connector 29"/>
          <p:cNvCxnSpPr/>
          <p:nvPr/>
        </p:nvCxnSpPr>
        <p:spPr>
          <a:xfrm>
            <a:off x="7418033" y="2393156"/>
            <a:ext cx="75953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564122" y="2155412"/>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a:t>
            </a:r>
          </a:p>
        </p:txBody>
      </p:sp>
      <p:cxnSp>
        <p:nvCxnSpPr>
          <p:cNvPr id="32" name="Connector 31"/>
          <p:cNvCxnSpPr/>
          <p:nvPr/>
        </p:nvCxnSpPr>
        <p:spPr>
          <a:xfrm>
            <a:off x="3695008" y="431925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035195" y="431925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524405" y="431925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332732" y="431925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DATABASE SCHEMA</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28 tables in two schema files, and no migrations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SAJHA never runs DDL on PostgreSQL: an operator runs schema.sql (safe to re-run) and seed.sql. SQLite creates its own tables. A test keeps both files in step with the models.</a:t>
            </a:r>
          </a:p>
        </p:txBody>
      </p:sp>
      <p:graphicFrame>
        <p:nvGraphicFramePr>
          <p:cNvPr id="19" name="Table 18"/>
          <p:cNvGraphicFramePr>
            <a:graphicFrameLocks noGrp="1"/>
          </p:cNvGraphicFramePr>
          <p:nvPr/>
        </p:nvGraphicFramePr>
        <p:xfrm>
          <a:off x="777240" y="1386967"/>
          <a:ext cx="10637215" cy="4034690"/>
        </p:xfrm>
        <a:graphic>
          <a:graphicData uri="http://schemas.openxmlformats.org/drawingml/2006/table">
            <a:tbl>
              <a:tblPr firstRow="1">
                <a:tableStyleId>{5C22544A-7EE6-4342-B048-85BDC9FD1C3A}</a:tableStyleId>
              </a:tblPr>
              <a:tblGrid>
                <a:gridCol w="3000240"/>
                <a:gridCol w="7636975"/>
              </a:tblGrid>
              <a:tr h="350710">
                <a:tc>
                  <a:txBody>
                    <a:bodyPr wrap="square"/>
                    <a:lstStyle/>
                    <a:p>
                      <a:r>
                        <a:rPr sz="1500" b="1">
                          <a:solidFill>
                            <a:srgbClr val="FFFFFF"/>
                          </a:solidFill>
                          <a:latin typeface="Calibri"/>
                        </a:rPr>
                        <a:t>Group</a:t>
                      </a:r>
                    </a:p>
                  </a:txBody>
                  <a:tcPr marL="82296" marR="64008" marT="32004" marB="32004" anchor="ctr">
                    <a:solidFill>
                      <a:srgbClr val="A51C30"/>
                    </a:solidFill>
                  </a:tcPr>
                </a:tc>
                <a:tc>
                  <a:txBody>
                    <a:bodyPr wrap="square"/>
                    <a:lstStyle/>
                    <a:p>
                      <a:r>
                        <a:rPr sz="1500" b="1">
                          <a:solidFill>
                            <a:srgbClr val="FFFFFF"/>
                          </a:solidFill>
                          <a:latin typeface="Calibri"/>
                        </a:rPr>
                        <a:t>Tables</a:t>
                      </a:r>
                    </a:p>
                  </a:txBody>
                  <a:tcPr marL="82296" marR="64008" marT="32004" marB="32004" anchor="ctr">
                    <a:solidFill>
                      <a:srgbClr val="A51C30"/>
                    </a:solidFill>
                  </a:tcPr>
                </a:tc>
              </a:tr>
              <a:tr h="639889">
                <a:tc>
                  <a:txBody>
                    <a:bodyPr wrap="square"/>
                    <a:lstStyle/>
                    <a:p>
                      <a:r>
                        <a:rPr sz="1650" b="1">
                          <a:solidFill>
                            <a:srgbClr val="6E1120"/>
                          </a:solidFill>
                          <a:latin typeface="Calibri"/>
                        </a:rPr>
                        <a:t>Identity and access</a:t>
                      </a:r>
                    </a:p>
                  </a:txBody>
                  <a:tcPr marL="82296" marR="64008" marT="32004" marB="32004" anchor="ctr">
                    <a:solidFill>
                      <a:srgbClr val="FFFFFF"/>
                    </a:solidFill>
                  </a:tcPr>
                </a:tc>
                <a:tc>
                  <a:txBody>
                    <a:bodyPr wrap="square"/>
                    <a:lstStyle/>
                    <a:p>
                      <a:r>
                        <a:rPr sz="1650" b="0">
                          <a:solidFill>
                            <a:srgbClr val="1A1A1A"/>
                          </a:solidFill>
                          <a:latin typeface="Calibri"/>
                        </a:rPr>
                        <a:t>users, roles, user_roles, permissions, api_keys, user_sessions, sajhanet_api_keys</a:t>
                      </a:r>
                    </a:p>
                  </a:txBody>
                  <a:tcPr marL="82296" marR="64008" marT="32004" marB="32004" anchor="ctr">
                    <a:solidFill>
                      <a:srgbClr val="FFFFFF"/>
                    </a:solidFill>
                  </a:tcPr>
                </a:tc>
              </a:tr>
              <a:tr h="639889">
                <a:tc>
                  <a:txBody>
                    <a:bodyPr wrap="square"/>
                    <a:lstStyle/>
                    <a:p>
                      <a:r>
                        <a:rPr sz="1650" b="1">
                          <a:solidFill>
                            <a:srgbClr val="6E1120"/>
                          </a:solidFill>
                          <a:latin typeface="Calibri"/>
                        </a:rPr>
                        <a:t>Audit and usage</a:t>
                      </a:r>
                    </a:p>
                  </a:txBody>
                  <a:tcPr marL="82296" marR="64008" marT="32004" marB="32004" anchor="ctr">
                    <a:solidFill>
                      <a:srgbClr val="F7F5F2"/>
                    </a:solidFill>
                  </a:tcPr>
                </a:tc>
                <a:tc>
                  <a:txBody>
                    <a:bodyPr wrap="square"/>
                    <a:lstStyle/>
                    <a:p>
                      <a:r>
                        <a:rPr sz="1650" b="0">
                          <a:solidFill>
                            <a:srgbClr val="1A1A1A"/>
                          </a:solidFill>
                          <a:latin typeface="Calibri"/>
                        </a:rPr>
                        <a:t>audit_log, audit_chain, audit_anchors, tool_usage_events, obs_usage_events</a:t>
                      </a:r>
                    </a:p>
                  </a:txBody>
                  <a:tcPr marL="82296" marR="64008" marT="32004" marB="32004" anchor="ctr">
                    <a:solidFill>
                      <a:srgbClr val="F7F5F2"/>
                    </a:solidFill>
                  </a:tcPr>
                </a:tc>
              </a:tr>
              <a:tr h="374808">
                <a:tc>
                  <a:txBody>
                    <a:bodyPr wrap="square"/>
                    <a:lstStyle/>
                    <a:p>
                      <a:r>
                        <a:rPr sz="1650" b="1">
                          <a:solidFill>
                            <a:srgbClr val="6E1120"/>
                          </a:solidFill>
                          <a:latin typeface="Calibri"/>
                        </a:rPr>
                        <a:t>Prompts</a:t>
                      </a:r>
                    </a:p>
                  </a:txBody>
                  <a:tcPr marL="82296" marR="64008" marT="32004" marB="32004" anchor="ctr">
                    <a:solidFill>
                      <a:srgbClr val="FFFFFF"/>
                    </a:solidFill>
                  </a:tcPr>
                </a:tc>
                <a:tc>
                  <a:txBody>
                    <a:bodyPr wrap="square"/>
                    <a:lstStyle/>
                    <a:p>
                      <a:r>
                        <a:rPr sz="1650" b="0">
                          <a:solidFill>
                            <a:srgbClr val="1A1A1A"/>
                          </a:solidFill>
                          <a:latin typeface="Calibri"/>
                        </a:rPr>
                        <a:t>prompts, prompt_tags</a:t>
                      </a:r>
                    </a:p>
                  </a:txBody>
                  <a:tcPr marL="82296" marR="64008" marT="32004" marB="32004" anchor="ctr">
                    <a:solidFill>
                      <a:srgbClr val="FFFFFF"/>
                    </a:solidFill>
                  </a:tcPr>
                </a:tc>
              </a:tr>
              <a:tr h="374808">
                <a:tc>
                  <a:txBody>
                    <a:bodyPr wrap="square"/>
                    <a:lstStyle/>
                    <a:p>
                      <a:r>
                        <a:rPr sz="1650" b="1">
                          <a:solidFill>
                            <a:srgbClr val="6E1120"/>
                          </a:solidFill>
                          <a:latin typeface="Calibri"/>
                        </a:rPr>
                        <a:t>Intelligence</a:t>
                      </a:r>
                    </a:p>
                  </a:txBody>
                  <a:tcPr marL="82296" marR="64008" marT="32004" marB="32004" anchor="ctr">
                    <a:solidFill>
                      <a:srgbClr val="F7F5F2"/>
                    </a:solidFill>
                  </a:tcPr>
                </a:tc>
                <a:tc>
                  <a:txBody>
                    <a:bodyPr wrap="square"/>
                    <a:lstStyle/>
                    <a:p>
                      <a:r>
                        <a:rPr sz="1650" b="0">
                          <a:solidFill>
                            <a:srgbClr val="1A1A1A"/>
                          </a:solidFill>
                          <a:latin typeface="Calibri"/>
                        </a:rPr>
                        <a:t>llm_providers, llm_models, ai_conversations, ai_conversation_turns</a:t>
                      </a:r>
                    </a:p>
                  </a:txBody>
                  <a:tcPr marL="82296" marR="64008" marT="32004" marB="32004" anchor="ctr">
                    <a:solidFill>
                      <a:srgbClr val="F7F5F2"/>
                    </a:solidFill>
                  </a:tcPr>
                </a:tc>
              </a:tr>
              <a:tr h="639889">
                <a:tc>
                  <a:txBody>
                    <a:bodyPr wrap="square"/>
                    <a:lstStyle/>
                    <a:p>
                      <a:r>
                        <a:rPr sz="1650" b="1">
                          <a:solidFill>
                            <a:srgbClr val="6E1120"/>
                          </a:solidFill>
                          <a:latin typeface="Calibri"/>
                        </a:rPr>
                        <a:t>Composition and workflows</a:t>
                      </a:r>
                    </a:p>
                  </a:txBody>
                  <a:tcPr marL="82296" marR="64008" marT="32004" marB="32004" anchor="ctr">
                    <a:solidFill>
                      <a:srgbClr val="FFFFFF"/>
                    </a:solidFill>
                  </a:tcPr>
                </a:tc>
                <a:tc>
                  <a:txBody>
                    <a:bodyPr wrap="square"/>
                    <a:lstStyle/>
                    <a:p>
                      <a:r>
                        <a:rPr sz="1650" b="0">
                          <a:solidFill>
                            <a:srgbClr val="1A1A1A"/>
                          </a:solidFill>
                          <a:latin typeface="Calibri"/>
                        </a:rPr>
                        <a:t>composite_tools, composite_tool_steps, workflows, workflow_runs, workflow_run_steps</a:t>
                      </a:r>
                    </a:p>
                  </a:txBody>
                  <a:tcPr marL="82296" marR="64008" marT="32004" marB="32004" anchor="ctr">
                    <a:solidFill>
                      <a:srgbClr val="FFFFFF"/>
                    </a:solidFill>
                  </a:tcPr>
                </a:tc>
              </a:tr>
              <a:tr h="639889">
                <a:tc>
                  <a:txBody>
                    <a:bodyPr wrap="square"/>
                    <a:lstStyle/>
                    <a:p>
                      <a:r>
                        <a:rPr sz="1650" b="1">
                          <a:solidFill>
                            <a:srgbClr val="6E1120"/>
                          </a:solidFill>
                          <a:latin typeface="Calibri"/>
                        </a:rPr>
                        <a:t>Protocol and shared state</a:t>
                      </a:r>
                    </a:p>
                  </a:txBody>
                  <a:tcPr marL="82296" marR="64008" marT="32004" marB="32004" anchor="ctr">
                    <a:solidFill>
                      <a:srgbClr val="F7F5F2"/>
                    </a:solidFill>
                  </a:tcPr>
                </a:tc>
                <a:tc>
                  <a:txBody>
                    <a:bodyPr wrap="square"/>
                    <a:lstStyle/>
                    <a:p>
                      <a:r>
                        <a:rPr sz="1650" b="0">
                          <a:solidFill>
                            <a:srgbClr val="1A1A1A"/>
                          </a:solidFill>
                          <a:latin typeface="Calibri"/>
                        </a:rPr>
                        <a:t>a2a_tasks, sajha_state, sajha_state_events</a:t>
                      </a:r>
                    </a:p>
                  </a:txBody>
                  <a:tcPr marL="82296" marR="64008" marT="32004" marB="32004" anchor="ctr">
                    <a:solidFill>
                      <a:srgbClr val="F7F5F2"/>
                    </a:solidFill>
                  </a:tcPr>
                </a:tc>
              </a:tr>
              <a:tr h="374808">
                <a:tc>
                  <a:txBody>
                    <a:bodyPr wrap="square"/>
                    <a:lstStyle/>
                    <a:p>
                      <a:r>
                        <a:rPr sz="1650" b="1">
                          <a:solidFill>
                            <a:srgbClr val="6E1120"/>
                          </a:solidFill>
                          <a:latin typeface="Calibri"/>
                        </a:rPr>
                        <a:t>Accounts and quality</a:t>
                      </a:r>
                    </a:p>
                  </a:txBody>
                  <a:tcPr marL="82296" marR="64008" marT="32004" marB="32004" anchor="ctr">
                    <a:solidFill>
                      <a:srgbClr val="FFFFFF"/>
                    </a:solidFill>
                  </a:tcPr>
                </a:tc>
                <a:tc>
                  <a:txBody>
                    <a:bodyPr wrap="square"/>
                    <a:lstStyle/>
                    <a:p>
                      <a:r>
                        <a:rPr sz="1650" b="0">
                          <a:solidFill>
                            <a:srgbClr val="1A1A1A"/>
                          </a:solidFill>
                          <a:latin typeface="Calibri"/>
                        </a:rPr>
                        <a:t>connected_accounts, quality_runs</a:t>
                      </a:r>
                    </a:p>
                  </a:txBody>
                  <a:tcPr marL="82296" marR="64008" marT="32004" marB="32004" anchor="ctr">
                    <a:solidFill>
                      <a:srgbClr val="FFFFFF"/>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08</a:t>
            </a:r>
          </a:p>
        </p:txBody>
      </p:sp>
      <p:sp>
        <p:nvSpPr>
          <p:cNvPr id="12" name="TextBox 11"/>
          <p:cNvSpPr txBox="1"/>
          <p:nvPr/>
        </p:nvSpPr>
        <p:spPr>
          <a:xfrm>
            <a:off x="1521845" y="2487168"/>
            <a:ext cx="9148005" cy="559816"/>
          </a:xfrm>
          <a:prstGeom prst="rect">
            <a:avLst/>
          </a:prstGeom>
          <a:noFill/>
        </p:spPr>
        <p:txBody>
          <a:bodyPr wrap="square" lIns="0" rIns="0" tIns="0" bIns="0" anchor="t">
            <a:spAutoFit/>
          </a:bodyPr>
          <a:lstStyle/>
          <a:p>
            <a:pPr algn="ctr">
              <a:lnSpc>
                <a:spcPct val="110000"/>
              </a:lnSpc>
              <a:spcBef>
                <a:spcPts val="0"/>
              </a:spcBef>
              <a:spcAft>
                <a:spcPts val="0"/>
              </a:spcAft>
            </a:pPr>
            <a:r>
              <a:rPr sz="3200" b="0" i="0">
                <a:solidFill>
                  <a:srgbClr val="FFFFFF"/>
                </a:solidFill>
                <a:latin typeface="Georgia"/>
              </a:rPr>
              <a:t>Where it's going, and how it compares</a:t>
            </a:r>
          </a:p>
        </p:txBody>
      </p:sp>
      <p:sp>
        <p:nvSpPr>
          <p:cNvPr id="13" name="Rectangle 12"/>
          <p:cNvSpPr/>
          <p:nvPr/>
        </p:nvSpPr>
        <p:spPr>
          <a:xfrm>
            <a:off x="5364327" y="3202432"/>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31032"/>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What is not built yet and what is known to be limited, from SAJHA's own documents; then the comparison, with where others are stronger.</a:t>
            </a:r>
          </a:p>
        </p:txBody>
      </p:sp>
      <p:sp>
        <p:nvSpPr>
          <p:cNvPr id="15" name="TextBox 14"/>
          <p:cNvSpPr txBox="1"/>
          <p:nvPr/>
        </p:nvSpPr>
        <p:spPr>
          <a:xfrm>
            <a:off x="1143000" y="4282440"/>
            <a:ext cx="9905695" cy="1935479"/>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Not built yet   ·   Known limitations   ·   The comparison   ·   Where others are stronger   ·   Where to start</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IT'S GOING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Not built yet, and what is known to be limited</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100</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Later: 17 larger items, among them storage, finished, federation, complete and workflow engine limits. Each row of the Roadmap links to the guide that owns it.</a:t>
            </a:r>
          </a:p>
        </p:txBody>
      </p:sp>
      <p:sp>
        <p:nvSpPr>
          <p:cNvPr id="19" name="Rectangle 18"/>
          <p:cNvSpPr/>
          <p:nvPr/>
        </p:nvSpPr>
        <p:spPr>
          <a:xfrm>
            <a:off x="777240"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Next, from the Roadmap</a:t>
            </a:r>
          </a:p>
        </p:txBody>
      </p:sp>
      <p:sp>
        <p:nvSpPr>
          <p:cNvPr id="22" name="TextBox 21"/>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A1A1A"/>
                </a:solidFill>
                <a:latin typeface="Calibri"/>
              </a:rPr>
              <a:t>X3: Per-user access to prompts and data resources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X7: Ask SAJHA over MCP, finished</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X8: Document connectors as RAG sources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X9: LLM providers: the last synchronous paths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X10: Weaviate and Chroma connectors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X11: Push-based reload</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X12: Protocol gaps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X13: A benchmark suite with published numbers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X14: SLOs and failure tests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X16: A TypeScript client SDK (deferred by decision)</a:t>
            </a:r>
          </a:p>
        </p:txBody>
      </p:sp>
      <p:sp>
        <p:nvSpPr>
          <p:cNvPr id="23" name="Rectangle 22"/>
          <p:cNvSpPr/>
          <p:nvPr/>
        </p:nvSpPr>
        <p:spPr>
          <a:xfrm>
            <a:off x="6278727"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Known limitations (Security Model)</a:t>
            </a:r>
          </a:p>
        </p:txBody>
      </p:sp>
      <p:sp>
        <p:nvSpPr>
          <p:cNvPr id="26" name="TextBox 25"/>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A1A1A"/>
                </a:solidFill>
                <a:latin typeface="Calibri"/>
              </a:rPr>
              <a:t>Prompts have no per-user permissions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Studio template creators run with the server's credentials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Plain storage by default</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The test admin key ships on</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Open admission trusts the first claimant of a name and has no revocation</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Sandbox strength depends on the host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COMPETITIVE ANALYSIS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SAJHA beside 9 alternatives, on vendors' own documentation</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101</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Part = partial (limited, preview, a paid tier); ? = not verifiable from public documentation on 2026-10-08. The full table, with a note and a source for every cell, is at /comparison.</a:t>
            </a:r>
          </a:p>
        </p:txBody>
      </p:sp>
      <p:graphicFrame>
        <p:nvGraphicFramePr>
          <p:cNvPr id="19" name="Table 18"/>
          <p:cNvGraphicFramePr>
            <a:graphicFrameLocks noGrp="1"/>
          </p:cNvGraphicFramePr>
          <p:nvPr/>
        </p:nvGraphicFramePr>
        <p:xfrm>
          <a:off x="777240" y="1354836"/>
          <a:ext cx="10637212" cy="4219282"/>
        </p:xfrm>
        <a:graphic>
          <a:graphicData uri="http://schemas.openxmlformats.org/drawingml/2006/table">
            <a:tbl>
              <a:tblPr firstRow="1">
                <a:tableStyleId>{5C22544A-7EE6-4342-B048-85BDC9FD1C3A}</a:tableStyleId>
              </a:tblPr>
              <a:tblGrid>
                <a:gridCol w="1989072"/>
                <a:gridCol w="864814"/>
                <a:gridCol w="864814"/>
                <a:gridCol w="864814"/>
                <a:gridCol w="864814"/>
                <a:gridCol w="864814"/>
                <a:gridCol w="864814"/>
                <a:gridCol w="864814"/>
                <a:gridCol w="864814"/>
                <a:gridCol w="864814"/>
                <a:gridCol w="864814"/>
              </a:tblGrid>
              <a:tr h="712184">
                <a:tc>
                  <a:txBody>
                    <a:bodyPr wrap="square"/>
                    <a:lstStyle/>
                    <a:p>
                      <a:r>
                        <a:rPr sz="1250" b="1">
                          <a:solidFill>
                            <a:srgbClr val="FFFFFF"/>
                          </a:solidFill>
                          <a:latin typeface="Calibri"/>
                        </a:rPr>
                        <a:t>Product</a:t>
                      </a:r>
                    </a:p>
                  </a:txBody>
                  <a:tcPr marL="82296" marR="64008" marT="32004" marB="32004" anchor="ctr">
                    <a:solidFill>
                      <a:srgbClr val="A51C30"/>
                    </a:solidFill>
                  </a:tcPr>
                </a:tc>
                <a:tc>
                  <a:txBody>
                    <a:bodyPr wrap="square"/>
                    <a:lstStyle/>
                    <a:p>
                      <a:r>
                        <a:rPr sz="1250" b="1">
                          <a:solidFill>
                            <a:srgbClr val="FFFFFF"/>
                          </a:solidFill>
                          <a:latin typeface="Calibri"/>
                        </a:rPr>
                        <a:t>2026 era</a:t>
                      </a:r>
                    </a:p>
                  </a:txBody>
                  <a:tcPr marL="82296" marR="64008" marT="32004" marB="32004" anchor="ctr">
                    <a:solidFill>
                      <a:srgbClr val="A51C30"/>
                    </a:solidFill>
                  </a:tcPr>
                </a:tc>
                <a:tc>
                  <a:txBody>
                    <a:bodyPr wrap="square"/>
                    <a:lstStyle/>
                    <a:p>
                      <a:r>
                        <a:rPr sz="1250" b="1">
                          <a:solidFill>
                            <a:srgbClr val="FFFFFF"/>
                          </a:solidFill>
                          <a:latin typeface="Calibri"/>
                        </a:rPr>
                        <a:t>Suite in CI</a:t>
                      </a:r>
                    </a:p>
                  </a:txBody>
                  <a:tcPr marL="82296" marR="64008" marT="32004" marB="32004" anchor="ctr">
                    <a:solidFill>
                      <a:srgbClr val="A51C30"/>
                    </a:solidFill>
                  </a:tcPr>
                </a:tc>
                <a:tc>
                  <a:txBody>
                    <a:bodyPr wrap="square"/>
                    <a:lstStyle/>
                    <a:p>
                      <a:r>
                        <a:rPr sz="1250" b="1">
                          <a:solidFill>
                            <a:srgbClr val="FFFFFF"/>
                          </a:solidFill>
                          <a:latin typeface="Calibri"/>
                        </a:rPr>
                        <a:t>Own OAuth server</a:t>
                      </a:r>
                    </a:p>
                  </a:txBody>
                  <a:tcPr marL="82296" marR="64008" marT="32004" marB="32004" anchor="ctr">
                    <a:solidFill>
                      <a:srgbClr val="A51C30"/>
                    </a:solidFill>
                  </a:tcPr>
                </a:tc>
                <a:tc>
                  <a:txBody>
                    <a:bodyPr wrap="square"/>
                    <a:lstStyle/>
                    <a:p>
                      <a:r>
                        <a:rPr sz="1250" b="1">
                          <a:solidFill>
                            <a:srgbClr val="FFFFFF"/>
                          </a:solidFill>
                          <a:latin typeface="Calibri"/>
                        </a:rPr>
                        <a:t>Tools in the box</a:t>
                      </a:r>
                    </a:p>
                  </a:txBody>
                  <a:tcPr marL="82296" marR="64008" marT="32004" marB="32004" anchor="ctr">
                    <a:solidFill>
                      <a:srgbClr val="A51C30"/>
                    </a:solidFill>
                  </a:tcPr>
                </a:tc>
                <a:tc>
                  <a:txBody>
                    <a:bodyPr wrap="square"/>
                    <a:lstStyle/>
                    <a:p>
                      <a:r>
                        <a:rPr sz="1250" b="1">
                          <a:solidFill>
                            <a:srgbClr val="FFFFFF"/>
                          </a:solidFill>
                          <a:latin typeface="Calibri"/>
                        </a:rPr>
                        <a:t>No-code tools</a:t>
                      </a:r>
                    </a:p>
                  </a:txBody>
                  <a:tcPr marL="82296" marR="64008" marT="32004" marB="32004" anchor="ctr">
                    <a:solidFill>
                      <a:srgbClr val="A51C30"/>
                    </a:solidFill>
                  </a:tcPr>
                </a:tc>
                <a:tc>
                  <a:txBody>
                    <a:bodyPr wrap="square"/>
                    <a:lstStyle/>
                    <a:p>
                      <a:r>
                        <a:rPr sz="1250" b="1">
                          <a:solidFill>
                            <a:srgbClr val="FFFFFF"/>
                          </a:solidFill>
                          <a:latin typeface="Calibri"/>
                        </a:rPr>
                        <a:t>LLM and chat</a:t>
                      </a:r>
                    </a:p>
                  </a:txBody>
                  <a:tcPr marL="82296" marR="64008" marT="32004" marB="32004" anchor="ctr">
                    <a:solidFill>
                      <a:srgbClr val="A51C30"/>
                    </a:solidFill>
                  </a:tcPr>
                </a:tc>
                <a:tc>
                  <a:txBody>
                    <a:bodyPr wrap="square"/>
                    <a:lstStyle/>
                    <a:p>
                      <a:r>
                        <a:rPr sz="1250" b="1">
                          <a:solidFill>
                            <a:srgbClr val="FFFFFF"/>
                          </a:solidFill>
                          <a:latin typeface="Calibri"/>
                        </a:rPr>
                        <a:t>Isolation</a:t>
                      </a:r>
                    </a:p>
                  </a:txBody>
                  <a:tcPr marL="82296" marR="64008" marT="32004" marB="32004" anchor="ctr">
                    <a:solidFill>
                      <a:srgbClr val="A51C30"/>
                    </a:solidFill>
                  </a:tcPr>
                </a:tc>
                <a:tc>
                  <a:txBody>
                    <a:bodyPr wrap="square"/>
                    <a:lstStyle/>
                    <a:p>
                      <a:r>
                        <a:rPr sz="1250" b="1">
                          <a:solidFill>
                            <a:srgbClr val="FFFFFF"/>
                          </a:solidFill>
                          <a:latin typeface="Calibri"/>
                        </a:rPr>
                        <a:t>SaaS apps</a:t>
                      </a:r>
                    </a:p>
                  </a:txBody>
                  <a:tcPr marL="82296" marR="64008" marT="32004" marB="32004" anchor="ctr">
                    <a:solidFill>
                      <a:srgbClr val="A51C30"/>
                    </a:solidFill>
                  </a:tcPr>
                </a:tc>
                <a:tc>
                  <a:txBody>
                    <a:bodyPr wrap="square"/>
                    <a:lstStyle/>
                    <a:p>
                      <a:r>
                        <a:rPr sz="1250" b="1">
                          <a:solidFill>
                            <a:srgbClr val="FFFFFF"/>
                          </a:solidFill>
                          <a:latin typeface="Calibri"/>
                        </a:rPr>
                        <a:t>Open source</a:t>
                      </a:r>
                    </a:p>
                  </a:txBody>
                  <a:tcPr marL="82296" marR="64008" marT="32004" marB="32004" anchor="ctr">
                    <a:solidFill>
                      <a:srgbClr val="A51C30"/>
                    </a:solidFill>
                  </a:tcPr>
                </a:tc>
                <a:tc>
                  <a:txBody>
                    <a:bodyPr wrap="square"/>
                    <a:lstStyle/>
                    <a:p>
                      <a:r>
                        <a:rPr sz="1250" b="1">
                          <a:solidFill>
                            <a:srgbClr val="FFFFFF"/>
                          </a:solidFill>
                          <a:latin typeface="Calibri"/>
                        </a:rPr>
                        <a:t>Managed</a:t>
                      </a:r>
                    </a:p>
                  </a:txBody>
                  <a:tcPr marL="82296" marR="64008" marT="32004" marB="32004" anchor="ctr">
                    <a:solidFill>
                      <a:srgbClr val="A51C30"/>
                    </a:solidFill>
                  </a:tcPr>
                </a:tc>
              </a:tr>
              <a:tr h="310546">
                <a:tc>
                  <a:txBody>
                    <a:bodyPr wrap="square"/>
                    <a:lstStyle/>
                    <a:p>
                      <a:r>
                        <a:rPr sz="1250" b="1">
                          <a:solidFill>
                            <a:srgbClr val="6E1120"/>
                          </a:solidFill>
                          <a:latin typeface="Calibri"/>
                        </a:rPr>
                        <a:t>SAJHA</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r>
              <a:tr h="310546">
                <a:tc>
                  <a:txBody>
                    <a:bodyPr wrap="square"/>
                    <a:lstStyle/>
                    <a:p>
                      <a:r>
                        <a:rPr sz="1250" b="1">
                          <a:solidFill>
                            <a:srgbClr val="6E1120"/>
                          </a:solidFill>
                          <a:latin typeface="Calibri"/>
                        </a:rPr>
                        <a:t>FastMCP</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310546">
                <a:tc>
                  <a:txBody>
                    <a:bodyPr wrap="square"/>
                    <a:lstStyle/>
                    <a:p>
                      <a:r>
                        <a:rPr sz="1250" b="1">
                          <a:solidFill>
                            <a:srgbClr val="6E1120"/>
                          </a:solidFill>
                          <a:latin typeface="Calibri"/>
                        </a:rPr>
                        <a:t>IBM ContextForge</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r>
              <a:tr h="310546">
                <a:tc>
                  <a:txBody>
                    <a:bodyPr wrap="square"/>
                    <a:lstStyle/>
                    <a:p>
                      <a:r>
                        <a:rPr sz="1250" b="1">
                          <a:solidFill>
                            <a:srgbClr val="6E1120"/>
                          </a:solidFill>
                          <a:latin typeface="Calibri"/>
                        </a:rPr>
                        <a:t>Docker MCP Gateway</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r>
              <a:tr h="511365">
                <a:tc>
                  <a:txBody>
                    <a:bodyPr wrap="square"/>
                    <a:lstStyle/>
                    <a:p>
                      <a:r>
                        <a:rPr sz="1250" b="1">
                          <a:solidFill>
                            <a:srgbClr val="6E1120"/>
                          </a:solidFill>
                          <a:latin typeface="Calibri"/>
                        </a:rPr>
                        <a:t>Microsoft MCP Gateway</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r>
              <a:tr h="310546">
                <a:tc>
                  <a:txBody>
                    <a:bodyPr wrap="square"/>
                    <a:lstStyle/>
                    <a:p>
                      <a:r>
                        <a:rPr sz="1250" b="1">
                          <a:solidFill>
                            <a:srgbClr val="6E1120"/>
                          </a:solidFill>
                          <a:latin typeface="Calibri"/>
                        </a:rPr>
                        <a:t>Kong AI Gateway</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511365">
                <a:tc>
                  <a:txBody>
                    <a:bodyPr wrap="square"/>
                    <a:lstStyle/>
                    <a:p>
                      <a:r>
                        <a:rPr sz="1250" b="1">
                          <a:solidFill>
                            <a:srgbClr val="6E1120"/>
                          </a:solidFill>
                          <a:latin typeface="Calibri"/>
                        </a:rPr>
                        <a:t>Cloudflare remote MCP</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r>
              <a:tr h="310546">
                <a:tc>
                  <a:txBody>
                    <a:bodyPr wrap="square"/>
                    <a:lstStyle/>
                    <a:p>
                      <a:r>
                        <a:rPr sz="1250" b="1">
                          <a:solidFill>
                            <a:srgbClr val="6E1120"/>
                          </a:solidFill>
                          <a:latin typeface="Calibri"/>
                        </a:rPr>
                        <a:t>Composio</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310546">
                <a:tc>
                  <a:txBody>
                    <a:bodyPr wrap="square"/>
                    <a:lstStyle/>
                    <a:p>
                      <a:r>
                        <a:rPr sz="1250" b="1">
                          <a:solidFill>
                            <a:srgbClr val="6E1120"/>
                          </a:solidFill>
                          <a:latin typeface="Calibri"/>
                        </a:rPr>
                        <a:t>Zapier MCP</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r>
              <a:tr h="310546">
                <a:tc>
                  <a:txBody>
                    <a:bodyPr wrap="square"/>
                    <a:lstStyle/>
                    <a:p>
                      <a:r>
                        <a:rPr sz="1250" b="1">
                          <a:solidFill>
                            <a:srgbClr val="6E1120"/>
                          </a:solidFill>
                          <a:latin typeface="Calibri"/>
                        </a:rPr>
                        <a:t>Smithery</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OTHERS ARE STRONGER</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Gateways, containers, SaaS breadth and a hosted service: others do these better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102</a:t>
            </a:r>
          </a:p>
        </p:txBody>
      </p:sp>
      <p:sp>
        <p:nvSpPr>
          <p:cNvPr id="17" name="Rectangle 16"/>
          <p:cNvSpPr/>
          <p:nvPr/>
        </p:nvSpPr>
        <p:spPr>
          <a:xfrm>
            <a:off x="777240" y="161188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6118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7764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SCALE OF FEDERATION</a:t>
            </a:r>
          </a:p>
        </p:txBody>
      </p:sp>
      <p:sp>
        <p:nvSpPr>
          <p:cNvPr id="20" name="TextBox 19"/>
          <p:cNvSpPr txBox="1"/>
          <p:nvPr/>
        </p:nvSpPr>
        <p:spPr>
          <a:xfrm>
            <a:off x="960120" y="20325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A1A1A"/>
                </a:solidFill>
                <a:latin typeface="Georgia"/>
              </a:rPr>
              <a:t>Gateways: IBM ContextForge, Docker MCP Gateway, Microsoft MCP Gateway and Kong AI Gateway</a:t>
            </a:r>
          </a:p>
        </p:txBody>
      </p:sp>
      <p:sp>
        <p:nvSpPr>
          <p:cNvPr id="21" name="TextBox 20"/>
          <p:cNvSpPr txBox="1"/>
          <p:nvPr/>
        </p:nvSpPr>
        <p:spPr>
          <a:xfrm>
            <a:off x="960120" y="2557716"/>
            <a:ext cx="4870551" cy="116058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Built to put many MCP servers behind one endpoint at scale. SAJHA federates too, off by default.</a:t>
            </a:r>
          </a:p>
        </p:txBody>
      </p:sp>
      <p:sp>
        <p:nvSpPr>
          <p:cNvPr id="22" name="Rectangle 21"/>
          <p:cNvSpPr/>
          <p:nvPr/>
        </p:nvSpPr>
        <p:spPr>
          <a:xfrm>
            <a:off x="6178143" y="161188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8143" y="16118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1023" y="17764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ISOLATION</a:t>
            </a:r>
          </a:p>
        </p:txBody>
      </p:sp>
      <p:sp>
        <p:nvSpPr>
          <p:cNvPr id="25" name="TextBox 24"/>
          <p:cNvSpPr txBox="1"/>
          <p:nvPr/>
        </p:nvSpPr>
        <p:spPr>
          <a:xfrm>
            <a:off x="6361023" y="20325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A1A1A"/>
                </a:solidFill>
                <a:latin typeface="Georgia"/>
              </a:rPr>
              <a:t>Containers per server: Docker MCP Gateway, Microsoft MCP Gateway and Cloudflare remote MCP</a:t>
            </a:r>
          </a:p>
        </p:txBody>
      </p:sp>
      <p:sp>
        <p:nvSpPr>
          <p:cNvPr id="26" name="TextBox 25"/>
          <p:cNvSpPr txBox="1"/>
          <p:nvPr/>
        </p:nvSpPr>
        <p:spPr>
          <a:xfrm>
            <a:off x="6361023" y="2557716"/>
            <a:ext cx="4870551" cy="116058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They run each server in its own container; SAJHA sandboxes only user code and the shell.</a:t>
            </a:r>
          </a:p>
        </p:txBody>
      </p:sp>
      <p:sp>
        <p:nvSpPr>
          <p:cNvPr id="27" name="Rectangle 26"/>
          <p:cNvSpPr/>
          <p:nvPr/>
        </p:nvSpPr>
        <p:spPr>
          <a:xfrm>
            <a:off x="777240" y="401091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1091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4175505"/>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SAAS BREADTH</a:t>
            </a:r>
          </a:p>
        </p:txBody>
      </p:sp>
      <p:sp>
        <p:nvSpPr>
          <p:cNvPr id="30" name="TextBox 29"/>
          <p:cNvSpPr txBox="1"/>
          <p:nvPr/>
        </p:nvSpPr>
        <p:spPr>
          <a:xfrm>
            <a:off x="960120" y="443153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Hosted catalogs: Composio, Zapier MCP and Smithery</a:t>
            </a:r>
          </a:p>
        </p:txBody>
      </p:sp>
      <p:sp>
        <p:nvSpPr>
          <p:cNvPr id="31" name="TextBox 30"/>
          <p:cNvSpPr txBox="1"/>
          <p:nvPr/>
        </p:nvSpPr>
        <p:spPr>
          <a:xfrm>
            <a:off x="960120" y="5133467"/>
            <a:ext cx="4870551" cy="98386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Thousands of SaaS apps with per-user sign-in, run for you. SAJHA links a handful of services.</a:t>
            </a:r>
          </a:p>
        </p:txBody>
      </p:sp>
      <p:sp>
        <p:nvSpPr>
          <p:cNvPr id="32" name="Rectangle 31"/>
          <p:cNvSpPr/>
          <p:nvPr/>
        </p:nvSpPr>
        <p:spPr>
          <a:xfrm>
            <a:off x="6178143" y="401091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8143" y="401091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61023" y="4175505"/>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LICENCE AND HOSTING</a:t>
            </a:r>
          </a:p>
        </p:txBody>
      </p:sp>
      <p:sp>
        <p:nvSpPr>
          <p:cNvPr id="35" name="TextBox 34"/>
          <p:cNvSpPr txBox="1"/>
          <p:nvPr/>
        </p:nvSpPr>
        <p:spPr>
          <a:xfrm>
            <a:off x="6361023" y="443153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Open source, or run for you</a:t>
            </a:r>
          </a:p>
        </p:txBody>
      </p:sp>
      <p:sp>
        <p:nvSpPr>
          <p:cNvPr id="36" name="TextBox 35"/>
          <p:cNvSpPr txBox="1"/>
          <p:nvPr/>
        </p:nvSpPr>
        <p:spPr>
          <a:xfrm>
            <a:off x="6361023" y="4828222"/>
            <a:ext cx="4870551" cy="1289113"/>
          </a:xfrm>
          <a:prstGeom prst="rect">
            <a:avLst/>
          </a:prstGeom>
          <a:noFill/>
        </p:spPr>
        <p:txBody>
          <a:bodyPr wrap="square" lIns="0" rIns="0" tIns="0" bIns="0" anchor="t">
            <a:spAutoFit/>
          </a:bodyPr>
          <a:lstStyle/>
          <a:p>
            <a:pPr algn="l">
              <a:lnSpc>
                <a:spcPct val="120000"/>
              </a:lnSpc>
              <a:spcBef>
                <a:spcPts val="0"/>
              </a:spcBef>
              <a:spcAft>
                <a:spcPts val="0"/>
              </a:spcAft>
            </a:pPr>
            <a:r>
              <a:rPr sz="1500" b="0" i="0">
                <a:solidFill>
                  <a:srgbClr val="6B7480"/>
                </a:solidFill>
                <a:latin typeface="Calibri"/>
              </a:rPr>
              <a:t>Open source: FastMCP, IBM ContextForge and Microsoft MCP Gateway. Managed: FastMCP, Kong AI Gateway, Cloudflare remote MCP, Composio, Zapier MCP and Smithery. SAJHA is proprietary and self-hosted, by decision.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TO START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Where to start, by who you are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Every guide named here is in docs/ and is also served inside the app under Help.</a:t>
            </a:r>
          </a:p>
        </p:txBody>
      </p:sp>
      <p:graphicFrame>
        <p:nvGraphicFramePr>
          <p:cNvPr id="19" name="Table 18"/>
          <p:cNvGraphicFramePr>
            <a:graphicFrameLocks noGrp="1"/>
          </p:cNvGraphicFramePr>
          <p:nvPr/>
        </p:nvGraphicFramePr>
        <p:xfrm>
          <a:off x="777240" y="1386967"/>
          <a:ext cx="10637213" cy="3924963"/>
        </p:xfrm>
        <a:graphic>
          <a:graphicData uri="http://schemas.openxmlformats.org/drawingml/2006/table">
            <a:tbl>
              <a:tblPr firstRow="1">
                <a:tableStyleId>{5C22544A-7EE6-4342-B048-85BDC9FD1C3A}</a:tableStyleId>
              </a:tblPr>
              <a:tblGrid>
                <a:gridCol w="2299938"/>
                <a:gridCol w="4599876"/>
                <a:gridCol w="3737399"/>
              </a:tblGrid>
              <a:tr h="350710">
                <a:tc>
                  <a:txBody>
                    <a:bodyPr wrap="square"/>
                    <a:lstStyle/>
                    <a:p>
                      <a:r>
                        <a:rPr sz="1500" b="1">
                          <a:solidFill>
                            <a:srgbClr val="FFFFFF"/>
                          </a:solidFill>
                          <a:latin typeface="Calibri"/>
                        </a:rPr>
                        <a:t>You are</a:t>
                      </a:r>
                    </a:p>
                  </a:txBody>
                  <a:tcPr marL="82296" marR="64008" marT="32004" marB="32004" anchor="ctr">
                    <a:solidFill>
                      <a:srgbClr val="A51C30"/>
                    </a:solidFill>
                  </a:tcPr>
                </a:tc>
                <a:tc>
                  <a:txBody>
                    <a:bodyPr wrap="square"/>
                    <a:lstStyle/>
                    <a:p>
                      <a:r>
                        <a:rPr sz="1500" b="1">
                          <a:solidFill>
                            <a:srgbClr val="FFFFFF"/>
                          </a:solidFill>
                          <a:latin typeface="Calibri"/>
                        </a:rPr>
                        <a:t>Do this first</a:t>
                      </a:r>
                    </a:p>
                  </a:txBody>
                  <a:tcPr marL="82296" marR="64008" marT="32004" marB="32004" anchor="ctr">
                    <a:solidFill>
                      <a:srgbClr val="A51C30"/>
                    </a:solidFill>
                  </a:tcPr>
                </a:tc>
                <a:tc>
                  <a:txBody>
                    <a:bodyPr wrap="square"/>
                    <a:lstStyle/>
                    <a:p>
                      <a:r>
                        <a:rPr sz="1500" b="1">
                          <a:solidFill>
                            <a:srgbClr val="FFFFFF"/>
                          </a:solidFill>
                          <a:latin typeface="Calibri"/>
                        </a:rPr>
                        <a:t>Then read</a:t>
                      </a:r>
                    </a:p>
                  </a:txBody>
                  <a:tcPr marL="82296" marR="64008" marT="32004" marB="32004" anchor="ctr">
                    <a:solidFill>
                      <a:srgbClr val="A51C30"/>
                    </a:solidFill>
                  </a:tcPr>
                </a:tc>
              </a:tr>
              <a:tr h="639889">
                <a:tc>
                  <a:txBody>
                    <a:bodyPr wrap="square"/>
                    <a:lstStyle/>
                    <a:p>
                      <a:r>
                        <a:rPr sz="1650" b="1">
                          <a:solidFill>
                            <a:srgbClr val="6E1120"/>
                          </a:solidFill>
                          <a:latin typeface="Calibri"/>
                        </a:rPr>
                        <a:t>Trying it</a:t>
                      </a:r>
                    </a:p>
                  </a:txBody>
                  <a:tcPr marL="82296" marR="64008" marT="32004" marB="32004" anchor="ctr">
                    <a:solidFill>
                      <a:srgbClr val="FFFFFF"/>
                    </a:solidFill>
                  </a:tcPr>
                </a:tc>
                <a:tc>
                  <a:txBody>
                    <a:bodyPr wrap="square"/>
                    <a:lstStyle/>
                    <a:p>
                      <a:r>
                        <a:rPr sz="1650" b="0">
                          <a:solidFill>
                            <a:srgbClr val="1A1A1A"/>
                          </a:solidFill>
                          <a:latin typeface="Calibri"/>
                        </a:rPr>
                        <a:t>pip install -r requirements.txt; python run_sajha_web.py; open localhost:3002</a:t>
                      </a:r>
                    </a:p>
                  </a:txBody>
                  <a:tcPr marL="82296" marR="64008" marT="32004" marB="32004" anchor="ctr">
                    <a:solidFill>
                      <a:srgbClr val="FFFFFF"/>
                    </a:solidFill>
                  </a:tcPr>
                </a:tc>
                <a:tc>
                  <a:txBody>
                    <a:bodyPr wrap="square"/>
                    <a:lstStyle/>
                    <a:p>
                      <a:r>
                        <a:rPr sz="1650" b="0">
                          <a:solidFill>
                            <a:srgbClr val="1A1A1A"/>
                          </a:solidFill>
                          <a:latin typeface="Calibri"/>
                        </a:rPr>
                        <a:t>Quick Start; the tutorials</a:t>
                      </a:r>
                    </a:p>
                  </a:txBody>
                  <a:tcPr marL="82296" marR="64008" marT="32004" marB="32004" anchor="ctr">
                    <a:solidFill>
                      <a:srgbClr val="FFFFFF"/>
                    </a:solidFill>
                  </a:tcPr>
                </a:tc>
              </a:tr>
              <a:tr h="639889">
                <a:tc>
                  <a:txBody>
                    <a:bodyPr wrap="square"/>
                    <a:lstStyle/>
                    <a:p>
                      <a:r>
                        <a:rPr sz="1650" b="1">
                          <a:solidFill>
                            <a:srgbClr val="6E1120"/>
                          </a:solidFill>
                          <a:latin typeface="Calibri"/>
                        </a:rPr>
                        <a:t>Connecting a client</a:t>
                      </a:r>
                    </a:p>
                  </a:txBody>
                  <a:tcPr marL="82296" marR="64008" marT="32004" marB="32004" anchor="ctr">
                    <a:solidFill>
                      <a:srgbClr val="F7F5F2"/>
                    </a:solidFill>
                  </a:tcPr>
                </a:tc>
                <a:tc>
                  <a:txBody>
                    <a:bodyPr wrap="square"/>
                    <a:lstStyle/>
                    <a:p>
                      <a:r>
                        <a:rPr sz="1650" b="0">
                          <a:solidFill>
                            <a:srgbClr val="1A1A1A"/>
                          </a:solidFill>
                          <a:latin typeface="Calibri"/>
                        </a:rPr>
                        <a:t>Point it at /mcp, or run sajha serve --stdio</a:t>
                      </a:r>
                    </a:p>
                  </a:txBody>
                  <a:tcPr marL="82296" marR="64008" marT="32004" marB="32004" anchor="ctr">
                    <a:solidFill>
                      <a:srgbClr val="F7F5F2"/>
                    </a:solidFill>
                  </a:tcPr>
                </a:tc>
                <a:tc>
                  <a:txBody>
                    <a:bodyPr wrap="square"/>
                    <a:lstStyle/>
                    <a:p>
                      <a:r>
                        <a:rPr sz="1650" b="0">
                          <a:solidFill>
                            <a:srgbClr val="1A1A1A"/>
                          </a:solidFill>
                          <a:latin typeface="Calibri"/>
                        </a:rPr>
                        <a:t>MCP Protocol Guide; Command Line</a:t>
                      </a:r>
                    </a:p>
                  </a:txBody>
                  <a:tcPr marL="82296" marR="64008" marT="32004" marB="32004" anchor="ctr">
                    <a:solidFill>
                      <a:srgbClr val="F7F5F2"/>
                    </a:solidFill>
                  </a:tcPr>
                </a:tc>
              </a:tr>
              <a:tr h="639889">
                <a:tc>
                  <a:txBody>
                    <a:bodyPr wrap="square"/>
                    <a:lstStyle/>
                    <a:p>
                      <a:r>
                        <a:rPr sz="1650" b="1">
                          <a:solidFill>
                            <a:srgbClr val="6E1120"/>
                          </a:solidFill>
                          <a:latin typeface="Calibri"/>
                        </a:rPr>
                        <a:t>Reviewing security</a:t>
                      </a:r>
                    </a:p>
                  </a:txBody>
                  <a:tcPr marL="82296" marR="64008" marT="32004" marB="32004" anchor="ctr">
                    <a:solidFill>
                      <a:srgbClr val="FFFFFF"/>
                    </a:solidFill>
                  </a:tcPr>
                </a:tc>
                <a:tc>
                  <a:txBody>
                    <a:bodyPr wrap="square"/>
                    <a:lstStyle/>
                    <a:p>
                      <a:r>
                        <a:rPr sz="1650" b="0">
                          <a:solidFill>
                            <a:srgbClr val="1A1A1A"/>
                          </a:solidFill>
                          <a:latin typeface="Calibri"/>
                        </a:rPr>
                        <a:t>Read the access policy; try a rule on the Policies test bench</a:t>
                      </a:r>
                    </a:p>
                  </a:txBody>
                  <a:tcPr marL="82296" marR="64008" marT="32004" marB="32004" anchor="ctr">
                    <a:solidFill>
                      <a:srgbClr val="FFFFFF"/>
                    </a:solidFill>
                  </a:tcPr>
                </a:tc>
                <a:tc>
                  <a:txBody>
                    <a:bodyPr wrap="square"/>
                    <a:lstStyle/>
                    <a:p>
                      <a:r>
                        <a:rPr sz="1650" b="0">
                          <a:solidFill>
                            <a:srgbClr val="1A1A1A"/>
                          </a:solidFill>
                          <a:latin typeface="Calibri"/>
                        </a:rPr>
                        <a:t>Security Model; Policy and Audit; OAuth Guide</a:t>
                      </a:r>
                    </a:p>
                  </a:txBody>
                  <a:tcPr marL="82296" marR="64008" marT="32004" marB="32004" anchor="ctr">
                    <a:solidFill>
                      <a:srgbClr val="FFFFFF"/>
                    </a:solidFill>
                  </a:tcPr>
                </a:tc>
              </a:tr>
              <a:tr h="639889">
                <a:tc>
                  <a:txBody>
                    <a:bodyPr wrap="square"/>
                    <a:lstStyle/>
                    <a:p>
                      <a:r>
                        <a:rPr sz="1650" b="1">
                          <a:solidFill>
                            <a:srgbClr val="6E1120"/>
                          </a:solidFill>
                          <a:latin typeface="Calibri"/>
                        </a:rPr>
                        <a:t>Adding tools</a:t>
                      </a:r>
                    </a:p>
                  </a:txBody>
                  <a:tcPr marL="82296" marR="64008" marT="32004" marB="32004" anchor="ctr">
                    <a:solidFill>
                      <a:srgbClr val="F7F5F2"/>
                    </a:solidFill>
                  </a:tcPr>
                </a:tc>
                <a:tc>
                  <a:txBody>
                    <a:bodyPr wrap="square"/>
                    <a:lstStyle/>
                    <a:p>
                      <a:r>
                        <a:rPr sz="1650" b="0">
                          <a:solidFill>
                            <a:srgbClr val="1A1A1A"/>
                          </a:solidFill>
                          <a:latin typeface="Calibri"/>
                        </a:rPr>
                        <a:t>Describe one, import an API, or connect a database</a:t>
                      </a:r>
                    </a:p>
                  </a:txBody>
                  <a:tcPr marL="82296" marR="64008" marT="32004" marB="32004" anchor="ctr">
                    <a:solidFill>
                      <a:srgbClr val="F7F5F2"/>
                    </a:solidFill>
                  </a:tcPr>
                </a:tc>
                <a:tc>
                  <a:txBody>
                    <a:bodyPr wrap="square"/>
                    <a:lstStyle/>
                    <a:p>
                      <a:r>
                        <a:rPr sz="1650" b="0">
                          <a:solidFill>
                            <a:srgbClr val="1A1A1A"/>
                          </a:solidFill>
                          <a:latin typeface="Calibri"/>
                        </a:rPr>
                        <a:t>MCP Studio User Guide</a:t>
                      </a:r>
                    </a:p>
                  </a:txBody>
                  <a:tcPr marL="82296" marR="64008" marT="32004" marB="32004" anchor="ctr">
                    <a:solidFill>
                      <a:srgbClr val="F7F5F2"/>
                    </a:solidFill>
                  </a:tcPr>
                </a:tc>
              </a:tr>
              <a:tr h="639889">
                <a:tc>
                  <a:txBody>
                    <a:bodyPr wrap="square"/>
                    <a:lstStyle/>
                    <a:p>
                      <a:r>
                        <a:rPr sz="1650" b="1">
                          <a:solidFill>
                            <a:srgbClr val="6E1120"/>
                          </a:solidFill>
                          <a:latin typeface="Calibri"/>
                        </a:rPr>
                        <a:t>Running it</a:t>
                      </a:r>
                    </a:p>
                  </a:txBody>
                  <a:tcPr marL="82296" marR="64008" marT="32004" marB="32004" anchor="ctr">
                    <a:solidFill>
                      <a:srgbClr val="FFFFFF"/>
                    </a:solidFill>
                  </a:tcPr>
                </a:tc>
                <a:tc>
                  <a:txBody>
                    <a:bodyPr wrap="square"/>
                    <a:lstStyle/>
                    <a:p>
                      <a:r>
                        <a:rPr sz="1650" b="0">
                          <a:solidFill>
                            <a:srgbClr val="1A1A1A"/>
                          </a:solidFill>
                          <a:latin typeface="Calibri"/>
                        </a:rPr>
                        <a:t>Install the Helm chart with a redis or database state backend</a:t>
                      </a:r>
                    </a:p>
                  </a:txBody>
                  <a:tcPr marL="82296" marR="64008" marT="32004" marB="32004" anchor="ctr">
                    <a:solidFill>
                      <a:srgbClr val="FFFFFF"/>
                    </a:solidFill>
                  </a:tcPr>
                </a:tc>
                <a:tc>
                  <a:txBody>
                    <a:bodyPr wrap="square"/>
                    <a:lstStyle/>
                    <a:p>
                      <a:r>
                        <a:rPr sz="1650" b="0">
                          <a:solidFill>
                            <a:srgbClr val="1A1A1A"/>
                          </a:solidFill>
                          <a:latin typeface="Calibri"/>
                        </a:rPr>
                        <a:t>Kubernetes Deployment; Scaling and State</a:t>
                      </a:r>
                    </a:p>
                  </a:txBody>
                  <a:tcPr marL="82296" marR="64008" marT="32004" marB="32004" anchor="ctr">
                    <a:solidFill>
                      <a:srgbClr val="FFFFFF"/>
                    </a:solidFill>
                  </a:tcPr>
                </a:tc>
              </a:tr>
              <a:tr h="374808">
                <a:tc>
                  <a:txBody>
                    <a:bodyPr wrap="square"/>
                    <a:lstStyle/>
                    <a:p>
                      <a:r>
                        <a:rPr sz="1650" b="1">
                          <a:solidFill>
                            <a:srgbClr val="6E1120"/>
                          </a:solidFill>
                          <a:latin typeface="Calibri"/>
                        </a:rPr>
                        <a:t>Choosing</a:t>
                      </a:r>
                    </a:p>
                  </a:txBody>
                  <a:tcPr marL="82296" marR="64008" marT="32004" marB="32004" anchor="ctr">
                    <a:solidFill>
                      <a:srgbClr val="F7F5F2"/>
                    </a:solidFill>
                  </a:tcPr>
                </a:tc>
                <a:tc>
                  <a:txBody>
                    <a:bodyPr wrap="square"/>
                    <a:lstStyle/>
                    <a:p>
                      <a:r>
                        <a:rPr sz="1650" b="0">
                          <a:solidFill>
                            <a:srgbClr val="1A1A1A"/>
                          </a:solidFill>
                          <a:latin typeface="Calibri"/>
                        </a:rPr>
                        <a:t>Open /comparison and read the sources</a:t>
                      </a:r>
                    </a:p>
                  </a:txBody>
                  <a:tcPr marL="82296" marR="64008" marT="32004" marB="32004" anchor="ctr">
                    <a:solidFill>
                      <a:srgbClr val="F7F5F2"/>
                    </a:solidFill>
                  </a:tcPr>
                </a:tc>
                <a:tc>
                  <a:txBody>
                    <a:bodyPr wrap="square"/>
                    <a:lstStyle/>
                    <a:p>
                      <a:r>
                        <a:rPr sz="1650" b="0">
                          <a:solidFill>
                            <a:srgbClr val="1A1A1A"/>
                          </a:solidFill>
                          <a:latin typeface="Calibri"/>
                        </a:rPr>
                        <a:t>How SAJHA Fits Together</a:t>
                      </a:r>
                    </a:p>
                  </a:txBody>
                  <a:tcPr marL="82296" marR="64008" marT="32004" marB="32004" anchor="ctr">
                    <a:solidFill>
                      <a:srgbClr val="F7F5F2"/>
                    </a:solidFill>
                  </a:tcPr>
                </a:tc>
              </a:tr>
            </a:tbl>
          </a:graphicData>
        </a:graphic>
      </p:graphicFrame>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5829147" y="1127760"/>
            <a:ext cx="266700" cy="26670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5847" y="1127760"/>
            <a:ext cx="266700" cy="26670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943447" y="1508760"/>
            <a:ext cx="304800" cy="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5981547" y="8991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714847" y="13944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248247" y="13944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057400"/>
            <a:ext cx="10637215" cy="914400"/>
          </a:xfrm>
          <a:prstGeom prst="rect">
            <a:avLst/>
          </a:prstGeom>
          <a:noFill/>
        </p:spPr>
        <p:txBody>
          <a:bodyPr wrap="square" lIns="0" rIns="0" tIns="0" bIns="0" anchor="t">
            <a:spAutoFit/>
          </a:bodyPr>
          <a:lstStyle/>
          <a:p>
            <a:pPr algn="ctr">
              <a:lnSpc>
                <a:spcPct val="120000"/>
              </a:lnSpc>
              <a:spcBef>
                <a:spcPts val="0"/>
              </a:spcBef>
              <a:spcAft>
                <a:spcPts val="0"/>
              </a:spcAft>
            </a:pPr>
            <a:r>
              <a:rPr sz="4800" b="0" i="0">
                <a:solidFill>
                  <a:srgbClr val="FFFFFF"/>
                </a:solidFill>
                <a:latin typeface="Georgia"/>
              </a:rPr>
              <a:t>Thank you</a:t>
            </a:r>
          </a:p>
        </p:txBody>
      </p:sp>
      <p:sp>
        <p:nvSpPr>
          <p:cNvPr id="11" name="Rectangle 10"/>
          <p:cNvSpPr/>
          <p:nvPr/>
        </p:nvSpPr>
        <p:spPr>
          <a:xfrm>
            <a:off x="5364327" y="3154680"/>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383280"/>
            <a:ext cx="10637215" cy="2194560"/>
          </a:xfrm>
          <a:prstGeom prst="rect">
            <a:avLst/>
          </a:prstGeom>
          <a:noFill/>
        </p:spPr>
        <p:txBody>
          <a:bodyPr wrap="square" lIns="0" rIns="0" tIns="0" bIns="0" anchor="t">
            <a:spAutoFit/>
          </a:bodyPr>
          <a:lstStyle/>
          <a:p>
            <a:pPr algn="ctr">
              <a:lnSpc>
                <a:spcPct val="120000"/>
              </a:lnSpc>
              <a:spcBef>
                <a:spcPts val="0"/>
              </a:spcBef>
              <a:spcAft>
                <a:spcPts val="600"/>
              </a:spcAft>
            </a:pPr>
            <a:r>
              <a:rPr sz="2000" b="1" i="0">
                <a:solidFill>
                  <a:srgbClr val="FFFFFF"/>
                </a:solidFill>
                <a:latin typeface="Calibri"/>
              </a:rPr>
              <a:t>SAJHA MCP Server 8.0.0</a:t>
            </a:r>
          </a:p>
          <a:p>
            <a:pPr algn="ctr">
              <a:lnSpc>
                <a:spcPct val="120000"/>
              </a:lnSpc>
              <a:spcBef>
                <a:spcPts val="0"/>
              </a:spcBef>
              <a:spcAft>
                <a:spcPts val="600"/>
              </a:spcAft>
            </a:pPr>
            <a:r>
              <a:rPr sz="1600" b="0" i="0">
                <a:solidFill>
                  <a:srgbClr val="FBEEF0"/>
                </a:solidFill>
                <a:latin typeface="Calibri"/>
              </a:rPr>
              <a:t>Ashutosh Sinha</a:t>
            </a:r>
          </a:p>
          <a:p>
            <a:pPr algn="ctr">
              <a:lnSpc>
                <a:spcPct val="120000"/>
              </a:lnSpc>
              <a:spcBef>
                <a:spcPts val="0"/>
              </a:spcBef>
              <a:spcAft>
                <a:spcPts val="600"/>
              </a:spcAft>
            </a:pPr>
            <a:r>
              <a:rPr sz="1400" b="0" i="0">
                <a:solidFill>
                  <a:srgbClr val="F3C6CF"/>
                </a:solidFill>
                <a:latin typeface="Calibri"/>
              </a:rPr>
              <a:t>ajsinha@gmail.com</a:t>
            </a:r>
          </a:p>
          <a:p>
            <a:pPr algn="ctr">
              <a:lnSpc>
                <a:spcPct val="120000"/>
              </a:lnSpc>
              <a:spcBef>
                <a:spcPts val="0"/>
              </a:spcBef>
              <a:spcAft>
                <a:spcPts val="600"/>
              </a:spcAft>
            </a:pPr>
            <a:r>
              <a:rPr sz="1100" b="0" i="0">
                <a:solidFill>
                  <a:srgbClr val="F3C6CF"/>
                </a:solidFill>
                <a:latin typeface="Calibri"/>
              </a:rPr>
              <a:t>Proprietary. © 2025-2030 Ashutosh Sinha. All rights reserved. No licence is granted.</a:t>
            </a:r>
          </a:p>
          <a:p>
            <a:pPr algn="ctr">
              <a:lnSpc>
                <a:spcPct val="120000"/>
              </a:lnSpc>
              <a:spcBef>
                <a:spcPts val="0"/>
              </a:spcBef>
              <a:spcAft>
                <a:spcPts val="600"/>
              </a:spcAft>
            </a:pPr>
            <a:r>
              <a:rPr sz="1100" b="0" i="0">
                <a:solidFill>
                  <a:srgbClr val="F3C6CF"/>
                </a:solidFill>
                <a:latin typeface="Calibri"/>
              </a:rPr>
              <a:t>Licensing and enquiries: ajsinha@gmail.com</a:t>
            </a:r>
          </a:p>
        </p:txBody>
      </p:sp>
      <p:sp>
        <p:nvSpPr>
          <p:cNvPr id="13" name="Rectangle 12"/>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5" name="TextBox 14"/>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SAJHA MCP Server — One Protocol, Infinite Possibilities</dc:title>
  <dc:subject>The Model Context Protocol from first principles, and SAJHA: one governed catalog of tools for every agent</dc:subject>
  <dc:creator>Ashutosh Sinha</dc:creator>
  <cp:keywords>SAJHA; MCP; Model Context Protocol; tools; governance</cp:keywords>
  <dc:description>Copyright All rights Reserved 2025-2030, Ashutosh Sinha.</dc:description>
  <cp:lastModifiedBy>Ashutosh Sinha</cp:lastModifiedBy>
  <cp:revision>1</cp:revision>
  <dcterms:created xsi:type="dcterms:W3CDTF">2026-10-06T12:00:00Z</dcterms:created>
  <dcterms:modified xsi:type="dcterms:W3CDTF">2026-10-06T12:00:00Z</dcterms:modified>
  <cp:category/>
</cp:coreProperties>
</file>