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MCP governance: https://www.anthropic.com/news/donating-the-model-context-protocol-and-establishing-of-the-agentic-ai-foundation (9 Dec 2025, read 2026-10-06). Tool count: the live registry; eras: sajha.core.mcp_modern; creators: the Studio routes; conformance: docs/protocol/MCP 2026-07-28 Compliance.md §5; all read at build time. Where it is going: the first open items of docs/architecture/Roadmap.md, parsed at build time. Licence: SAJHA is proprietary (docs/architecture/Roadmap.md §6, 'No open-source licence'; the LICENSE file).</a:t>
            </a:r>
          </a:p>
          <a:p/>
          <a:p>
            <a:r>
              <a:t>Speaker notes: Five questions anyone new will ask, answered in one line each. MCP is an open standard for connecting AI applications to tools and data. SAJHA is a proprietary, self-hosted MCP server with a large built-in catalog and governance on every call. It matters because it replaces one-off integration code with one governed catalog. The figures on this slide are read from the code and the compliance report when the deck is built, and the rest of the deck backs each answer.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Introduction: https://www.anthropic.com/news/model-context-protocol (25 Nov 2024). Foundation, adopters and the server count: https://www.anthropic.com/news/donating-the-model-context-protocol-and-establishing-of-the-agentic-ai-foundation (9 Dec 2025, read 2026-10-06). Linear versus quadratic integration effort: https://www.bcg.com/publications/2025/put-ai-to-work-faster-using-model-context-protocol (1 Aug 2025, read 2026-10-06). Eras: sajha.core.mcp_modern MODERN_PROTOCOL_VERSIONS and HANDSHAKE_PROTOCOL_VERSIONS, read at build time. Application and tool names in the drawing are generic.</a:t>
            </a:r>
          </a:p>
          <a:p/>
          <a:p>
            <a:r>
              <a:t>Speaker notes: Think of MCP as one plug for every tool: write the server once, and every MCP-capable application can use it. Without a shared protocol every application needs its own integration with every tool, so the work grows with the product of the two; with one, each side implements the protocol once and the work grows with the sum. Anthropic introduced MCP in November 2024. In December 2025 it donated MCP to the Agentic AI Foundation, a directed fund under the Linux Foundation co-founded by Anthropic, Block and OpenAI; the announcement names ChatGPT, Cursor, Gemini, Microsoft Copilot and Visual Studio Code among the products using it, and more than 10,000 active public MCP servers.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Principles 1, 2, 4: https://www.anthropic.com/news/donating-the-model-context-protocol-and-establishing-of-the-agentic-ai-foundation (9 Dec 2025, read 2026-10-06); https://www.bcg.com/publications/2025/put-ai-to-work-faster-using-model-context-protocol (1 Aug 2025, read 2026-10-06). Principle 6: the MCP authorization specification (https://modelcontextprotocol.io/specification (server features: tools, resources, prompts; transports)). Principles 3, 5, 7–10 follow from the protocol's design; principle 10 is what MCP Studio does in SAJHA (Section 3).</a:t>
            </a:r>
          </a:p>
          <a:p/>
          <a:p>
            <a:r>
              <a:t>Speaker notes: These are the reasons to adopt MCP at all, whatever server you choose. The first four are economic and strategic: fewer integrations, reuse, a clean contract between tool builders and AI builders, and a standard with neutral governance. The rest are about how agents work: run-time discovery, one control point for access, faster time to value, freedom to change models, a structured record of every call, and letting experts publish tools without waiting for engineers.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Altman: https://techcrunch.com/2025/03/26/openai-adopts-rival-anthropics-standard-for-connecting-ai-models-to-data/ (26 Mar 2025, read 2026-10-06). Hassabis: https://techcrunch.com/2025/04/09/google-says-itll-embrace-anthropics-standard-for-connecting-ai-models-to-data/ (9 Apr 2025, read 2026-10-06). BCG: https://www.bcg.com/publications/2025/put-ai-to-work-faster-using-model-context-protocol (1 Aug 2025, read 2026-10-06). Anthropic: https://www.anthropic.com/news/donating-the-model-context-protocol-and-establishing-of-the-agentic-ai-foundation (9 Dec 2025, read 2026-10-06). Dropped as unverifiable: a quotation attributed to a security executive's interview, found only in secondary write-ups.</a:t>
            </a:r>
          </a:p>
          <a:p/>
          <a:p>
            <a:r>
              <a:t>Speaker notes: Four voices, each checked against its source and dated in the notes: OpenAI's and Google DeepMind's chief executives, a BCG article, and Anthropic's announcement of the Agentic AI Foundation. One quotation the earlier deck carried could not be traced to a primary source, so it is not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Primitives and who controls them: https://modelcontextprotocol.io/specification (server features: tools, resources, prompts; transports). SAJHA: sajha/core/mcp_handler.py (resources/list, resources/templates/list, completion/complete, logging/setLevel); tool counts from the registry and prompt templates counted in config/prompts at build time.</a:t>
            </a:r>
          </a:p>
          <a:p/>
          <a:p>
            <a:r>
              <a:t>Speaker notes: MCP servers offer three things. Tools are functions the model decides to call: search, query a database, call an API. Resources are data the application decides to read, addressed by URI, such as SAJHA's tool and prompt catalogs or a data file. Prompts are templates the user picks, with arguments. Around them sit utilities either side can use: completion, logging, progress and cancellation. In SAJHA every tool carries a JSON Schema, and the 6 shipped prompt templates can be extended from the console.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Host, client and server roles: https://modelcontextprotocol.io/specification (server features: tools, resources, prompts; transports) (architecture overview). SAJHA is one such server.</a:t>
            </a:r>
          </a:p>
          <a:p/>
          <a:p>
            <a:r>
              <a:t>Speaker notes: MCP has three roles. The host is the application the user works in, a chat app, an IDE or an agent; it runs the model. For every server it uses, the host runs one client, which holds one connection. Each server exposes tools, resources and prompts over JSON-RPC. SAJHA is one such server, and a host can use it beside others.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protocol flow in https://modelcontextprotocol.io/specification (server features: tools, resources, prompts; transports) (lifecycle, tools/list, tools/call). SAJHA's own loop (Ask SAJHA, Section 7) follows the same five steps.</a:t>
            </a:r>
          </a:p>
          <a:p/>
          <a:p>
            <a:r>
              <a:t>Speaker notes: Discovery: the host starts a client, the client connects, and the server lists its tools with JSON Schemas. Selection: the model sees the tools in its context and decides which one the request needs. Invocation: the model emits a structured call; the client sends it as JSON-RPC; the server validates and runs it. Result: the server returns a structured result and the host feeds it back into the model's context. Iteration: the model chains further calls, across tools and servers, until it can answer.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MCP benefits: https://modelcontextprotocol.io/specification (server features: tools, resources, prompts; transports); server count: https://www.anthropic.com/news/donating-the-model-context-protocol-and-establishing-of-the-agentic-ai-foundation (9 Dec 2025, read 2026-10-06). SAJHA column: sajha/web/competitive.py (SAJHA cells), docs/architecture/Federation.md, docs/architecture/Policy and Audit.md.</a:t>
            </a:r>
          </a:p>
          <a:p/>
          <a:p>
            <a:r>
              <a:t>Speaker notes: Each row is something the protocol gives every application, and what SAJHA builds on it. Any client talks to any server, and SAJHA serves both protocol eras on one endpoint. Agents discover tools at run time, and in SAJHA a caller only discovers the tools it is allowed to run. The standard transports are stdio and Streamable HTTP; SAJHA adds legacy SSE and WebSocket. Servers grow without changing clients, and SAJHA adds tools while it runs and tells connected clients. And the server is the one place to control access, which SAJHA fills with an access policy, rules, approvals and a tamper-evident audit.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Illustrative architecture (after the earlier deck). Server A's tool families are real groups in SAJHA's registry (fred, olap, duckdb, yahoo); policy and audit: docs/architecture/Policy and Audit.md.</a:t>
            </a:r>
          </a:p>
          <a:p/>
          <a:p>
            <a:r>
              <a:t>Speaker notes: This is an illustrative application. On the left is the AI layer: a chat interface, an orchestrator, the model, a workflow engine and memory. All tool traffic goes through MCP clients, one per server. On the right, SAJHA serves its tool families behind access, policy and audit, and a second server serves search. Integrations can change without touching the AI layer.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SDK languages: https://modelcontextprotocol.io/docs/sdk (read 2026-10-06). Eras: sajha.core.mcp_modern (read at build time); docs/protocol/MCP Protocol Guide.md for how SAJHA recognises each.</a:t>
            </a:r>
          </a:p>
          <a:p/>
          <a:p>
            <a:r>
              <a:t>Speaker notes: Session era: an initialize handshake negotiates capabilities and opens a session, whose id later requests carry. Stateless era: every request names its protocol version, and a client may ask server/discover first. Then, in both, the client asks for the tool catalog, each tool carrying a JSON Schema, so the model knows exactly what it can call and how; the model emits a structured call, the client sends it as JSON-RPC and receives a structured result; results return to the model's context and it chains further calls until it can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Standard transports: https://modelcontextprotocol.io/specification (server features: tools, resources, prompts; transports) (Transports: stdio and Streamable HTTP; HTTP+SSE was the 2024-11-05 transport). SAJHA: sajha/routes/mcp_routes.py, sajha/routes/ws_routes.py, sajha/cli/stdio.py; the SAJHA cells of sajha/web/competitive.py.</a:t>
            </a:r>
          </a:p>
          <a:p/>
          <a:p>
            <a:r>
              <a:t>Speaker notes: The MCP specification defines two transports: stdio, where the client starts the server as a child process and talks over standard input and output, and Streamable HTTP, where each request is an HTTP POST answered with JSON or a streamed response. SAJHA serves both: sajha serve --stdio for desktop clients, and POST /mcp for both protocol eras. It keeps the older HTTP plus SSE transport for clients that still use it, and adds WebSocket for browsers and long-lived links. Whatever the way in, a call reaches the same catalog through the same access policy, rules and audit.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sajha/core/mcp_modern.py (MODERN_PROTOCOL_VERSIONS, HANDSHAKE_PROTOCOL_VERSIONS, read at build time), sajha/core/mcp_2025_11_25.py; GLOSSARY.md 'Era detection', 'Client SDK'.</a:t>
            </a:r>
          </a:p>
          <a:p/>
          <a:p>
            <a:r>
              <a:t>Speaker notes: MCP has two eras in use. Clients on current SDKs speak the stateless revision: each request names its protocol version and stands alone. Most clients in the field still speak a session-based revision: an initialize handshake opens a session whose id later requests carry. SAJHA decides which era a request belongs to on every POST to /mcp, so one deployment serves a mixed fleet. Session state, task records, rate limits and OAuth codes go through a shared store, so either era keeps working across several workers. SAJHA's own Python client probes server/discover and adopts the newest era the server offers.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Results: the table in section 5 of docs/protocol/MCP 2026-07-28 Compliance.md, parsed at build time (32/32 scenarios on the 2025-11-25 path agree with docs/protocol/MCP 2025-11-25 Compliance.md). Matrix and branches: .github/workflows/mcp-conformance.yml.</a:t>
            </a:r>
          </a:p>
          <a:p/>
          <a:p>
            <a:r>
              <a:t>Speaker notes: Conformance is evidence, not a claim. On every push to develop and main, CI starts a live SAJHA and runs the official MCP conformance suite once per era: 2025-11-25 (suite 0.1.16) and 2026-07-28 (suite 0.2.0-alpha.12). The compliance report records those runs, and two more suites against the same server, one for the tasks extension and one for the built-in authorization server. Across them, 242 checks passed and 0 failed. The numbers on this slide are read from the report's results table when the deck is built.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names checked against the live registry at build time (evidence.require_tools). Parallel steps: docs/architecture/Intelligence Layer.md §6 (plan_execute).</a:t>
            </a:r>
          </a:p>
          <a:p/>
          <a:p>
            <a:r>
              <a:t>Speaker notes: Single call: one tool and one result, and the model keeps reasoning. Chained: edgar_company_search finds the company, edgar_company_facts reads its facts, calc_percentage_change computes the growth. Parallel: fred_2yr_treasury, fred_10yr_treasury and yahoo_get_quote together; SAJHA's plan_execute planner runs independent steps side by side. Multi-turn: list the tables, describe one, then refine the query over several requests.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GLOSSARY.md §3 (MRTR, Tasks extension, MCP Apps, Mcp-Param-{Name}); sajha/core/mcp_mrtr.py, mcp_tasks.py (tasks/get, tasks/cancel), mcp_apps.py, mcp_tool_context.py (report_progress, report_log, is_cancelled); docs/protocol/MCP 2026-07-28 Compliance.md §4.</a:t>
            </a:r>
          </a:p>
          <a:p/>
          <a:p>
            <a:r>
              <a:t>Speaker notes: A tool call is more than a request and a reply. In the 2026-07-28 era, Mcp-Method, Mcp-Name and Mcp-Param headers let a gateway route a call without reading its body. While a tool runs it can report progress and log lines, which a client that asked receives on the streamed response. A stateless server that needs input mid-call answers input_required, and the client retries the same request with the answers: Multi Round-Trip Requests, with the state signed and carried by the client. A task-capable tool returns a task id instead, and the client polls tasks/get, answers input, or cancels. If the client closes the stream, the running tool sees is_cancelled and can stop early. And a tool can ship an HTML view, rendered beside its result, such as the loan amortization calculator's schedule chart.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tool-use loop in https://modelcontextprotocol.io/specification (server features: tools, resources, prompts; transports) (tools). SAJHA's own instance of this pipeline is Ask SAJHA (sajha/ai/intelligence.py), captured in Section 7.</a:t>
            </a:r>
          </a:p>
          <a:p/>
          <a:p>
            <a:r>
              <a:t>Speaker notes: In an LLM pipeline the tool schemas go into the model's context when the prompt is built. The model, not hard-coded logic, decides whether and which tool to call. The MCP client carries the call to the server, the server calls the API, database or file, and a structured result returns to the model, which writes the final answer. Ask SAJHA is SAJHA's own instance of this pipeline, shown in Section 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and group counts: the tools registry loaded from config/tools at build time (sajha.tools.tools_registry.ToolsRegistry, counted by sajha.web.help_catalog.live_tool_groups): 603 tools in 32 groups, 0 load errors. Protocol versions: sajha.core.mcp_modern (2026-07-28; 2025-11-25, 2025-06-18, 2025-03-26 and 2024-11-05). Tests: pytest --collect-only over tests and clientsdk/tests at build time.</a:t>
            </a:r>
          </a:p>
          <a:p/>
          <a:p>
            <a:r>
              <a:t>Speaker notes: SAJHA is one shared catalog. Tools arrive from many places: the built-in set, the browser creators, imported APIs and data connectors, other MCP servers it proxies, and other SAJHA servers in a net. Whatever their origin, they sit in one catalog behind one set of rules, identity, access, policy, approvals and audit, and are served at one address, /mcp, to every kind of caller. Shared means a tool is built, governed and recorded once; governed means every call passes the same checks; self-hosted means it runs where your data is, from one process on a laptop to several pods on Kubernetes.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and group counts: the tools registry loaded from config/tools at build time (sajha.tools.tools_registry.ToolsRegistry, counted by sajha.web.help_catalog.live_tool_groups): 603 tools in 32 groups, 0 load errors. Creators: the MCP Studio pages in sajha/routes/studio_routes.py plus describe_routes.py and api_import_routes.py, read at build time. Providers: sajha.ai.llm.registry.registered_providers().</a:t>
            </a:r>
          </a:p>
          <a:p/>
          <a:p>
            <a:r>
              <a:t>Speaker notes: A plain MCP server is a pipe from a client to some functions. SAJHA adds governance on every call, a large catalog from day one, ways to build tools from zero code to full code, its own intelligence layer, both protocol eras and four transports with conformance evidence, a net of servers across boundaries, and it runs wherever your data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and group counts: the tools registry loaded from config/tools at build time (sajha.tools.tools_registry.ToolsRegistry, counted by sajha.web.help_catalog.live_tool_groups): 603 tools in 32 groups, 0 load errors. Grouping into categories: tools/deck/deck_part2.py CATEGORIES; a group it does not name fails the build. Bar lengths are proportional to the tool counts.</a:t>
            </a:r>
          </a:p>
          <a:p/>
          <a:p>
            <a:r>
              <a:t>Speaker notes: Each bar is a category of built-in tools, with its length the number of tools, counted from the registry when this deck was built. Market and equity data and central banks are the largest families; filings, international bodies, analytics, search, documents and connected accounts follow. All of them are ordinary MCP tools with JSON Schemas, and a caller only ever sees the ones its role or key allows.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Studio pages served by sajha/routes/studio_routes.py (@pages.get), plus Describe a tool (describe_routes.py) and Import an API (api_import_routes.py), read at build time; the decorator is sajha/studio/decorator.py (sajhamcptool). docs/studio/MCP Studio User Guide.md. Families: tools/deck/deck_part2.py FAMILIES (a creator it does not name fails the build).</a:t>
            </a:r>
          </a:p>
          <a:p/>
          <a:p>
            <a:r>
              <a:t>Speaker notes: Python code: Write a function with the @sajhamcptool decorator; the schema comes from its type hints. Runs sandboxed. REST service: Wrap an HTTP endpoint: method, URL template, headers, auth, response mapping. Database query: A parameterised SQL template becomes a tool. Script: A shell or Python script, arguments passed in; runs sandboxed. OpenText LiveLink: Browse and fetch documents from a LiveLink repository. OLAP dataset: Define a dataset, dimensions and measures for pivot-style analysis. Power BI report: Export reports as PDF, PPTX or PNG. Power BI DAX: Run DAX queries against a dataset. SharePoint: Documents, lists and search on a SharePoint site. Import JSON: A pasted tool config, filed into a folder (administrators). Describe a tool: One sentence becomes a proposed, tested tool for review. Import an API: OpenAPI 3, Swagger 2 or GraphQL becomes reviewed tools. Whichever creator is used, the result is previewed with its generated schema, deployed into the running server, and listed to every caller allowed to see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docs/architecture/Tool Generation.md; sajha/studio/describe.py; sajha/ai/llm/providers/mock_toolsmith.py. The example sentence is illustrative.</a:t>
            </a:r>
          </a:p>
          <a:p/>
          <a:p>
            <a:r>
              <a:t>Speaker notes: Describe a tool turns a sentence into a proposal. The toolsmith model drafts the kind, name, schemas, implementation and test cases. SAJHA treats the draft as untrusted: SQL must be read-only, hosts are checked, credentials are refused and risky imports are flagged. The tests run in the sandbox, bound to the draft's hash, and an administrator approves that exact hash; policy can require a second approver. Out of the box the toolsmith is an offline mock that knows a few shapes; real designs need a real model.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Connector kinds: sajha/connectors/model.py KINDS and PER_USER_KINDS, read at build time. docs/architecture/API Import.md and Data Connectors.md.</a:t>
            </a:r>
          </a:p>
          <a:p/>
          <a:p>
            <a:r>
              <a:t>Speaker notes: Import an API: an OpenAPI 3.x, Swagger 2.0 or GraphQL description becomes a preview of every operation, with its name, JSON Schema in and out, and read-only and destructive hints; an administrator chooses, tests one call and deploys. Credentials are kept only as secret references, every call passes an SSRF guard, and a re-import shows a diff. Data connectors: SQL databases (postgresql, pgvector, redshift, mysql, mariadb, sqlserver, oracle, snowflake, bigquery, databricks, sqlite and duckdb) and search stores (qdrant, elasticsearch and opensearch) are read through a statement guard, a read-only session and the login's own grants; curated views become typed tools, named with the connector's prefix.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docs/architecture/Federation.md (§4 names, §6 approval, §9 security, §10 the mcpServers file); sajha/federation/; GLOSSARY.md 'Federation', 'Tool poisoning'. federation.enabled read from the shipped config/application.yml at build time. The upstream names are illustrative.</a:t>
            </a:r>
          </a:p>
          <a:p/>
          <a:p>
            <a:r>
              <a:t>Speaker notes: SAJHA can front another MCP server, a proxied MCP server: its tools appear as prefix, two underscores, tool, and every call to them passes SAJHA's access policy, rules, cache, circuit breakers and audit. Upstreams come from application.yml, the console, or the mcpServers file that Claude Desktop, Cursor and VS Code use, so an administrator can paste a block they already have; secrets come from the environment. An upstream's tools wait for an administrator's approval, and a changed definition waits again. Descriptions and results are screened for injected instructions; flagged items wait for a person. Section 5 shows how an external server's tools enter a SAJHA Net under its vendor's prefix.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sajha/app.py (FastAPI application), sajha/routes/ (39 route modules), sajha/auth/, sajha/policy/, sajha/audit/, sajha/ai/, sajha/tools/, sajha/workflows/, sajha/federation/, sajha/connectors/, sajha/sandbox/; state, storage and schema lists read at build time. docs/architecture/Architecture.md.</a:t>
            </a:r>
          </a:p>
          <a:p/>
          <a:p>
            <a:r>
              <a:t>Speaker notes: Read top to bottom as a request travels. Clients of every kind come in over the transports. Every call then crosses the governance layer: authentication, the tool access policy, the policy engine and the audit. Below it sit the intelligence layer and the tools layer, with composites, workflows, federation, connectors and the sandbox, and at the bottom the platform: FastAPI, the database, the state store, storage, metrics and traces.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Page count: sajha.web.page_help.PAGE_HELP (pages with an 'About this page' panel, the error page excluded), read at build time. Menus and their columns: the menu data in sajha/web/templates/common/_nav.html, parsed at build time (evidence.console_menus); the Admin menu needs the admin role and MCP Studio Studio rights. Themes: sajha/web/static/css/tokens.css. docs/architecture/Architecture.md §10.</a:t>
            </a:r>
          </a:p>
          <a:p/>
          <a:p>
            <a:r>
              <a:t>Speaker notes: The console's top menu is drawn here as the template defines it, with each menu's columns beneath. Tools is where people browse, run and monitor tools; AI holds Ask SAJHA, conversations, models and prompts; SAJHA Net shows the instances and remote tools a user may reach; MCP Studio holds every creator, the composite builder and workflows; Admin manages users, keys, proxied servers, connectors, policies, approvals, the audit and operations; Help renders every guide and the glossary inside the app. Every page has an About this page panel whose terms come from the glossary.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tests and lint: docs/architecture/Tool Quality.md; hot reload: ToolsRegistry file monitor (sajha/tools/tools_registry.py); evals: sajha/quality/evals.py. After the earlier deck's SDLC slide.</a:t>
            </a:r>
          </a:p>
          <a:p/>
          <a:p>
            <a:r>
              <a:t>Speaker notes: Two teams, two release cycles. Tool developers build, test and deploy tools, and hot reload puts them live. AI developers design agents, evaluate them on golden questions and iterate. The tool's schema is the contract between them, held by SAJHA, so neither team waits for the other.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Seeded roles and permissions: db/scripts/sqlite/seed.sql, parsed at build time. API key modes and anonymous policy: sajha/auth/access.py; docs/security/Security Model.md §1 'Tool access'.</a:t>
            </a:r>
          </a:p>
          <a:p/>
          <a:p>
            <a:r>
              <a:t>Speaker notes: On the left is every kind of caller SAJHA knows: the roles the database is seeded with, with their rights, then API keys and anonymous callers. A role's permissions name a resource type, a pattern and actions: read lets a caller see a tool, execute lets it run one. An API key carries its own tool access mode, all, an allowlist, a denylist or a regular expression, and is never an administrator. Anonymous callers get nothing unless an operator lists tools for them. One module applies this policy on every path into the server.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docs/security/Security Model.md §1–§3 (credentials, tool access, transport protections, rate limiting: 'per-user and per-key limits exist but are not called'), §5, §7; docs/architecture/Policy and Audit.md.</a:t>
            </a:r>
          </a:p>
          <a:p/>
          <a:p>
            <a:r>
              <a:t>Speaker notes: Read left to right as a call travels. The transport layer refuses browsers from unknown origins and relies on TLS at the proxy. Sign-in throttles guesses and locks accounts. Authentication establishes who is calling, by cookie, single sign-on, a revocable SAJHA token, an API key or OAuth. Authorization decides per tool. Input is checked against the tool's schema, SQL is guarded and outbound requests pass an SSRF guard. Policy rules can deny, require approval, limit arguments and rates, and redact. User code runs in a sandbox. And everything is recorded in a hash-chained, signed audit. Note the honest limit: request rate limits come from policy rules, not from /mcp itself.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sajha/auth/__init__.py AuthManager.authenticate_request; sajha/routes/auth_routes.py; sajha/auth/sso.py; sajha/auth/revocation.py; sajha/core/config.py (auth.jwt.algorithm, auth.jwt.expiry_minutes); docs/security/Security Model.md §1–§2.</a:t>
            </a:r>
          </a:p>
          <a:p/>
          <a:p>
            <a:r>
              <a:t>Speaker notes: A person signs in with the form, or with an OpenID Connect provider when single sign-on is on, and gets the sajha_token cookie (HttpOnly, SameSite=Lax). A script posts a user id and password to /api/auth/login and gets a SAJHA JWT (default HS256, 60 minutes). An automation uses an API key that an administrator issued or a user created for themselves. An OAuth client brings an access token from SAJHA's own authorization server or yours, accepted on the MCP endpoints only. Whichever way, the same access policy decides which tools the caller may see and run, on REST, MCP in both eras, SSE, WebSocket, stdio and A2A. Sign-out records the token id in the state store; sign out everywhere raises the user's token version, which every token carries.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docs/protocol/OAuth Guide.md §1–§2; sajha/auth/oauth/settings.py (DEFAULT_SCOPES), resource_server.py, authorization_server.py; sajha/routes/oauth_routes.py.</a:t>
            </a:r>
          </a:p>
          <a:p/>
          <a:p>
            <a:r>
              <a:t>Speaker notes: An authorization server issues tokens; a resource server accepts them. SAJHA can be both, or only the resource server behind your identity provider. A client that calls /mcp without a token gets 401 with a pointer to the protected-resource metadata (RFC 9728), which names the authorization server. The client runs the authorization-code flow with PKCE S256 and the resource indicator (RFC 8707), so the token's audience is SAJHA's /mcp and a token issued for another API is refused. SAJHA's built-in server supports client ID metadata documents, optional dynamic registration, and rotating refresh tokens with reuse detection. After the token checks, the user's own tool access applies as for any caller.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docs/security/Security Model.md §1 ('Credential storage and files', 'Test admin key', 'Console single sign-on', 'Revocable sign-in'), §3 (security headers and CSP, CSRF, Origin allow-list), §8 (known limitations: plain storage by default, the test admin key ships on). auth.credential_storage and sajhanet.test_admin_key.enabled read from the shipped config/application.yml at build time.</a:t>
            </a:r>
          </a:p>
          <a:p/>
          <a:p>
            <a:r>
              <a:t>Speaker notes: Users and API keys live in the database, and administrators can also keep them in two credential files beside it. config/users.json wins: it is applied to the users table at start-up and whenever it changes. For an API key, config/apikeys.json is checked first and wins for every key it holds; then the database, read on every request so a revoked key stops at once; and only when the database does not know the key or does not answer, the periodic dump config/apikeys_db.json. Passwords and API keys are stored plain by default: that is the owner's decision for intranet use, and a warning notice stays up while it is on. Setting auth.credential_storage to hashed and running the rehash command switches every stored value to a hash; both forms keep working across the switch. The test admin key ships on for development and testing and shows a critical notice while active; turn it off before production. Single sign-on with an OpenID Connect provider works beside passwords. In the browser, a Content-Security-Policy with a nonce per response, a cross-site check on every state-changing cookie request, and an Origin allow-list on /mcp; TLS ends at the proxy or ingress.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sajha/routes/auth_routes.py (login_form, _set_session_cookie); sajha/auth/password.py (verify_password accepts plain or bcrypt; auth.credential_storage); sajha/security.py (login throttle); docs/security/Security Model.md §1 'Web login', 'Session cookie'.</a:t>
            </a:r>
          </a:p>
          <a:p/>
          <a:p>
            <a:r>
              <a:t>Speaker notes: The browser asks for the sign-in form and posts a user id and password. Before checking, SAJHA throttles by address: too many failures answer 429. The password is compared with the stored value, plain by default or a bcrypt hash under hashed storage, and repeated failures lock the account, answering 423. On success SAJHA issues a SAJHA JWT, 60 minutes and HS256 by default, sets it as the sajha_token cookie, HttpOnly, SameSite=Lax and Secure on https, and redirects to the dashboard, only ever to a local path. On every later request the cookie is read last, after a Bearer token and an API key; its signature, algorithm and expiry are checked, and the user is reloaded from the database, so a disabled user is out at once.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sajha/routes/auth_routes.py api_login; sajha/auth/jwt_handler.py; sajha/auth/__init__.py authenticate_request; docs/security/Security Model.md §1 'SAJHA JWT'.</a:t>
            </a:r>
          </a:p>
          <a:p/>
          <a:p>
            <a:r>
              <a:t>Speaker notes: A script posts a user id and password to /api/auth/login. The same throttle and lockout as the web form apply: invalid credentials answer 401, a locked account 423. A valid login returns a token and the user with their roles. The client then sends the token as a Bearer header on every request; SAJHA checks its signature, that its algorithm is the allowed one, its expiry, and its claims: subject, roles and the issuer sajha-mcp-server. Then the caller's tool access applies, the same on REST, /mcp, and the WebSocket endpoint, which takes the token as a query parameter.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sajha/routes/apikeys_routes.py; sajha/auth/__init__.py AuthManager.authenticate_apikey; sajha/db/dao/__init__.py ApiKeyDAO.hash_key (SHA-256); sajha/auth/access.py apikey_policy; docs/security/Security Model.md §1 'API keys'. The allowlist example is illustrative; fred_gdp and yf_fast_info are registry tools.</a:t>
            </a:r>
          </a:p>
          <a:p/>
          <a:p>
            <a:r>
              <a:t>Speaker notes: An administrator creates a key in the console. The key is sja_ followed by 48 hexadecimal characters; SAJHA stores its SHA-256 for lookup and an 8-character prefix for display, and under plain storage, the default, the raw key too. The key carries a tool access mode: all tools, an allowlist, a denylist or a regular expression. A script sends it as X-API-Key, or as an Authorization header starting sja_. An unknown, disabled or expired key is refused. SAJHA looks the key up in the administrators' keys file first, then the database, then the database dump. A key with an owner signs in as that user, with the user's roles and the key's tool list as a ceiling; an older key without an owner becomes the identity apikey: and its name, with the role api_consumer. With an allowlist of fred_* and calc_*, fred_gdp runs and yf_fast_info is refused with 403. Usage is recorded and every call audited.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docs/protocol/OAuth Guide.md §1; sajha/routes/oauth_routes.py (PRM_PATH, /oauth/authorize, /oauth/token, /oauth/register, /oauth/jwks); sajha/auth/oauth/resource_server.py (WWW-Authenticate challenge).</a:t>
            </a:r>
          </a:p>
          <a:p/>
          <a:p>
            <a:r>
              <a:t>Speaker notes: A client that calls /mcp without a token gets 401 with a WWW-Authenticate header pointing at the protected-resource metadata, at /.well-known/oauth-protected-resource/mcp, which names the authorization server: SAJHA's own or yours. The client starts the authorization-code flow with a PKCE S256 challenge and the resource indicator for SAJHA's /mcp; the user signs in and consents, and the client receives a code. It exchanges the code and its verifier for a JWT access token whose audience is SAJHA's /mcp, and a rotating refresh token. Then it calls /mcp with the Bearer token; SAJHA checks signature, issuer, audience, expiry and scope, and the user's tool access applies as for any caller.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sajha/core/mcp_handler.py (has_tool_access before tools/call; -32602 on schema failure); sajha/tools/base_mcp_tool.py execute_with_tracking (policy enforce, validate_arguments, cache, circuit breaker); docs/architecture/Policy and Audit.md.</a:t>
            </a:r>
          </a:p>
          <a:p/>
          <a:p>
            <a:r>
              <a:t>Speaker notes: Every tools/call takes this path, whichever transport it came on. First SAJHA establishes who is calling: a Bearer JWT, an API key, the cookie, an OAuth token, or nobody. Then the access policy decides whether that caller may run this tool; if not, access is denied and recorded. The arguments are validated against the tool's JSON Schema, and a failure answers -32602. The policy engine then applies the rules: deny wins, require_approval waits for a person, and argument constraints, rate limits and quotas apply; any decision other than allow is audited. Only then does the tool run, through its cache and circuit breaker, and the result can be redacted or screened if a rule says so.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The rule is read verbatim from config/policies/example-guardrails.yaml at build time (disabled in the shipped configuration). docs/architecture/Policy and Audit.md §3; sajha/policy/model.py, engine.py.</a:t>
            </a:r>
          </a:p>
          <a:p/>
          <a:p>
            <a:r>
              <a:t>Speaker notes: On the left is a real rule from the shipped example policy, read from the file when this deck was built. A rule matches on tool names and groups, annotations such as destructiveHint, the caller, the path, a time window and argument values. The engine collects the matching rules and decides: deny overrides allow, require_approval sends the call to a person, and setting default_effect to deny turns the policy into an allowlist. An allowed call can still carry obligations: argument constraints, rate limits and quotas shared by every worker, redaction and screening of results. Files reload when they change, every decision other than allow is audited, and the Policies page has a test bench.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Evaluated while the deck was built (tools/deck/evidence.py, policy_example): sajha.policy.engine.PolicyEngine.evaluate over the shipped files in config/policies, disabled examples included (include_disabled=True, as the Policies page's test bench offers); nothing was run.</a:t>
            </a:r>
          </a:p>
          <a:p/>
          <a:p>
            <a:r>
              <a:t>Speaker notes: These four decisions were computed by the policy engine over the shipped example files while this deck was built; nothing was run. A plain read-only query is allowed, with a redaction obligation still attached. A query that smuggles a DROP TABLE is denied by the read-only SQL rule, which names itself in the reason. An anonymous caller is refused a tool that changes data. And a signed-in user calling the same destructive tool is sent for approval: a person must agree before it runs.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Run while the deck was built (tools/deck/evidence.py, audit_example): sajha.audit.chain.ChainWriter on a temporary SQLite file with a throwaway RSA key, then sajha.audit.verify.verify before and after one UPDATE. SIEM: sajha/audit/sinks.py TYPES and FLAVORS, sajha/audit/formats.py FORMATS. The tampered record is drawn in red.</a:t>
            </a:r>
          </a:p>
          <a:p/>
          <a:p>
            <a:r>
              <a:t>Speaker notes: Each record's SHA-256 covers its fields and the previous record's hash, so changing any stored field makes that record's hash wrong, and deleting, inserting or reordering records breaks the links. The head of the chain is signed with RS256 every N records, every few minutes and at shutdown. The verifier names the record and the field that changed, as the captured run on the left shows. Records stream to a SIEM over syslog, http and file (splunk_hec, datadog and generic).</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docs/security/Security Model.md, the 'Fixes since …' table and 'Known limitations', parsed at build time (evidence.security_fixes, limitations). The rows shown are the eight shortest, chosen mechanically.</a:t>
            </a:r>
          </a:p>
          <a:p/>
          <a:p>
            <a:r>
              <a:t>Speaker notes: The Security Model keeps a table of every issue found and fixed since the last major release, each with the file that fixes it, and a list of known limitations, so a deployment can compensate. The counts here are parsed from that document at build time, and the rows shown are simply the shortest entries.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Deployment recipes in deployment/ (aws, baremetal, hetzner, k8s, local-lab, observability and sajhanet-demo, listed at build time); storage and state backends read at build time; docs/getting-started/Storage Guide.md; docs/architecture/Scaling and State.md.</a:t>
            </a:r>
          </a:p>
          <a:p/>
          <a:p>
            <a:r>
              <a:t>Speaker notes: The same server runs on a VM with systemd and nginx, in Docker, on Kubernetes with the Helm chart, or on managed cloud services. Air-gapped works too, with the offline mock model, local tools and local data. Data leaves only when a tool calls an outside service, nothing phones home, and the same configuration file is used everywhere.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deployment/aws/README.md (architecture, 'Several tasks', 'What CDK Creates') and deployment/aws/cdk/sajha_stack.py (SAJHA_STATE_BACKEND=database). Drawn in the style of the earlier deck's AWS slide, with only what the recipe creates (no Cognito, API Gateway or WAF).</a:t>
            </a:r>
          </a:p>
          <a:p/>
          <a:p>
            <a:r>
              <a:t>Speaker notes: This is what the AWS recipe creates, and nothing more. An application load balancer terminates TLS in front of one to six Fargate tasks running the non-root SAJHA image. Secrets come from Secrets Manager, tool and prompt configs from S3, logs and metrics go to CloudWatch, and shared state lives in RDS PostgreSQL, whose schema an operator runs once. Bedrock is an optional model provider.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deployment/baremetal/README.md (nginx, systemd, PostgreSQL), deployment/baremetal/nginx.conf; deployment/observability/ (Prometheus, Grafana dashboard, alerts); sajha/audit/sinks.py; docs/architecture/Scaling and State.md. 'Your data centre' replaces the earlier deck's named data centre.</a:t>
            </a:r>
          </a:p>
          <a:p/>
          <a:p>
            <a:r>
              <a:t>Speaker notes: On premises, nginx terminates TLS and proxies to SAJHA on localhost, with streaming unbuffered. Files sit on local disk, Redis holds shared state when there are several workers, PostgreSQL holds the database from the schema and seed files an operator runs, Prometheus and Grafana watch it, and the audit streams to your SIEM. Nothing external is required.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Tests: pytest --collect-only. Conformance: docs/protocol/MCP 2026-07-28 Compliance.md §5. Tables: db/scripts/postgresql/schema.sql and sqlite/schema.sql (same set, checked at build time). Helm: charts/sajha/templates/*.yaml. The earlier deck's '100+ users, 1,000+ rps, &lt;200 ms p95' were never measured and are not carried over.</a:t>
            </a:r>
          </a:p>
          <a:p/>
          <a:p>
            <a:r>
              <a:t>Speaker notes: No load-test figures are claimed, because none has been measured and recorded. Instead these are facts the build counts: the automated tests, the conformance checks, the schema tables and the Helm templates. The chart includes autoscaling, a disruption budget, a network policy and a ServiceMonitor; several replicas need the redis or database state backend.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families shown are live groups (fred, edgar, the central-bank groups, duckdb, olap, tavily). Governance path: sajha/tools/base_mcp_tool.py execute_with_tracking. After the earlier deck's agent slide.</a:t>
            </a:r>
          </a:p>
          <a:p/>
          <a:p>
            <a:r>
              <a:t>Speaker notes: The split of responsibilities. The agent runtime holds the model and an orchestrator that does multi-step reasoning and retries; it lists SAJHA's tools at start and puts their schemas in the prompt. SAJHA executes every call, authenticates the caller, applies policy and keeps the record, reaching databases, public APIs and the web on the agent's behalf.</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Illustrative: no run is claimed. Every tool name is checked against the live registry at build time (evidence.require_tools). After the earlier deck's risk-analysis table, with names that exist.</a:t>
            </a:r>
          </a:p>
          <a:p/>
          <a:p>
            <a:r>
              <a:t>Speaker notes: This is illustrative: no run is claimed, but every tool name is real and checked against the registry when the deck is built. Asked how exposed a Treasury portfolio is to a move in rates, an agent might fetch the policy rate with fred_fed_funds_rate, the two- and ten-year yields, and the holdings from your own table with duckdb_sql. With the holdings it can bucket exposure by maturity using olap_pivot_table, and reprice each bond after a 100 basis point move with calc_bond_price. A news search for central-bank guidance adds context. The model then writes a summary that cites each call; numbered steps show one plausible order, and the arrows show which results feed which.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Tool access per API key: sajha/auth/access.py apikey_policy; A2A: sajha/routes/a2a_routes.py; workers: docs/architecture/Scaling and State.md. The key patterns are illustrative.</a:t>
            </a:r>
          </a:p>
          <a:p/>
          <a:p>
            <a:r>
              <a:t>Speaker notes: Several agents can share one SAJHA. Each gets its own credentials, an API key with an allowlist or a role, so least privilege is enforced per agent and the audit names which agent called what. Agents hand work to each other over A2A, while MCP carries tool access, and more workers with a shared state store serve more agents. The key patterns shown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docs/architecture/Composition Framework.md (status, mapping syntax); sajha/tools/composite_tool.py (arrangements 'sibling' and 'parent_child'; every step runs as the caller through sajha/core/inner_calls.py); tables composite_tools and composite_tool_steps in db/scripts/*/schema.sql. Tool names checked against the live registry at build time; the arrangement is illustrative.</a:t>
            </a:r>
          </a:p>
          <a:p/>
          <a:p>
            <a:r>
              <a:t>Speaker notes: A composite is the smallest unit of orchestration in SAJHA. In a sibling composite the master tool runs once and the steps run side by side on its output; in a parent-child composite the master returns records and the children run once per record. Either way the caller sees one tool and gets one result, with a _composition block that says how confident the result is, how much entropy the chain carries, and a trace of every step with its time. Because the composite is itself a registry tool, the access check, schema validation, policy rules, cache and the audit record wrap the whole chain, and each inner step is checked again as the caller.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Run at build time (evidence.composition_compare): EntropyGuard.record_step, begin_parallel and end_parallel over get_tool_confidence for four registry tools; nothing is called. Pillars: docs/architecture/Composition Framework.md (StepResult, ParamLens, EntropyGuard in sajha/core/composition.py; TransportCoalgebra in clientsdk/sajhaclient/mcp_client.py).</a:t>
            </a:r>
          </a:p>
          <a:p/>
          <a:p>
            <a:r>
              <a:t>Speaker notes: The framework borrows four ideas from category theory and keeps them practical. The StepResult envelope is Kleisli composition: once a step fails, nothing downstream runs, and the trace and timing accumulate. Lenses isolate parameters, so a field renamed in a master tool cannot silently feed a child. The EntropyGuard is a simplified Giry monad: it turns the chain's confidence into bits of entropy and refuses a composite that would pass the limit, before it runs. Sequential steps multiply, because each depends on the last; parallel steps take the weakest link, because they are independent. The fourth pillar is on the client side: the SDK's HTTP, SSE and WebSocket transports are checked to behave alike. Ask SAJHA uses the same priors for the confidence it attaches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sajha/workflows/model.py STEP_KINDS, TRIGGER_TYPES and JOINS, and the example definition in section 2 of docs/architecture/Workflows.md parsed by model.normalize and ordered by model.topo_order, all at build time; its tool names checked against the registry. docs/architecture/Workflows.md §4 (triggers), §5 (run as the owner), §6 (published as a tool).</a:t>
            </a:r>
          </a:p>
          <a:p/>
          <a:p>
            <a:r>
              <a:t>Speaker notes: The example on the slide is rates_watch from the Workflows guide: it reads the ten-year yield, checks whether it moved, asks Ask SAJHA to explain a move or waits quietly, and then finishes with any branch that succeeded. Step kinds: a tool, a composite, an Ask SAJHA question, a condition with branches, a loop over a list (foreach, whose body is a tool, composite or ask call), a wait, and a human approval. Triggers: a five-field cron in an IANA timezone, a webhook signed with HMAC-SHA256 and a timestamp, a file appearing on the storage backend, a change-bus event, or a person. A cron slot fires once across every worker, claimed in the state store. Every step runs as the workflow's owner, with the owner's current roles, so policy, usage and audit see the owner. Only an administrator may publish a workflow as a tool, because callers of the tool would run its steps with the owner's rights.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sajha/workflows/store.py RUN_ACTIVE and RUN_DONE (the run states, read at build time); sajha/workflows/engine.py (RunExecutor: retries, timeouts, parking, resume); docs/architecture/Workflows.md §3.</a:t>
            </a:r>
          </a:p>
          <a:p/>
          <a:p>
            <a:r>
              <a:t>Speaker notes: A new run is queued and starts when the workflow has fewer active runs than its concurrency limit, counted across workers. A wait longer than the inline limit, an approval step, or a tool call a policy holds for approval parks the run as waiting and frees the worker; the scheduler wakes it. If a worker dies mid-run, its heartbeat stops; another worker claims the run with a conditional update, so exactly one wins, reuses every finished step and re-runs an interrupted step only if it is idempotent. Cancel sets a flag that any worker's executor sees within half a second. Re-run from a step starts a new run that copies the results before the chosen step.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docs/architecture/Workflows.md §1 and §6 (step kinds tool, composite, ask; published as a tool, usable from Ask SAJHA and composites); docs/architecture/Composition Framework.md; docs/architecture/SAJHA Net.md §2 (a remote tool is called like a local one by composites and workflows) and §5.6; docs/architecture/Federation.md §4 (names, proxies all the way down). The separator is sajha/tools/naming.py SEPARATOR, read at build time.</a:t>
            </a:r>
          </a:p>
          <a:p/>
          <a:p>
            <a:r>
              <a:t>Speaker notes: The four levels nest. A tool is one registry entry. A composite chains tools into one call. A workflow is a graph whose steps are tools, composites and Ask SAJHA questions, with conditions, loops, waits and approvals. An administrator can publish a workflow as a tool, and then it is a tool again: a composite or another workflow or Ask SAJHA can call it. At every level each call takes the same governed path, so it makes no difference whether the tool is local, belongs to a proxied MCP server (published with its vendor prefix), or lives on another SAJHA Net member (reached by its qualified name, where the host checks the call again). A proxied server may proxy others; the names compose and one call-chain budget bounds the nesting, so cycles are refused rather than followed.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sajha/tools/base_mcp_tool.py (BaseMCPTool); sajha/core/plugins.py (plugin.json manifest, discover, load_plugin; /api/plugins in sajha/routes/ops_routes.py); Studio pages in sajha/routes/studio_routes.py.</a:t>
            </a:r>
          </a:p>
          <a:p/>
          <a:p>
            <a:r>
              <a:t>Speaker notes: No code: the REST, database query, script, Power BI, SharePoint, LiveLink and OLAP creators, or describe the tool in a sentence; import an OpenAPI or GraphQL description; connect a database; deploy with one click and the tool is live without a restart. Full code: subclass BaseMCPTool, implement execute and declare the input schema, with the whole Python ecosystem available; a JSON config in config/tools loads it, and a plugin packages several. Both produce ordinary MCP tools.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sajha/tools/tools_registry.py (start_monitoring, _monitor_files); sajha/core/reload_manager.py (object-store polling); sajha/policy/loader.py (policy.reload_seconds); sajha/core/mcp_handler.py (listChanged on push channels; subscriptions/listen in mcp_modern); docs/security/Security Model.md §1 (user reloaded per request); docs/architecture/Intelligence Layer.md (tool index sync).</a:t>
            </a:r>
          </a:p>
          <a:p/>
          <a:p>
            <a:r>
              <a:t>Speaker notes: A JSON config added or changed in config/tools is picked up by the registry's file monitor; with an object store, its poller does the same. Deploying from Studio, an import or a connector registers the tool in the running server at once. Policy files reload when they change. Users, roles and keys changed in the console apply to the next request, because the user is reloaded on every request. Clients on SSE or WebSocket, and 2026-07-28 clients through subscriptions/listen, receive list-changed notifications.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sajha/routes/studio_routes.py (pages, /preview and /deploy actions per creator); docs/studio/MCP Studio User Guide.md. The tool name and parameters are illustrative.</a:t>
            </a:r>
          </a:p>
          <a:p/>
          <a:p>
            <a:r>
              <a:t>Speaker notes: A developer or administrator opens MCP Studio and chooses a creator. They fill the form: a name, parameters, and the source, which is a URL template, SQL, code or a script depending on the creator. The preview shows the JSON Schema SAJHA generates, with types and required fields. Deploy writes a config under config/tools and registers the tool in the running server; code and scripts will run in the sandbox. From then on any MCP client sees the tool in tools/list, subject to its caller's access. The name fx_rate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sajha/tools/base_mcp_tool.py; sajha/tools/tools_registry.py; sajha/core/plugins.py (manifest format in its docstring); docs/architecture/Tool Quality.md (tests, cassettes, lint). The class name is illustrative.</a:t>
            </a:r>
          </a:p>
          <a:p/>
          <a:p>
            <a:r>
              <a:t>Speaker notes: Full code starts with a class: subclass BaseMCPTool, implement execute, and declare an input schema with types, ranges and required fields. A JSON config in config/tools names the tool, describes it, points at the implementation class and can set a cache lifetime; several tools can instead be packaged as a plugin, with a plugin.json manifest, a tools folder and a checksum. Tool tests replay recorded HTTP cassettes and the schema linter checks the schema. When the registry loads the config, the tool appears in tools/list like any other. The class name is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§1 (why), §2 (what it guarantees and what it does not do); sajhanet.enabled read from the shipped config/application.yml at build time. Instance names are the guide's illustrative ones.</a:t>
            </a:r>
          </a:p>
          <a:p/>
          <a:p>
            <a:r>
              <a:t>Speaker notes: Large organisations rarely have one place where all data may live: business lines, legal entities and regions own their data and the rules for it. A net puts a SAJHA server inside each boundary. Each one holds the tools that touch its data and the credentials those tools use, applies its own access rules, policy, approvals and audit, runs its own models, budgets and planners, and keeps its own users' memory. What crosses is a tool call and its result, and only when both sides' rules allow it. A question that spans domains is answered by a planner on one server using tools on several, without copying either domain's data. SAJHA Net does not share state between servers, elect a leader, move data in bulk, or join nets together except through a bridge an administrator turns 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§5.1 (three kinds of participant), §6.2–6.3 (coming and going, gossip), §7 (catalogs), §8.1 (proxies). Membership plug-ins registered at build time: gossip and static (sajha/net/plugins.py).</a:t>
            </a:r>
          </a:p>
          <a:p/>
          <a:p>
            <a:r>
              <a:t>Speaker notes: Every member pings one other at random every second; if there is no answer it asks three others to try, so one broken link does not condemn a healthy member. A member that does not answer becomes suspect and, after a timeout without refuting, dead, and its tools are removed everywhere. Gossip carries only digests of catalogs, key directories, blocks, conflicts and revocations; a changed digest makes peers pull that part point to point. Gossip never carries tools, schemas or keys. All of it is small signed HTTP on SAJHA's normal port, no UDP and no second port. A member may be a SAJHA instance, any MCP server with the SAJHA Net agent beside it, or an MCP server a SAJHA server sponsors; callers cannot tell them apart.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§6.4 (admission modes), §6.5 (the built-in CA, manual mode), §21.3. Modes: the admission plug-ins registered in sajha/net/plugins.py and sajha/net/trust.py; the code default from sajha/net/integration/config.py Shared.admission; the shipped mode from config/application.yml sajhanet.plugins.admission; all read at build time.</a:t>
            </a:r>
          </a:p>
          <a:p/>
          <a:p>
            <a:r>
              <a:t>Speaker notes: Whatever the mode, every request between participants is signed (RFC 9421 HTTP message signatures with a body digest, a creation time and a nonce), names are held to a key, and the host still authorizes every user it is sent. Open mode: each server makes a self-signed certificate per net at first start; the first key seen for an instance name is remembered and later held to it, so another key claiming the name is refused as a name conflict; there is no revocation, an administrator forgets a remembered key. Built-in CA: SAJHA runs the CA for the net; a single-use, short-lived token enrolls a named server, certificates are short-lived and renew themselves, and revocation spreads by gossip. The CA is not on the call path. Manual: self-signed certificates whose thumbprints each administrator pins.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§8.7 (one name, one contract: quarantine, -32018 and -32011, lifting, escape hatch) and §5.6 (vendors and external servers); separator sajha/tools/naming.py SEPARATOR, read at build time.</a:t>
            </a:r>
          </a:p>
          <a:p/>
          <a:p>
            <a:r>
              <a:t>Speaker notes: A contract is the tool's name, input and output schemas and annotations, compared by hash. When hosts in a net offer one name with different hashes there is no winner: every member logs an error, raises a notice, audits it and evicts the name, so no copy is listed, callable or a fallback target anywhere, including on the hosts that offer it. The quarantine lifts by itself when every host offers one contract again. To change a contract, change every host together or ship it under a new name. Servers from unrelated organisations that happen to share a name are kept apart by defining them as external servers: a member proxies each one and publishes its tools under the vendor's prefix, so acme's search and globex's search never meet.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§9 (what happens on a call; the host's order is protocol §15.4), §11.1 (both sides decide). Every refusal before execution carries executed: false.</a:t>
            </a:r>
          </a:p>
          <a:p/>
          <a:p>
            <a:r>
              <a:t>Speaker notes: The home resolves the name, runs the call through execute_with_tracking like any tool (access, schema, policy), checks its import rules for this user and tool, checks residency on the arguments, then the per-peer breaker, rate limit, hop and call-chain budget, and attaches the user's identity. The request is signed and carries a trace id, the hop count and the visited list. The host verifies the signature, checks blocks on the sender, hops and loops, verifies the user, maps the user to its own account, checks blocks on the user and the tool, applies its export rules and its own access, policy and approvals, executes and audits, and checks residency on the result. The answer is signed too. A refusal reaches the caller as an ordinary tool result with isError, saying which side refused and why. Forwarded calls use the 2026-07-28 era; proxy results are never cached; a destructive remote tool still needs confirmation at home.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§8.2 (names and resolution order), §9.1 (waterfall fallback). Routing strategies: the plug-ins registered in sajha/net/plugins.py; max_fallbacks from the shipped config/application.yml; both read at build time.</a:t>
            </a:r>
          </a:p>
          <a:p/>
          <a:p>
            <a:r>
              <a:t>Speaker notes: A qualified name, net__instance__tool, always reaches exactly the tool it names. A plain name goes first to a local tool of that name, then to the tool's preference list, then to the nets in configured order, where the routing strategy orders the hosts. A host is eligible when it offers the tool, is not suspect or blocked, the name is not quarantined, and this caller's import and residency rules allow it; why each host ranked where it did is recorded. Fallback moves to the next eligible host only after a failure that certainly did not run the tool, or, for read-only or idempotent non-destructive tools, after a failure that may have. A refusal by a host's access, policy, identity or block is that host's decision and is returned. A residency refusal at the home for one host is the exception: the call moves to a host that may receive the data.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§10.2 (identity resolvers; the home's key order; the test admin key), §10.3 (the net key directory), §11.3 (users across instances); docs/security/Security Model.md 'Test admin key'. Resolvers: the identity plug-ins registered by sajha/net/integration/authz.py and identity.py; shipped resolver, unknown-user rule and test admin key switch from config/application.yml; all read at build time.</a:t>
            </a:r>
          </a:p>
          <a:p/>
          <a:p>
            <a:r>
              <a:t>Speaker notes: Without the user, a host could authorize only the server, and any user of that server would get whatever it may do: the confused deputy. So the user travels with every call. With api_key the home sends a key, only over HTTPS and only on the first hop; the host hashes it, finds its signed record in the net key directory (hashes only, never keys), and refuses it unless it came from its own home. With assertion only a key id crosses, in an assertion the home signs with its net certificate, valid for seconds and used once. With token_exchange the home swaps an assertion for an opaque token bound to the net and the home. Every server has its own users; the net never merges accounts. The host decides who alice@risk-eu is there: an explicit link, else the same login name, else refuse or a guest with mapped roles. The test admin key ships on by owner decision for development and testing; a critical notice shows on every page while it is active.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§5.6 (vendors and external servers, proxies all the way down); docs/architecture/Federation.md §4 (names, proxies all the way down) and §10 (the mcpServers file, config/mcp_servers.json, external by default); separator sajha/tools/naming.py SEPARATOR, read at build time. Federation ships off (federation.enabled).</a:t>
            </a:r>
          </a:p>
          <a:p/>
          <a:p>
            <a:r>
              <a:t>Speaker notes: A proxied MCP server is one a SAJHA server embeds through federation and offers as its own tools. In the mcpServers file, the same JSON Claude Desktop, Cursor and VS Code use, an entry is external unless it says external false. An external server is not a member: it has no member record, certificate or instance name and never gossips. The SAJHA server that defines it is its proxy; its tools are published as vendor__tool, its endpoint and credentials never leave that server, and every call runs with that server's full governance before federation calls the upstream. Every member lists the tool as external, via risk-eu. An internal proxied server's tools stay local. Members themselves are always internal and keep their tool names. A proxied server may itself proxy others; names compose and each level governs its own calls.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§12 (data classes, residency rules, arguments, results, on arrival, residency-aware shortlists, audit, memory); docs/architecture/Policy and Audit.md §3.5 (residency rule conditions). The field and values are illustrative.</a:t>
            </a:r>
          </a:p>
          <a:p/>
          <a:p>
            <a:r>
              <a:t>Speaker notes: Data classes come from x-sajha-data-class marks on schema properties (they are part of the contract hash), a tool's own data_classes, or classification by configuration. Residency rules are policy rules with conditions on data classes, the flow (arguments or results) and the destination (net, instance, region, labels). Before a call leaves, the home checks the classes of the fields present against the host's region and labels; the host checks its result against the home's; the home applies its own rules on arrival. A rule can deny or redact: redaction replaces the fields with [REDACTED:class] in structured content, JSON text and wherever a removed value is quoted. A remote tool whose host may not receive the classes every call sends is left out of tools/list and Ask SAJHA's shortlist for that caller. Every decision is a net.residency audit record, never with values. Conversation memory can keep an answer that used remote results with every figure replaced by [remote figure].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§13 (locality-aware shortlists, remote LLM tools, memory, budgets) and §14 (hops, the call-chain budget); max_call_chain and max_hops read from the shipped config/application.yml at build time. The chain shown is illustrative.</a:t>
            </a:r>
          </a:p>
          <a:p/>
          <a:p>
            <a:r>
              <a:t>Speaker notes: Every shortlist entry records where the tool runs and why it ranked where it did. Local tools rank first, then remote hosts named in the tool's preferences, in this server's region, healthy, and with lower latency, as small nudges so the right remote tool is still offered. An ask can be restricted to local tools or one net. An LLM tool is exported like any tool; called from another instance it runs on its host as the mapped user, on the host's models and budgets, and the host reports the spend, which the home records and never charges again. Conversation memory lives only on the server the user talks to. A chain that crosses instances and nests planners, LLM tools, composites and sajha_ask is bounded end to end: each forwarded call is one hop (at most 1 by default), and the depth travels with the call.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§14 (re-export within one net, bridges between nets) and §10.2 (a call to a re-exported tool and a bridge's call always use assertion); tests/net/test_net_reexport_identity.py.</a:t>
            </a:r>
          </a:p>
          <a:p/>
          <a:p>
            <a:r>
              <a:t>Speaker notes: With re-export on for a net, an imported tool goes onward only when a re-export rule names it. It keeps its origin and contract, is never offered back to its host or origin, and the home ranks direct offers first. The home sends an assertion whose audience is the origin, never a key. The intermediary verifies it, maps and authorizes the caller under its re-export rules, and relays the assertion unchanged with the hop count raised, so residency, hops and the chain budget apply on every step. A bridge is a server in two nets that offers one net's tools in the other, only when re-export is on for the net it offers into. A call from N runs as the local account the caller maps to, which calls into M with an assertion the bridge signs there; a guest mapping cannot cross a bridge, and loops through several nets are caught by the visited list.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§5.1 (three ways to take part), §5.7 (sponsored servers), §5.8 (the agent and the reference library), §5.9 (conformance; tests/net/test_net_mixed_conformance.py); docs/clients/SAJHA Net Agent.md.</a:t>
            </a:r>
          </a:p>
          <a:p/>
          <a:p>
            <a:r>
              <a:t>Speaker notes: The agent, python -m sajhanet_agent, puts any MCP server, over stdio or Streamable HTTP, into a net as a member of kind agent: it holds the certificate, gossips, publishes the server's tools, verifies forwarded keys against the net key directory, applies a small export policy and passes allowed calls on. It only hosts. The reference library is the same participant inside a Python server. A sponsored server is one that cannot have anything beside it, a vendor's or SaaS endpoint: a SAJHA server runs a node for it under its own instance name and enforces everything for it. The conformance runner checks any target from outside and runs the library cases against the protocol's vectors; SAJHA's own suite covers the S cases. The agent is part of SAJHA, which is proprietary: running or redistributing it needs a written agreement.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docs/architecture/SAJHA Net.md §11.4 (blocking) and §17 (the console: pages, topology map, admission panel, notices). Tinted pages are for every signed-in user, the others for administrators.</a:t>
            </a:r>
          </a:p>
          <a:p/>
          <a:p>
            <a:r>
              <a:t>Speaker notes: An administrator blocks, per net, at five levels: an instance entirely (stop calling it, refuse its calls, ignore its updates), inbound only, outbound only, one tool, or one remote user. A block takes effect on the next request, may expire, carries a reason and is audited. Removing a server from the whole net is a revocation or a removed pin, not a block. The topology map draws this server in the centre and the others on a ring, coloured by state and labelled in words when not alive, with edges for offers, re-exports and observed calls; a table under it lists the same. Instances and Your net access are for every signed-in user; Net overview, Remote tools and the admin page for administrators. Every page has JSON behind it and the sajha net commands do the same over HTTP.</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Names and first sentences of the descriptions from the live registry at build time (evidence.describe_tools, cut by evidence.short_description over tavily_, wiki_, crawl_, extract_; ir_ counted).</a:t>
            </a:r>
          </a:p>
          <a:p/>
          <a:p>
            <a:r>
              <a:t>Speaker notes: These are the search and web tools in the registry, with the first sentence of each description. Results come back as structured text for a model rather than raw HTML. Tavily tools need a Tavily key. For filings, the investor-relations tools find reports and presentations.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Names and descriptions from the live registry at build time (duckdb_, olap_, sqlselect_). Guards: the 'Fixes since' table of docs/security/Security Model.md (duckdb_sql, OLAP SQL injection).</a:t>
            </a:r>
          </a:p>
          <a:p/>
          <a:p>
            <a:r>
              <a:t>Speaker notes: DuckDB tools run SQL over your own files, the OLAP tools pivot and summarise, and the SQL select tools read configured databases. duckdb_sql accepts exactly one read-only statement and cannot read arbitrary files or URLs, and the OLAP tools bind values rather than pasting them into SQL; both were hardened in the fixes the Security Model lists.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Names and descriptions from the live registry at build time (calc_). Confidence: sajha.core.composition.get_tool_confidence for the calc group, 1.0.</a:t>
            </a:r>
          </a:p>
          <a:p/>
          <a:p>
            <a:r>
              <a:t>Speaker notes: The financial calculators are pure arithmetic: no network, no model, so their confidence is one. They cover returns, loans, bonds, risk statistics and more, and they are what Ask SAJHA calls when a question needs a number computed rather than looked up.</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docs/architecture/Data Connectors.md (the guard, limits, masking, §14 'Limits of this design'); sajha/connectors/model.py PER_USER_KINDS, read at build time.</a:t>
            </a:r>
          </a:p>
          <a:p/>
          <a:p>
            <a:r>
              <a:t>Speaker notes: A data connector puts your database behind three independent read-only checks. SAJHA's statement guard allows one SELECT over an allowlist of tables and no procedures. The connection itself is opened read-only. And the database applies the login's own grants. Every query has row, byte and time limits, columns can be masked, and some kinds can run as each user. The honest limit: the guard analyses query text, so database-native grants, views and masking should back anything sensitive.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Illustrative: no run is claimed. Tool names checked against the live registry at build time. After the earlier deck's combined-workflow slide.</a:t>
            </a:r>
          </a:p>
          <a:p/>
          <a:p>
            <a:r>
              <a:t>Speaker notes: Illustrative again, with real tool names. One question needs both the outside world and our own data. tavily_news_search brings the market's view of credit spreads, with links. Inside, duckdb_sql reads our positions, olap_pivot_table shows where we are concentrated by sector and rating, and calc_correlation measures how our spreads have moved with the market's. The model writes a synthesis that cites each call. Every step runs as the same identity, under the same rules, into the same audit.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sajha.ai.llm.registry.registered_providers() after ensure_builtins(), read at build time; config/application.yml ai.aliases; docs/architecture/Intelligence Layer.md §1 (shape, the public API, the boundary), §5 (the factory and governed models); tests/test_llm_boundary.py.</a:t>
            </a:r>
          </a:p>
          <a:p/>
          <a:p>
            <a:r>
              <a:t>Speaker notes: Everything LLM lives in one package. A consumer asks the factory for a model by alias (an ordered list of candidates) or provider/model and gets a GovernedModel, which speaks the OpenAI Chat Completions format as typed models. The governed model resolves the alias against the user's preference, the system default and the alias list, skipping providers that are down, circuits that are open and models the caller's role may not use; applies per-role policy and token caps and daily budgets; retries with backoff and falls back to the next candidate; caches deterministic answers; and records audit, usage, cost and one OpenTelemetry span per call. Each provider module translates the canonical format to its vendor at the edge, over HTTP; only Bedrock needs an SDK, loaded lazily. A test enforces the boundary.</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sajha/ai/llm_tools/config.py MODES, read at build time; docs/architecture/LLM Tools.md §6 (modes), §13.4 (SAJHA as an OpenAI-compatible endpoint; sajha/ai/openai_api.py, sajha/routes/openai_routes.py); docs/architecture/SAJHA Net.md §13 (remote LLM tools); ai.openai_api.enabled from the shipped config/application.yml.</a:t>
            </a:r>
          </a:p>
          <a:p/>
          <a:p>
            <a:r>
              <a:t>Speaker notes: answer plans, calls tools and composes an answer with citations and confidence, which is what sajha_ask does. complete fills a prompt without tools; extract returns JSON validated against the output schema, retrying once; classify picks one label from a fixed set; grounded answers only from document search, citing each passage; narrate runs a named composite or workflow and has the model write only the prose; judge scores against a rubric. Each runs as the caller, with depth and budgets shared down the chain, so an LLM tool that calls another cannot escape its limits. The shipped examples are disabled by default. With the OpenAI-compatible endpoint on, any OpenAI SDK reaches SAJHA's gateway with a SAJHA API key as the bearer token, and each enabled LLM tool appears as a model.</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sajha/ai/intelligence.py (stream_ask), sajha/ai/tool_resolver.py and lexical.py (BM25 without an embedder). A real run captured while the deck was built (tools/deck/evidence.py, ask_run): IntelligenceService.stream_ask over the full registry (603 tools) on the offline mock provider (mock/mock-planner), planner react, question 'What is the percentage change from 80 to 100?'.</a:t>
            </a:r>
          </a:p>
          <a:p/>
          <a:p>
            <a:r>
              <a:t>Speaker notes: On the Ask page the catalog is drawn as a constellation, one star per tool, clustered by group. A question is answered in four moves. First a shortlist: every tool's name and description is ranked against the question, by embeddings or by BM25 when none is configured, after dropping tools the caller may not run. Then a planner asks the model what to do next. Each call the model asks for takes the governed path any client's call takes. Finally the answer cites the calls it rests on, with a confidence SAJHA computes itself. The lower strip is the real event stream of the run captured for this deck; the page lights up the shortlisted stars and draws a line to each tool called as these events arrive.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 real run captured while the deck was built (tools/deck/evidence.py, ask_run): IntelligenceService.stream_ask over the full registry (603 tools) on the offline mock provider (mock/mock-planner), planner react, question 'What is the percentage change from 80 to 100?'. Shortlist size: AskSettings().shortlist. Bar lengths are proportional to the scores.</a:t>
            </a:r>
          </a:p>
          <a:p/>
          <a:p>
            <a:r>
              <a:t>Speaker notes: No model chose these. The resolver ranked all 603 descriptions against the question by word overlap, BM25, because no embedding model is configured on the offline build. The calculator ranks first, as the bars show, but the model, not the shortlist, makes the final choice. Tools the caller may not run were removed before ranking, so a model cannot be talked into a tool its user cannot call. Only the top 12, the ai.ask.shortlist setting, reach the model.</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 real run captured while the deck was built (tools/deck/evidence.py, ask_run): IntelligenceService.stream_ask over the full registry (603 tools) on the offline mock provider (mock/mock-planner), planner react, question 'What is the percentage change from 80 to 100?'. Safeguards: IntelligenceService._run_call and SYSTEM_PROMPT (sajha/ai/intelligence.py); BaseMCPTool.execute_with_tracking.</a:t>
            </a:r>
          </a:p>
          <a:p/>
          <a:p>
            <a:r>
              <a:t>Speaker notes: On the left is the captured call: the mock model asked for calc_percentage_change with the arguments shown, and the result came back in 32 milliseconds. On the right is what SAJHA did on the way. A call for a tool that was not offered is refused. The arguments are checked against the schema, then the caller's access and the policy rules in force; a destructive tool waits for the user's confirmation. The tool runs through its cache and its provider's circuit breaker and is counted in the metrics. Its output goes back to the model as data, never as an instruction.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A real run captured while the deck was built (tools/deck/evidence.py, ask_run): IntelligenceService.stream_ask over the full registry (603 tools) on the offline mock provider (mock/mock-planner), planner react, question 'What is the percentage change from 80 to 100?'. Confidence rules: IntelligenceService._confidence, UNVERIFIED_CONFIDENCE, get_tool_confidence, read at build time. Evals: sajha.quality.evals.run_set over config/evals/calculators.yaml.</a:t>
            </a:r>
          </a:p>
          <a:p/>
          <a:p>
            <a:r>
              <a:t>Speaker notes: The captured answer on the left names the calculator call it rests on, by its citation id. The confidence is not the model's opinion. Each cited step contributes its tool's confidence, one for a calculator, 0.95 for FRED, 0.80 for a web fetch, and the steps are chained. Other cases have fixed contributions: a failed call 0.9, an incomplete loop 0.8, an answer that rests on no tool 0.5. The offline mock demonstrates the mechanism, not reasoning; real questions need a real model.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sajha.ai.planners.registered_planners() at build time; RouterPlanner.choose in sajha/ai/planners.py (configured rules, then recipes, then the multi-step planner, else the default); docs/architecture/Intelligence Layer.md §6.</a:t>
            </a:r>
          </a:p>
          <a:p/>
          <a:p>
            <a:r>
              <a:t>Speaker notes: A planner only decides the next step; the service around it keeps every safeguard. react is the default: one model call per step, answering or calling which offered tools. plan_execute makes one planning call that returns steps with dependencies, runs independent steps together, and re-plans once after a failure. recipes maps a question to a tool and its arguments with configured patterns, and can answer from a template with no model call at all. The router chooses per question: a configured rule first, then a matching recipe, then plan_execute for a multi-part question, otherwise react.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docs/architecture/Intelligence Layer.md §6 'Document search (RAG)' and 'Stores' (sqlite_vec is the default when the extension loads, else memory; pgvector on PostgreSQL), 'Conversation memory', §9; sajha/ai/memory.py, sajha/ai/rag/ (stores: sajha.ai.rag.registry.registered_stores(), read at build time).</a:t>
            </a:r>
          </a:p>
          <a:p/>
          <a:p>
            <a:r>
              <a:t>Speaker notes: sajha_search_docs is an ordinary tool over a document index: SAJHA's own guides, each passage citing its help page and section; folders of the storage backend an administrator names; and uploads. PDF and Word are read when their optional packages are installed; a scanned PDF has no text layer and is reported as such. Passages keep their section path. The default store, sqlite_vec, keeps passages, vectors and a full-text index in a SQLite file of its own; the memory store holds everything in the process; pgvector uses PostgreSQL. When the chosen store cannot run, the index falls back to memory and raises a system notice. Search fuses the vector ranking with a BM25 keyword ranking. Conversation memory is off unless an ask names a conversation: a follow-up gets the recent turns and a summary of older ones and is rewritten to stand alone; memory is per user, never shared, expires after ai.memory.retention_days, and users delete their own history.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Run at build time (evidence.eval_runs) with sajha.quality.evals over config/evals/calculators.yaml; docs/architecture/Tool Quality.md.</a:t>
            </a:r>
          </a:p>
          <a:p/>
          <a:p>
            <a:r>
              <a:t>Speaker notes: An eval set is a file of golden questions. Each names the tools that must and must not be called, checks on the answer, and limits on steps, tokens, cost and latency. The harness runs the set per model and planner and measures pass rate, tool-selection and answer accuracy, tokens, cost, and mean and p95 latency; two runs can be compared question by question. The numbers here were produced while the deck was built, on the offline mock, so they show the harness working, not how good a real model is.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docs/architecture/Tool Quality.md; sajha/quality/; sajha/core/tool_versioning.py.</a:t>
            </a:r>
          </a:p>
          <a:p/>
          <a:p>
            <a:r>
              <a:t>Speaker notes: A tool's life runs left to right. Its test cases replay recorded HTTP cassettes offline and report JUnit for CI. A static linter checks the schema is valid JSON Schema 2020-12 and that descriptions, examples, names and annotations are good enough for a model to use. Several versions can live behind one name, routed by pin, user or role, and a new one starts as a canary on a percentage of calls; a canary that errors or slows down is rolled back automatically, and sunset dates retire old versions. Probes call tools on a schedule, one worker per slot, and the same harness evaluates models and planners.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docs/architecture/Observability.md §2–§5; sajha/observability/metrics.py, tracing.py, usage.py, alerts.py; deployment/observability/.</a:t>
            </a:r>
          </a:p>
          <a:p/>
          <a:p>
            <a:r>
              <a:t>Speaker notes: Four signals leave every worker. Prometheus metrics at /metrics, protected, count HTTP, MCP and tool calls, latency, cache hits, model tokens and spend, sandbox runs, policy decisions and audit export. OpenTelemetry traces, when turned on, give a span per request, tool call and model call with the caller attached. A usage and cost dashboard breaks calls, errors, tokens and spend down by user, key, role, model, tool and day, with budgets and CSV export. Alert rules watch error rates, p95 latency, spend and open circuit breakers, and notify a log, an email or a guarded webhook. deployment/observability ships the Prometheus, Grafana and alert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sajha/sandbox/backends.py BACKENDS and sajha/accounts/providers.py TEMPLATES, read at build time; docs/architecture/Sandbox.md, Connected Accounts.md; Security Model §8.</a:t>
            </a:r>
          </a:p>
          <a:p/>
          <a:p>
            <a:r>
              <a:t>Speaker notes: User code, the Studio's Python and script tools and the admin shell, runs one process per call, with no server environment and no network unless allowed, on one of the backends subprocess, bwrap, nsjail and docker. Built-in tools are not sandboxed: they run in the server process, and on macOS and Windows the default backend gives only a clean environment and limits. On the right, a user links github, slack, google, microsoft, atlassian and notion or any OAuth 2.0 service once; the token is kept in a vault encrypted with AES-256-GCM and bound to that user and provider, sent only to the provider's listed hosts, and results made with it are never cached.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StorageBackend subclasses in sajha/core/storage.py; sajha.core.state.BACKENDS; db/scripts/*/; deployment/*/, all listed at build time; docs/architecture/Scaling and State.md.</a:t>
            </a:r>
          </a:p>
          <a:p/>
          <a:p>
            <a:r>
              <a:t>Speaker notes: On a laptop everything takes its default: files on local disk, protocol state in memory, and SQLite, which creates its own tables. In a cluster, several pods share their files through an object store (S3, Azure Blob or GCS) with hot reload, share sessions, tasks, OAuth codes, counters and approvals through a redis or database state store, and use PostgreSQL from one schema file an operator runs. Caches, circuit breakers and metrics stay per process on purpose. The image runs as a non-root user, and there is a Helm chart, Kustomize and deployment recipes.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clientsdk/sajhaclient (standard.py SajhaMCPClient, a2a_client.py, auth.py); CLI commands parsed from clientsdk/sajhaclient/cli/main.py at build time; sajha/routes/a2a_routes.py; docs/clients/Command Line.md.</a:t>
            </a:r>
          </a:p>
          <a:p/>
          <a:p>
            <a:r>
              <a:t>Speaker notes: sajhaclient is SAJHA's Python client, built on the official MCP SDK; it adopts the newest protocol era the server offers, includes REST and A2A clients, and authenticates with an API key, a JWT or OAuth. The sajha command line is part of it, with profiles per server and JSON output. sajha serve --stdio runs SAJHA as a stdio server for desktop clients such as Claude Desktop and Claude Code, with the caller set by --user or --api-key. Other agents find SAJHA's agent card and send it tasks over A2A, under the same tool access as every other caller.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sajha/core/config.py _get; CLAUDE.md 'Code facts'; docs/getting-started/Configuration Reference.md (which keys resolve how; storage and ${...} in tool configs use PropertiesConfigurator); docs/security/Security Model.md §6.</a:t>
            </a:r>
          </a:p>
          <a:p/>
          <a:p>
            <a:r>
              <a:t>Speaker notes: Most keys resolve the environment variable SAJHA_ followed by the dotted key in capitals, then config/application.yml (which may itself say ${ENV:default}), then the code's default. Not every subsystem reads through that path: storage and the ${...} placeholders in tool configs use the properties configurator, and the Configuration Reference records which keys behave how. The intelligence layer resolves SAJHA_AI_&lt;SECTION&gt;_&lt;FIELD&gt;, then the vendor's own variable such as OPENAI_API_KEY, then YAML, then the database, then the default. application.yml is tracked, so secrets go in the environment. Laptop, Docker, Kubernetes and the cloud recipes all start from the same file.</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db/scripts/postgresql/schema.sql and db/scripts/sqlite/schema.sql, parsed at build time (the same set in both); grouping: tools/deck/deck_part4.py TABLE_GROUPS (an unknown table fails the build); tests/test_db_schema.py; docs/getting-started/Database Setup.md.</a:t>
            </a:r>
          </a:p>
          <a:p/>
          <a:p>
            <a:r>
              <a:t>Speaker notes: The database schema is two files, one for PostgreSQL and one for SQLite, defining the same tables, grouped here by purpose. There are no migrations: SAJHA never runs DDL on PostgreSQL, where an operator runs the schema and seed files, which are safe to re-run; SQLite creates its own tables. A test keeps both files in step with the models.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Left column and the note: the open items of docs/architecture/Roadmap.md sections 2 to 4, parsed at build time (evidence.roadmap). Right column: bold heads of 'Known limitations' in docs/security/Security Model.md, parsed at build time and filtered by name. Built features are on the capability slides, not here.</a:t>
            </a:r>
          </a:p>
          <a:p/>
          <a:p>
            <a:r>
              <a:t>Speaker notes: Built things are on the capability slides; this slide is only what is not built yet and what is known to be limited. The left column is the open items of the Roadmap, parsed when the deck is built. The right column is the known limitations from the Security Model, such as plain credential storage by default and the test admin key shipping on, so a deployment can compensate.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sajha/web/competitive.py (the data behind /comparison), read at build time; competitor verdicts come from each vendor's public pages as of 2026-10-08, each with a source URL; tests/test_competitive.py checks it. The ten columns are chosen to show differences.</a:t>
            </a:r>
          </a:p>
          <a:p/>
          <a:p>
            <a:r>
              <a:t>Speaker notes: The comparison comes from the data behind the /comparison page, where every cell has a note and a source URL from the vendor's own public documentation, dated. Part means partial, a preview or a paid tier; a question mark means public documentation did not say. The ten columns were chosen to show differences, not to flatter.</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sajha/web/competitive.py (the data behind /comparison), read at build time; competitor verdicts come from each vendor's public pages as of 2026-10-08, each with a source URL; tests/test_competitive.py checks it. Groupings computed from each competitor's kind and its isolation, managed and open_source verdicts.</a:t>
            </a:r>
          </a:p>
          <a:p/>
          <a:p>
            <a:r>
              <a:t>Speaker notes: Where others are stronger, said plainly. Gateways are built to put many MCP servers behind one endpoint at scale. Some products run each server in its own container, while SAJHA sandboxes only user code. Hosted catalogs connect thousands of SaaS apps with per-user sign-in. And some products are open source or run for you; SAJHA is proprietary and self-hosted by decision. The names are computed from the comparison data.</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README.md 'Quick start'; docs/README.md reading order; guide names as in docs/.</a:t>
            </a:r>
          </a:p>
          <a:p/>
          <a:p>
            <a:r>
              <a:t>Speaker notes: Pick the row that fits. To try it, install the requirements, run the web server and open the console. To connect a client, point it at /mcp or run the stdio server. To review security, read the access policy and try a rule on the Policies test bench. To add tools, describe one, import an API or connect a database. To run it, install the Helm chart with a shared state backend. Every guide named is also served inside the app.</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config/application.yml app.version, app.author and app.email, read at build time; the licence position: the LICENSE file and docs/architecture/Roadmap.md §6.</a:t>
            </a:r>
          </a:p>
          <a:p/>
          <a:p>
            <a:r>
              <a:t>Speaker notes: Thank you. SAJHA is proprietary and no licence is granted by this deck; for licensing and enquiries, use the address on the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1122045" y="944879"/>
            <a:ext cx="226695" cy="226696"/>
          </a:xfrm>
          <a:prstGeom prst="line">
            <a:avLst/>
          </a:prstGeom>
          <a:ln w="279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348740" y="944879"/>
            <a:ext cx="226695" cy="226696"/>
          </a:xfrm>
          <a:prstGeom prst="line">
            <a:avLst/>
          </a:prstGeom>
          <a:ln w="2794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219200" y="1268730"/>
            <a:ext cx="259080" cy="0"/>
          </a:xfrm>
          <a:prstGeom prst="line">
            <a:avLst/>
          </a:prstGeom>
          <a:ln w="2794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251585" y="750570"/>
            <a:ext cx="194310" cy="194310"/>
          </a:xfrm>
          <a:prstGeom prst="ellipse">
            <a:avLst/>
          </a:prstGeom>
          <a:noFill/>
          <a:ln w="279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024890" y="1171575"/>
            <a:ext cx="194310" cy="194310"/>
          </a:xfrm>
          <a:prstGeom prst="ellipse">
            <a:avLst/>
          </a:prstGeom>
          <a:noFill/>
          <a:ln w="279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78280" y="1171575"/>
            <a:ext cx="194310" cy="194310"/>
          </a:xfrm>
          <a:prstGeom prst="ellipse">
            <a:avLst/>
          </a:prstGeom>
          <a:noFill/>
          <a:ln w="2794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713232"/>
            <a:ext cx="5486400" cy="457200"/>
          </a:xfrm>
          <a:prstGeom prst="rect">
            <a:avLst/>
          </a:prstGeom>
          <a:noFill/>
        </p:spPr>
        <p:txBody>
          <a:bodyPr wrap="square" lIns="0" rIns="0" tIns="0" bIns="0" anchor="t">
            <a:spAutoFit/>
          </a:bodyPr>
          <a:lstStyle/>
          <a:p>
            <a:pPr algn="l">
              <a:lnSpc>
                <a:spcPct val="120000"/>
              </a:lnSpc>
              <a:spcBef>
                <a:spcPts val="0"/>
              </a:spcBef>
              <a:spcAft>
                <a:spcPts val="0"/>
              </a:spcAft>
            </a:pPr>
            <a:r>
              <a:rPr sz="2600" b="1" i="0">
                <a:solidFill>
                  <a:srgbClr val="FFFFFF"/>
                </a:solidFill>
                <a:latin typeface="Georgia"/>
              </a:rPr>
              <a:t>SAJHA</a:t>
            </a:r>
          </a:p>
        </p:txBody>
      </p:sp>
      <p:sp>
        <p:nvSpPr>
          <p:cNvPr id="11" name="TextBox 10"/>
          <p:cNvSpPr txBox="1"/>
          <p:nvPr/>
        </p:nvSpPr>
        <p:spPr>
          <a:xfrm>
            <a:off x="1920240" y="1143000"/>
            <a:ext cx="5486400" cy="365760"/>
          </a:xfrm>
          <a:prstGeom prst="rect">
            <a:avLst/>
          </a:prstGeom>
          <a:noFill/>
        </p:spPr>
        <p:txBody>
          <a:bodyPr wrap="square" lIns="0" rIns="0" tIns="0" bIns="0" anchor="t">
            <a:spAutoFit/>
          </a:bodyPr>
          <a:lstStyle/>
          <a:p>
            <a:pPr algn="l">
              <a:lnSpc>
                <a:spcPct val="120000"/>
              </a:lnSpc>
              <a:spcBef>
                <a:spcPts val="0"/>
              </a:spcBef>
              <a:spcAft>
                <a:spcPts val="0"/>
              </a:spcAft>
            </a:pPr>
            <a:r>
              <a:rPr sz="1400" b="0" i="0">
                <a:solidFill>
                  <a:srgbClr val="F3C6CF"/>
                </a:solidFill>
                <a:latin typeface="Calibri"/>
              </a:rPr>
              <a:t>साझा  ·  shared</a:t>
            </a:r>
          </a:p>
        </p:txBody>
      </p:sp>
      <p:sp>
        <p:nvSpPr>
          <p:cNvPr id="12" name="TextBox 11"/>
          <p:cNvSpPr txBox="1"/>
          <p:nvPr/>
        </p:nvSpPr>
        <p:spPr>
          <a:xfrm>
            <a:off x="960120" y="2057400"/>
            <a:ext cx="9573493" cy="914400"/>
          </a:xfrm>
          <a:prstGeom prst="rect">
            <a:avLst/>
          </a:prstGeom>
          <a:noFill/>
        </p:spPr>
        <p:txBody>
          <a:bodyPr wrap="square" lIns="0" rIns="0" tIns="0" bIns="0" anchor="t">
            <a:spAutoFit/>
          </a:bodyPr>
          <a:lstStyle/>
          <a:p>
            <a:pPr algn="l">
              <a:lnSpc>
                <a:spcPct val="110000"/>
              </a:lnSpc>
              <a:spcBef>
                <a:spcPts val="0"/>
              </a:spcBef>
              <a:spcAft>
                <a:spcPts val="0"/>
              </a:spcAft>
            </a:pPr>
            <a:r>
              <a:rPr sz="4400" b="0" i="0">
                <a:solidFill>
                  <a:srgbClr val="FFFFFF"/>
                </a:solidFill>
                <a:latin typeface="Georgia"/>
              </a:rPr>
              <a:t>SAJHA MCP Server</a:t>
            </a:r>
          </a:p>
        </p:txBody>
      </p:sp>
      <p:sp>
        <p:nvSpPr>
          <p:cNvPr id="13" name="TextBox 12"/>
          <p:cNvSpPr txBox="1"/>
          <p:nvPr/>
        </p:nvSpPr>
        <p:spPr>
          <a:xfrm>
            <a:off x="960120" y="2971800"/>
            <a:ext cx="9573493" cy="548640"/>
          </a:xfrm>
          <a:prstGeom prst="rect">
            <a:avLst/>
          </a:prstGeom>
          <a:noFill/>
        </p:spPr>
        <p:txBody>
          <a:bodyPr wrap="square" lIns="0" rIns="0" tIns="0" bIns="0" anchor="t">
            <a:spAutoFit/>
          </a:bodyPr>
          <a:lstStyle/>
          <a:p>
            <a:pPr algn="l">
              <a:lnSpc>
                <a:spcPct val="120000"/>
              </a:lnSpc>
              <a:spcBef>
                <a:spcPts val="0"/>
              </a:spcBef>
              <a:spcAft>
                <a:spcPts val="0"/>
              </a:spcAft>
            </a:pPr>
            <a:r>
              <a:rPr sz="2400" b="0" i="1">
                <a:solidFill>
                  <a:srgbClr val="FBEEF0"/>
                </a:solidFill>
                <a:latin typeface="Georgia"/>
              </a:rPr>
              <a:t>One Protocol, Infinite Possibilities</a:t>
            </a:r>
          </a:p>
        </p:txBody>
      </p:sp>
      <p:sp>
        <p:nvSpPr>
          <p:cNvPr id="14" name="TextBox 13"/>
          <p:cNvSpPr txBox="1"/>
          <p:nvPr/>
        </p:nvSpPr>
        <p:spPr>
          <a:xfrm>
            <a:off x="960120" y="3566160"/>
            <a:ext cx="9573493" cy="411480"/>
          </a:xfrm>
          <a:prstGeom prst="rect">
            <a:avLst/>
          </a:prstGeom>
          <a:noFill/>
        </p:spPr>
        <p:txBody>
          <a:bodyPr wrap="square" lIns="0" rIns="0" tIns="0" bIns="0" anchor="t">
            <a:spAutoFit/>
          </a:bodyPr>
          <a:lstStyle/>
          <a:p>
            <a:pPr algn="l">
              <a:lnSpc>
                <a:spcPct val="120000"/>
              </a:lnSpc>
              <a:spcBef>
                <a:spcPts val="0"/>
              </a:spcBef>
              <a:spcAft>
                <a:spcPts val="0"/>
              </a:spcAft>
            </a:pPr>
            <a:r>
              <a:rPr sz="1600" b="0" i="0">
                <a:solidFill>
                  <a:srgbClr val="F3C6CF"/>
                </a:solidFill>
                <a:latin typeface="Calibri"/>
              </a:rPr>
              <a:t>One governed catalog of tools for every agent</a:t>
            </a:r>
          </a:p>
        </p:txBody>
      </p:sp>
      <p:sp>
        <p:nvSpPr>
          <p:cNvPr id="15" name="Rectangle 14"/>
          <p:cNvSpPr/>
          <p:nvPr/>
        </p:nvSpPr>
        <p:spPr>
          <a:xfrm>
            <a:off x="960120" y="4160520"/>
            <a:ext cx="155448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4389120"/>
            <a:ext cx="5318607" cy="1188720"/>
          </a:xfrm>
          <a:prstGeom prst="rect">
            <a:avLst/>
          </a:prstGeom>
          <a:noFill/>
        </p:spPr>
        <p:txBody>
          <a:bodyPr wrap="square" lIns="0" rIns="0" tIns="0" bIns="0" anchor="t">
            <a:spAutoFit/>
          </a:bodyPr>
          <a:lstStyle/>
          <a:p>
            <a:pPr algn="l">
              <a:lnSpc>
                <a:spcPct val="120000"/>
              </a:lnSpc>
              <a:spcBef>
                <a:spcPts val="0"/>
              </a:spcBef>
              <a:spcAft>
                <a:spcPts val="400"/>
              </a:spcAft>
            </a:pPr>
            <a:r>
              <a:rPr sz="2000" b="1" i="0">
                <a:solidFill>
                  <a:srgbClr val="FFFFFF"/>
                </a:solidFill>
                <a:latin typeface="Georgia"/>
              </a:rPr>
              <a:t>Ashutosh Sinha</a:t>
            </a:r>
          </a:p>
          <a:p>
            <a:pPr>
              <a:lnSpc>
                <a:spcPct val="120000"/>
              </a:lnSpc>
              <a:spcBef>
                <a:spcPts val="0"/>
              </a:spcBef>
              <a:spcAft>
                <a:spcPts val="200"/>
              </a:spcAft>
            </a:pPr>
            <a:r>
              <a:rPr sz="1300" b="0" i="0">
                <a:solidFill>
                  <a:srgbClr val="FBEEF0"/>
                </a:solidFill>
                <a:latin typeface="Calibri"/>
              </a:rPr>
              <a:t>October 2026</a:t>
            </a:r>
          </a:p>
          <a:p>
            <a:pPr>
              <a:lnSpc>
                <a:spcPct val="120000"/>
              </a:lnSpc>
              <a:spcBef>
                <a:spcPts val="0"/>
              </a:spcBef>
              <a:spcAft>
                <a:spcPts val="0"/>
              </a:spcAft>
            </a:pPr>
            <a:r>
              <a:rPr sz="1100" b="0" i="0">
                <a:solidFill>
                  <a:srgbClr val="F3C6CF"/>
                </a:solidFill>
                <a:latin typeface="Calibri"/>
              </a:rPr>
              <a:t>SAJHA 8.9.0 (app.version)</a:t>
            </a:r>
          </a:p>
        </p:txBody>
      </p:sp>
      <p:sp>
        <p:nvSpPr>
          <p:cNvPr id="17" name="TextBox 16"/>
          <p:cNvSpPr txBox="1"/>
          <p:nvPr/>
        </p:nvSpPr>
        <p:spPr>
          <a:xfrm>
            <a:off x="6308591" y="4389120"/>
            <a:ext cx="5105863" cy="1463040"/>
          </a:xfrm>
          <a:prstGeom prst="rect">
            <a:avLst/>
          </a:prstGeom>
          <a:noFill/>
        </p:spPr>
        <p:txBody>
          <a:bodyPr wrap="square" lIns="0" rIns="0" tIns="0" bIns="0" anchor="t">
            <a:spAutoFit/>
          </a:bodyPr>
          <a:lstStyle/>
          <a:p>
            <a:pPr algn="l">
              <a:lnSpc>
                <a:spcPct val="120000"/>
              </a:lnSpc>
              <a:spcBef>
                <a:spcPts val="0"/>
              </a:spcBef>
              <a:spcAft>
                <a:spcPts val="0"/>
              </a:spcAft>
            </a:pPr>
            <a:r>
              <a:rPr sz="1200" b="0" i="0">
                <a:solidFill>
                  <a:srgbClr val="FBEEF0"/>
                </a:solidFill>
                <a:latin typeface="Calibri"/>
              </a:rPr>
              <a:t>SAJHA is proprietary software owned by Ashutosh Sinha. © 2025-2030 Ashutosh Sinha. All rights reserved. This presentation grants no licence to use, copy, modify or distribute SAJHA or any part of it. Enquiries: ajsinha@gmail.com.</a:t>
            </a:r>
          </a:p>
        </p:txBody>
      </p:sp>
      <p:sp>
        <p:nvSpPr>
          <p:cNvPr id="18" name="Rectangle 17"/>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20" name="TextBox 19"/>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TL;DR</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Executive summary: five questions, five answers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a:t>
            </a:r>
          </a:p>
        </p:txBody>
      </p:sp>
      <p:sp>
        <p:nvSpPr>
          <p:cNvPr id="17" name="Rectangle 16"/>
          <p:cNvSpPr/>
          <p:nvPr/>
        </p:nvSpPr>
        <p:spPr>
          <a:xfrm>
            <a:off x="777240" y="1386967"/>
            <a:ext cx="10637215" cy="88389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1386967"/>
            <a:ext cx="54864" cy="88389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8408" y="1460119"/>
            <a:ext cx="2377440" cy="737590"/>
          </a:xfrm>
          <a:prstGeom prst="rect">
            <a:avLst/>
          </a:prstGeom>
          <a:noFill/>
        </p:spPr>
        <p:txBody>
          <a:bodyPr wrap="square" lIns="0" rIns="0" tIns="0" bIns="0" anchor="t">
            <a:spAutoFit/>
          </a:bodyPr>
          <a:lstStyle/>
          <a:p>
            <a:pPr algn="l">
              <a:lnSpc>
                <a:spcPct val="112000"/>
              </a:lnSpc>
              <a:spcBef>
                <a:spcPts val="0"/>
              </a:spcBef>
              <a:spcAft>
                <a:spcPts val="0"/>
              </a:spcAft>
            </a:pPr>
            <a:r>
              <a:rPr sz="1800" b="1" i="0">
                <a:solidFill>
                  <a:srgbClr val="6E1120"/>
                </a:solidFill>
                <a:latin typeface="Georgia"/>
              </a:rPr>
              <a:t>What is MCP?</a:t>
            </a:r>
          </a:p>
        </p:txBody>
      </p:sp>
      <p:sp>
        <p:nvSpPr>
          <p:cNvPr id="20" name="TextBox 19"/>
          <p:cNvSpPr txBox="1"/>
          <p:nvPr/>
        </p:nvSpPr>
        <p:spPr>
          <a:xfrm>
            <a:off x="3429000" y="1460119"/>
            <a:ext cx="7802575" cy="737590"/>
          </a:xfrm>
          <a:prstGeom prst="rect">
            <a:avLst/>
          </a:prstGeom>
          <a:noFill/>
        </p:spPr>
        <p:txBody>
          <a:bodyPr wrap="square" lIns="0" rIns="0" tIns="0" bIns="0" anchor="t">
            <a:spAutoFit/>
          </a:bodyPr>
          <a:lstStyle/>
          <a:p>
            <a:pPr algn="l">
              <a:lnSpc>
                <a:spcPct val="118000"/>
              </a:lnSpc>
              <a:spcBef>
                <a:spcPts val="0"/>
              </a:spcBef>
              <a:spcAft>
                <a:spcPts val="0"/>
              </a:spcAft>
            </a:pPr>
            <a:r>
              <a:rPr sz="1450" b="0" i="0">
                <a:solidFill>
                  <a:srgbClr val="1A1A1A"/>
                </a:solidFill>
                <a:latin typeface="Calibri"/>
              </a:rPr>
              <a:t>An open standard, now under the Linux Foundation's Agentic AI Foundation, that lets AI applications connect to any tool or data source through one protocol instead of one integration per pair.</a:t>
            </a:r>
          </a:p>
        </p:txBody>
      </p:sp>
      <p:sp>
        <p:nvSpPr>
          <p:cNvPr id="21" name="Rectangle 20"/>
          <p:cNvSpPr/>
          <p:nvPr/>
        </p:nvSpPr>
        <p:spPr>
          <a:xfrm>
            <a:off x="777240" y="2380589"/>
            <a:ext cx="10637215" cy="88389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2380589"/>
            <a:ext cx="54864" cy="88389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 y="2453741"/>
            <a:ext cx="2377440" cy="737590"/>
          </a:xfrm>
          <a:prstGeom prst="rect">
            <a:avLst/>
          </a:prstGeom>
          <a:noFill/>
        </p:spPr>
        <p:txBody>
          <a:bodyPr wrap="square" lIns="0" rIns="0" tIns="0" bIns="0" anchor="t">
            <a:spAutoFit/>
          </a:bodyPr>
          <a:lstStyle/>
          <a:p>
            <a:pPr algn="l">
              <a:lnSpc>
                <a:spcPct val="112000"/>
              </a:lnSpc>
              <a:spcBef>
                <a:spcPts val="0"/>
              </a:spcBef>
              <a:spcAft>
                <a:spcPts val="0"/>
              </a:spcAft>
            </a:pPr>
            <a:r>
              <a:rPr sz="1800" b="1" i="0">
                <a:solidFill>
                  <a:srgbClr val="6E1120"/>
                </a:solidFill>
                <a:latin typeface="Georgia"/>
              </a:rPr>
              <a:t>What is the SAJHA MCP server?</a:t>
            </a:r>
          </a:p>
        </p:txBody>
      </p:sp>
      <p:sp>
        <p:nvSpPr>
          <p:cNvPr id="24" name="TextBox 23"/>
          <p:cNvSpPr txBox="1"/>
          <p:nvPr/>
        </p:nvSpPr>
        <p:spPr>
          <a:xfrm>
            <a:off x="3429000" y="2453741"/>
            <a:ext cx="7802575" cy="737590"/>
          </a:xfrm>
          <a:prstGeom prst="rect">
            <a:avLst/>
          </a:prstGeom>
          <a:noFill/>
        </p:spPr>
        <p:txBody>
          <a:bodyPr wrap="square" lIns="0" rIns="0" tIns="0" bIns="0" anchor="t">
            <a:spAutoFit/>
          </a:bodyPr>
          <a:lstStyle/>
          <a:p>
            <a:pPr algn="l">
              <a:lnSpc>
                <a:spcPct val="118000"/>
              </a:lnSpc>
              <a:spcBef>
                <a:spcPts val="0"/>
              </a:spcBef>
              <a:spcAft>
                <a:spcPts val="0"/>
              </a:spcAft>
            </a:pPr>
            <a:r>
              <a:rPr sz="1450" b="0" i="0">
                <a:solidFill>
                  <a:srgbClr val="1A1A1A"/>
                </a:solidFill>
                <a:latin typeface="Calibri"/>
              </a:rPr>
              <a:t>A proprietary, self-hosted MCP server with 603 built-in tools, browser tool builders, composites and workflows, an intelligence layer, and governance: access control, OAuth 2.1, policy rules, approvals and a tamper-evident audit.</a:t>
            </a:r>
          </a:p>
        </p:txBody>
      </p:sp>
      <p:sp>
        <p:nvSpPr>
          <p:cNvPr id="25" name="Rectangle 24"/>
          <p:cNvSpPr/>
          <p:nvPr/>
        </p:nvSpPr>
        <p:spPr>
          <a:xfrm>
            <a:off x="777240" y="3374212"/>
            <a:ext cx="10637215" cy="88389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3374212"/>
            <a:ext cx="54864" cy="88389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8408" y="3447364"/>
            <a:ext cx="2377440" cy="737590"/>
          </a:xfrm>
          <a:prstGeom prst="rect">
            <a:avLst/>
          </a:prstGeom>
          <a:noFill/>
        </p:spPr>
        <p:txBody>
          <a:bodyPr wrap="square" lIns="0" rIns="0" tIns="0" bIns="0" anchor="t">
            <a:spAutoFit/>
          </a:bodyPr>
          <a:lstStyle/>
          <a:p>
            <a:pPr algn="l">
              <a:lnSpc>
                <a:spcPct val="112000"/>
              </a:lnSpc>
              <a:spcBef>
                <a:spcPts val="0"/>
              </a:spcBef>
              <a:spcAft>
                <a:spcPts val="0"/>
              </a:spcAft>
            </a:pPr>
            <a:r>
              <a:rPr sz="1800" b="1" i="0">
                <a:solidFill>
                  <a:srgbClr val="6E1120"/>
                </a:solidFill>
                <a:latin typeface="Georgia"/>
              </a:rPr>
              <a:t>Why does it matter?</a:t>
            </a:r>
          </a:p>
        </p:txBody>
      </p:sp>
      <p:sp>
        <p:nvSpPr>
          <p:cNvPr id="28" name="TextBox 27"/>
          <p:cNvSpPr txBox="1"/>
          <p:nvPr/>
        </p:nvSpPr>
        <p:spPr>
          <a:xfrm>
            <a:off x="3429000" y="3447364"/>
            <a:ext cx="7802575" cy="737590"/>
          </a:xfrm>
          <a:prstGeom prst="rect">
            <a:avLst/>
          </a:prstGeom>
          <a:noFill/>
        </p:spPr>
        <p:txBody>
          <a:bodyPr wrap="square" lIns="0" rIns="0" tIns="0" bIns="0" anchor="t">
            <a:spAutoFit/>
          </a:bodyPr>
          <a:lstStyle/>
          <a:p>
            <a:pPr algn="l">
              <a:lnSpc>
                <a:spcPct val="118000"/>
              </a:lnSpc>
              <a:spcBef>
                <a:spcPts val="0"/>
              </a:spcBef>
              <a:spcAft>
                <a:spcPts val="0"/>
              </a:spcAft>
            </a:pPr>
            <a:r>
              <a:rPr sz="1450" b="0" i="0">
                <a:solidFill>
                  <a:srgbClr val="1A1A1A"/>
                </a:solidFill>
                <a:latin typeface="Calibri"/>
              </a:rPr>
              <a:t>It removes bespoke integration code: any agent discovers and calls tools at run time, and every call, whoever makes it, passes one set of identities, rules and records.</a:t>
            </a:r>
          </a:p>
        </p:txBody>
      </p:sp>
      <p:sp>
        <p:nvSpPr>
          <p:cNvPr id="29" name="Rectangle 28"/>
          <p:cNvSpPr/>
          <p:nvPr/>
        </p:nvSpPr>
        <p:spPr>
          <a:xfrm>
            <a:off x="777240" y="4367834"/>
            <a:ext cx="10637215" cy="88389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4367834"/>
            <a:ext cx="54864" cy="88389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78408" y="4440986"/>
            <a:ext cx="2377440" cy="737590"/>
          </a:xfrm>
          <a:prstGeom prst="rect">
            <a:avLst/>
          </a:prstGeom>
          <a:noFill/>
        </p:spPr>
        <p:txBody>
          <a:bodyPr wrap="square" lIns="0" rIns="0" tIns="0" bIns="0" anchor="t">
            <a:spAutoFit/>
          </a:bodyPr>
          <a:lstStyle/>
          <a:p>
            <a:pPr algn="l">
              <a:lnSpc>
                <a:spcPct val="112000"/>
              </a:lnSpc>
              <a:spcBef>
                <a:spcPts val="0"/>
              </a:spcBef>
              <a:spcAft>
                <a:spcPts val="0"/>
              </a:spcAft>
            </a:pPr>
            <a:r>
              <a:rPr sz="1800" b="1" i="0">
                <a:solidFill>
                  <a:srgbClr val="6E1120"/>
                </a:solidFill>
                <a:latin typeface="Georgia"/>
              </a:rPr>
              <a:t>What can it do today?</a:t>
            </a:r>
          </a:p>
        </p:txBody>
      </p:sp>
      <p:sp>
        <p:nvSpPr>
          <p:cNvPr id="32" name="TextBox 31"/>
          <p:cNvSpPr txBox="1"/>
          <p:nvPr/>
        </p:nvSpPr>
        <p:spPr>
          <a:xfrm>
            <a:off x="3429000" y="4440986"/>
            <a:ext cx="7802575" cy="737590"/>
          </a:xfrm>
          <a:prstGeom prst="rect">
            <a:avLst/>
          </a:prstGeom>
          <a:noFill/>
        </p:spPr>
        <p:txBody>
          <a:bodyPr wrap="square" lIns="0" rIns="0" tIns="0" bIns="0" anchor="t">
            <a:spAutoFit/>
          </a:bodyPr>
          <a:lstStyle/>
          <a:p>
            <a:pPr algn="l">
              <a:lnSpc>
                <a:spcPct val="118000"/>
              </a:lnSpc>
              <a:spcBef>
                <a:spcPts val="0"/>
              </a:spcBef>
              <a:spcAft>
                <a:spcPts val="0"/>
              </a:spcAft>
            </a:pPr>
            <a:r>
              <a:rPr sz="1450" b="0" i="0">
                <a:solidFill>
                  <a:srgbClr val="1A1A1A"/>
                </a:solidFill>
                <a:latin typeface="Calibri"/>
              </a:rPr>
              <a:t>Serve both MCP eras (2026-07-28 and 2025-11-25) on one endpoint over four transports; 12 ways to make a tool; data connectors, proxied MCP servers, SAJHA Net across boundaries; 242 conformance checks passed, 0 failed.</a:t>
            </a:r>
          </a:p>
        </p:txBody>
      </p:sp>
      <p:sp>
        <p:nvSpPr>
          <p:cNvPr id="33" name="Rectangle 32"/>
          <p:cNvSpPr/>
          <p:nvPr/>
        </p:nvSpPr>
        <p:spPr>
          <a:xfrm>
            <a:off x="777240" y="5361457"/>
            <a:ext cx="10637215" cy="883894"/>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361457"/>
            <a:ext cx="54864" cy="88389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8408" y="5434609"/>
            <a:ext cx="2377440" cy="737590"/>
          </a:xfrm>
          <a:prstGeom prst="rect">
            <a:avLst/>
          </a:prstGeom>
          <a:noFill/>
        </p:spPr>
        <p:txBody>
          <a:bodyPr wrap="square" lIns="0" rIns="0" tIns="0" bIns="0" anchor="t">
            <a:spAutoFit/>
          </a:bodyPr>
          <a:lstStyle/>
          <a:p>
            <a:pPr algn="l">
              <a:lnSpc>
                <a:spcPct val="112000"/>
              </a:lnSpc>
              <a:spcBef>
                <a:spcPts val="0"/>
              </a:spcBef>
              <a:spcAft>
                <a:spcPts val="0"/>
              </a:spcAft>
            </a:pPr>
            <a:r>
              <a:rPr sz="1800" b="1" i="0">
                <a:solidFill>
                  <a:srgbClr val="6E1120"/>
                </a:solidFill>
                <a:latin typeface="Georgia"/>
              </a:rPr>
              <a:t>Where is it going?</a:t>
            </a:r>
          </a:p>
        </p:txBody>
      </p:sp>
      <p:sp>
        <p:nvSpPr>
          <p:cNvPr id="36" name="TextBox 35"/>
          <p:cNvSpPr txBox="1"/>
          <p:nvPr/>
        </p:nvSpPr>
        <p:spPr>
          <a:xfrm>
            <a:off x="3429000" y="5434609"/>
            <a:ext cx="7802575" cy="737590"/>
          </a:xfrm>
          <a:prstGeom prst="rect">
            <a:avLst/>
          </a:prstGeom>
          <a:noFill/>
        </p:spPr>
        <p:txBody>
          <a:bodyPr wrap="square" lIns="0" rIns="0" tIns="0" bIns="0" anchor="t">
            <a:spAutoFit/>
          </a:bodyPr>
          <a:lstStyle/>
          <a:p>
            <a:pPr algn="l">
              <a:lnSpc>
                <a:spcPct val="118000"/>
              </a:lnSpc>
              <a:spcBef>
                <a:spcPts val="0"/>
              </a:spcBef>
              <a:spcAft>
                <a:spcPts val="0"/>
              </a:spcAft>
            </a:pPr>
            <a:r>
              <a:rPr sz="1450" b="0" i="0">
                <a:solidFill>
                  <a:srgbClr val="1A1A1A"/>
                </a:solidFill>
                <a:latin typeface="Calibri"/>
              </a:rPr>
              <a:t>Next: Ask SAJHA over MCP, finished; Document connectors as RAG sources; LLM providers: the last synchronous paths; and more (Section 8, from the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01</a:t>
            </a:r>
          </a:p>
        </p:txBody>
      </p:sp>
      <p:sp>
        <p:nvSpPr>
          <p:cNvPr id="12" name="TextBox 11"/>
          <p:cNvSpPr txBox="1"/>
          <p:nvPr/>
        </p:nvSpPr>
        <p:spPr>
          <a:xfrm>
            <a:off x="1521845" y="2487168"/>
            <a:ext cx="9148005" cy="688340"/>
          </a:xfrm>
          <a:prstGeom prst="rect">
            <a:avLst/>
          </a:prstGeom>
          <a:noFill/>
        </p:spPr>
        <p:txBody>
          <a:bodyPr wrap="square" lIns="0" rIns="0" tIns="0" bIns="0" anchor="t">
            <a:spAutoFit/>
          </a:bodyPr>
          <a:lstStyle/>
          <a:p>
            <a:pPr algn="ctr">
              <a:lnSpc>
                <a:spcPct val="110000"/>
              </a:lnSpc>
              <a:spcBef>
                <a:spcPts val="0"/>
              </a:spcBef>
              <a:spcAft>
                <a:spcPts val="0"/>
              </a:spcAft>
            </a:pPr>
            <a:r>
              <a:rPr sz="4000" b="0" i="0">
                <a:solidFill>
                  <a:srgbClr val="FFFFFF"/>
                </a:solidFill>
                <a:latin typeface="Georgia"/>
              </a:rPr>
              <a:t>The Model Context Protocol</a:t>
            </a:r>
          </a:p>
        </p:txBody>
      </p:sp>
      <p:sp>
        <p:nvSpPr>
          <p:cNvPr id="13" name="Rectangle 12"/>
          <p:cNvSpPr/>
          <p:nvPr/>
        </p:nvSpPr>
        <p:spPr>
          <a:xfrm>
            <a:off x="5364327" y="3330956"/>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559556"/>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MCP from nothing: what it is, why every AI application should speak it, and how a host, a client and a server divide the work.</a:t>
            </a:r>
          </a:p>
        </p:txBody>
      </p:sp>
      <p:sp>
        <p:nvSpPr>
          <p:cNvPr id="15" name="TextBox 14"/>
          <p:cNvSpPr txBox="1"/>
          <p:nvPr/>
        </p:nvSpPr>
        <p:spPr>
          <a:xfrm>
            <a:off x="1143000" y="4410964"/>
            <a:ext cx="9905695" cy="1806955"/>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What MCP is   ·   Ten principles   ·   Industry voices   ·   Primitives   ·   Host, client, server   ·   Five steps   ·   Benefits</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WHAT IS MCP?</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MCP is one open standard for connecting AI applications to tools and data</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a:t>
            </a:r>
          </a:p>
        </p:txBody>
      </p:sp>
      <p:sp>
        <p:nvSpPr>
          <p:cNvPr id="17" name="Rectangle 16"/>
          <p:cNvSpPr/>
          <p:nvPr/>
        </p:nvSpPr>
        <p:spPr>
          <a:xfrm>
            <a:off x="777240" y="1611884"/>
            <a:ext cx="4893118" cy="2807431"/>
          </a:xfrm>
          <a:prstGeom prst="rect">
            <a:avLst/>
          </a:prstGeom>
          <a:no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675892"/>
            <a:ext cx="4673662"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B7480"/>
                </a:solidFill>
                <a:latin typeface="Calibri"/>
              </a:rPr>
              <a:t>WITHOUT A SHARED PROTOCOL: N × M INTEGRATIONS</a:t>
            </a:r>
          </a:p>
        </p:txBody>
      </p:sp>
      <p:sp>
        <p:nvSpPr>
          <p:cNvPr id="19" name="Rectangle 18"/>
          <p:cNvSpPr/>
          <p:nvPr/>
        </p:nvSpPr>
        <p:spPr>
          <a:xfrm>
            <a:off x="6414964" y="1611884"/>
            <a:ext cx="4999491" cy="2807431"/>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24692" y="1675892"/>
            <a:ext cx="4780035"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WITH MCP: N + M</a:t>
            </a:r>
          </a:p>
        </p:txBody>
      </p:sp>
      <p:sp>
        <p:nvSpPr>
          <p:cNvPr id="21" name="Rounded Rectangle 20"/>
          <p:cNvSpPr/>
          <p:nvPr/>
        </p:nvSpPr>
        <p:spPr>
          <a:xfrm>
            <a:off x="1096356" y="2130648"/>
            <a:ext cx="1276465" cy="427217"/>
          </a:xfrm>
          <a:prstGeom prst="roundRect">
            <a:avLst>
              <a:gd name="adj" fmla="val 1712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Chat app</a:t>
            </a:r>
          </a:p>
        </p:txBody>
      </p:sp>
      <p:sp>
        <p:nvSpPr>
          <p:cNvPr id="22" name="Rounded Rectangle 21"/>
          <p:cNvSpPr/>
          <p:nvPr/>
        </p:nvSpPr>
        <p:spPr>
          <a:xfrm>
            <a:off x="1096356" y="2893537"/>
            <a:ext cx="1276465" cy="427217"/>
          </a:xfrm>
          <a:prstGeom prst="roundRect">
            <a:avLst>
              <a:gd name="adj" fmla="val 1712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IDE</a:t>
            </a:r>
          </a:p>
        </p:txBody>
      </p:sp>
      <p:sp>
        <p:nvSpPr>
          <p:cNvPr id="23" name="Rounded Rectangle 22"/>
          <p:cNvSpPr/>
          <p:nvPr/>
        </p:nvSpPr>
        <p:spPr>
          <a:xfrm>
            <a:off x="1096356" y="3656426"/>
            <a:ext cx="1276465" cy="427217"/>
          </a:xfrm>
          <a:prstGeom prst="roundRect">
            <a:avLst>
              <a:gd name="adj" fmla="val 1712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Agent</a:t>
            </a:r>
          </a:p>
        </p:txBody>
      </p:sp>
      <p:sp>
        <p:nvSpPr>
          <p:cNvPr id="24" name="Rounded Rectangle 23"/>
          <p:cNvSpPr/>
          <p:nvPr/>
        </p:nvSpPr>
        <p:spPr>
          <a:xfrm>
            <a:off x="4074776" y="1978070"/>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Database</a:t>
            </a:r>
          </a:p>
        </p:txBody>
      </p:sp>
      <p:sp>
        <p:nvSpPr>
          <p:cNvPr id="25" name="Rounded Rectangle 24"/>
          <p:cNvSpPr/>
          <p:nvPr/>
        </p:nvSpPr>
        <p:spPr>
          <a:xfrm>
            <a:off x="4074776" y="2588381"/>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Search</a:t>
            </a:r>
          </a:p>
        </p:txBody>
      </p:sp>
      <p:sp>
        <p:nvSpPr>
          <p:cNvPr id="26" name="Rounded Rectangle 25"/>
          <p:cNvSpPr/>
          <p:nvPr/>
        </p:nvSpPr>
        <p:spPr>
          <a:xfrm>
            <a:off x="4074776" y="3198693"/>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CRM</a:t>
            </a:r>
          </a:p>
        </p:txBody>
      </p:sp>
      <p:sp>
        <p:nvSpPr>
          <p:cNvPr id="27" name="Rounded Rectangle 26"/>
          <p:cNvSpPr/>
          <p:nvPr/>
        </p:nvSpPr>
        <p:spPr>
          <a:xfrm>
            <a:off x="4074776" y="3809004"/>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Files</a:t>
            </a:r>
          </a:p>
        </p:txBody>
      </p:sp>
      <p:sp>
        <p:nvSpPr>
          <p:cNvPr id="28" name="Rounded Rectangle 27"/>
          <p:cNvSpPr/>
          <p:nvPr/>
        </p:nvSpPr>
        <p:spPr>
          <a:xfrm>
            <a:off x="6734080" y="2130648"/>
            <a:ext cx="1276465" cy="427217"/>
          </a:xfrm>
          <a:prstGeom prst="roundRect">
            <a:avLst>
              <a:gd name="adj" fmla="val 1712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Chat app</a:t>
            </a:r>
          </a:p>
        </p:txBody>
      </p:sp>
      <p:sp>
        <p:nvSpPr>
          <p:cNvPr id="29" name="Rounded Rectangle 28"/>
          <p:cNvSpPr/>
          <p:nvPr/>
        </p:nvSpPr>
        <p:spPr>
          <a:xfrm>
            <a:off x="6734080" y="2893537"/>
            <a:ext cx="1276465" cy="427217"/>
          </a:xfrm>
          <a:prstGeom prst="roundRect">
            <a:avLst>
              <a:gd name="adj" fmla="val 1712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IDE</a:t>
            </a:r>
          </a:p>
        </p:txBody>
      </p:sp>
      <p:sp>
        <p:nvSpPr>
          <p:cNvPr id="30" name="Rounded Rectangle 29"/>
          <p:cNvSpPr/>
          <p:nvPr/>
        </p:nvSpPr>
        <p:spPr>
          <a:xfrm>
            <a:off x="6734080" y="3656426"/>
            <a:ext cx="1276465" cy="427217"/>
          </a:xfrm>
          <a:prstGeom prst="roundRect">
            <a:avLst>
              <a:gd name="adj" fmla="val 1712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Agent</a:t>
            </a:r>
          </a:p>
        </p:txBody>
      </p:sp>
      <p:sp>
        <p:nvSpPr>
          <p:cNvPr id="31" name="Rounded Rectangle 30"/>
          <p:cNvSpPr/>
          <p:nvPr/>
        </p:nvSpPr>
        <p:spPr>
          <a:xfrm>
            <a:off x="10031617" y="1978070"/>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Database</a:t>
            </a:r>
          </a:p>
        </p:txBody>
      </p:sp>
      <p:sp>
        <p:nvSpPr>
          <p:cNvPr id="32" name="Rounded Rectangle 31"/>
          <p:cNvSpPr/>
          <p:nvPr/>
        </p:nvSpPr>
        <p:spPr>
          <a:xfrm>
            <a:off x="10031617" y="2588381"/>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Search</a:t>
            </a:r>
          </a:p>
        </p:txBody>
      </p:sp>
      <p:sp>
        <p:nvSpPr>
          <p:cNvPr id="33" name="Rounded Rectangle 32"/>
          <p:cNvSpPr/>
          <p:nvPr/>
        </p:nvSpPr>
        <p:spPr>
          <a:xfrm>
            <a:off x="10031617" y="3198693"/>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CRM</a:t>
            </a:r>
          </a:p>
        </p:txBody>
      </p:sp>
      <p:sp>
        <p:nvSpPr>
          <p:cNvPr id="34" name="Rounded Rectangle 33"/>
          <p:cNvSpPr/>
          <p:nvPr/>
        </p:nvSpPr>
        <p:spPr>
          <a:xfrm>
            <a:off x="10031617" y="3809004"/>
            <a:ext cx="1276465" cy="396702"/>
          </a:xfrm>
          <a:prstGeom prst="roundRect">
            <a:avLst>
              <a:gd name="adj" fmla="val 1844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Files</a:t>
            </a:r>
          </a:p>
        </p:txBody>
      </p:sp>
      <p:sp>
        <p:nvSpPr>
          <p:cNvPr id="35" name="Oval 34"/>
          <p:cNvSpPr/>
          <p:nvPr/>
        </p:nvSpPr>
        <p:spPr>
          <a:xfrm>
            <a:off x="8382848" y="2618897"/>
            <a:ext cx="1170093" cy="976497"/>
          </a:xfrm>
          <a:prstGeom prst="ellipse">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MCP</a:t>
            </a:r>
          </a:p>
          <a:p>
            <a:pPr algn="ctr">
              <a:lnSpc>
                <a:spcPct val="105000"/>
              </a:lnSpc>
              <a:spcBef>
                <a:spcPts val="0"/>
              </a:spcBef>
              <a:spcAft>
                <a:spcPts val="0"/>
              </a:spcAft>
            </a:pPr>
            <a:r>
              <a:rPr sz="1550" b="0" i="0">
                <a:solidFill>
                  <a:srgbClr val="FFFFFF"/>
                </a:solidFill>
                <a:latin typeface="Calibri"/>
              </a:rPr>
              <a:t>one protocol</a:t>
            </a:r>
          </a:p>
        </p:txBody>
      </p:sp>
      <p:cxnSp>
        <p:nvCxnSpPr>
          <p:cNvPr id="36" name="Connector 35"/>
          <p:cNvCxnSpPr/>
          <p:nvPr/>
        </p:nvCxnSpPr>
        <p:spPr>
          <a:xfrm flipV="1">
            <a:off x="2400210" y="2213929"/>
            <a:ext cx="1647178" cy="92820"/>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399956" y="2443104"/>
            <a:ext cx="1647686" cy="244781"/>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364770" y="2567008"/>
            <a:ext cx="1761224" cy="622543"/>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141089" y="2571240"/>
            <a:ext cx="2192745" cy="1224390"/>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399005" y="2382955"/>
            <a:ext cx="1653075" cy="516568"/>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2400096" y="2858327"/>
            <a:ext cx="1647406" cy="177225"/>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2400125" y="3171924"/>
            <a:ext cx="1647348" cy="160341"/>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399081" y="3307984"/>
            <a:ext cx="1649436" cy="498532"/>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2134092" y="2388332"/>
            <a:ext cx="2206247" cy="1254534"/>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2347663" y="2994460"/>
            <a:ext cx="1794222" cy="652589"/>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2399914" y="3502701"/>
            <a:ext cx="1647770" cy="261676"/>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400225" y="3900724"/>
            <a:ext cx="1647148" cy="75942"/>
          </a:xfrm>
          <a:prstGeom prst="line">
            <a:avLst/>
          </a:prstGeom>
          <a:ln w="1270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7860324" y="2577587"/>
            <a:ext cx="558686" cy="267123"/>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056266" y="3107146"/>
            <a:ext cx="280862" cy="0"/>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7860324" y="3369582"/>
            <a:ext cx="558686" cy="267122"/>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9497355" y="2396709"/>
            <a:ext cx="769669" cy="420898"/>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9583532" y="2915346"/>
            <a:ext cx="403154" cy="75899"/>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9586195" y="3212462"/>
            <a:ext cx="400351" cy="68193"/>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502467" y="3389895"/>
            <a:ext cx="751961" cy="397732"/>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77240" y="4828032"/>
            <a:ext cx="10637215" cy="1417320"/>
          </a:xfrm>
          <a:prstGeom prst="rect">
            <a:avLst/>
          </a:prstGeom>
          <a:noFill/>
        </p:spPr>
        <p:txBody>
          <a:bodyPr wrap="square" lIns="0" rIns="0" tIns="0" bIns="0" anchor="t">
            <a:spAutoFit/>
          </a:bodyPr>
          <a:lstStyle/>
          <a:p>
            <a:pPr algn="l">
              <a:lnSpc>
                <a:spcPct val="120000"/>
              </a:lnSpc>
              <a:spcBef>
                <a:spcPts val="0"/>
              </a:spcBef>
              <a:spcAft>
                <a:spcPts val="100"/>
              </a:spcAft>
            </a:pPr>
            <a:r>
              <a:rPr sz="1300" b="1">
                <a:solidFill>
                  <a:srgbClr val="A51C30"/>
                </a:solidFill>
                <a:latin typeface="Calibri"/>
              </a:rPr>
              <a:t>▪  </a:t>
            </a:r>
            <a:r>
              <a:rPr sz="1300" b="1">
                <a:solidFill>
                  <a:srgbClr val="1A1A1A"/>
                </a:solidFill>
                <a:latin typeface="Calibri"/>
              </a:rPr>
              <a:t>An open standard, neutrally governed</a:t>
            </a:r>
          </a:p>
          <a:p>
            <a:pPr lvl="1">
              <a:lnSpc>
                <a:spcPct val="120000"/>
              </a:lnSpc>
              <a:spcBef>
                <a:spcPts val="0"/>
              </a:spcBef>
              <a:spcAft>
                <a:spcPts val="0"/>
              </a:spcAft>
            </a:pPr>
            <a:r>
              <a:rPr sz="1150" b="0">
                <a:solidFill>
                  <a:srgbClr val="6B7480"/>
                </a:solidFill>
                <a:latin typeface="Calibri"/>
              </a:rPr>
              <a:t>Introduced by Anthropic in November 2024; in December 2025 donated to the Agentic AI Foundation under the Linux Foundation.</a:t>
            </a:r>
          </a:p>
          <a:p>
            <a:pPr>
              <a:lnSpc>
                <a:spcPct val="120000"/>
              </a:lnSpc>
              <a:spcBef>
                <a:spcPts val="500"/>
              </a:spcBef>
              <a:spcAft>
                <a:spcPts val="100"/>
              </a:spcAft>
            </a:pPr>
            <a:r>
              <a:rPr sz="1300" b="1">
                <a:solidFill>
                  <a:srgbClr val="A51C30"/>
                </a:solidFill>
                <a:latin typeface="Calibri"/>
              </a:rPr>
              <a:t>▪  </a:t>
            </a:r>
            <a:r>
              <a:rPr sz="1300" b="1">
                <a:solidFill>
                  <a:srgbClr val="1A1A1A"/>
                </a:solidFill>
                <a:latin typeface="Calibri"/>
              </a:rPr>
              <a:t>JSON-RPC 2.0 over a transport</a:t>
            </a:r>
          </a:p>
          <a:p>
            <a:pPr lvl="1">
              <a:lnSpc>
                <a:spcPct val="120000"/>
              </a:lnSpc>
              <a:spcBef>
                <a:spcPts val="0"/>
              </a:spcBef>
              <a:spcAft>
                <a:spcPts val="0"/>
              </a:spcAft>
            </a:pPr>
            <a:r>
              <a:rPr sz="1150" b="0">
                <a:solidFill>
                  <a:srgbClr val="6B7480"/>
                </a:solidFill>
                <a:latin typeface="Calibri"/>
              </a:rPr>
              <a:t>An application lists a server's tools, calls one, and reads its resources and prompts as JSON messages.</a:t>
            </a:r>
          </a:p>
          <a:p>
            <a:pPr>
              <a:lnSpc>
                <a:spcPct val="120000"/>
              </a:lnSpc>
              <a:spcBef>
                <a:spcPts val="500"/>
              </a:spcBef>
              <a:spcAft>
                <a:spcPts val="100"/>
              </a:spcAft>
            </a:pPr>
            <a:r>
              <a:rPr sz="1300" b="1">
                <a:solidFill>
                  <a:srgbClr val="A51C30"/>
                </a:solidFill>
                <a:latin typeface="Calibri"/>
              </a:rPr>
              <a:t>▪  </a:t>
            </a:r>
            <a:r>
              <a:rPr sz="1300" b="1">
                <a:solidFill>
                  <a:srgbClr val="1A1A1A"/>
                </a:solidFill>
                <a:latin typeface="Calibri"/>
              </a:rPr>
              <a:t>Two eras in use today</a:t>
            </a:r>
          </a:p>
          <a:p>
            <a:pPr lvl="1">
              <a:lnSpc>
                <a:spcPct val="120000"/>
              </a:lnSpc>
              <a:spcBef>
                <a:spcPts val="0"/>
              </a:spcBef>
              <a:spcAft>
                <a:spcPts val="0"/>
              </a:spcAft>
            </a:pPr>
            <a:r>
              <a:rPr sz="1150" b="0">
                <a:solidFill>
                  <a:srgbClr val="6B7480"/>
                </a:solidFill>
                <a:latin typeface="Calibri"/>
              </a:rPr>
              <a:t>Session-based revisions up to 2025-11-25, and the stateless 2026-07-28 revision (Section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WHY IT MATTERS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Ten principles: why every AI application should use MCP</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a:t>
            </a:r>
          </a:p>
        </p:txBody>
      </p:sp>
      <p:sp>
        <p:nvSpPr>
          <p:cNvPr id="17" name="Oval 16"/>
          <p:cNvSpPr/>
          <p:nvPr/>
        </p:nvSpPr>
        <p:spPr>
          <a:xfrm>
            <a:off x="777240" y="1423543"/>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1</a:t>
            </a:r>
          </a:p>
        </p:txBody>
      </p:sp>
      <p:sp>
        <p:nvSpPr>
          <p:cNvPr id="18" name="TextBox 17"/>
          <p:cNvSpPr txBox="1"/>
          <p:nvPr/>
        </p:nvSpPr>
        <p:spPr>
          <a:xfrm>
            <a:off x="1325880" y="1386967"/>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800" b="1" i="0">
                <a:solidFill>
                  <a:srgbClr val="1A1A1A"/>
                </a:solidFill>
                <a:latin typeface="Calibri"/>
              </a:rPr>
              <a:t>Eliminate integration sprawl</a:t>
            </a:r>
          </a:p>
          <a:p>
            <a:pPr>
              <a:lnSpc>
                <a:spcPct val="115000"/>
              </a:lnSpc>
              <a:spcBef>
                <a:spcPts val="0"/>
              </a:spcBef>
              <a:spcAft>
                <a:spcPts val="0"/>
              </a:spcAft>
            </a:pPr>
            <a:r>
              <a:rPr sz="1600" b="0" i="0">
                <a:solidFill>
                  <a:srgbClr val="6B7480"/>
                </a:solidFill>
                <a:latin typeface="Calibri"/>
              </a:rPr>
              <a:t>N tools × M applications need N × M connectors; with MCP, N + M.</a:t>
            </a:r>
          </a:p>
        </p:txBody>
      </p:sp>
      <p:sp>
        <p:nvSpPr>
          <p:cNvPr id="19" name="Oval 18"/>
          <p:cNvSpPr/>
          <p:nvPr/>
        </p:nvSpPr>
        <p:spPr>
          <a:xfrm>
            <a:off x="777240" y="2395220"/>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2</a:t>
            </a:r>
          </a:p>
        </p:txBody>
      </p:sp>
      <p:sp>
        <p:nvSpPr>
          <p:cNvPr id="20" name="TextBox 19"/>
          <p:cNvSpPr txBox="1"/>
          <p:nvPr/>
        </p:nvSpPr>
        <p:spPr>
          <a:xfrm>
            <a:off x="1325880" y="2358644"/>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500" b="1" i="0">
                <a:solidFill>
                  <a:srgbClr val="1A1A1A"/>
                </a:solidFill>
                <a:latin typeface="Calibri"/>
              </a:rPr>
              <a:t>Reduce AI development cost</a:t>
            </a:r>
          </a:p>
          <a:p>
            <a:pPr>
              <a:lnSpc>
                <a:spcPct val="115000"/>
              </a:lnSpc>
              <a:spcBef>
                <a:spcPts val="0"/>
              </a:spcBef>
              <a:spcAft>
                <a:spcPts val="0"/>
              </a:spcAft>
            </a:pPr>
            <a:r>
              <a:rPr sz="1300" b="0" i="0">
                <a:solidFill>
                  <a:srgbClr val="6B7480"/>
                </a:solidFill>
                <a:latin typeface="Calibri"/>
              </a:rPr>
              <a:t>Build an integration once and reuse it everywhere; over 10,000 public servers already exist.</a:t>
            </a:r>
          </a:p>
        </p:txBody>
      </p:sp>
      <p:sp>
        <p:nvSpPr>
          <p:cNvPr id="21" name="Oval 20"/>
          <p:cNvSpPr/>
          <p:nvPr/>
        </p:nvSpPr>
        <p:spPr>
          <a:xfrm>
            <a:off x="777240" y="3366897"/>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3</a:t>
            </a:r>
          </a:p>
        </p:txBody>
      </p:sp>
      <p:sp>
        <p:nvSpPr>
          <p:cNvPr id="22" name="TextBox 21"/>
          <p:cNvSpPr txBox="1"/>
          <p:nvPr/>
        </p:nvSpPr>
        <p:spPr>
          <a:xfrm>
            <a:off x="1325880" y="3330321"/>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550" b="1" i="0">
                <a:solidFill>
                  <a:srgbClr val="1A1A1A"/>
                </a:solidFill>
                <a:latin typeface="Calibri"/>
              </a:rPr>
              <a:t>Separate the concerns</a:t>
            </a:r>
          </a:p>
          <a:p>
            <a:pPr>
              <a:lnSpc>
                <a:spcPct val="115000"/>
              </a:lnSpc>
              <a:spcBef>
                <a:spcPts val="0"/>
              </a:spcBef>
              <a:spcAft>
                <a:spcPts val="0"/>
              </a:spcAft>
            </a:pPr>
            <a:r>
              <a:rPr sz="1350" b="0" i="0">
                <a:solidFill>
                  <a:srgbClr val="6B7480"/>
                </a:solidFill>
                <a:latin typeface="Calibri"/>
              </a:rPr>
              <a:t>Tool developers and AI developers release independently; the tool's schema is the contract.</a:t>
            </a:r>
          </a:p>
        </p:txBody>
      </p:sp>
      <p:sp>
        <p:nvSpPr>
          <p:cNvPr id="23" name="Oval 22"/>
          <p:cNvSpPr/>
          <p:nvPr/>
        </p:nvSpPr>
        <p:spPr>
          <a:xfrm>
            <a:off x="777240" y="4338574"/>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4</a:t>
            </a:r>
          </a:p>
        </p:txBody>
      </p:sp>
      <p:sp>
        <p:nvSpPr>
          <p:cNvPr id="24" name="TextBox 23"/>
          <p:cNvSpPr txBox="1"/>
          <p:nvPr/>
        </p:nvSpPr>
        <p:spPr>
          <a:xfrm>
            <a:off x="1325880" y="4301998"/>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550" b="1" i="0">
                <a:solidFill>
                  <a:srgbClr val="1A1A1A"/>
                </a:solidFill>
                <a:latin typeface="Calibri"/>
              </a:rPr>
              <a:t>Future-proof the stack</a:t>
            </a:r>
          </a:p>
          <a:p>
            <a:pPr>
              <a:lnSpc>
                <a:spcPct val="115000"/>
              </a:lnSpc>
              <a:spcBef>
                <a:spcPts val="0"/>
              </a:spcBef>
              <a:spcAft>
                <a:spcPts val="0"/>
              </a:spcAft>
            </a:pPr>
            <a:r>
              <a:rPr sz="1350" b="0" i="0">
                <a:solidFill>
                  <a:srgbClr val="6B7480"/>
                </a:solidFill>
                <a:latin typeface="Calibri"/>
              </a:rPr>
              <a:t>An open standard under the Linux Foundation, used in products from OpenAI, Google and Microsoft.</a:t>
            </a:r>
          </a:p>
        </p:txBody>
      </p:sp>
      <p:sp>
        <p:nvSpPr>
          <p:cNvPr id="25" name="Oval 24"/>
          <p:cNvSpPr/>
          <p:nvPr/>
        </p:nvSpPr>
        <p:spPr>
          <a:xfrm>
            <a:off x="777240" y="5310251"/>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5</a:t>
            </a:r>
          </a:p>
        </p:txBody>
      </p:sp>
      <p:sp>
        <p:nvSpPr>
          <p:cNvPr id="26" name="TextBox 25"/>
          <p:cNvSpPr txBox="1"/>
          <p:nvPr/>
        </p:nvSpPr>
        <p:spPr>
          <a:xfrm>
            <a:off x="1325880" y="5273675"/>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600" b="1" i="0">
                <a:solidFill>
                  <a:srgbClr val="1A1A1A"/>
                </a:solidFill>
                <a:latin typeface="Calibri"/>
              </a:rPr>
              <a:t>Enable agentic workflows</a:t>
            </a:r>
          </a:p>
          <a:p>
            <a:pPr>
              <a:lnSpc>
                <a:spcPct val="115000"/>
              </a:lnSpc>
              <a:spcBef>
                <a:spcPts val="0"/>
              </a:spcBef>
              <a:spcAft>
                <a:spcPts val="0"/>
              </a:spcAft>
            </a:pPr>
            <a:r>
              <a:rPr sz="1400" b="0" i="0">
                <a:solidFill>
                  <a:srgbClr val="6B7480"/>
                </a:solidFill>
                <a:latin typeface="Calibri"/>
              </a:rPr>
              <a:t>Agents discover and call tools at run time, through one standard for discovery and results.</a:t>
            </a:r>
          </a:p>
        </p:txBody>
      </p:sp>
      <p:sp>
        <p:nvSpPr>
          <p:cNvPr id="27" name="Oval 26"/>
          <p:cNvSpPr/>
          <p:nvPr/>
        </p:nvSpPr>
        <p:spPr>
          <a:xfrm>
            <a:off x="6278727" y="1423543"/>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6</a:t>
            </a:r>
          </a:p>
        </p:txBody>
      </p:sp>
      <p:sp>
        <p:nvSpPr>
          <p:cNvPr id="28" name="TextBox 27"/>
          <p:cNvSpPr txBox="1"/>
          <p:nvPr/>
        </p:nvSpPr>
        <p:spPr>
          <a:xfrm>
            <a:off x="6827367" y="1386967"/>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550" b="1" i="0">
                <a:solidFill>
                  <a:srgbClr val="1A1A1A"/>
                </a:solidFill>
                <a:latin typeface="Calibri"/>
              </a:rPr>
              <a:t>Govern at one point</a:t>
            </a:r>
          </a:p>
          <a:p>
            <a:pPr>
              <a:lnSpc>
                <a:spcPct val="115000"/>
              </a:lnSpc>
              <a:spcBef>
                <a:spcPts val="0"/>
              </a:spcBef>
              <a:spcAft>
                <a:spcPts val="0"/>
              </a:spcAft>
            </a:pPr>
            <a:r>
              <a:rPr sz="1350" b="0" i="0">
                <a:solidFill>
                  <a:srgbClr val="6B7480"/>
                </a:solidFill>
                <a:latin typeface="Calibri"/>
              </a:rPr>
              <a:t>Remote servers authorize with OAuth 2.1; a server can enforce per-tool access and argument schemas.</a:t>
            </a:r>
          </a:p>
        </p:txBody>
      </p:sp>
      <p:sp>
        <p:nvSpPr>
          <p:cNvPr id="29" name="Oval 28"/>
          <p:cNvSpPr/>
          <p:nvPr/>
        </p:nvSpPr>
        <p:spPr>
          <a:xfrm>
            <a:off x="6278727" y="2395220"/>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7</a:t>
            </a:r>
          </a:p>
        </p:txBody>
      </p:sp>
      <p:sp>
        <p:nvSpPr>
          <p:cNvPr id="30" name="TextBox 29"/>
          <p:cNvSpPr txBox="1"/>
          <p:nvPr/>
        </p:nvSpPr>
        <p:spPr>
          <a:xfrm>
            <a:off x="6827367" y="2358644"/>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700" b="1" i="0">
                <a:solidFill>
                  <a:srgbClr val="1A1A1A"/>
                </a:solidFill>
                <a:latin typeface="Calibri"/>
              </a:rPr>
              <a:t>Accelerate time to value</a:t>
            </a:r>
          </a:p>
          <a:p>
            <a:pPr>
              <a:lnSpc>
                <a:spcPct val="115000"/>
              </a:lnSpc>
              <a:spcBef>
                <a:spcPts val="0"/>
              </a:spcBef>
              <a:spcAft>
                <a:spcPts val="0"/>
              </a:spcAft>
            </a:pPr>
            <a:r>
              <a:rPr sz="1500" b="0" i="0">
                <a:solidFill>
                  <a:srgbClr val="6B7480"/>
                </a:solidFill>
                <a:latin typeface="Calibri"/>
              </a:rPr>
              <a:t>Connect to servers for databases, APIs and SaaS instead of writing custom integrations.</a:t>
            </a:r>
          </a:p>
        </p:txBody>
      </p:sp>
      <p:sp>
        <p:nvSpPr>
          <p:cNvPr id="31" name="Oval 30"/>
          <p:cNvSpPr/>
          <p:nvPr/>
        </p:nvSpPr>
        <p:spPr>
          <a:xfrm>
            <a:off x="6278727" y="3366897"/>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8</a:t>
            </a:r>
          </a:p>
        </p:txBody>
      </p:sp>
      <p:sp>
        <p:nvSpPr>
          <p:cNvPr id="32" name="TextBox 31"/>
          <p:cNvSpPr txBox="1"/>
          <p:nvPr/>
        </p:nvSpPr>
        <p:spPr>
          <a:xfrm>
            <a:off x="6827367" y="3330321"/>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600" b="1" i="0">
                <a:solidFill>
                  <a:srgbClr val="1A1A1A"/>
                </a:solidFill>
                <a:latin typeface="Calibri"/>
              </a:rPr>
              <a:t>Stay vendor-neutral</a:t>
            </a:r>
          </a:p>
          <a:p>
            <a:pPr>
              <a:lnSpc>
                <a:spcPct val="115000"/>
              </a:lnSpc>
              <a:spcBef>
                <a:spcPts val="0"/>
              </a:spcBef>
              <a:spcAft>
                <a:spcPts val="0"/>
              </a:spcAft>
            </a:pPr>
            <a:r>
              <a:rPr sz="1400" b="0" i="0">
                <a:solidFill>
                  <a:srgbClr val="6B7480"/>
                </a:solidFill>
                <a:latin typeface="Calibri"/>
              </a:rPr>
              <a:t>The same servers work with any model or client; change the model and the integrations survive.</a:t>
            </a:r>
          </a:p>
        </p:txBody>
      </p:sp>
      <p:sp>
        <p:nvSpPr>
          <p:cNvPr id="33" name="Oval 32"/>
          <p:cNvSpPr/>
          <p:nvPr/>
        </p:nvSpPr>
        <p:spPr>
          <a:xfrm>
            <a:off x="6278727" y="4338574"/>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9</a:t>
            </a:r>
          </a:p>
        </p:txBody>
      </p:sp>
      <p:sp>
        <p:nvSpPr>
          <p:cNvPr id="34" name="TextBox 33"/>
          <p:cNvSpPr txBox="1"/>
          <p:nvPr/>
        </p:nvSpPr>
        <p:spPr>
          <a:xfrm>
            <a:off x="6827367" y="4301998"/>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550" b="1" i="0">
                <a:solidFill>
                  <a:srgbClr val="1A1A1A"/>
                </a:solidFill>
                <a:latin typeface="Calibri"/>
              </a:rPr>
              <a:t>Observe and audit</a:t>
            </a:r>
          </a:p>
          <a:p>
            <a:pPr>
              <a:lnSpc>
                <a:spcPct val="115000"/>
              </a:lnSpc>
              <a:spcBef>
                <a:spcPts val="0"/>
              </a:spcBef>
              <a:spcAft>
                <a:spcPts val="0"/>
              </a:spcAft>
            </a:pPr>
            <a:r>
              <a:rPr sz="1350" b="0" i="0">
                <a:solidFill>
                  <a:srgbClr val="6B7480"/>
                </a:solidFill>
                <a:latin typeface="Calibri"/>
              </a:rPr>
              <a:t>Every call is a structured message, so a server can record who called what, with which arguments.</a:t>
            </a:r>
          </a:p>
        </p:txBody>
      </p:sp>
      <p:sp>
        <p:nvSpPr>
          <p:cNvPr id="35" name="Oval 34"/>
          <p:cNvSpPr/>
          <p:nvPr/>
        </p:nvSpPr>
        <p:spPr>
          <a:xfrm>
            <a:off x="6278727" y="5310251"/>
            <a:ext cx="384048" cy="38404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60" b="1" i="0">
                <a:solidFill>
                  <a:srgbClr val="FFFFFF"/>
                </a:solidFill>
                <a:latin typeface="Calibri"/>
              </a:rPr>
              <a:t>10</a:t>
            </a:r>
          </a:p>
        </p:txBody>
      </p:sp>
      <p:sp>
        <p:nvSpPr>
          <p:cNvPr id="36" name="TextBox 35"/>
          <p:cNvSpPr txBox="1"/>
          <p:nvPr/>
        </p:nvSpPr>
        <p:spPr>
          <a:xfrm>
            <a:off x="6827367" y="5273675"/>
            <a:ext cx="4568799" cy="898525"/>
          </a:xfrm>
          <a:prstGeom prst="rect">
            <a:avLst/>
          </a:prstGeom>
          <a:noFill/>
        </p:spPr>
        <p:txBody>
          <a:bodyPr wrap="square" lIns="0" rIns="0" tIns="0" bIns="0" anchor="t">
            <a:spAutoFit/>
          </a:bodyPr>
          <a:lstStyle/>
          <a:p>
            <a:pPr algn="l">
              <a:lnSpc>
                <a:spcPct val="110000"/>
              </a:lnSpc>
              <a:spcBef>
                <a:spcPts val="0"/>
              </a:spcBef>
              <a:spcAft>
                <a:spcPts val="100"/>
              </a:spcAft>
            </a:pPr>
            <a:r>
              <a:rPr sz="1550" b="1" i="0">
                <a:solidFill>
                  <a:srgbClr val="1A1A1A"/>
                </a:solidFill>
                <a:latin typeface="Calibri"/>
              </a:rPr>
              <a:t>Democratise integration</a:t>
            </a:r>
          </a:p>
          <a:p>
            <a:pPr>
              <a:lnSpc>
                <a:spcPct val="115000"/>
              </a:lnSpc>
              <a:spcBef>
                <a:spcPts val="0"/>
              </a:spcBef>
              <a:spcAft>
                <a:spcPts val="0"/>
              </a:spcAft>
            </a:pPr>
            <a:r>
              <a:rPr sz="1350" b="0" i="0">
                <a:solidFill>
                  <a:srgbClr val="6B7480"/>
                </a:solidFill>
                <a:latin typeface="Calibri"/>
              </a:rPr>
              <a:t>No-code creators let analysts publish their expertise as tools without waiting for engineers.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INDUSTRY VOICES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Industry voices on MCP, each traced to its source</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Each quotation was checked against the cited page; one the earlier deck carried could not be traced to a primary source and was left out.</a:t>
            </a:r>
          </a:p>
        </p:txBody>
      </p:sp>
      <p:sp>
        <p:nvSpPr>
          <p:cNvPr id="19" name="Rectangle 18"/>
          <p:cNvSpPr/>
          <p:nvPr/>
        </p:nvSpPr>
        <p:spPr>
          <a:xfrm>
            <a:off x="777240" y="1386967"/>
            <a:ext cx="5236311" cy="206343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1386967"/>
            <a:ext cx="54864" cy="206343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1533271"/>
            <a:ext cx="4733391" cy="1258760"/>
          </a:xfrm>
          <a:prstGeom prst="rect">
            <a:avLst/>
          </a:prstGeom>
          <a:noFill/>
        </p:spPr>
        <p:txBody>
          <a:bodyPr wrap="square" lIns="0" rIns="0" tIns="0" bIns="0" anchor="t">
            <a:spAutoFit/>
          </a:bodyPr>
          <a:lstStyle/>
          <a:p>
            <a:pPr algn="l">
              <a:lnSpc>
                <a:spcPct val="120000"/>
              </a:lnSpc>
              <a:spcBef>
                <a:spcPts val="0"/>
              </a:spcBef>
              <a:spcAft>
                <a:spcPts val="0"/>
              </a:spcAft>
            </a:pPr>
            <a:r>
              <a:rPr sz="1700" b="0" i="1">
                <a:solidFill>
                  <a:srgbClr val="1A1A1A"/>
                </a:solidFill>
                <a:latin typeface="Georgia"/>
              </a:rPr>
              <a:t>“People love MCP and we are excited to add support across our products.”</a:t>
            </a:r>
          </a:p>
        </p:txBody>
      </p:sp>
      <p:sp>
        <p:nvSpPr>
          <p:cNvPr id="22" name="TextBox 21"/>
          <p:cNvSpPr txBox="1"/>
          <p:nvPr/>
        </p:nvSpPr>
        <p:spPr>
          <a:xfrm>
            <a:off x="1051560" y="2846895"/>
            <a:ext cx="4733391" cy="530352"/>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6E1120"/>
                </a:solidFill>
                <a:latin typeface="Calibri"/>
              </a:rPr>
              <a:t>— Sam Altman, CEO, OpenAI</a:t>
            </a:r>
          </a:p>
          <a:p>
            <a:pPr>
              <a:lnSpc>
                <a:spcPct val="120000"/>
              </a:lnSpc>
              <a:spcBef>
                <a:spcPts val="0"/>
              </a:spcBef>
              <a:spcAft>
                <a:spcPts val="0"/>
              </a:spcAft>
            </a:pPr>
            <a:r>
              <a:rPr sz="1050" b="0" i="0">
                <a:solidFill>
                  <a:srgbClr val="6B7480"/>
                </a:solidFill>
                <a:latin typeface="Calibri"/>
              </a:rPr>
              <a:t>On X, 26 March 2025, as reported by TechCrunch</a:t>
            </a:r>
          </a:p>
        </p:txBody>
      </p:sp>
      <p:sp>
        <p:nvSpPr>
          <p:cNvPr id="23" name="Rectangle 22"/>
          <p:cNvSpPr/>
          <p:nvPr/>
        </p:nvSpPr>
        <p:spPr>
          <a:xfrm>
            <a:off x="6178143" y="1386967"/>
            <a:ext cx="5236311" cy="206343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78143" y="1386967"/>
            <a:ext cx="54864" cy="206343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2463" y="1533271"/>
            <a:ext cx="4733391" cy="1258760"/>
          </a:xfrm>
          <a:prstGeom prst="rect">
            <a:avLst/>
          </a:prstGeom>
          <a:noFill/>
        </p:spPr>
        <p:txBody>
          <a:bodyPr wrap="square" lIns="0" rIns="0" tIns="0" bIns="0" anchor="t">
            <a:spAutoFit/>
          </a:bodyPr>
          <a:lstStyle/>
          <a:p>
            <a:pPr algn="l">
              <a:lnSpc>
                <a:spcPct val="120000"/>
              </a:lnSpc>
              <a:spcBef>
                <a:spcPts val="0"/>
              </a:spcBef>
              <a:spcAft>
                <a:spcPts val="0"/>
              </a:spcAft>
            </a:pPr>
            <a:r>
              <a:rPr sz="1700" b="0" i="1">
                <a:solidFill>
                  <a:srgbClr val="1A1A1A"/>
                </a:solidFill>
                <a:latin typeface="Georgia"/>
              </a:rPr>
              <a:t>“MCP is a good protocol and it's rapidly becoming an open standard for the AI agentic era.”</a:t>
            </a:r>
          </a:p>
        </p:txBody>
      </p:sp>
      <p:sp>
        <p:nvSpPr>
          <p:cNvPr id="26" name="TextBox 25"/>
          <p:cNvSpPr txBox="1"/>
          <p:nvPr/>
        </p:nvSpPr>
        <p:spPr>
          <a:xfrm>
            <a:off x="6452463" y="2846895"/>
            <a:ext cx="4733391" cy="530352"/>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6E1120"/>
                </a:solidFill>
                <a:latin typeface="Calibri"/>
              </a:rPr>
              <a:t>— Demis Hassabis, CEO, Google DeepMind</a:t>
            </a:r>
          </a:p>
          <a:p>
            <a:pPr>
              <a:lnSpc>
                <a:spcPct val="120000"/>
              </a:lnSpc>
              <a:spcBef>
                <a:spcPts val="0"/>
              </a:spcBef>
              <a:spcAft>
                <a:spcPts val="0"/>
              </a:spcAft>
            </a:pPr>
            <a:r>
              <a:rPr sz="1050" b="0" i="0">
                <a:solidFill>
                  <a:srgbClr val="6B7480"/>
                </a:solidFill>
                <a:latin typeface="Calibri"/>
              </a:rPr>
              <a:t>On X, 9 April 2025, as reported by TechCrunch</a:t>
            </a:r>
          </a:p>
        </p:txBody>
      </p:sp>
      <p:sp>
        <p:nvSpPr>
          <p:cNvPr id="27" name="Rectangle 26"/>
          <p:cNvSpPr/>
          <p:nvPr/>
        </p:nvSpPr>
        <p:spPr>
          <a:xfrm>
            <a:off x="777240" y="3614991"/>
            <a:ext cx="5236311" cy="206343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3614991"/>
            <a:ext cx="54864" cy="206343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3761295"/>
            <a:ext cx="4733391" cy="1258760"/>
          </a:xfrm>
          <a:prstGeom prst="rect">
            <a:avLst/>
          </a:prstGeom>
          <a:noFill/>
        </p:spPr>
        <p:txBody>
          <a:bodyPr wrap="square" lIns="0" rIns="0" tIns="0" bIns="0" anchor="t">
            <a:spAutoFit/>
          </a:bodyPr>
          <a:lstStyle/>
          <a:p>
            <a:pPr algn="l">
              <a:lnSpc>
                <a:spcPct val="120000"/>
              </a:lnSpc>
              <a:spcBef>
                <a:spcPts val="0"/>
              </a:spcBef>
              <a:spcAft>
                <a:spcPts val="0"/>
              </a:spcAft>
            </a:pPr>
            <a:r>
              <a:rPr sz="1700" b="0" i="1">
                <a:solidFill>
                  <a:srgbClr val="1A1A1A"/>
                </a:solidFill>
                <a:latin typeface="Georgia"/>
              </a:rPr>
              <a:t>“The solution is a deceptively simple idea with outsized implications: the Model Context Protocol (MCP).”</a:t>
            </a:r>
          </a:p>
        </p:txBody>
      </p:sp>
      <p:sp>
        <p:nvSpPr>
          <p:cNvPr id="30" name="TextBox 29"/>
          <p:cNvSpPr txBox="1"/>
          <p:nvPr/>
        </p:nvSpPr>
        <p:spPr>
          <a:xfrm>
            <a:off x="1051560" y="5074920"/>
            <a:ext cx="4733391" cy="530352"/>
          </a:xfrm>
          <a:prstGeom prst="rect">
            <a:avLst/>
          </a:prstGeom>
          <a:noFill/>
        </p:spPr>
        <p:txBody>
          <a:bodyPr wrap="square" lIns="0" rIns="0" tIns="0" bIns="0" anchor="t">
            <a:spAutoFit/>
          </a:bodyPr>
          <a:lstStyle/>
          <a:p>
            <a:pPr algn="l">
              <a:lnSpc>
                <a:spcPct val="120000"/>
              </a:lnSpc>
              <a:spcBef>
                <a:spcPts val="0"/>
              </a:spcBef>
              <a:spcAft>
                <a:spcPts val="0"/>
              </a:spcAft>
            </a:pPr>
            <a:r>
              <a:rPr sz="1200" b="1" i="0">
                <a:solidFill>
                  <a:srgbClr val="6E1120"/>
                </a:solidFill>
                <a:latin typeface="Calibri"/>
              </a:rPr>
              <a:t>— Boston Consulting Group</a:t>
            </a:r>
          </a:p>
          <a:p>
            <a:pPr>
              <a:lnSpc>
                <a:spcPct val="120000"/>
              </a:lnSpc>
              <a:spcBef>
                <a:spcPts val="0"/>
              </a:spcBef>
              <a:spcAft>
                <a:spcPts val="0"/>
              </a:spcAft>
            </a:pPr>
            <a:r>
              <a:rPr sz="1050" b="0" i="0">
                <a:solidFill>
                  <a:srgbClr val="6B7480"/>
                </a:solidFill>
                <a:latin typeface="Calibri"/>
              </a:rPr>
              <a:t>Put AI Agents to Work Faster Using MCP, 1 August 2025</a:t>
            </a:r>
          </a:p>
        </p:txBody>
      </p:sp>
      <p:sp>
        <p:nvSpPr>
          <p:cNvPr id="31" name="Rectangle 30"/>
          <p:cNvSpPr/>
          <p:nvPr/>
        </p:nvSpPr>
        <p:spPr>
          <a:xfrm>
            <a:off x="6178143" y="3614991"/>
            <a:ext cx="5236311" cy="2063432"/>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78143" y="3614991"/>
            <a:ext cx="54864" cy="206343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52463" y="3761295"/>
            <a:ext cx="4733391" cy="1258760"/>
          </a:xfrm>
          <a:prstGeom prst="rect">
            <a:avLst/>
          </a:prstGeom>
          <a:noFill/>
        </p:spPr>
        <p:txBody>
          <a:bodyPr wrap="square" lIns="0" rIns="0" tIns="0" bIns="0" anchor="t">
            <a:spAutoFit/>
          </a:bodyPr>
          <a:lstStyle/>
          <a:p>
            <a:pPr algn="l">
              <a:lnSpc>
                <a:spcPct val="120000"/>
              </a:lnSpc>
              <a:spcBef>
                <a:spcPts val="0"/>
              </a:spcBef>
              <a:spcAft>
                <a:spcPts val="0"/>
              </a:spcAft>
            </a:pPr>
            <a:r>
              <a:rPr sz="1700" b="0" i="1">
                <a:solidFill>
                  <a:srgbClr val="1A1A1A"/>
                </a:solidFill>
                <a:latin typeface="Georgia"/>
              </a:rPr>
              <a:t>“There are now more than 10,000 active public MCP servers, covering everything from developer tools to Fortune 500 deployments.”</a:t>
            </a:r>
          </a:p>
        </p:txBody>
      </p:sp>
      <p:sp>
        <p:nvSpPr>
          <p:cNvPr id="34" name="TextBox 33"/>
          <p:cNvSpPr txBox="1"/>
          <p:nvPr/>
        </p:nvSpPr>
        <p:spPr>
          <a:xfrm>
            <a:off x="6452463" y="5074920"/>
            <a:ext cx="4733391" cy="530352"/>
          </a:xfrm>
          <a:prstGeom prst="rect">
            <a:avLst/>
          </a:prstGeom>
          <a:noFill/>
        </p:spPr>
        <p:txBody>
          <a:bodyPr wrap="square" lIns="0" rIns="0" tIns="0" bIns="0" anchor="t">
            <a:spAutoFit/>
          </a:bodyPr>
          <a:lstStyle/>
          <a:p>
            <a:pPr algn="l">
              <a:lnSpc>
                <a:spcPct val="120000"/>
              </a:lnSpc>
              <a:spcBef>
                <a:spcPts val="0"/>
              </a:spcBef>
              <a:spcAft>
                <a:spcPts val="0"/>
              </a:spcAft>
            </a:pPr>
            <a:r>
              <a:rPr sz="1150" b="1" i="0">
                <a:solidFill>
                  <a:srgbClr val="6E1120"/>
                </a:solidFill>
                <a:latin typeface="Calibri"/>
              </a:rPr>
              <a:t>— Anthropic</a:t>
            </a:r>
          </a:p>
          <a:p>
            <a:pPr>
              <a:lnSpc>
                <a:spcPct val="120000"/>
              </a:lnSpc>
              <a:spcBef>
                <a:spcPts val="0"/>
              </a:spcBef>
              <a:spcAft>
                <a:spcPts val="0"/>
              </a:spcAft>
            </a:pPr>
            <a:r>
              <a:rPr sz="1000" b="0" i="0">
                <a:solidFill>
                  <a:srgbClr val="6B7480"/>
                </a:solidFill>
                <a:latin typeface="Calibri"/>
              </a:rPr>
              <a:t>Donating MCP and establishing the Agentic AI Foundation, 9 December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CORE PRIMITIVES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Three primitives: tools act, resources inform, prompts guide</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Tools are the action layer, resources the data layer, prompts the guidance layer; all three are described with JSON Schema, so a model can discover them.</a:t>
            </a:r>
          </a:p>
        </p:txBody>
      </p:sp>
      <p:sp>
        <p:nvSpPr>
          <p:cNvPr id="19" name="Oval 18"/>
          <p:cNvSpPr/>
          <p:nvPr/>
        </p:nvSpPr>
        <p:spPr>
          <a:xfrm>
            <a:off x="2691938" y="1354836"/>
            <a:ext cx="1436024" cy="735009"/>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the model</a:t>
            </a:r>
          </a:p>
        </p:txBody>
      </p:sp>
      <p:sp>
        <p:nvSpPr>
          <p:cNvPr id="20" name="Rounded Rectangle 19"/>
          <p:cNvSpPr/>
          <p:nvPr/>
        </p:nvSpPr>
        <p:spPr>
          <a:xfrm>
            <a:off x="2372822" y="2651912"/>
            <a:ext cx="2074256" cy="1037661"/>
          </a:xfrm>
          <a:prstGeom prst="roundRect">
            <a:avLst>
              <a:gd name="adj" fmla="val 7049"/>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Tools</a:t>
            </a:r>
          </a:p>
          <a:p>
            <a:pPr algn="ctr">
              <a:lnSpc>
                <a:spcPct val="105000"/>
              </a:lnSpc>
              <a:spcBef>
                <a:spcPts val="0"/>
              </a:spcBef>
              <a:spcAft>
                <a:spcPts val="0"/>
              </a:spcAft>
            </a:pPr>
            <a:r>
              <a:rPr sz="1550" b="0" i="0">
                <a:solidFill>
                  <a:srgbClr val="FFFFFF"/>
                </a:solidFill>
                <a:latin typeface="Calibri"/>
              </a:rPr>
              <a:t>act: functions the model can invoke</a:t>
            </a:r>
          </a:p>
        </p:txBody>
      </p:sp>
      <p:sp>
        <p:nvSpPr>
          <p:cNvPr id="21" name="Rounded Rectangle 20"/>
          <p:cNvSpPr/>
          <p:nvPr/>
        </p:nvSpPr>
        <p:spPr>
          <a:xfrm>
            <a:off x="2372822" y="4294875"/>
            <a:ext cx="2074256" cy="1297076"/>
          </a:xfrm>
          <a:prstGeom prst="roundRect">
            <a:avLst>
              <a:gd name="adj" fmla="val 5639"/>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603 tools in 32 groups, each with a JSON Schema</a:t>
            </a:r>
          </a:p>
        </p:txBody>
      </p:sp>
      <p:sp>
        <p:nvSpPr>
          <p:cNvPr id="22" name="Oval 21"/>
          <p:cNvSpPr/>
          <p:nvPr/>
        </p:nvSpPr>
        <p:spPr>
          <a:xfrm>
            <a:off x="5014397" y="1354836"/>
            <a:ext cx="1436024" cy="735009"/>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the application</a:t>
            </a:r>
          </a:p>
        </p:txBody>
      </p:sp>
      <p:sp>
        <p:nvSpPr>
          <p:cNvPr id="23" name="Rounded Rectangle 22"/>
          <p:cNvSpPr/>
          <p:nvPr/>
        </p:nvSpPr>
        <p:spPr>
          <a:xfrm>
            <a:off x="4695280" y="2651912"/>
            <a:ext cx="2074256" cy="1037661"/>
          </a:xfrm>
          <a:prstGeom prst="roundRect">
            <a:avLst>
              <a:gd name="adj" fmla="val 704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Resources</a:t>
            </a:r>
          </a:p>
          <a:p>
            <a:pPr algn="ctr">
              <a:lnSpc>
                <a:spcPct val="105000"/>
              </a:lnSpc>
              <a:spcBef>
                <a:spcPts val="0"/>
              </a:spcBef>
              <a:spcAft>
                <a:spcPts val="0"/>
              </a:spcAft>
            </a:pPr>
            <a:r>
              <a:rPr sz="1550" b="0" i="0">
                <a:solidFill>
                  <a:srgbClr val="FFFFFF"/>
                </a:solidFill>
                <a:latin typeface="Calibri"/>
              </a:rPr>
              <a:t>inform: data readable by URI</a:t>
            </a:r>
          </a:p>
        </p:txBody>
      </p:sp>
      <p:sp>
        <p:nvSpPr>
          <p:cNvPr id="24" name="Rounded Rectangle 23"/>
          <p:cNvSpPr/>
          <p:nvPr/>
        </p:nvSpPr>
        <p:spPr>
          <a:xfrm>
            <a:off x="4695280" y="4294875"/>
            <a:ext cx="2074256" cy="1297076"/>
          </a:xfrm>
          <a:prstGeom prst="roundRect">
            <a:avLst>
              <a:gd name="adj" fmla="val 5639"/>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sajha://tools/catalog, sajha://prompts/catalog, sajha://data/{filename}, tool schemas</a:t>
            </a:r>
          </a:p>
        </p:txBody>
      </p:sp>
      <p:sp>
        <p:nvSpPr>
          <p:cNvPr id="25" name="Oval 24"/>
          <p:cNvSpPr/>
          <p:nvPr/>
        </p:nvSpPr>
        <p:spPr>
          <a:xfrm>
            <a:off x="7336856" y="1354836"/>
            <a:ext cx="1436024" cy="735009"/>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the user</a:t>
            </a:r>
          </a:p>
        </p:txBody>
      </p:sp>
      <p:sp>
        <p:nvSpPr>
          <p:cNvPr id="26" name="Rounded Rectangle 25"/>
          <p:cNvSpPr/>
          <p:nvPr/>
        </p:nvSpPr>
        <p:spPr>
          <a:xfrm>
            <a:off x="7017739" y="2651912"/>
            <a:ext cx="2074256" cy="1037661"/>
          </a:xfrm>
          <a:prstGeom prst="roundRect">
            <a:avLst>
              <a:gd name="adj" fmla="val 7049"/>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Prompts</a:t>
            </a:r>
          </a:p>
          <a:p>
            <a:pPr algn="ctr">
              <a:lnSpc>
                <a:spcPct val="105000"/>
              </a:lnSpc>
              <a:spcBef>
                <a:spcPts val="0"/>
              </a:spcBef>
              <a:spcAft>
                <a:spcPts val="0"/>
              </a:spcAft>
            </a:pPr>
            <a:r>
              <a:rPr sz="1550" b="0" i="0">
                <a:solidFill>
                  <a:srgbClr val="FFFFFF"/>
                </a:solidFill>
                <a:latin typeface="Calibri"/>
              </a:rPr>
              <a:t>guide: templates with arguments</a:t>
            </a:r>
          </a:p>
        </p:txBody>
      </p:sp>
      <p:sp>
        <p:nvSpPr>
          <p:cNvPr id="27" name="Rounded Rectangle 26"/>
          <p:cNvSpPr/>
          <p:nvPr/>
        </p:nvSpPr>
        <p:spPr>
          <a:xfrm>
            <a:off x="7017739" y="4294875"/>
            <a:ext cx="2074256" cy="1297076"/>
          </a:xfrm>
          <a:prstGeom prst="roundRect">
            <a:avLst>
              <a:gd name="adj" fmla="val 5639"/>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6 shipped templates in config/prompts, more from the console</a:t>
            </a:r>
          </a:p>
        </p:txBody>
      </p:sp>
      <p:sp>
        <p:nvSpPr>
          <p:cNvPr id="28" name="Oval 27"/>
          <p:cNvSpPr/>
          <p:nvPr/>
        </p:nvSpPr>
        <p:spPr>
          <a:xfrm>
            <a:off x="9659314" y="1354836"/>
            <a:ext cx="1436024" cy="735009"/>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either side</a:t>
            </a:r>
          </a:p>
        </p:txBody>
      </p:sp>
      <p:sp>
        <p:nvSpPr>
          <p:cNvPr id="29" name="Rounded Rectangle 28"/>
          <p:cNvSpPr/>
          <p:nvPr/>
        </p:nvSpPr>
        <p:spPr>
          <a:xfrm>
            <a:off x="9340198" y="2651912"/>
            <a:ext cx="2074256" cy="1037661"/>
          </a:xfrm>
          <a:prstGeom prst="roundRect">
            <a:avLst>
              <a:gd name="adj" fmla="val 7049"/>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1A1A1A"/>
                </a:solidFill>
                <a:latin typeface="Calibri"/>
              </a:rPr>
              <a:t>Utilities</a:t>
            </a:r>
          </a:p>
          <a:p>
            <a:pPr algn="ctr">
              <a:lnSpc>
                <a:spcPct val="105000"/>
              </a:lnSpc>
              <a:spcBef>
                <a:spcPts val="0"/>
              </a:spcBef>
              <a:spcAft>
                <a:spcPts val="0"/>
              </a:spcAft>
            </a:pPr>
            <a:r>
              <a:rPr sz="1450" b="0" i="0">
                <a:solidFill>
                  <a:srgbClr val="1A1A1A"/>
                </a:solidFill>
                <a:latin typeface="Calibri"/>
              </a:rPr>
              <a:t>completion, logging, progress, cancellation</a:t>
            </a:r>
          </a:p>
        </p:txBody>
      </p:sp>
      <p:sp>
        <p:nvSpPr>
          <p:cNvPr id="30" name="Rounded Rectangle 29"/>
          <p:cNvSpPr/>
          <p:nvPr/>
        </p:nvSpPr>
        <p:spPr>
          <a:xfrm>
            <a:off x="9340198" y="4294875"/>
            <a:ext cx="2074256" cy="1297076"/>
          </a:xfrm>
          <a:prstGeom prst="roundRect">
            <a:avLst>
              <a:gd name="adj" fmla="val 5639"/>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completion/complete, logging/setLevel, progress and cancellation</a:t>
            </a:r>
          </a:p>
        </p:txBody>
      </p:sp>
      <p:sp>
        <p:nvSpPr>
          <p:cNvPr id="31" name="TextBox 30"/>
          <p:cNvSpPr txBox="1"/>
          <p:nvPr/>
        </p:nvSpPr>
        <p:spPr>
          <a:xfrm>
            <a:off x="777240" y="1484543"/>
            <a:ext cx="1382837" cy="432358"/>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WHO DECIDES</a:t>
            </a:r>
          </a:p>
        </p:txBody>
      </p:sp>
      <p:sp>
        <p:nvSpPr>
          <p:cNvPr id="32" name="TextBox 31"/>
          <p:cNvSpPr txBox="1"/>
          <p:nvPr/>
        </p:nvSpPr>
        <p:spPr>
          <a:xfrm>
            <a:off x="777240" y="2954563"/>
            <a:ext cx="1382837" cy="432358"/>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PRIMITIVE</a:t>
            </a:r>
          </a:p>
        </p:txBody>
      </p:sp>
      <p:sp>
        <p:nvSpPr>
          <p:cNvPr id="33" name="TextBox 32"/>
          <p:cNvSpPr txBox="1"/>
          <p:nvPr/>
        </p:nvSpPr>
        <p:spPr>
          <a:xfrm>
            <a:off x="777240" y="4727234"/>
            <a:ext cx="1382837" cy="432358"/>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IN SAJHA</a:t>
            </a:r>
          </a:p>
        </p:txBody>
      </p:sp>
      <p:cxnSp>
        <p:nvCxnSpPr>
          <p:cNvPr id="34" name="Connector 33"/>
          <p:cNvCxnSpPr/>
          <p:nvPr/>
        </p:nvCxnSpPr>
        <p:spPr>
          <a:xfrm>
            <a:off x="3409950" y="2135565"/>
            <a:ext cx="0" cy="470627"/>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09950" y="3735293"/>
            <a:ext cx="0" cy="513862"/>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732409" y="2135565"/>
            <a:ext cx="0" cy="470627"/>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732409" y="3735293"/>
            <a:ext cx="0" cy="513862"/>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54868" y="2135565"/>
            <a:ext cx="0" cy="470627"/>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054868" y="3735293"/>
            <a:ext cx="0" cy="513862"/>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377326" y="2135565"/>
            <a:ext cx="0" cy="470627"/>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377326" y="3735293"/>
            <a:ext cx="0" cy="513862"/>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ARCHITECTURE</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A host runs one client per server; each server wraps capabilities</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a:t>
            </a:r>
          </a:p>
        </p:txBody>
      </p:sp>
      <p:sp>
        <p:nvSpPr>
          <p:cNvPr id="17" name="Rectangle 16"/>
          <p:cNvSpPr/>
          <p:nvPr/>
        </p:nvSpPr>
        <p:spPr>
          <a:xfrm>
            <a:off x="777240" y="1322705"/>
            <a:ext cx="10637215" cy="1301419"/>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377569"/>
            <a:ext cx="1041775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HOST: the AI application (chat app, IDE, agent)</a:t>
            </a:r>
          </a:p>
        </p:txBody>
      </p:sp>
      <p:cxnSp>
        <p:nvCxnSpPr>
          <p:cNvPr id="19" name="Connector 18"/>
          <p:cNvCxnSpPr/>
          <p:nvPr/>
        </p:nvCxnSpPr>
        <p:spPr>
          <a:xfrm>
            <a:off x="2691938" y="2443797"/>
            <a:ext cx="0" cy="939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691938" y="2443797"/>
            <a:ext cx="0" cy="939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755946" y="2831033"/>
            <a:ext cx="749808" cy="155448"/>
          </a:xfrm>
          <a:prstGeom prst="rect">
            <a:avLst/>
          </a:prstGeom>
          <a:noFill/>
        </p:spPr>
        <p:txBody>
          <a:bodyPr wrap="square" lIns="0" rIns="0" tIns="0" bIns="0" anchor="t">
            <a:spAutoFit/>
          </a:bodyPr>
          <a:lstStyle/>
          <a:p>
            <a:pPr algn="l">
              <a:lnSpc>
                <a:spcPct val="120000"/>
              </a:lnSpc>
              <a:spcBef>
                <a:spcPts val="0"/>
              </a:spcBef>
              <a:spcAft>
                <a:spcPts val="0"/>
              </a:spcAft>
            </a:pPr>
            <a:r>
              <a:rPr sz="750" b="0" i="1">
                <a:solidFill>
                  <a:srgbClr val="6B7480"/>
                </a:solidFill>
                <a:latin typeface="Calibri"/>
              </a:rPr>
              <a:t>JSON-RPC 2.0</a:t>
            </a:r>
          </a:p>
        </p:txBody>
      </p:sp>
      <p:cxnSp>
        <p:nvCxnSpPr>
          <p:cNvPr id="22" name="Connector 21"/>
          <p:cNvCxnSpPr/>
          <p:nvPr/>
        </p:nvCxnSpPr>
        <p:spPr>
          <a:xfrm>
            <a:off x="6095847" y="2443797"/>
            <a:ext cx="0" cy="939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095847" y="2443797"/>
            <a:ext cx="0" cy="939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159855" y="2831033"/>
            <a:ext cx="749808" cy="155448"/>
          </a:xfrm>
          <a:prstGeom prst="rect">
            <a:avLst/>
          </a:prstGeom>
          <a:noFill/>
        </p:spPr>
        <p:txBody>
          <a:bodyPr wrap="square" lIns="0" rIns="0" tIns="0" bIns="0" anchor="t">
            <a:spAutoFit/>
          </a:bodyPr>
          <a:lstStyle/>
          <a:p>
            <a:pPr algn="l">
              <a:lnSpc>
                <a:spcPct val="120000"/>
              </a:lnSpc>
              <a:spcBef>
                <a:spcPts val="0"/>
              </a:spcBef>
              <a:spcAft>
                <a:spcPts val="0"/>
              </a:spcAft>
            </a:pPr>
            <a:r>
              <a:rPr sz="750" b="0" i="1">
                <a:solidFill>
                  <a:srgbClr val="6B7480"/>
                </a:solidFill>
                <a:latin typeface="Calibri"/>
              </a:rPr>
              <a:t>JSON-RPC 2.0</a:t>
            </a:r>
          </a:p>
        </p:txBody>
      </p:sp>
      <p:cxnSp>
        <p:nvCxnSpPr>
          <p:cNvPr id="25" name="Connector 24"/>
          <p:cNvCxnSpPr/>
          <p:nvPr/>
        </p:nvCxnSpPr>
        <p:spPr>
          <a:xfrm>
            <a:off x="9499756" y="2443797"/>
            <a:ext cx="0" cy="939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9499756" y="2443797"/>
            <a:ext cx="0" cy="939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9563764" y="2831033"/>
            <a:ext cx="749808" cy="155448"/>
          </a:xfrm>
          <a:prstGeom prst="rect">
            <a:avLst/>
          </a:prstGeom>
          <a:noFill/>
        </p:spPr>
        <p:txBody>
          <a:bodyPr wrap="square" lIns="0" rIns="0" tIns="0" bIns="0" anchor="t">
            <a:spAutoFit/>
          </a:bodyPr>
          <a:lstStyle/>
          <a:p>
            <a:pPr algn="l">
              <a:lnSpc>
                <a:spcPct val="120000"/>
              </a:lnSpc>
              <a:spcBef>
                <a:spcPts val="0"/>
              </a:spcBef>
              <a:spcAft>
                <a:spcPts val="0"/>
              </a:spcAft>
            </a:pPr>
            <a:r>
              <a:rPr sz="750" b="0" i="1">
                <a:solidFill>
                  <a:srgbClr val="6B7480"/>
                </a:solidFill>
                <a:latin typeface="Calibri"/>
              </a:rPr>
              <a:t>JSON-RPC 2.0</a:t>
            </a:r>
          </a:p>
        </p:txBody>
      </p:sp>
      <p:sp>
        <p:nvSpPr>
          <p:cNvPr id="28" name="Rounded Rectangle 27"/>
          <p:cNvSpPr/>
          <p:nvPr/>
        </p:nvSpPr>
        <p:spPr>
          <a:xfrm>
            <a:off x="1415472" y="1792662"/>
            <a:ext cx="2552931" cy="614559"/>
          </a:xfrm>
          <a:prstGeom prst="roundRect">
            <a:avLst>
              <a:gd name="adj" fmla="val 11903"/>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MCP client 1</a:t>
            </a:r>
          </a:p>
        </p:txBody>
      </p:sp>
      <p:sp>
        <p:nvSpPr>
          <p:cNvPr id="29" name="Rounded Rectangle 28"/>
          <p:cNvSpPr/>
          <p:nvPr/>
        </p:nvSpPr>
        <p:spPr>
          <a:xfrm>
            <a:off x="4819381" y="1792662"/>
            <a:ext cx="2552931" cy="614559"/>
          </a:xfrm>
          <a:prstGeom prst="roundRect">
            <a:avLst>
              <a:gd name="adj" fmla="val 11903"/>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MCP client 2</a:t>
            </a:r>
          </a:p>
        </p:txBody>
      </p:sp>
      <p:sp>
        <p:nvSpPr>
          <p:cNvPr id="30" name="Rounded Rectangle 29"/>
          <p:cNvSpPr/>
          <p:nvPr/>
        </p:nvSpPr>
        <p:spPr>
          <a:xfrm>
            <a:off x="8223290" y="1792662"/>
            <a:ext cx="2552931" cy="614559"/>
          </a:xfrm>
          <a:prstGeom prst="roundRect">
            <a:avLst>
              <a:gd name="adj" fmla="val 11903"/>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MCP client N</a:t>
            </a:r>
          </a:p>
        </p:txBody>
      </p:sp>
      <p:sp>
        <p:nvSpPr>
          <p:cNvPr id="31" name="Rounded Rectangle 30"/>
          <p:cNvSpPr/>
          <p:nvPr/>
        </p:nvSpPr>
        <p:spPr>
          <a:xfrm>
            <a:off x="1415472" y="3419436"/>
            <a:ext cx="2552931" cy="723011"/>
          </a:xfrm>
          <a:prstGeom prst="roundRect">
            <a:avLst>
              <a:gd name="adj" fmla="val 1011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SAJHA</a:t>
            </a:r>
          </a:p>
          <a:p>
            <a:pPr algn="ctr">
              <a:lnSpc>
                <a:spcPct val="105000"/>
              </a:lnSpc>
              <a:spcBef>
                <a:spcPts val="0"/>
              </a:spcBef>
              <a:spcAft>
                <a:spcPts val="0"/>
              </a:spcAft>
            </a:pPr>
            <a:r>
              <a:rPr sz="1250" b="0" i="0">
                <a:solidFill>
                  <a:srgbClr val="FFFFFF"/>
                </a:solidFill>
                <a:latin typeface="Calibri"/>
              </a:rPr>
              <a:t>a governed catalog of tools</a:t>
            </a:r>
          </a:p>
        </p:txBody>
      </p:sp>
      <p:sp>
        <p:nvSpPr>
          <p:cNvPr id="32" name="Rounded Rectangle 31"/>
          <p:cNvSpPr/>
          <p:nvPr/>
        </p:nvSpPr>
        <p:spPr>
          <a:xfrm>
            <a:off x="4819381" y="3419436"/>
            <a:ext cx="2552931" cy="723011"/>
          </a:xfrm>
          <a:prstGeom prst="roundRect">
            <a:avLst>
              <a:gd name="adj" fmla="val 101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Search server</a:t>
            </a:r>
          </a:p>
          <a:p>
            <a:pPr algn="ctr">
              <a:lnSpc>
                <a:spcPct val="105000"/>
              </a:lnSpc>
              <a:spcBef>
                <a:spcPts val="0"/>
              </a:spcBef>
              <a:spcAft>
                <a:spcPts val="0"/>
              </a:spcAft>
            </a:pPr>
            <a:r>
              <a:rPr sz="1250" b="0" i="0">
                <a:solidFill>
                  <a:srgbClr val="1A1A1A"/>
                </a:solidFill>
                <a:latin typeface="Calibri"/>
              </a:rPr>
              <a:t>web and news</a:t>
            </a:r>
          </a:p>
        </p:txBody>
      </p:sp>
      <p:sp>
        <p:nvSpPr>
          <p:cNvPr id="33" name="Rounded Rectangle 32"/>
          <p:cNvSpPr/>
          <p:nvPr/>
        </p:nvSpPr>
        <p:spPr>
          <a:xfrm>
            <a:off x="8223290" y="3419436"/>
            <a:ext cx="2552931" cy="723011"/>
          </a:xfrm>
          <a:prstGeom prst="roundRect">
            <a:avLst>
              <a:gd name="adj" fmla="val 101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Database server</a:t>
            </a:r>
          </a:p>
          <a:p>
            <a:pPr algn="ctr">
              <a:lnSpc>
                <a:spcPct val="105000"/>
              </a:lnSpc>
              <a:spcBef>
                <a:spcPts val="0"/>
              </a:spcBef>
              <a:spcAft>
                <a:spcPts val="0"/>
              </a:spcAft>
            </a:pPr>
            <a:r>
              <a:rPr sz="1250" b="0" i="0">
                <a:solidFill>
                  <a:srgbClr val="1A1A1A"/>
                </a:solidFill>
                <a:latin typeface="Calibri"/>
              </a:rPr>
              <a:t>SQL over your data</a:t>
            </a:r>
          </a:p>
        </p:txBody>
      </p:sp>
      <p:sp>
        <p:nvSpPr>
          <p:cNvPr id="34" name="TextBox 33"/>
          <p:cNvSpPr txBox="1"/>
          <p:nvPr/>
        </p:nvSpPr>
        <p:spPr>
          <a:xfrm>
            <a:off x="777240" y="5102352"/>
            <a:ext cx="10637215" cy="1143000"/>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A1A1A"/>
                </a:solidFill>
                <a:latin typeface="Calibri"/>
              </a:rPr>
              <a:t>Host</a:t>
            </a:r>
          </a:p>
          <a:p>
            <a:pPr lvl="1">
              <a:lnSpc>
                <a:spcPct val="120000"/>
              </a:lnSpc>
              <a:spcBef>
                <a:spcPts val="0"/>
              </a:spcBef>
              <a:spcAft>
                <a:spcPts val="0"/>
              </a:spcAft>
            </a:pPr>
            <a:r>
              <a:rPr sz="1450" b="0">
                <a:solidFill>
                  <a:srgbClr val="6B7480"/>
                </a:solidFill>
                <a:latin typeface="Calibri"/>
              </a:rPr>
              <a:t>The application the user works in; it runs the model and coordinates its clients.</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Client and server</a:t>
            </a:r>
          </a:p>
          <a:p>
            <a:pPr lvl="1">
              <a:lnSpc>
                <a:spcPct val="120000"/>
              </a:lnSpc>
              <a:spcBef>
                <a:spcPts val="0"/>
              </a:spcBef>
              <a:spcAft>
                <a:spcPts val="0"/>
              </a:spcAft>
            </a:pPr>
            <a:r>
              <a:rPr sz="1450" b="0">
                <a:solidFill>
                  <a:srgbClr val="6B7480"/>
                </a:solidFill>
                <a:latin typeface="Calibri"/>
              </a:rPr>
              <a:t>Each client holds one connection to one server; a server exposes tools, resources and prompts.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HOW AI APPLICATIONS USE MCP</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Five steps, from discovery to the next tool call</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model discovers capabilities at run time; no tool knowledge is hard-coded in the application.</a:t>
            </a:r>
          </a:p>
        </p:txBody>
      </p:sp>
      <p:sp>
        <p:nvSpPr>
          <p:cNvPr id="19" name="Rectangle 18"/>
          <p:cNvSpPr/>
          <p:nvPr/>
        </p:nvSpPr>
        <p:spPr>
          <a:xfrm>
            <a:off x="777240" y="1386967"/>
            <a:ext cx="3191164" cy="449262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1450975"/>
            <a:ext cx="2971708"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HOST AND MODEL</a:t>
            </a:r>
          </a:p>
        </p:txBody>
      </p:sp>
      <p:sp>
        <p:nvSpPr>
          <p:cNvPr id="21" name="Rectangle 20"/>
          <p:cNvSpPr/>
          <p:nvPr/>
        </p:nvSpPr>
        <p:spPr>
          <a:xfrm>
            <a:off x="4500265" y="1386967"/>
            <a:ext cx="3191164" cy="449262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09993" y="1450975"/>
            <a:ext cx="2971708"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MCP CLIENT</a:t>
            </a:r>
          </a:p>
        </p:txBody>
      </p:sp>
      <p:sp>
        <p:nvSpPr>
          <p:cNvPr id="23" name="Rectangle 22"/>
          <p:cNvSpPr/>
          <p:nvPr/>
        </p:nvSpPr>
        <p:spPr>
          <a:xfrm>
            <a:off x="8223290" y="1386967"/>
            <a:ext cx="3191164" cy="449262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33018" y="1450975"/>
            <a:ext cx="2971708"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MCP SERVER</a:t>
            </a:r>
          </a:p>
        </p:txBody>
      </p:sp>
      <p:sp>
        <p:nvSpPr>
          <p:cNvPr id="25" name="Rounded Rectangle 24"/>
          <p:cNvSpPr/>
          <p:nvPr/>
        </p:nvSpPr>
        <p:spPr>
          <a:xfrm>
            <a:off x="4819381" y="1791303"/>
            <a:ext cx="2552931" cy="584041"/>
          </a:xfrm>
          <a:prstGeom prst="roundRect">
            <a:avLst>
              <a:gd name="adj" fmla="val 1252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1  Discovery</a:t>
            </a:r>
          </a:p>
          <a:p>
            <a:pPr algn="ctr">
              <a:lnSpc>
                <a:spcPct val="105000"/>
              </a:lnSpc>
              <a:spcBef>
                <a:spcPts val="0"/>
              </a:spcBef>
              <a:spcAft>
                <a:spcPts val="0"/>
              </a:spcAft>
            </a:pPr>
            <a:r>
              <a:rPr sz="1050" b="0" i="0">
                <a:solidFill>
                  <a:srgbClr val="1A1A1A"/>
                </a:solidFill>
                <a:latin typeface="Calibri"/>
              </a:rPr>
              <a:t>connect; ask for tools/list</a:t>
            </a:r>
          </a:p>
        </p:txBody>
      </p:sp>
      <p:sp>
        <p:nvSpPr>
          <p:cNvPr id="26" name="Rounded Rectangle 25"/>
          <p:cNvSpPr/>
          <p:nvPr/>
        </p:nvSpPr>
        <p:spPr>
          <a:xfrm>
            <a:off x="8542407" y="1791303"/>
            <a:ext cx="2552931" cy="584041"/>
          </a:xfrm>
          <a:prstGeom prst="roundRect">
            <a:avLst>
              <a:gd name="adj" fmla="val 1252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tools with JSON Schemas</a:t>
            </a:r>
          </a:p>
        </p:txBody>
      </p:sp>
      <p:sp>
        <p:nvSpPr>
          <p:cNvPr id="27" name="Rounded Rectangle 26"/>
          <p:cNvSpPr/>
          <p:nvPr/>
        </p:nvSpPr>
        <p:spPr>
          <a:xfrm>
            <a:off x="1096356" y="2599975"/>
            <a:ext cx="2552931" cy="628967"/>
          </a:xfrm>
          <a:prstGeom prst="roundRect">
            <a:avLst>
              <a:gd name="adj" fmla="val 116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2  Selection</a:t>
            </a:r>
          </a:p>
          <a:p>
            <a:pPr algn="ctr">
              <a:lnSpc>
                <a:spcPct val="105000"/>
              </a:lnSpc>
              <a:spcBef>
                <a:spcPts val="0"/>
              </a:spcBef>
              <a:spcAft>
                <a:spcPts val="0"/>
              </a:spcAft>
            </a:pPr>
            <a:r>
              <a:rPr sz="1050" b="0" i="0">
                <a:solidFill>
                  <a:srgbClr val="1A1A1A"/>
                </a:solidFill>
                <a:latin typeface="Calibri"/>
              </a:rPr>
              <a:t>the model picks the tool the request needs</a:t>
            </a:r>
          </a:p>
        </p:txBody>
      </p:sp>
      <p:sp>
        <p:nvSpPr>
          <p:cNvPr id="28" name="Rounded Rectangle 27"/>
          <p:cNvSpPr/>
          <p:nvPr/>
        </p:nvSpPr>
        <p:spPr>
          <a:xfrm>
            <a:off x="4819381" y="3453574"/>
            <a:ext cx="2552931" cy="584041"/>
          </a:xfrm>
          <a:prstGeom prst="roundRect">
            <a:avLst>
              <a:gd name="adj" fmla="val 1252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3  Invocation</a:t>
            </a:r>
          </a:p>
          <a:p>
            <a:pPr algn="ctr">
              <a:lnSpc>
                <a:spcPct val="105000"/>
              </a:lnSpc>
              <a:spcBef>
                <a:spcPts val="0"/>
              </a:spcBef>
              <a:spcAft>
                <a:spcPts val="0"/>
              </a:spcAft>
            </a:pPr>
            <a:r>
              <a:rPr sz="1050" b="0" i="0">
                <a:solidFill>
                  <a:srgbClr val="1A1A1A"/>
                </a:solidFill>
                <a:latin typeface="Calibri"/>
              </a:rPr>
              <a:t>tools/call as JSON-RPC</a:t>
            </a:r>
          </a:p>
        </p:txBody>
      </p:sp>
      <p:sp>
        <p:nvSpPr>
          <p:cNvPr id="29" name="Rounded Rectangle 28"/>
          <p:cNvSpPr/>
          <p:nvPr/>
        </p:nvSpPr>
        <p:spPr>
          <a:xfrm>
            <a:off x="8542407" y="3453574"/>
            <a:ext cx="2552931" cy="584041"/>
          </a:xfrm>
          <a:prstGeom prst="roundRect">
            <a:avLst>
              <a:gd name="adj" fmla="val 1252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validates and runs it</a:t>
            </a:r>
          </a:p>
        </p:txBody>
      </p:sp>
      <p:sp>
        <p:nvSpPr>
          <p:cNvPr id="30" name="Rounded Rectangle 29"/>
          <p:cNvSpPr/>
          <p:nvPr/>
        </p:nvSpPr>
        <p:spPr>
          <a:xfrm>
            <a:off x="1096356" y="4262247"/>
            <a:ext cx="2552931" cy="628967"/>
          </a:xfrm>
          <a:prstGeom prst="roundRect">
            <a:avLst>
              <a:gd name="adj" fmla="val 116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4  Result</a:t>
            </a:r>
          </a:p>
          <a:p>
            <a:pPr algn="ctr">
              <a:lnSpc>
                <a:spcPct val="105000"/>
              </a:lnSpc>
              <a:spcBef>
                <a:spcPts val="0"/>
              </a:spcBef>
              <a:spcAft>
                <a:spcPts val="0"/>
              </a:spcAft>
            </a:pPr>
            <a:r>
              <a:rPr sz="1050" b="0" i="0">
                <a:solidFill>
                  <a:srgbClr val="1A1A1A"/>
                </a:solidFill>
                <a:latin typeface="Calibri"/>
              </a:rPr>
              <a:t>fed back into the model's context</a:t>
            </a:r>
          </a:p>
        </p:txBody>
      </p:sp>
      <p:sp>
        <p:nvSpPr>
          <p:cNvPr id="31" name="Rounded Rectangle 30"/>
          <p:cNvSpPr/>
          <p:nvPr/>
        </p:nvSpPr>
        <p:spPr>
          <a:xfrm>
            <a:off x="1096356" y="5160772"/>
            <a:ext cx="2552931" cy="584041"/>
          </a:xfrm>
          <a:prstGeom prst="roundRect">
            <a:avLst>
              <a:gd name="adj" fmla="val 12525"/>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5  Iteration</a:t>
            </a:r>
          </a:p>
          <a:p>
            <a:pPr algn="ctr">
              <a:lnSpc>
                <a:spcPct val="105000"/>
              </a:lnSpc>
              <a:spcBef>
                <a:spcPts val="0"/>
              </a:spcBef>
              <a:spcAft>
                <a:spcPts val="0"/>
              </a:spcAft>
            </a:pPr>
            <a:r>
              <a:rPr sz="1050" b="0" i="0">
                <a:solidFill>
                  <a:srgbClr val="FFFFFF"/>
                </a:solidFill>
                <a:latin typeface="Calibri"/>
              </a:rPr>
              <a:t>another call, or the answer</a:t>
            </a:r>
          </a:p>
        </p:txBody>
      </p:sp>
      <p:cxnSp>
        <p:nvCxnSpPr>
          <p:cNvPr id="32" name="Connector 31"/>
          <p:cNvCxnSpPr/>
          <p:nvPr/>
        </p:nvCxnSpPr>
        <p:spPr>
          <a:xfrm>
            <a:off x="7418033" y="2083323"/>
            <a:ext cx="1078654"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3694725" y="2230876"/>
            <a:ext cx="4802244" cy="53603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693909" y="3209381"/>
            <a:ext cx="1080851" cy="24129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418033" y="3745595"/>
            <a:ext cx="1078654"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3694725" y="3893147"/>
            <a:ext cx="4802244" cy="53603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372822" y="4936934"/>
            <a:ext cx="0" cy="17811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695008" y="5452792"/>
            <a:ext cx="2400839"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095847" y="4083335"/>
            <a:ext cx="0" cy="1369457"/>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219787" y="5215048"/>
            <a:ext cx="153416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chain the next call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BENEFITS</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A1A1A"/>
                </a:solidFill>
                <a:latin typeface="Georgia"/>
              </a:rPr>
              <a:t>What MCP gives an application, and what SAJHA adds on top</a:t>
            </a:r>
          </a:p>
        </p:txBody>
      </p:sp>
      <p:sp>
        <p:nvSpPr>
          <p:cNvPr id="6" name="Rectangle 5"/>
          <p:cNvSpPr/>
          <p:nvPr/>
        </p:nvSpPr>
        <p:spPr>
          <a:xfrm>
            <a:off x="777240" y="124288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10</a:t>
            </a:r>
          </a:p>
        </p:txBody>
      </p:sp>
      <p:sp>
        <p:nvSpPr>
          <p:cNvPr id="17" name="Rounded Rectangle 16"/>
          <p:cNvSpPr/>
          <p:nvPr/>
        </p:nvSpPr>
        <p:spPr>
          <a:xfrm>
            <a:off x="3223799" y="1370901"/>
            <a:ext cx="3616653" cy="487445"/>
          </a:xfrm>
          <a:prstGeom prst="roundRect">
            <a:avLst>
              <a:gd name="adj" fmla="val 1500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MCP gives</a:t>
            </a:r>
          </a:p>
        </p:txBody>
      </p:sp>
      <p:sp>
        <p:nvSpPr>
          <p:cNvPr id="18" name="Rounded Rectangle 17"/>
          <p:cNvSpPr/>
          <p:nvPr/>
        </p:nvSpPr>
        <p:spPr>
          <a:xfrm>
            <a:off x="7585057" y="1370901"/>
            <a:ext cx="3829397" cy="487445"/>
          </a:xfrm>
          <a:prstGeom prst="roundRect">
            <a:avLst>
              <a:gd name="adj" fmla="val 1500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 adds</a:t>
            </a:r>
          </a:p>
        </p:txBody>
      </p:sp>
      <p:sp>
        <p:nvSpPr>
          <p:cNvPr id="19" name="Rounded Rectangle 18"/>
          <p:cNvSpPr/>
          <p:nvPr/>
        </p:nvSpPr>
        <p:spPr>
          <a:xfrm>
            <a:off x="777240" y="2053324"/>
            <a:ext cx="2127443" cy="552437"/>
          </a:xfrm>
          <a:prstGeom prst="roundRect">
            <a:avLst>
              <a:gd name="adj" fmla="val 1324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Interoperability</a:t>
            </a:r>
          </a:p>
        </p:txBody>
      </p:sp>
      <p:sp>
        <p:nvSpPr>
          <p:cNvPr id="20" name="Rounded Rectangle 19"/>
          <p:cNvSpPr/>
          <p:nvPr/>
        </p:nvSpPr>
        <p:spPr>
          <a:xfrm>
            <a:off x="3223799" y="2053324"/>
            <a:ext cx="3616653" cy="552437"/>
          </a:xfrm>
          <a:prstGeom prst="roundRect">
            <a:avLst>
              <a:gd name="adj" fmla="val 1324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Any MCP client talks to any MCP server</a:t>
            </a:r>
          </a:p>
        </p:txBody>
      </p:sp>
      <p:sp>
        <p:nvSpPr>
          <p:cNvPr id="21" name="Rounded Rectangle 20"/>
          <p:cNvSpPr/>
          <p:nvPr/>
        </p:nvSpPr>
        <p:spPr>
          <a:xfrm>
            <a:off x="7585057" y="2053324"/>
            <a:ext cx="3829397" cy="552437"/>
          </a:xfrm>
          <a:prstGeom prst="roundRect">
            <a:avLst>
              <a:gd name="adj" fmla="val 13241"/>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Both protocol eras on one endpoint</a:t>
            </a:r>
          </a:p>
        </p:txBody>
      </p:sp>
      <p:sp>
        <p:nvSpPr>
          <p:cNvPr id="22" name="Rounded Rectangle 21"/>
          <p:cNvSpPr/>
          <p:nvPr/>
        </p:nvSpPr>
        <p:spPr>
          <a:xfrm>
            <a:off x="777240" y="2751995"/>
            <a:ext cx="2127443" cy="552437"/>
          </a:xfrm>
          <a:prstGeom prst="roundRect">
            <a:avLst>
              <a:gd name="adj" fmla="val 1324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Dynamic discovery</a:t>
            </a:r>
          </a:p>
        </p:txBody>
      </p:sp>
      <p:sp>
        <p:nvSpPr>
          <p:cNvPr id="23" name="Rounded Rectangle 22"/>
          <p:cNvSpPr/>
          <p:nvPr/>
        </p:nvSpPr>
        <p:spPr>
          <a:xfrm>
            <a:off x="3223799" y="2751995"/>
            <a:ext cx="3616653" cy="552437"/>
          </a:xfrm>
          <a:prstGeom prst="roundRect">
            <a:avLst>
              <a:gd name="adj" fmla="val 1324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Agents learn tools at run time, not at compile time</a:t>
            </a:r>
          </a:p>
        </p:txBody>
      </p:sp>
      <p:sp>
        <p:nvSpPr>
          <p:cNvPr id="24" name="Rounded Rectangle 23"/>
          <p:cNvSpPr/>
          <p:nvPr/>
        </p:nvSpPr>
        <p:spPr>
          <a:xfrm>
            <a:off x="7585057" y="2751995"/>
            <a:ext cx="3829397" cy="552437"/>
          </a:xfrm>
          <a:prstGeom prst="roundRect">
            <a:avLst>
              <a:gd name="adj" fmla="val 13241"/>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A caller sees only the tools it may run</a:t>
            </a:r>
          </a:p>
        </p:txBody>
      </p:sp>
      <p:sp>
        <p:nvSpPr>
          <p:cNvPr id="25" name="Rounded Rectangle 24"/>
          <p:cNvSpPr/>
          <p:nvPr/>
        </p:nvSpPr>
        <p:spPr>
          <a:xfrm>
            <a:off x="777240" y="3450667"/>
            <a:ext cx="2127443" cy="552437"/>
          </a:xfrm>
          <a:prstGeom prst="roundRect">
            <a:avLst>
              <a:gd name="adj" fmla="val 1324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Transport choice</a:t>
            </a:r>
          </a:p>
        </p:txBody>
      </p:sp>
      <p:sp>
        <p:nvSpPr>
          <p:cNvPr id="26" name="Rounded Rectangle 25"/>
          <p:cNvSpPr/>
          <p:nvPr/>
        </p:nvSpPr>
        <p:spPr>
          <a:xfrm>
            <a:off x="3223799" y="3450667"/>
            <a:ext cx="3616653" cy="552437"/>
          </a:xfrm>
          <a:prstGeom prst="roundRect">
            <a:avLst>
              <a:gd name="adj" fmla="val 1324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Local (stdio) or remote (Streamable HTTP)</a:t>
            </a:r>
          </a:p>
        </p:txBody>
      </p:sp>
      <p:sp>
        <p:nvSpPr>
          <p:cNvPr id="27" name="Rounded Rectangle 26"/>
          <p:cNvSpPr/>
          <p:nvPr/>
        </p:nvSpPr>
        <p:spPr>
          <a:xfrm>
            <a:off x="7585057" y="3450667"/>
            <a:ext cx="3829397" cy="552437"/>
          </a:xfrm>
          <a:prstGeom prst="roundRect">
            <a:avLst>
              <a:gd name="adj" fmla="val 13241"/>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Also legacy SSE and WebSocket</a:t>
            </a:r>
          </a:p>
        </p:txBody>
      </p:sp>
      <p:sp>
        <p:nvSpPr>
          <p:cNvPr id="28" name="Rounded Rectangle 27"/>
          <p:cNvSpPr/>
          <p:nvPr/>
        </p:nvSpPr>
        <p:spPr>
          <a:xfrm>
            <a:off x="777240" y="4149338"/>
            <a:ext cx="2127443" cy="552437"/>
          </a:xfrm>
          <a:prstGeom prst="roundRect">
            <a:avLst>
              <a:gd name="adj" fmla="val 1324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Decoupled evolution</a:t>
            </a:r>
          </a:p>
        </p:txBody>
      </p:sp>
      <p:sp>
        <p:nvSpPr>
          <p:cNvPr id="29" name="Rounded Rectangle 28"/>
          <p:cNvSpPr/>
          <p:nvPr/>
        </p:nvSpPr>
        <p:spPr>
          <a:xfrm>
            <a:off x="3223799" y="4149338"/>
            <a:ext cx="3616653" cy="552437"/>
          </a:xfrm>
          <a:prstGeom prst="roundRect">
            <a:avLst>
              <a:gd name="adj" fmla="val 1324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Servers add tools without changing clients</a:t>
            </a:r>
          </a:p>
        </p:txBody>
      </p:sp>
      <p:sp>
        <p:nvSpPr>
          <p:cNvPr id="30" name="Rounded Rectangle 29"/>
          <p:cNvSpPr/>
          <p:nvPr/>
        </p:nvSpPr>
        <p:spPr>
          <a:xfrm>
            <a:off x="7585057" y="4149338"/>
            <a:ext cx="3829397" cy="552437"/>
          </a:xfrm>
          <a:prstGeom prst="roundRect">
            <a:avLst>
              <a:gd name="adj" fmla="val 13241"/>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Tools added while it runs; clients told on push channels</a:t>
            </a:r>
          </a:p>
        </p:txBody>
      </p:sp>
      <p:sp>
        <p:nvSpPr>
          <p:cNvPr id="31" name="Rounded Rectangle 30"/>
          <p:cNvSpPr/>
          <p:nvPr/>
        </p:nvSpPr>
        <p:spPr>
          <a:xfrm>
            <a:off x="777240" y="4848009"/>
            <a:ext cx="2127443" cy="552437"/>
          </a:xfrm>
          <a:prstGeom prst="roundRect">
            <a:avLst>
              <a:gd name="adj" fmla="val 1324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Ecosystem scale</a:t>
            </a:r>
          </a:p>
        </p:txBody>
      </p:sp>
      <p:sp>
        <p:nvSpPr>
          <p:cNvPr id="32" name="Rounded Rectangle 31"/>
          <p:cNvSpPr/>
          <p:nvPr/>
        </p:nvSpPr>
        <p:spPr>
          <a:xfrm>
            <a:off x="3223799" y="4848009"/>
            <a:ext cx="3616653" cy="552437"/>
          </a:xfrm>
          <a:prstGeom prst="roundRect">
            <a:avLst>
              <a:gd name="adj" fmla="val 1324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Over 10,000 public servers to connect to</a:t>
            </a:r>
          </a:p>
        </p:txBody>
      </p:sp>
      <p:sp>
        <p:nvSpPr>
          <p:cNvPr id="33" name="Rounded Rectangle 32"/>
          <p:cNvSpPr/>
          <p:nvPr/>
        </p:nvSpPr>
        <p:spPr>
          <a:xfrm>
            <a:off x="7585057" y="4848009"/>
            <a:ext cx="3829397" cy="552437"/>
          </a:xfrm>
          <a:prstGeom prst="roundRect">
            <a:avLst>
              <a:gd name="adj" fmla="val 13241"/>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Federation fronts other servers under its rules</a:t>
            </a:r>
          </a:p>
        </p:txBody>
      </p:sp>
      <p:sp>
        <p:nvSpPr>
          <p:cNvPr id="34" name="Rounded Rectangle 33"/>
          <p:cNvSpPr/>
          <p:nvPr/>
        </p:nvSpPr>
        <p:spPr>
          <a:xfrm>
            <a:off x="777240" y="5546680"/>
            <a:ext cx="2127443" cy="552437"/>
          </a:xfrm>
          <a:prstGeom prst="roundRect">
            <a:avLst>
              <a:gd name="adj" fmla="val 1324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One control point</a:t>
            </a:r>
          </a:p>
        </p:txBody>
      </p:sp>
      <p:sp>
        <p:nvSpPr>
          <p:cNvPr id="35" name="Rounded Rectangle 34"/>
          <p:cNvSpPr/>
          <p:nvPr/>
        </p:nvSpPr>
        <p:spPr>
          <a:xfrm>
            <a:off x="3223799" y="5546680"/>
            <a:ext cx="3616653" cy="552437"/>
          </a:xfrm>
          <a:prstGeom prst="roundRect">
            <a:avLst>
              <a:gd name="adj" fmla="val 1324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Authentication and authorization at the server</a:t>
            </a:r>
          </a:p>
        </p:txBody>
      </p:sp>
      <p:sp>
        <p:nvSpPr>
          <p:cNvPr id="36" name="Rounded Rectangle 35"/>
          <p:cNvSpPr/>
          <p:nvPr/>
        </p:nvSpPr>
        <p:spPr>
          <a:xfrm>
            <a:off x="7585057" y="5546680"/>
            <a:ext cx="3829397" cy="552437"/>
          </a:xfrm>
          <a:prstGeom prst="roundRect">
            <a:avLst>
              <a:gd name="adj" fmla="val 13241"/>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1A1A1A"/>
                </a:solidFill>
                <a:latin typeface="Calibri"/>
              </a:rPr>
              <a:t>Access policy, rules, approvals and a tamper-evident audit</a:t>
            </a:r>
          </a:p>
        </p:txBody>
      </p:sp>
      <p:cxnSp>
        <p:nvCxnSpPr>
          <p:cNvPr id="37" name="Connector 36"/>
          <p:cNvCxnSpPr/>
          <p:nvPr/>
        </p:nvCxnSpPr>
        <p:spPr>
          <a:xfrm>
            <a:off x="6886172" y="2329543"/>
            <a:ext cx="65316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078643" y="2091799"/>
            <a:ext cx="268224" cy="201168"/>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A51C30"/>
                </a:solidFill>
                <a:latin typeface="Calibri"/>
              </a:rPr>
              <a:t>+</a:t>
            </a:r>
          </a:p>
        </p:txBody>
      </p:sp>
      <p:cxnSp>
        <p:nvCxnSpPr>
          <p:cNvPr id="39" name="Connector 38"/>
          <p:cNvCxnSpPr/>
          <p:nvPr/>
        </p:nvCxnSpPr>
        <p:spPr>
          <a:xfrm>
            <a:off x="6886172" y="3028214"/>
            <a:ext cx="65316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078643" y="2790470"/>
            <a:ext cx="268224" cy="201168"/>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A51C30"/>
                </a:solidFill>
                <a:latin typeface="Calibri"/>
              </a:rPr>
              <a:t>+</a:t>
            </a:r>
          </a:p>
        </p:txBody>
      </p:sp>
      <p:cxnSp>
        <p:nvCxnSpPr>
          <p:cNvPr id="41" name="Connector 40"/>
          <p:cNvCxnSpPr/>
          <p:nvPr/>
        </p:nvCxnSpPr>
        <p:spPr>
          <a:xfrm>
            <a:off x="6886172" y="3726885"/>
            <a:ext cx="65316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078643" y="3489141"/>
            <a:ext cx="268224" cy="201168"/>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A51C30"/>
                </a:solidFill>
                <a:latin typeface="Calibri"/>
              </a:rPr>
              <a:t>+</a:t>
            </a:r>
          </a:p>
        </p:txBody>
      </p:sp>
      <p:cxnSp>
        <p:nvCxnSpPr>
          <p:cNvPr id="43" name="Connector 42"/>
          <p:cNvCxnSpPr/>
          <p:nvPr/>
        </p:nvCxnSpPr>
        <p:spPr>
          <a:xfrm>
            <a:off x="6886172" y="4425557"/>
            <a:ext cx="65316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078643" y="4187813"/>
            <a:ext cx="268224" cy="201168"/>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A51C30"/>
                </a:solidFill>
                <a:latin typeface="Calibri"/>
              </a:rPr>
              <a:t>+</a:t>
            </a:r>
          </a:p>
        </p:txBody>
      </p:sp>
      <p:cxnSp>
        <p:nvCxnSpPr>
          <p:cNvPr id="45" name="Connector 44"/>
          <p:cNvCxnSpPr/>
          <p:nvPr/>
        </p:nvCxnSpPr>
        <p:spPr>
          <a:xfrm>
            <a:off x="6886172" y="5124228"/>
            <a:ext cx="65316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078643" y="4886484"/>
            <a:ext cx="268224" cy="201168"/>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A51C30"/>
                </a:solidFill>
                <a:latin typeface="Calibri"/>
              </a:rPr>
              <a:t>+</a:t>
            </a:r>
          </a:p>
        </p:txBody>
      </p:sp>
      <p:cxnSp>
        <p:nvCxnSpPr>
          <p:cNvPr id="47" name="Connector 46"/>
          <p:cNvCxnSpPr/>
          <p:nvPr/>
        </p:nvCxnSpPr>
        <p:spPr>
          <a:xfrm>
            <a:off x="6886172" y="5822899"/>
            <a:ext cx="65316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078643" y="5585155"/>
            <a:ext cx="268224" cy="201168"/>
          </a:xfrm>
          <a:prstGeom prst="rect">
            <a:avLst/>
          </a:prstGeom>
          <a:noFill/>
        </p:spPr>
        <p:txBody>
          <a:bodyPr wrap="square" lIns="0" rIns="0" tIns="0" bIns="0" anchor="t">
            <a:spAutoFit/>
          </a:bodyPr>
          <a:lstStyle/>
          <a:p>
            <a:pPr algn="ctr">
              <a:lnSpc>
                <a:spcPct val="120000"/>
              </a:lnSpc>
              <a:spcBef>
                <a:spcPts val="0"/>
              </a:spcBef>
              <a:spcAft>
                <a:spcPts val="0"/>
              </a:spcAft>
            </a:pPr>
            <a:r>
              <a:rPr sz="1200" b="1" i="0">
                <a:solidFill>
                  <a:srgbClr val="A51C30"/>
                </a:solidFill>
                <a:latin typeface="Calibri"/>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02</a:t>
            </a:r>
          </a:p>
        </p:txBody>
      </p:sp>
      <p:sp>
        <p:nvSpPr>
          <p:cNvPr id="12" name="TextBox 11"/>
          <p:cNvSpPr txBox="1"/>
          <p:nvPr/>
        </p:nvSpPr>
        <p:spPr>
          <a:xfrm>
            <a:off x="1521845" y="2487168"/>
            <a:ext cx="9148005" cy="591947"/>
          </a:xfrm>
          <a:prstGeom prst="rect">
            <a:avLst/>
          </a:prstGeom>
          <a:noFill/>
        </p:spPr>
        <p:txBody>
          <a:bodyPr wrap="square" lIns="0" rIns="0" tIns="0" bIns="0" anchor="t">
            <a:spAutoFit/>
          </a:bodyPr>
          <a:lstStyle/>
          <a:p>
            <a:pPr algn="ctr">
              <a:lnSpc>
                <a:spcPct val="110000"/>
              </a:lnSpc>
              <a:spcBef>
                <a:spcPts val="0"/>
              </a:spcBef>
              <a:spcAft>
                <a:spcPts val="0"/>
              </a:spcAft>
            </a:pPr>
            <a:r>
              <a:rPr sz="3400" b="0" i="0">
                <a:solidFill>
                  <a:srgbClr val="FFFFFF"/>
                </a:solidFill>
                <a:latin typeface="Georgia"/>
              </a:rPr>
              <a:t>MCP integration with AI applications</a:t>
            </a:r>
          </a:p>
        </p:txBody>
      </p:sp>
      <p:sp>
        <p:nvSpPr>
          <p:cNvPr id="13" name="Rectangle 12"/>
          <p:cNvSpPr/>
          <p:nvPr/>
        </p:nvSpPr>
        <p:spPr>
          <a:xfrm>
            <a:off x="5364327" y="3234563"/>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463163"/>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Where MCP sits inside an AI application, how an application connects, the transports and the two eras in use today, and the patterns agents use to call tools.</a:t>
            </a:r>
          </a:p>
        </p:txBody>
      </p:sp>
      <p:sp>
        <p:nvSpPr>
          <p:cNvPr id="15" name="TextBox 14"/>
          <p:cNvSpPr txBox="1"/>
          <p:nvPr/>
        </p:nvSpPr>
        <p:spPr>
          <a:xfrm>
            <a:off x="1143000" y="4593971"/>
            <a:ext cx="9905695" cy="1623948"/>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Indicative architecture   ·   Connecting   ·   Transports   ·   Two eras   ·   Conformance   ·   Interaction patterns   ·   Beyond list and call   ·   LLM pipelines</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INDICATIVE ARCHITECTURE</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An MCP-enabled application keeps its AI layer apart from its integrations</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12</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application connects to several MCP servers at once. Agents, workflows and the model coordinate through the orchestrator; MCP clients carry all tool traffic.</a:t>
            </a:r>
          </a:p>
        </p:txBody>
      </p:sp>
      <p:sp>
        <p:nvSpPr>
          <p:cNvPr id="19" name="Rectangle 18"/>
          <p:cNvSpPr/>
          <p:nvPr/>
        </p:nvSpPr>
        <p:spPr>
          <a:xfrm>
            <a:off x="777240" y="1611884"/>
            <a:ext cx="4680374" cy="4066539"/>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1666748"/>
            <a:ext cx="4460918"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AI APPLICATION</a:t>
            </a:r>
          </a:p>
        </p:txBody>
      </p:sp>
      <p:sp>
        <p:nvSpPr>
          <p:cNvPr id="21" name="Rectangle 20"/>
          <p:cNvSpPr/>
          <p:nvPr/>
        </p:nvSpPr>
        <p:spPr>
          <a:xfrm>
            <a:off x="6521336" y="1611884"/>
            <a:ext cx="4893118" cy="1911273"/>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31064" y="1666748"/>
            <a:ext cx="4673662"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MCP SERVER A: SAJHA</a:t>
            </a:r>
          </a:p>
        </p:txBody>
      </p:sp>
      <p:sp>
        <p:nvSpPr>
          <p:cNvPr id="23" name="Rectangle 22"/>
          <p:cNvSpPr/>
          <p:nvPr/>
        </p:nvSpPr>
        <p:spPr>
          <a:xfrm>
            <a:off x="6521336" y="3767150"/>
            <a:ext cx="4893118" cy="1911273"/>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31064" y="3822014"/>
            <a:ext cx="4673662"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MCP SERVER B: SEARCH</a:t>
            </a:r>
          </a:p>
        </p:txBody>
      </p:sp>
      <p:cxnSp>
        <p:nvCxnSpPr>
          <p:cNvPr id="25" name="Connector 24"/>
          <p:cNvCxnSpPr/>
          <p:nvPr/>
        </p:nvCxnSpPr>
        <p:spPr>
          <a:xfrm>
            <a:off x="3047631" y="2262530"/>
            <a:ext cx="13959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000519" y="2543098"/>
            <a:ext cx="0" cy="25217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234334" y="2543098"/>
            <a:ext cx="0" cy="25217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00519" y="3356406"/>
            <a:ext cx="0" cy="45549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000519" y="4373041"/>
            <a:ext cx="0" cy="45549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281446" y="3075838"/>
            <a:ext cx="1203314"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5281446" y="3075838"/>
            <a:ext cx="1203314"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748229" y="2874670"/>
            <a:ext cx="26974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MCP</a:t>
            </a:r>
          </a:p>
        </p:txBody>
      </p:sp>
      <p:cxnSp>
        <p:nvCxnSpPr>
          <p:cNvPr id="33" name="Connector 32"/>
          <p:cNvCxnSpPr/>
          <p:nvPr/>
        </p:nvCxnSpPr>
        <p:spPr>
          <a:xfrm>
            <a:off x="5281446" y="4702454"/>
            <a:ext cx="1203314"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5281446" y="4702454"/>
            <a:ext cx="1203314"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748229" y="4501286"/>
            <a:ext cx="26974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MCP</a:t>
            </a:r>
          </a:p>
        </p:txBody>
      </p:sp>
      <p:sp>
        <p:nvSpPr>
          <p:cNvPr id="36" name="Rounded Rectangle 35"/>
          <p:cNvSpPr/>
          <p:nvPr/>
        </p:nvSpPr>
        <p:spPr>
          <a:xfrm>
            <a:off x="989984" y="2018538"/>
            <a:ext cx="2021070"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Chat interface</a:t>
            </a:r>
          </a:p>
        </p:txBody>
      </p:sp>
      <p:sp>
        <p:nvSpPr>
          <p:cNvPr id="37" name="Rounded Rectangle 36"/>
          <p:cNvSpPr/>
          <p:nvPr/>
        </p:nvSpPr>
        <p:spPr>
          <a:xfrm>
            <a:off x="3223799" y="2018538"/>
            <a:ext cx="2021070" cy="487984"/>
          </a:xfrm>
          <a:prstGeom prst="roundRect">
            <a:avLst>
              <a:gd name="adj" fmla="val 1499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50" b="1" i="0">
                <a:solidFill>
                  <a:srgbClr val="FFFFFF"/>
                </a:solidFill>
                <a:latin typeface="Calibri"/>
              </a:rPr>
              <a:t>Agent orchestrator</a:t>
            </a:r>
          </a:p>
        </p:txBody>
      </p:sp>
      <p:sp>
        <p:nvSpPr>
          <p:cNvPr id="38" name="Rounded Rectangle 37"/>
          <p:cNvSpPr/>
          <p:nvPr/>
        </p:nvSpPr>
        <p:spPr>
          <a:xfrm>
            <a:off x="989984" y="2831846"/>
            <a:ext cx="2021070" cy="487984"/>
          </a:xfrm>
          <a:prstGeom prst="roundRect">
            <a:avLst>
              <a:gd name="adj" fmla="val 1499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LLM</a:t>
            </a:r>
          </a:p>
        </p:txBody>
      </p:sp>
      <p:sp>
        <p:nvSpPr>
          <p:cNvPr id="39" name="Rounded Rectangle 38"/>
          <p:cNvSpPr/>
          <p:nvPr/>
        </p:nvSpPr>
        <p:spPr>
          <a:xfrm>
            <a:off x="3223799" y="2831846"/>
            <a:ext cx="2021070" cy="487984"/>
          </a:xfrm>
          <a:prstGeom prst="roundRect">
            <a:avLst>
              <a:gd name="adj" fmla="val 1499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MCP client A</a:t>
            </a:r>
          </a:p>
        </p:txBody>
      </p:sp>
      <p:sp>
        <p:nvSpPr>
          <p:cNvPr id="40" name="Rounded Rectangle 39"/>
          <p:cNvSpPr/>
          <p:nvPr/>
        </p:nvSpPr>
        <p:spPr>
          <a:xfrm>
            <a:off x="989984" y="3848481"/>
            <a:ext cx="2021070" cy="487984"/>
          </a:xfrm>
          <a:prstGeom prst="roundRect">
            <a:avLst>
              <a:gd name="adj" fmla="val 1499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Workflow engine</a:t>
            </a:r>
          </a:p>
        </p:txBody>
      </p:sp>
      <p:sp>
        <p:nvSpPr>
          <p:cNvPr id="41" name="Rounded Rectangle 40"/>
          <p:cNvSpPr/>
          <p:nvPr/>
        </p:nvSpPr>
        <p:spPr>
          <a:xfrm>
            <a:off x="3223799" y="4458461"/>
            <a:ext cx="2021070" cy="487984"/>
          </a:xfrm>
          <a:prstGeom prst="roundRect">
            <a:avLst>
              <a:gd name="adj" fmla="val 1499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MCP client B</a:t>
            </a:r>
          </a:p>
        </p:txBody>
      </p:sp>
      <p:sp>
        <p:nvSpPr>
          <p:cNvPr id="42" name="Rounded Rectangle 41"/>
          <p:cNvSpPr/>
          <p:nvPr/>
        </p:nvSpPr>
        <p:spPr>
          <a:xfrm>
            <a:off x="989984" y="4865116"/>
            <a:ext cx="2021070"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50" b="1" i="0">
                <a:solidFill>
                  <a:srgbClr val="1A1A1A"/>
                </a:solidFill>
                <a:latin typeface="Calibri"/>
              </a:rPr>
              <a:t>Memory and context</a:t>
            </a:r>
          </a:p>
        </p:txBody>
      </p:sp>
      <p:sp>
        <p:nvSpPr>
          <p:cNvPr id="43" name="Rounded Rectangle 42"/>
          <p:cNvSpPr/>
          <p:nvPr/>
        </p:nvSpPr>
        <p:spPr>
          <a:xfrm>
            <a:off x="6680894" y="2099868"/>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FRED</a:t>
            </a:r>
          </a:p>
        </p:txBody>
      </p:sp>
      <p:sp>
        <p:nvSpPr>
          <p:cNvPr id="44" name="Rounded Rectangle 43"/>
          <p:cNvSpPr/>
          <p:nvPr/>
        </p:nvSpPr>
        <p:spPr>
          <a:xfrm>
            <a:off x="7850988" y="2099868"/>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OLAP</a:t>
            </a:r>
          </a:p>
        </p:txBody>
      </p:sp>
      <p:sp>
        <p:nvSpPr>
          <p:cNvPr id="45" name="Rounded Rectangle 44"/>
          <p:cNvSpPr/>
          <p:nvPr/>
        </p:nvSpPr>
        <p:spPr>
          <a:xfrm>
            <a:off x="9021081" y="2099868"/>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DuckDB</a:t>
            </a:r>
          </a:p>
        </p:txBody>
      </p:sp>
      <p:sp>
        <p:nvSpPr>
          <p:cNvPr id="46" name="Rounded Rectangle 45"/>
          <p:cNvSpPr/>
          <p:nvPr/>
        </p:nvSpPr>
        <p:spPr>
          <a:xfrm>
            <a:off x="10191175" y="2099868"/>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Yahoo</a:t>
            </a:r>
          </a:p>
        </p:txBody>
      </p:sp>
      <p:sp>
        <p:nvSpPr>
          <p:cNvPr id="47" name="Rounded Rectangle 46"/>
          <p:cNvSpPr/>
          <p:nvPr/>
        </p:nvSpPr>
        <p:spPr>
          <a:xfrm>
            <a:off x="6680894" y="2831846"/>
            <a:ext cx="2233815" cy="487984"/>
          </a:xfrm>
          <a:prstGeom prst="roundRect">
            <a:avLst>
              <a:gd name="adj" fmla="val 1499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Access · policy · audit</a:t>
            </a:r>
          </a:p>
        </p:txBody>
      </p:sp>
      <p:sp>
        <p:nvSpPr>
          <p:cNvPr id="48" name="Rounded Rectangle 47"/>
          <p:cNvSpPr/>
          <p:nvPr/>
        </p:nvSpPr>
        <p:spPr>
          <a:xfrm>
            <a:off x="9021081" y="2791180"/>
            <a:ext cx="2233815" cy="569315"/>
          </a:xfrm>
          <a:prstGeom prst="roundRect">
            <a:avLst>
              <a:gd name="adj" fmla="val 12849"/>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Databases</a:t>
            </a:r>
          </a:p>
          <a:p>
            <a:pPr algn="ctr">
              <a:lnSpc>
                <a:spcPct val="105000"/>
              </a:lnSpc>
              <a:spcBef>
                <a:spcPts val="0"/>
              </a:spcBef>
              <a:spcAft>
                <a:spcPts val="0"/>
              </a:spcAft>
            </a:pPr>
            <a:r>
              <a:rPr sz="850" b="0" i="0">
                <a:solidFill>
                  <a:srgbClr val="1A1A1A"/>
                </a:solidFill>
                <a:latin typeface="Calibri"/>
              </a:rPr>
              <a:t>PostgreSQL, DuckDB</a:t>
            </a:r>
          </a:p>
        </p:txBody>
      </p:sp>
      <p:sp>
        <p:nvSpPr>
          <p:cNvPr id="49" name="Rounded Rectangle 48"/>
          <p:cNvSpPr/>
          <p:nvPr/>
        </p:nvSpPr>
        <p:spPr>
          <a:xfrm>
            <a:off x="6680894" y="4255135"/>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Search</a:t>
            </a:r>
          </a:p>
        </p:txBody>
      </p:sp>
      <p:sp>
        <p:nvSpPr>
          <p:cNvPr id="50" name="Rounded Rectangle 49"/>
          <p:cNvSpPr/>
          <p:nvPr/>
        </p:nvSpPr>
        <p:spPr>
          <a:xfrm>
            <a:off x="7850988" y="4255135"/>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Extract</a:t>
            </a:r>
          </a:p>
        </p:txBody>
      </p:sp>
      <p:sp>
        <p:nvSpPr>
          <p:cNvPr id="51" name="Rounded Rectangle 50"/>
          <p:cNvSpPr/>
          <p:nvPr/>
        </p:nvSpPr>
        <p:spPr>
          <a:xfrm>
            <a:off x="9021081" y="4255135"/>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Crawl</a:t>
            </a:r>
          </a:p>
        </p:txBody>
      </p:sp>
      <p:sp>
        <p:nvSpPr>
          <p:cNvPr id="52" name="Rounded Rectangle 51"/>
          <p:cNvSpPr/>
          <p:nvPr/>
        </p:nvSpPr>
        <p:spPr>
          <a:xfrm>
            <a:off x="10191175" y="4255135"/>
            <a:ext cx="1063721" cy="487984"/>
          </a:xfrm>
          <a:prstGeom prst="roundRect">
            <a:avLst>
              <a:gd name="adj" fmla="val 1499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Research</a:t>
            </a:r>
          </a:p>
        </p:txBody>
      </p:sp>
      <p:sp>
        <p:nvSpPr>
          <p:cNvPr id="53" name="Rounded Rectangle 52"/>
          <p:cNvSpPr/>
          <p:nvPr/>
        </p:nvSpPr>
        <p:spPr>
          <a:xfrm>
            <a:off x="6680894" y="4987112"/>
            <a:ext cx="4574002" cy="528650"/>
          </a:xfrm>
          <a:prstGeom prst="roundRect">
            <a:avLst>
              <a:gd name="adj" fmla="val 1383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External APIs</a:t>
            </a:r>
          </a:p>
          <a:p>
            <a:pPr algn="ctr">
              <a:lnSpc>
                <a:spcPct val="105000"/>
              </a:lnSpc>
              <a:spcBef>
                <a:spcPts val="0"/>
              </a:spcBef>
              <a:spcAft>
                <a:spcPts val="0"/>
              </a:spcAft>
            </a:pPr>
            <a:r>
              <a:rPr sz="850" b="0" i="0">
                <a:solidFill>
                  <a:srgbClr val="1A1A1A"/>
                </a:solidFill>
                <a:latin typeface="Calibri"/>
              </a:rPr>
              <a:t>REST, GraphQL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HOW APPLICATIONS CONNECT</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Connect, discover, invoke, iterate: the same four moves in either era</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13</a:t>
            </a:r>
          </a:p>
        </p:txBody>
      </p:sp>
      <p:sp>
        <p:nvSpPr>
          <p:cNvPr id="17" name="Rectangle 16"/>
          <p:cNvSpPr/>
          <p:nvPr/>
        </p:nvSpPr>
        <p:spPr>
          <a:xfrm>
            <a:off x="777240" y="1290574"/>
            <a:ext cx="5105863" cy="3529771"/>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354582"/>
            <a:ext cx="488640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SESSION ERA (UP TO 2025-11-25)</a:t>
            </a:r>
          </a:p>
        </p:txBody>
      </p:sp>
      <p:sp>
        <p:nvSpPr>
          <p:cNvPr id="19" name="Rectangle 18"/>
          <p:cNvSpPr/>
          <p:nvPr/>
        </p:nvSpPr>
        <p:spPr>
          <a:xfrm>
            <a:off x="6308591" y="1290574"/>
            <a:ext cx="5105863" cy="3529771"/>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8319" y="1354582"/>
            <a:ext cx="488640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STATELESS ERA (2026-07-28)</a:t>
            </a:r>
          </a:p>
        </p:txBody>
      </p:sp>
      <p:sp>
        <p:nvSpPr>
          <p:cNvPr id="21" name="Rounded Rectangle 20"/>
          <p:cNvSpPr/>
          <p:nvPr/>
        </p:nvSpPr>
        <p:spPr>
          <a:xfrm>
            <a:off x="1096356" y="1742056"/>
            <a:ext cx="2127443" cy="656701"/>
          </a:xfrm>
          <a:prstGeom prst="roundRect">
            <a:avLst>
              <a:gd name="adj" fmla="val 11139"/>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initialize</a:t>
            </a:r>
          </a:p>
          <a:p>
            <a:pPr algn="ctr">
              <a:lnSpc>
                <a:spcPct val="105000"/>
              </a:lnSpc>
              <a:spcBef>
                <a:spcPts val="0"/>
              </a:spcBef>
              <a:spcAft>
                <a:spcPts val="0"/>
              </a:spcAft>
            </a:pPr>
            <a:r>
              <a:rPr sz="1150" b="0" i="0">
                <a:solidFill>
                  <a:srgbClr val="FFFFFF"/>
                </a:solidFill>
                <a:latin typeface="Calibri"/>
              </a:rPr>
              <a:t>negotiates capabilities</a:t>
            </a:r>
          </a:p>
        </p:txBody>
      </p:sp>
      <p:sp>
        <p:nvSpPr>
          <p:cNvPr id="22" name="Rounded Rectangle 21"/>
          <p:cNvSpPr/>
          <p:nvPr/>
        </p:nvSpPr>
        <p:spPr>
          <a:xfrm>
            <a:off x="3542915" y="1742056"/>
            <a:ext cx="2021070" cy="656701"/>
          </a:xfrm>
          <a:prstGeom prst="roundRect">
            <a:avLst>
              <a:gd name="adj" fmla="val 11139"/>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Mcp-Session-Id</a:t>
            </a:r>
          </a:p>
          <a:p>
            <a:pPr algn="ctr">
              <a:lnSpc>
                <a:spcPct val="105000"/>
              </a:lnSpc>
              <a:spcBef>
                <a:spcPts val="0"/>
              </a:spcBef>
              <a:spcAft>
                <a:spcPts val="0"/>
              </a:spcAft>
            </a:pPr>
            <a:r>
              <a:rPr sz="1050" b="0" i="0">
                <a:solidFill>
                  <a:srgbClr val="1A1A1A"/>
                </a:solidFill>
                <a:latin typeface="Calibri"/>
              </a:rPr>
              <a:t>the server opens a session</a:t>
            </a:r>
          </a:p>
        </p:txBody>
      </p:sp>
      <p:sp>
        <p:nvSpPr>
          <p:cNvPr id="23" name="Rounded Rectangle 22"/>
          <p:cNvSpPr/>
          <p:nvPr/>
        </p:nvSpPr>
        <p:spPr>
          <a:xfrm>
            <a:off x="1096356" y="2850240"/>
            <a:ext cx="2127443" cy="574614"/>
          </a:xfrm>
          <a:prstGeom prst="roundRect">
            <a:avLst>
              <a:gd name="adj" fmla="val 127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tools/list</a:t>
            </a:r>
          </a:p>
          <a:p>
            <a:pPr algn="ctr">
              <a:lnSpc>
                <a:spcPct val="105000"/>
              </a:lnSpc>
              <a:spcBef>
                <a:spcPts val="0"/>
              </a:spcBef>
              <a:spcAft>
                <a:spcPts val="0"/>
              </a:spcAft>
            </a:pPr>
            <a:r>
              <a:rPr sz="1150" b="0" i="0">
                <a:solidFill>
                  <a:srgbClr val="1A1A1A"/>
                </a:solidFill>
                <a:latin typeface="Calibri"/>
              </a:rPr>
              <a:t>on the session</a:t>
            </a:r>
          </a:p>
        </p:txBody>
      </p:sp>
      <p:sp>
        <p:nvSpPr>
          <p:cNvPr id="24" name="Rounded Rectangle 23"/>
          <p:cNvSpPr/>
          <p:nvPr/>
        </p:nvSpPr>
        <p:spPr>
          <a:xfrm>
            <a:off x="1096356" y="3835293"/>
            <a:ext cx="2127443" cy="574614"/>
          </a:xfrm>
          <a:prstGeom prst="roundRect">
            <a:avLst>
              <a:gd name="adj" fmla="val 127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tools/call</a:t>
            </a:r>
          </a:p>
          <a:p>
            <a:pPr algn="ctr">
              <a:lnSpc>
                <a:spcPct val="105000"/>
              </a:lnSpc>
              <a:spcBef>
                <a:spcPts val="0"/>
              </a:spcBef>
              <a:spcAft>
                <a:spcPts val="0"/>
              </a:spcAft>
            </a:pPr>
            <a:r>
              <a:rPr sz="1150" b="0" i="0">
                <a:solidFill>
                  <a:srgbClr val="1A1A1A"/>
                </a:solidFill>
                <a:latin typeface="Calibri"/>
              </a:rPr>
              <a:t>on the session</a:t>
            </a:r>
          </a:p>
        </p:txBody>
      </p:sp>
      <p:sp>
        <p:nvSpPr>
          <p:cNvPr id="25" name="Rounded Rectangle 24"/>
          <p:cNvSpPr/>
          <p:nvPr/>
        </p:nvSpPr>
        <p:spPr>
          <a:xfrm>
            <a:off x="3542915" y="3835293"/>
            <a:ext cx="2021070" cy="574614"/>
          </a:xfrm>
          <a:prstGeom prst="roundRect">
            <a:avLst>
              <a:gd name="adj" fmla="val 12730"/>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iterate</a:t>
            </a:r>
          </a:p>
          <a:p>
            <a:pPr algn="ctr">
              <a:lnSpc>
                <a:spcPct val="105000"/>
              </a:lnSpc>
              <a:spcBef>
                <a:spcPts val="0"/>
              </a:spcBef>
              <a:spcAft>
                <a:spcPts val="0"/>
              </a:spcAft>
            </a:pPr>
            <a:r>
              <a:rPr sz="1050" b="0" i="0">
                <a:solidFill>
                  <a:srgbClr val="1A1A1A"/>
                </a:solidFill>
                <a:latin typeface="Calibri"/>
              </a:rPr>
              <a:t>until the model can answer</a:t>
            </a:r>
          </a:p>
        </p:txBody>
      </p:sp>
      <p:sp>
        <p:nvSpPr>
          <p:cNvPr id="26" name="Rounded Rectangle 25"/>
          <p:cNvSpPr/>
          <p:nvPr/>
        </p:nvSpPr>
        <p:spPr>
          <a:xfrm>
            <a:off x="6627708" y="1742056"/>
            <a:ext cx="2127443" cy="656701"/>
          </a:xfrm>
          <a:prstGeom prst="roundRect">
            <a:avLst>
              <a:gd name="adj" fmla="val 11139"/>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6E1120"/>
                </a:solidFill>
                <a:latin typeface="Calibri"/>
              </a:rPr>
              <a:t>server/discover</a:t>
            </a:r>
          </a:p>
          <a:p>
            <a:pPr algn="ctr">
              <a:lnSpc>
                <a:spcPct val="105000"/>
              </a:lnSpc>
              <a:spcBef>
                <a:spcPts val="0"/>
              </a:spcBef>
              <a:spcAft>
                <a:spcPts val="0"/>
              </a:spcAft>
            </a:pPr>
            <a:r>
              <a:rPr sz="1150" b="0" i="0">
                <a:solidFill>
                  <a:srgbClr val="6E1120"/>
                </a:solidFill>
                <a:latin typeface="Calibri"/>
              </a:rPr>
              <a:t>optional: what the server offers</a:t>
            </a:r>
          </a:p>
        </p:txBody>
      </p:sp>
      <p:sp>
        <p:nvSpPr>
          <p:cNvPr id="27" name="Rounded Rectangle 26"/>
          <p:cNvSpPr/>
          <p:nvPr/>
        </p:nvSpPr>
        <p:spPr>
          <a:xfrm>
            <a:off x="6627708" y="2850240"/>
            <a:ext cx="2127443" cy="574614"/>
          </a:xfrm>
          <a:prstGeom prst="roundRect">
            <a:avLst>
              <a:gd name="adj" fmla="val 127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50" b="1" i="0">
                <a:solidFill>
                  <a:srgbClr val="1A1A1A"/>
                </a:solidFill>
                <a:latin typeface="Calibri"/>
              </a:rPr>
              <a:t>tools/list</a:t>
            </a:r>
          </a:p>
          <a:p>
            <a:pPr algn="ctr">
              <a:lnSpc>
                <a:spcPct val="105000"/>
              </a:lnSpc>
              <a:spcBef>
                <a:spcPts val="0"/>
              </a:spcBef>
              <a:spcAft>
                <a:spcPts val="0"/>
              </a:spcAft>
            </a:pPr>
            <a:r>
              <a:rPr sz="1100" b="0" i="0">
                <a:solidFill>
                  <a:srgbClr val="1A1A1A"/>
                </a:solidFill>
                <a:latin typeface="Calibri"/>
              </a:rPr>
              <a:t>names its version in _meta</a:t>
            </a:r>
          </a:p>
        </p:txBody>
      </p:sp>
      <p:sp>
        <p:nvSpPr>
          <p:cNvPr id="28" name="Rounded Rectangle 27"/>
          <p:cNvSpPr/>
          <p:nvPr/>
        </p:nvSpPr>
        <p:spPr>
          <a:xfrm>
            <a:off x="6627708" y="3835293"/>
            <a:ext cx="2127443" cy="574614"/>
          </a:xfrm>
          <a:prstGeom prst="roundRect">
            <a:avLst>
              <a:gd name="adj" fmla="val 127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50" b="1" i="0">
                <a:solidFill>
                  <a:srgbClr val="1A1A1A"/>
                </a:solidFill>
                <a:latin typeface="Calibri"/>
              </a:rPr>
              <a:t>tools/call</a:t>
            </a:r>
          </a:p>
          <a:p>
            <a:pPr algn="ctr">
              <a:lnSpc>
                <a:spcPct val="105000"/>
              </a:lnSpc>
              <a:spcBef>
                <a:spcPts val="0"/>
              </a:spcBef>
              <a:spcAft>
                <a:spcPts val="0"/>
              </a:spcAft>
            </a:pPr>
            <a:r>
              <a:rPr sz="1100" b="0" i="0">
                <a:solidFill>
                  <a:srgbClr val="1A1A1A"/>
                </a:solidFill>
                <a:latin typeface="Calibri"/>
              </a:rPr>
              <a:t>every request stands alone</a:t>
            </a:r>
          </a:p>
        </p:txBody>
      </p:sp>
      <p:sp>
        <p:nvSpPr>
          <p:cNvPr id="29" name="Rounded Rectangle 28"/>
          <p:cNvSpPr/>
          <p:nvPr/>
        </p:nvSpPr>
        <p:spPr>
          <a:xfrm>
            <a:off x="9074267" y="3835293"/>
            <a:ext cx="2021070" cy="574614"/>
          </a:xfrm>
          <a:prstGeom prst="roundRect">
            <a:avLst>
              <a:gd name="adj" fmla="val 12730"/>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iterate</a:t>
            </a:r>
          </a:p>
          <a:p>
            <a:pPr algn="ctr">
              <a:lnSpc>
                <a:spcPct val="105000"/>
              </a:lnSpc>
              <a:spcBef>
                <a:spcPts val="0"/>
              </a:spcBef>
              <a:spcAft>
                <a:spcPts val="0"/>
              </a:spcAft>
            </a:pPr>
            <a:r>
              <a:rPr sz="1050" b="0" i="0">
                <a:solidFill>
                  <a:srgbClr val="1A1A1A"/>
                </a:solidFill>
                <a:latin typeface="Calibri"/>
              </a:rPr>
              <a:t>no session to keep</a:t>
            </a:r>
          </a:p>
        </p:txBody>
      </p:sp>
      <p:cxnSp>
        <p:nvCxnSpPr>
          <p:cNvPr id="30" name="Connector 29"/>
          <p:cNvCxnSpPr/>
          <p:nvPr/>
        </p:nvCxnSpPr>
        <p:spPr>
          <a:xfrm>
            <a:off x="3269519" y="2070407"/>
            <a:ext cx="22767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160077" y="2444478"/>
            <a:ext cx="0" cy="36004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160077" y="3470574"/>
            <a:ext cx="0" cy="31899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269519" y="4122600"/>
            <a:ext cx="22767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553451" y="2444478"/>
            <a:ext cx="0" cy="1345095"/>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691429" y="2444478"/>
            <a:ext cx="0" cy="360042"/>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691429" y="3470574"/>
            <a:ext cx="0" cy="31899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800871" y="4122600"/>
            <a:ext cx="22767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77240" y="5559552"/>
            <a:ext cx="10637215" cy="685800"/>
          </a:xfrm>
          <a:prstGeom prst="rect">
            <a:avLst/>
          </a:prstGeom>
          <a:noFill/>
        </p:spPr>
        <p:txBody>
          <a:bodyPr wrap="square" lIns="0" rIns="0" tIns="0" bIns="0" anchor="t">
            <a:spAutoFit/>
          </a:bodyPr>
          <a:lstStyle/>
          <a:p>
            <a:pPr algn="l">
              <a:lnSpc>
                <a:spcPct val="120000"/>
              </a:lnSpc>
              <a:spcBef>
                <a:spcPts val="0"/>
              </a:spcBef>
              <a:spcAft>
                <a:spcPts val="0"/>
              </a:spcAft>
            </a:pPr>
            <a:r>
              <a:rPr sz="1400" b="1">
                <a:solidFill>
                  <a:srgbClr val="A51C30"/>
                </a:solidFill>
                <a:latin typeface="Calibri"/>
              </a:rPr>
              <a:t>▪  </a:t>
            </a:r>
            <a:r>
              <a:rPr sz="1400" b="0">
                <a:solidFill>
                  <a:srgbClr val="1A1A1A"/>
                </a:solidFill>
                <a:latin typeface="Calibri"/>
              </a:rPr>
              <a:t>Official SDKs exist for TypeScript, Python, C#, Go, Rust, Ruby, Java, Swift, PHP and Kotlin, with the same pattern in each; one SAJHA endpoint serves both eras.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TRANSPORTS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Four transports in SAJHA; two of them are the MCP standard</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14</a:t>
            </a:r>
          </a:p>
        </p:txBody>
      </p:sp>
      <p:sp>
        <p:nvSpPr>
          <p:cNvPr id="17" name="Oval 16"/>
          <p:cNvSpPr/>
          <p:nvPr/>
        </p:nvSpPr>
        <p:spPr>
          <a:xfrm>
            <a:off x="777240" y="1452646"/>
            <a:ext cx="2127443" cy="880292"/>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desktop client</a:t>
            </a:r>
          </a:p>
        </p:txBody>
      </p:sp>
      <p:sp>
        <p:nvSpPr>
          <p:cNvPr id="18" name="Rounded Rectangle 17"/>
          <p:cNvSpPr/>
          <p:nvPr/>
        </p:nvSpPr>
        <p:spPr>
          <a:xfrm>
            <a:off x="3862032" y="1403741"/>
            <a:ext cx="3616653" cy="978103"/>
          </a:xfrm>
          <a:prstGeom prst="roundRect">
            <a:avLst>
              <a:gd name="adj" fmla="val 747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stdio</a:t>
            </a:r>
          </a:p>
          <a:p>
            <a:pPr algn="ctr">
              <a:lnSpc>
                <a:spcPct val="105000"/>
              </a:lnSpc>
              <a:spcBef>
                <a:spcPts val="0"/>
              </a:spcBef>
              <a:spcAft>
                <a:spcPts val="0"/>
              </a:spcAft>
            </a:pPr>
            <a:r>
              <a:rPr sz="1250" b="0" i="0">
                <a:solidFill>
                  <a:srgbClr val="FFFFFF"/>
                </a:solidFill>
                <a:latin typeface="Calibri"/>
              </a:rPr>
              <a:t>sajha serve --stdio: a child process on stdin and stdout</a:t>
            </a:r>
          </a:p>
        </p:txBody>
      </p:sp>
      <p:sp>
        <p:nvSpPr>
          <p:cNvPr id="19" name="Oval 18"/>
          <p:cNvSpPr/>
          <p:nvPr/>
        </p:nvSpPr>
        <p:spPr>
          <a:xfrm>
            <a:off x="777240" y="2601917"/>
            <a:ext cx="2127443" cy="880292"/>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MCP client, either era</a:t>
            </a:r>
          </a:p>
        </p:txBody>
      </p:sp>
      <p:sp>
        <p:nvSpPr>
          <p:cNvPr id="20" name="Rounded Rectangle 19"/>
          <p:cNvSpPr/>
          <p:nvPr/>
        </p:nvSpPr>
        <p:spPr>
          <a:xfrm>
            <a:off x="3862032" y="2553012"/>
            <a:ext cx="3616653" cy="978103"/>
          </a:xfrm>
          <a:prstGeom prst="roundRect">
            <a:avLst>
              <a:gd name="adj" fmla="val 747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Streamable HTTP</a:t>
            </a:r>
          </a:p>
          <a:p>
            <a:pPr algn="ctr">
              <a:lnSpc>
                <a:spcPct val="105000"/>
              </a:lnSpc>
              <a:spcBef>
                <a:spcPts val="0"/>
              </a:spcBef>
              <a:spcAft>
                <a:spcPts val="0"/>
              </a:spcAft>
            </a:pPr>
            <a:r>
              <a:rPr sz="1250" b="0" i="0">
                <a:solidFill>
                  <a:srgbClr val="FFFFFF"/>
                </a:solidFill>
                <a:latin typeface="Calibri"/>
              </a:rPr>
              <a:t>POST /mcp: JSON, or a streamed (SSE) response</a:t>
            </a:r>
          </a:p>
        </p:txBody>
      </p:sp>
      <p:sp>
        <p:nvSpPr>
          <p:cNvPr id="21" name="Oval 20"/>
          <p:cNvSpPr/>
          <p:nvPr/>
        </p:nvSpPr>
        <p:spPr>
          <a:xfrm>
            <a:off x="777240" y="3751188"/>
            <a:ext cx="2127443" cy="880292"/>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older client</a:t>
            </a:r>
          </a:p>
        </p:txBody>
      </p:sp>
      <p:sp>
        <p:nvSpPr>
          <p:cNvPr id="22" name="Rounded Rectangle 21"/>
          <p:cNvSpPr/>
          <p:nvPr/>
        </p:nvSpPr>
        <p:spPr>
          <a:xfrm>
            <a:off x="3862032" y="3702283"/>
            <a:ext cx="3616653" cy="978103"/>
          </a:xfrm>
          <a:prstGeom prst="roundRect">
            <a:avLst>
              <a:gd name="adj" fmla="val 7478"/>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6E1120"/>
                </a:solidFill>
                <a:latin typeface="Calibri"/>
              </a:rPr>
              <a:t>HTTP + SSE</a:t>
            </a:r>
          </a:p>
          <a:p>
            <a:pPr algn="ctr">
              <a:lnSpc>
                <a:spcPct val="105000"/>
              </a:lnSpc>
              <a:spcBef>
                <a:spcPts val="0"/>
              </a:spcBef>
              <a:spcAft>
                <a:spcPts val="0"/>
              </a:spcAft>
            </a:pPr>
            <a:r>
              <a:rPr sz="1250" b="0" i="0">
                <a:solidFill>
                  <a:srgbClr val="6E1120"/>
                </a:solidFill>
                <a:latin typeface="Calibri"/>
              </a:rPr>
              <a:t>/mcp/sse: replaced in the spec by Streamable HTTP</a:t>
            </a:r>
          </a:p>
        </p:txBody>
      </p:sp>
      <p:sp>
        <p:nvSpPr>
          <p:cNvPr id="23" name="Oval 22"/>
          <p:cNvSpPr/>
          <p:nvPr/>
        </p:nvSpPr>
        <p:spPr>
          <a:xfrm>
            <a:off x="777240" y="4900460"/>
            <a:ext cx="2127443" cy="880292"/>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browser, long-lived link</a:t>
            </a:r>
          </a:p>
        </p:txBody>
      </p:sp>
      <p:sp>
        <p:nvSpPr>
          <p:cNvPr id="24" name="Rounded Rectangle 23"/>
          <p:cNvSpPr/>
          <p:nvPr/>
        </p:nvSpPr>
        <p:spPr>
          <a:xfrm>
            <a:off x="3862032" y="4851554"/>
            <a:ext cx="3616653" cy="978103"/>
          </a:xfrm>
          <a:prstGeom prst="roundRect">
            <a:avLst>
              <a:gd name="adj" fmla="val 7478"/>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6E1120"/>
                </a:solidFill>
                <a:latin typeface="Calibri"/>
              </a:rPr>
              <a:t>WebSocket</a:t>
            </a:r>
          </a:p>
          <a:p>
            <a:pPr algn="ctr">
              <a:lnSpc>
                <a:spcPct val="105000"/>
              </a:lnSpc>
              <a:spcBef>
                <a:spcPts val="0"/>
              </a:spcBef>
              <a:spcAft>
                <a:spcPts val="0"/>
              </a:spcAft>
            </a:pPr>
            <a:r>
              <a:rPr sz="1250" b="0" i="0">
                <a:solidFill>
                  <a:srgbClr val="6E1120"/>
                </a:solidFill>
                <a:latin typeface="Calibri"/>
              </a:rPr>
              <a:t>/mcp/ws: full duplex; not in the spec</a:t>
            </a:r>
          </a:p>
        </p:txBody>
      </p:sp>
      <p:sp>
        <p:nvSpPr>
          <p:cNvPr id="25" name="Rounded Rectangle 24"/>
          <p:cNvSpPr/>
          <p:nvPr/>
        </p:nvSpPr>
        <p:spPr>
          <a:xfrm>
            <a:off x="8755151" y="2675275"/>
            <a:ext cx="2659303" cy="1956206"/>
          </a:xfrm>
          <a:prstGeom prst="roundRect">
            <a:avLst>
              <a:gd name="adj" fmla="val 373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One catalog</a:t>
            </a:r>
          </a:p>
          <a:p>
            <a:pPr algn="ctr">
              <a:lnSpc>
                <a:spcPct val="105000"/>
              </a:lnSpc>
              <a:spcBef>
                <a:spcPts val="0"/>
              </a:spcBef>
              <a:spcAft>
                <a:spcPts val="0"/>
              </a:spcAft>
            </a:pPr>
            <a:r>
              <a:rPr sz="1550" b="0" i="0">
                <a:solidFill>
                  <a:srgbClr val="FFFFFF"/>
                </a:solidFill>
                <a:latin typeface="Calibri"/>
              </a:rPr>
              <a:t>the same access policy, rules and audit on every transport</a:t>
            </a:r>
          </a:p>
        </p:txBody>
      </p:sp>
      <p:sp>
        <p:nvSpPr>
          <p:cNvPr id="26" name="Rounded Rectangle 25"/>
          <p:cNvSpPr/>
          <p:nvPr/>
        </p:nvSpPr>
        <p:spPr>
          <a:xfrm>
            <a:off x="777240" y="6098636"/>
            <a:ext cx="329184" cy="201168"/>
          </a:xfrm>
          <a:prstGeom prst="roundRect">
            <a:avLst>
              <a:gd name="adj" fmla="val 4545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79576" y="6107780"/>
            <a:ext cx="2752252"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in the MCP specification</a:t>
            </a:r>
          </a:p>
        </p:txBody>
      </p:sp>
      <p:sp>
        <p:nvSpPr>
          <p:cNvPr id="28" name="Rounded Rectangle 27"/>
          <p:cNvSpPr/>
          <p:nvPr/>
        </p:nvSpPr>
        <p:spPr>
          <a:xfrm>
            <a:off x="3968404" y="6098636"/>
            <a:ext cx="329184" cy="201168"/>
          </a:xfrm>
          <a:prstGeom prst="roundRect">
            <a:avLst>
              <a:gd name="adj" fmla="val 45454"/>
            </a:avLst>
          </a:prstGeom>
          <a:solidFill>
            <a:srgbClr val="FFFFFF"/>
          </a:solidFill>
          <a:ln w="12700">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70740" y="6107780"/>
            <a:ext cx="2752252"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legacy, or an extension</a:t>
            </a:r>
          </a:p>
        </p:txBody>
      </p:sp>
      <p:cxnSp>
        <p:nvCxnSpPr>
          <p:cNvPr id="30" name="Connector 29"/>
          <p:cNvCxnSpPr/>
          <p:nvPr/>
        </p:nvCxnSpPr>
        <p:spPr>
          <a:xfrm>
            <a:off x="2950403" y="1892792"/>
            <a:ext cx="86590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512340" y="1923738"/>
            <a:ext cx="1209156" cy="1111832"/>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50403" y="3042064"/>
            <a:ext cx="86590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522158" y="3056221"/>
            <a:ext cx="1189520" cy="387379"/>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950403" y="4191335"/>
            <a:ext cx="86590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522845" y="3860842"/>
            <a:ext cx="1188146" cy="31865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950403" y="5340606"/>
            <a:ext cx="86590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513314" y="4270092"/>
            <a:ext cx="1207208" cy="1040662"/>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TWO ERAS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Two eras on one endpoint, recognised request by request</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15</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One deployment serves a mixed fleet. Shared state goes through a store, so either era works across several workers.</a:t>
            </a:r>
          </a:p>
        </p:txBody>
      </p:sp>
      <p:sp>
        <p:nvSpPr>
          <p:cNvPr id="19" name="Oval 18"/>
          <p:cNvSpPr/>
          <p:nvPr/>
        </p:nvSpPr>
        <p:spPr>
          <a:xfrm>
            <a:off x="777240" y="3094164"/>
            <a:ext cx="1382837" cy="898525"/>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A request</a:t>
            </a:r>
          </a:p>
          <a:p>
            <a:pPr algn="ctr">
              <a:lnSpc>
                <a:spcPct val="105000"/>
              </a:lnSpc>
              <a:spcBef>
                <a:spcPts val="0"/>
              </a:spcBef>
              <a:spcAft>
                <a:spcPts val="0"/>
              </a:spcAft>
            </a:pPr>
            <a:r>
              <a:rPr sz="1250" b="0" i="0">
                <a:solidFill>
                  <a:srgbClr val="1A1A1A"/>
                </a:solidFill>
                <a:latin typeface="Calibri"/>
              </a:rPr>
              <a:t>POST /mcp</a:t>
            </a:r>
          </a:p>
        </p:txBody>
      </p:sp>
      <p:sp>
        <p:nvSpPr>
          <p:cNvPr id="20" name="Rounded Rectangle 19"/>
          <p:cNvSpPr/>
          <p:nvPr/>
        </p:nvSpPr>
        <p:spPr>
          <a:xfrm>
            <a:off x="777240" y="4621657"/>
            <a:ext cx="1808326" cy="1078230"/>
          </a:xfrm>
          <a:prstGeom prst="roundRect">
            <a:avLst>
              <a:gd name="adj" fmla="val 6784"/>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6E1120"/>
                </a:solidFill>
                <a:latin typeface="Calibri"/>
              </a:rPr>
              <a:t>Python client</a:t>
            </a:r>
          </a:p>
          <a:p>
            <a:pPr algn="ctr">
              <a:lnSpc>
                <a:spcPct val="105000"/>
              </a:lnSpc>
              <a:spcBef>
                <a:spcPts val="0"/>
              </a:spcBef>
              <a:spcAft>
                <a:spcPts val="0"/>
              </a:spcAft>
            </a:pPr>
            <a:r>
              <a:rPr sz="950" b="0" i="0">
                <a:solidFill>
                  <a:srgbClr val="6E1120"/>
                </a:solidFill>
                <a:latin typeface="Calibri"/>
              </a:rPr>
              <a:t>probes server/discover and adopts the newest</a:t>
            </a:r>
          </a:p>
        </p:txBody>
      </p:sp>
      <p:sp>
        <p:nvSpPr>
          <p:cNvPr id="21" name="Diamond 20"/>
          <p:cNvSpPr/>
          <p:nvPr/>
        </p:nvSpPr>
        <p:spPr>
          <a:xfrm>
            <a:off x="2691938" y="2734754"/>
            <a:ext cx="1808326" cy="1617345"/>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Which era?</a:t>
            </a:r>
          </a:p>
          <a:p>
            <a:pPr algn="ctr">
              <a:lnSpc>
                <a:spcPct val="105000"/>
              </a:lnSpc>
              <a:spcBef>
                <a:spcPts val="0"/>
              </a:spcBef>
              <a:spcAft>
                <a:spcPts val="0"/>
              </a:spcAft>
            </a:pPr>
            <a:r>
              <a:rPr sz="1050" b="0" i="0">
                <a:solidFill>
                  <a:srgbClr val="1A1A1A"/>
                </a:solidFill>
                <a:latin typeface="Calibri"/>
              </a:rPr>
              <a:t>decided per request</a:t>
            </a:r>
          </a:p>
        </p:txBody>
      </p:sp>
      <p:sp>
        <p:nvSpPr>
          <p:cNvPr id="22" name="Rounded Rectangle 21"/>
          <p:cNvSpPr/>
          <p:nvPr/>
        </p:nvSpPr>
        <p:spPr>
          <a:xfrm>
            <a:off x="5776731" y="1521745"/>
            <a:ext cx="2978420" cy="1168082"/>
          </a:xfrm>
          <a:prstGeom prst="roundRect">
            <a:avLst>
              <a:gd name="adj" fmla="val 626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Stateless</a:t>
            </a:r>
          </a:p>
          <a:p>
            <a:pPr algn="ctr">
              <a:lnSpc>
                <a:spcPct val="105000"/>
              </a:lnSpc>
              <a:spcBef>
                <a:spcPts val="0"/>
              </a:spcBef>
              <a:spcAft>
                <a:spcPts val="0"/>
              </a:spcAft>
            </a:pPr>
            <a:r>
              <a:rPr sz="1450" b="0" i="0">
                <a:solidFill>
                  <a:srgbClr val="FFFFFF"/>
                </a:solidFill>
                <a:latin typeface="Calibri"/>
              </a:rPr>
              <a:t>2026-07-28: no session; clients on current SDKs</a:t>
            </a:r>
          </a:p>
        </p:txBody>
      </p:sp>
      <p:sp>
        <p:nvSpPr>
          <p:cNvPr id="23" name="Rounded Rectangle 22"/>
          <p:cNvSpPr/>
          <p:nvPr/>
        </p:nvSpPr>
        <p:spPr>
          <a:xfrm>
            <a:off x="5776731" y="4397025"/>
            <a:ext cx="2978420" cy="1168082"/>
          </a:xfrm>
          <a:prstGeom prst="roundRect">
            <a:avLst>
              <a:gd name="adj" fmla="val 626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Session-based</a:t>
            </a:r>
          </a:p>
          <a:p>
            <a:pPr algn="ctr">
              <a:lnSpc>
                <a:spcPct val="105000"/>
              </a:lnSpc>
              <a:spcBef>
                <a:spcPts val="0"/>
              </a:spcBef>
              <a:spcAft>
                <a:spcPts val="0"/>
              </a:spcAft>
            </a:pPr>
            <a:r>
              <a:rPr sz="1450" b="0" i="0">
                <a:solidFill>
                  <a:srgbClr val="FFFFFF"/>
                </a:solidFill>
                <a:latin typeface="Calibri"/>
              </a:rPr>
              <a:t>2025-11-25, 2025-06-18, 2025-03-26 and 2024-11-05: most clients in the field</a:t>
            </a:r>
          </a:p>
        </p:txBody>
      </p:sp>
      <p:sp>
        <p:nvSpPr>
          <p:cNvPr id="24" name="Can 23"/>
          <p:cNvSpPr/>
          <p:nvPr/>
        </p:nvSpPr>
        <p:spPr>
          <a:xfrm>
            <a:off x="9499756" y="2599975"/>
            <a:ext cx="1914698" cy="1886902"/>
          </a:xfrm>
          <a:prstGeom prst="can">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Shared state store</a:t>
            </a:r>
          </a:p>
          <a:p>
            <a:pPr algn="ctr">
              <a:lnSpc>
                <a:spcPct val="105000"/>
              </a:lnSpc>
              <a:spcBef>
                <a:spcPts val="0"/>
              </a:spcBef>
              <a:spcAft>
                <a:spcPts val="0"/>
              </a:spcAft>
            </a:pPr>
            <a:r>
              <a:rPr sz="1150" b="0" i="0">
                <a:solidFill>
                  <a:srgbClr val="1A1A1A"/>
                </a:solidFill>
                <a:latin typeface="Calibri"/>
              </a:rPr>
              <a:t>sessions, tasks, rate limits, OAuth codes</a:t>
            </a:r>
          </a:p>
        </p:txBody>
      </p:sp>
      <p:sp>
        <p:nvSpPr>
          <p:cNvPr id="25" name="TextBox 24"/>
          <p:cNvSpPr txBox="1"/>
          <p:nvPr/>
        </p:nvSpPr>
        <p:spPr>
          <a:xfrm>
            <a:off x="3808846" y="2195639"/>
            <a:ext cx="1914698" cy="673893"/>
          </a:xfrm>
          <a:prstGeom prst="rect">
            <a:avLst/>
          </a:prstGeom>
          <a:noFill/>
        </p:spPr>
        <p:txBody>
          <a:bodyPr wrap="square" lIns="0" rIns="0" tIns="0" bIns="0" anchor="t">
            <a:spAutoFit/>
          </a:bodyPr>
          <a:lstStyle/>
          <a:p>
            <a:pPr algn="l">
              <a:lnSpc>
                <a:spcPct val="110000"/>
              </a:lnSpc>
              <a:spcBef>
                <a:spcPts val="0"/>
              </a:spcBef>
              <a:spcAft>
                <a:spcPts val="100"/>
              </a:spcAft>
            </a:pPr>
            <a:r>
              <a:rPr sz="1000" b="0" i="1">
                <a:solidFill>
                  <a:srgbClr val="6B7480"/>
                </a:solidFill>
                <a:latin typeface="Calibri"/>
              </a:rPr>
              <a:t>names its version in _meta, or a</a:t>
            </a:r>
          </a:p>
          <a:p>
            <a:pPr algn="l">
              <a:lnSpc>
                <a:spcPct val="110000"/>
              </a:lnSpc>
              <a:spcBef>
                <a:spcPts val="0"/>
              </a:spcBef>
              <a:spcAft>
                <a:spcPts val="100"/>
              </a:spcAft>
            </a:pPr>
            <a:r>
              <a:rPr sz="1000" b="0" i="1">
                <a:solidFill>
                  <a:srgbClr val="6B7480"/>
                </a:solidFill>
                <a:latin typeface="Calibri"/>
              </a:rPr>
              <a:t>non-handshake MCP-Protocol-Version</a:t>
            </a:r>
          </a:p>
        </p:txBody>
      </p:sp>
      <p:sp>
        <p:nvSpPr>
          <p:cNvPr id="26" name="TextBox 25"/>
          <p:cNvSpPr txBox="1"/>
          <p:nvPr/>
        </p:nvSpPr>
        <p:spPr>
          <a:xfrm>
            <a:off x="3808846" y="4217320"/>
            <a:ext cx="1914698" cy="673893"/>
          </a:xfrm>
          <a:prstGeom prst="rect">
            <a:avLst/>
          </a:prstGeom>
          <a:noFill/>
        </p:spPr>
        <p:txBody>
          <a:bodyPr wrap="square" lIns="0" rIns="0" tIns="0" bIns="0" anchor="t">
            <a:spAutoFit/>
          </a:bodyPr>
          <a:lstStyle/>
          <a:p>
            <a:pPr algn="l">
              <a:lnSpc>
                <a:spcPct val="110000"/>
              </a:lnSpc>
              <a:spcBef>
                <a:spcPts val="0"/>
              </a:spcBef>
              <a:spcAft>
                <a:spcPts val="100"/>
              </a:spcAft>
            </a:pPr>
            <a:r>
              <a:rPr sz="1000" b="0" i="1">
                <a:solidFill>
                  <a:srgbClr val="6B7480"/>
                </a:solidFill>
                <a:latin typeface="Calibri"/>
              </a:rPr>
              <a:t>initialize opens a session;</a:t>
            </a:r>
          </a:p>
          <a:p>
            <a:pPr algn="l">
              <a:lnSpc>
                <a:spcPct val="110000"/>
              </a:lnSpc>
              <a:spcBef>
                <a:spcPts val="0"/>
              </a:spcBef>
              <a:spcAft>
                <a:spcPts val="100"/>
              </a:spcAft>
            </a:pPr>
            <a:r>
              <a:rPr sz="1000" b="0" i="1">
                <a:solidFill>
                  <a:srgbClr val="6B7480"/>
                </a:solidFill>
                <a:latin typeface="Calibri"/>
              </a:rPr>
              <a:t>later requests carry Mcp-Session-Id</a:t>
            </a:r>
          </a:p>
        </p:txBody>
      </p:sp>
      <p:cxnSp>
        <p:nvCxnSpPr>
          <p:cNvPr id="27" name="Connector 26"/>
          <p:cNvCxnSpPr/>
          <p:nvPr/>
        </p:nvCxnSpPr>
        <p:spPr>
          <a:xfrm>
            <a:off x="2205797" y="3543427"/>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468658" y="4038409"/>
            <a:ext cx="0" cy="537528"/>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596102" y="2105787"/>
            <a:ext cx="0" cy="583247"/>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596102" y="2105787"/>
            <a:ext cx="213490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96102" y="4397819"/>
            <a:ext cx="0" cy="583248"/>
          </a:xfrm>
          <a:prstGeom prst="line">
            <a:avLst/>
          </a:prstGeom>
          <a:ln w="20320">
            <a:solidFill>
              <a:srgbClr val="6E112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596102" y="4981067"/>
            <a:ext cx="2134909" cy="0"/>
          </a:xfrm>
          <a:prstGeom prst="line">
            <a:avLst/>
          </a:prstGeom>
          <a:ln w="20320">
            <a:solidFill>
              <a:srgbClr val="6E112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8604037" y="2708607"/>
            <a:ext cx="854034" cy="38474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604037" y="3993498"/>
            <a:ext cx="854034" cy="38474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EVIDENCE</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The official conformance suite: 242 checks passed, 0 failed</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16</a:t>
            </a:r>
          </a:p>
        </p:txBody>
      </p:sp>
      <p:graphicFrame>
        <p:nvGraphicFramePr>
          <p:cNvPr id="17" name="Table 16"/>
          <p:cNvGraphicFramePr>
            <a:graphicFrameLocks noGrp="1"/>
          </p:cNvGraphicFramePr>
          <p:nvPr/>
        </p:nvGraphicFramePr>
        <p:xfrm>
          <a:off x="5563986" y="1354836"/>
          <a:ext cx="5850467" cy="3247644"/>
        </p:xfrm>
        <a:graphic>
          <a:graphicData uri="http://schemas.openxmlformats.org/drawingml/2006/table">
            <a:tbl>
              <a:tblPr firstRow="1">
                <a:tableStyleId>{5C22544A-7EE6-4342-B048-85BDC9FD1C3A}</a:tableStyleId>
              </a:tblPr>
              <a:tblGrid>
                <a:gridCol w="3227844"/>
                <a:gridCol w="1008701"/>
                <a:gridCol w="907831"/>
                <a:gridCol w="706091"/>
              </a:tblGrid>
              <a:tr h="784479">
                <a:tc>
                  <a:txBody>
                    <a:bodyPr wrap="square"/>
                    <a:lstStyle/>
                    <a:p>
                      <a:r>
                        <a:rPr sz="1400" b="1">
                          <a:solidFill>
                            <a:srgbClr val="FFFFFF"/>
                          </a:solidFill>
                          <a:latin typeface="Calibri"/>
                        </a:rPr>
                        <a:t>Suite</a:t>
                      </a:r>
                    </a:p>
                  </a:txBody>
                  <a:tcPr marL="82296" marR="64008" marT="32004" marB="32004" anchor="ctr">
                    <a:solidFill>
                      <a:srgbClr val="A51C30"/>
                    </a:solidFill>
                  </a:tcPr>
                </a:tc>
                <a:tc>
                  <a:txBody>
                    <a:bodyPr wrap="square"/>
                    <a:lstStyle/>
                    <a:p>
                      <a:r>
                        <a:rPr sz="1400" b="1">
                          <a:solidFill>
                            <a:srgbClr val="FFFFFF"/>
                          </a:solidFill>
                          <a:latin typeface="Calibri"/>
                        </a:rPr>
                        <a:t>Scenarios</a:t>
                      </a:r>
                    </a:p>
                  </a:txBody>
                  <a:tcPr marL="82296" marR="64008" marT="32004" marB="32004" anchor="ctr">
                    <a:solidFill>
                      <a:srgbClr val="A51C30"/>
                    </a:solidFill>
                  </a:tcPr>
                </a:tc>
                <a:tc>
                  <a:txBody>
                    <a:bodyPr wrap="square"/>
                    <a:lstStyle/>
                    <a:p>
                      <a:r>
                        <a:rPr sz="1400" b="1">
                          <a:solidFill>
                            <a:srgbClr val="FFFFFF"/>
                          </a:solidFill>
                          <a:latin typeface="Calibri"/>
                        </a:rPr>
                        <a:t>Passed</a:t>
                      </a:r>
                    </a:p>
                  </a:txBody>
                  <a:tcPr marL="82296" marR="64008" marT="32004" marB="32004" anchor="ctr">
                    <a:solidFill>
                      <a:srgbClr val="A51C30"/>
                    </a:solidFill>
                  </a:tcPr>
                </a:tc>
                <a:tc>
                  <a:txBody>
                    <a:bodyPr wrap="square"/>
                    <a:lstStyle/>
                    <a:p>
                      <a:r>
                        <a:rPr sz="1400" b="1">
                          <a:solidFill>
                            <a:srgbClr val="FFFFFF"/>
                          </a:solidFill>
                          <a:latin typeface="Calibri"/>
                        </a:rPr>
                        <a:t>Failed</a:t>
                      </a:r>
                    </a:p>
                  </a:txBody>
                  <a:tcPr marL="82296" marR="64008" marT="32004" marB="32004" anchor="ctr">
                    <a:solidFill>
                      <a:srgbClr val="A51C30"/>
                    </a:solidFill>
                  </a:tcPr>
                </a:tc>
              </a:tr>
              <a:tr h="559562">
                <a:tc>
                  <a:txBody>
                    <a:bodyPr wrap="square"/>
                    <a:lstStyle/>
                    <a:p>
                      <a:r>
                        <a:rPr sz="1400" b="1">
                          <a:solidFill>
                            <a:srgbClr val="6E1120"/>
                          </a:solidFill>
                          <a:latin typeface="Calibri"/>
                        </a:rPr>
                        <a:t>2025-11-25 (legacy path, 0.1.16)</a:t>
                      </a:r>
                    </a:p>
                  </a:txBody>
                  <a:tcPr marL="82296" marR="64008" marT="32004" marB="32004" anchor="ctr">
                    <a:solidFill>
                      <a:srgbClr val="FFFFFF"/>
                    </a:solidFill>
                  </a:tcPr>
                </a:tc>
                <a:tc>
                  <a:txBody>
                    <a:bodyPr wrap="square"/>
                    <a:lstStyle/>
                    <a:p>
                      <a:r>
                        <a:rPr sz="1400" b="0">
                          <a:solidFill>
                            <a:srgbClr val="1A1A1A"/>
                          </a:solidFill>
                          <a:latin typeface="Calibri"/>
                        </a:rPr>
                        <a:t>32/32</a:t>
                      </a:r>
                    </a:p>
                  </a:txBody>
                  <a:tcPr marL="82296" marR="64008" marT="32004" marB="32004" anchor="ctr">
                    <a:solidFill>
                      <a:srgbClr val="FFFFFF"/>
                    </a:solidFill>
                  </a:tcPr>
                </a:tc>
                <a:tc>
                  <a:txBody>
                    <a:bodyPr wrap="square"/>
                    <a:lstStyle/>
                    <a:p>
                      <a:r>
                        <a:rPr sz="1400" b="0">
                          <a:solidFill>
                            <a:srgbClr val="1A1A1A"/>
                          </a:solidFill>
                          <a:latin typeface="Calibri"/>
                        </a:rPr>
                        <a:t>43</a:t>
                      </a:r>
                    </a:p>
                  </a:txBody>
                  <a:tcPr marL="82296" marR="64008" marT="32004" marB="32004" anchor="ctr">
                    <a:solidFill>
                      <a:srgbClr val="FFFFFF"/>
                    </a:solidFill>
                  </a:tcPr>
                </a:tc>
                <a:tc>
                  <a:txBody>
                    <a:bodyPr wrap="square"/>
                    <a:lstStyle/>
                    <a:p>
                      <a:r>
                        <a:rPr sz="1400" b="0">
                          <a:solidFill>
                            <a:srgbClr val="1A1A1A"/>
                          </a:solidFill>
                          <a:latin typeface="Calibri"/>
                        </a:rPr>
                        <a:t>0</a:t>
                      </a:r>
                    </a:p>
                  </a:txBody>
                  <a:tcPr marL="82296" marR="64008" marT="32004" marB="32004" anchor="ctr">
                    <a:solidFill>
                      <a:srgbClr val="FFFFFF"/>
                    </a:solidFill>
                  </a:tcPr>
                </a:tc>
              </a:tr>
              <a:tr h="559562">
                <a:tc>
                  <a:txBody>
                    <a:bodyPr wrap="square"/>
                    <a:lstStyle/>
                    <a:p>
                      <a:r>
                        <a:rPr sz="1400" b="1">
                          <a:solidFill>
                            <a:srgbClr val="6E1120"/>
                          </a:solidFill>
                          <a:latin typeface="Calibri"/>
                        </a:rPr>
                        <a:t>2026-07-28 --suite all (0.2.0-alpha.12)</a:t>
                      </a:r>
                    </a:p>
                  </a:txBody>
                  <a:tcPr marL="82296" marR="64008" marT="32004" marB="32004" anchor="ctr">
                    <a:solidFill>
                      <a:srgbClr val="F7F5F2"/>
                    </a:solidFill>
                  </a:tcPr>
                </a:tc>
                <a:tc>
                  <a:txBody>
                    <a:bodyPr wrap="square"/>
                    <a:lstStyle/>
                    <a:p>
                      <a:r>
                        <a:rPr sz="1400" b="0">
                          <a:solidFill>
                            <a:srgbClr val="1A1A1A"/>
                          </a:solidFill>
                          <a:latin typeface="Calibri"/>
                        </a:rPr>
                        <a:t>40/40</a:t>
                      </a:r>
                    </a:p>
                  </a:txBody>
                  <a:tcPr marL="82296" marR="64008" marT="32004" marB="32004" anchor="ctr">
                    <a:solidFill>
                      <a:srgbClr val="F7F5F2"/>
                    </a:solidFill>
                  </a:tcPr>
                </a:tc>
                <a:tc>
                  <a:txBody>
                    <a:bodyPr wrap="square"/>
                    <a:lstStyle/>
                    <a:p>
                      <a:r>
                        <a:rPr sz="1400" b="0">
                          <a:solidFill>
                            <a:srgbClr val="1A1A1A"/>
                          </a:solidFill>
                          <a:latin typeface="Calibri"/>
                        </a:rPr>
                        <a:t>152</a:t>
                      </a:r>
                    </a:p>
                  </a:txBody>
                  <a:tcPr marL="82296" marR="64008" marT="32004" marB="32004" anchor="ctr">
                    <a:solidFill>
                      <a:srgbClr val="F7F5F2"/>
                    </a:solidFill>
                  </a:tcPr>
                </a:tc>
                <a:tc>
                  <a:txBody>
                    <a:bodyPr wrap="square"/>
                    <a:lstStyle/>
                    <a:p>
                      <a:r>
                        <a:rPr sz="1400" b="0">
                          <a:solidFill>
                            <a:srgbClr val="1A1A1A"/>
                          </a:solidFill>
                          <a:latin typeface="Calibri"/>
                        </a:rPr>
                        <a:t>0</a:t>
                      </a:r>
                    </a:p>
                  </a:txBody>
                  <a:tcPr marL="82296" marR="64008" marT="32004" marB="32004" anchor="ctr">
                    <a:solidFill>
                      <a:srgbClr val="F7F5F2"/>
                    </a:solidFill>
                  </a:tcPr>
                </a:tc>
              </a:tr>
              <a:tr h="559562">
                <a:tc>
                  <a:txBody>
                    <a:bodyPr wrap="square"/>
                    <a:lstStyle/>
                    <a:p>
                      <a:r>
                        <a:rPr sz="1400" b="1">
                          <a:solidFill>
                            <a:srgbClr val="6E1120"/>
                          </a:solidFill>
                          <a:latin typeface="Calibri"/>
                        </a:rPr>
                        <a:t>tasks extension scenarios (--force)</a:t>
                      </a:r>
                    </a:p>
                  </a:txBody>
                  <a:tcPr marL="82296" marR="64008" marT="32004" marB="32004" anchor="ctr">
                    <a:solidFill>
                      <a:srgbClr val="FFFFFF"/>
                    </a:solidFill>
                  </a:tcPr>
                </a:tc>
                <a:tc>
                  <a:txBody>
                    <a:bodyPr wrap="square"/>
                    <a:lstStyle/>
                    <a:p>
                      <a:r>
                        <a:rPr sz="1400" b="0">
                          <a:solidFill>
                            <a:srgbClr val="1A1A1A"/>
                          </a:solidFill>
                          <a:latin typeface="Calibri"/>
                        </a:rPr>
                        <a:t>10/10</a:t>
                      </a:r>
                    </a:p>
                  </a:txBody>
                  <a:tcPr marL="82296" marR="64008" marT="32004" marB="32004" anchor="ctr">
                    <a:solidFill>
                      <a:srgbClr val="FFFFFF"/>
                    </a:solidFill>
                  </a:tcPr>
                </a:tc>
                <a:tc>
                  <a:txBody>
                    <a:bodyPr wrap="square"/>
                    <a:lstStyle/>
                    <a:p>
                      <a:r>
                        <a:rPr sz="1400" b="0">
                          <a:solidFill>
                            <a:srgbClr val="1A1A1A"/>
                          </a:solidFill>
                          <a:latin typeface="Calibri"/>
                        </a:rPr>
                        <a:t>44</a:t>
                      </a:r>
                    </a:p>
                  </a:txBody>
                  <a:tcPr marL="82296" marR="64008" marT="32004" marB="32004" anchor="ctr">
                    <a:solidFill>
                      <a:srgbClr val="FFFFFF"/>
                    </a:solidFill>
                  </a:tcPr>
                </a:tc>
                <a:tc>
                  <a:txBody>
                    <a:bodyPr wrap="square"/>
                    <a:lstStyle/>
                    <a:p>
                      <a:r>
                        <a:rPr sz="1400" b="0">
                          <a:solidFill>
                            <a:srgbClr val="1A1A1A"/>
                          </a:solidFill>
                          <a:latin typeface="Calibri"/>
                        </a:rPr>
                        <a:t>0</a:t>
                      </a:r>
                    </a:p>
                  </a:txBody>
                  <a:tcPr marL="82296" marR="64008" marT="32004" marB="32004" anchor="ctr">
                    <a:solidFill>
                      <a:srgbClr val="FFFFFF"/>
                    </a:solidFill>
                  </a:tcPr>
                </a:tc>
              </a:tr>
              <a:tr h="784479">
                <a:tc>
                  <a:txBody>
                    <a:bodyPr wrap="square"/>
                    <a:lstStyle/>
                    <a:p>
                      <a:r>
                        <a:rPr sz="1400" b="1">
                          <a:solidFill>
                            <a:srgbClr val="6E1120"/>
                          </a:solidFill>
                          <a:latin typeface="Calibri"/>
                        </a:rPr>
                        <a:t>authorization (built-in AS, --spec-version 2026-07-28 and 2025-11-25)</a:t>
                      </a:r>
                    </a:p>
                  </a:txBody>
                  <a:tcPr marL="82296" marR="64008" marT="32004" marB="32004" anchor="ctr">
                    <a:solidFill>
                      <a:srgbClr val="F7F5F2"/>
                    </a:solidFill>
                  </a:tcPr>
                </a:tc>
                <a:tc>
                  <a:txBody>
                    <a:bodyPr wrap="square"/>
                    <a:lstStyle/>
                    <a:p>
                      <a:r>
                        <a:rPr sz="1400" b="0">
                          <a:solidFill>
                            <a:srgbClr val="1A1A1A"/>
                          </a:solidFill>
                          <a:latin typeface="Calibri"/>
                        </a:rPr>
                        <a:t>2/2</a:t>
                      </a:r>
                    </a:p>
                  </a:txBody>
                  <a:tcPr marL="82296" marR="64008" marT="32004" marB="32004" anchor="ctr">
                    <a:solidFill>
                      <a:srgbClr val="F7F5F2"/>
                    </a:solidFill>
                  </a:tcPr>
                </a:tc>
                <a:tc>
                  <a:txBody>
                    <a:bodyPr wrap="square"/>
                    <a:lstStyle/>
                    <a:p>
                      <a:r>
                        <a:rPr sz="1400" b="0">
                          <a:solidFill>
                            <a:srgbClr val="1A1A1A"/>
                          </a:solidFill>
                          <a:latin typeface="Calibri"/>
                        </a:rPr>
                        <a:t>3</a:t>
                      </a:r>
                    </a:p>
                  </a:txBody>
                  <a:tcPr marL="82296" marR="64008" marT="32004" marB="32004" anchor="ctr">
                    <a:solidFill>
                      <a:srgbClr val="F7F5F2"/>
                    </a:solidFill>
                  </a:tcPr>
                </a:tc>
                <a:tc>
                  <a:txBody>
                    <a:bodyPr wrap="square"/>
                    <a:lstStyle/>
                    <a:p>
                      <a:r>
                        <a:rPr sz="1400" b="0">
                          <a:solidFill>
                            <a:srgbClr val="1A1A1A"/>
                          </a:solidFill>
                          <a:latin typeface="Calibri"/>
                        </a:rPr>
                        <a:t>0</a:t>
                      </a:r>
                    </a:p>
                  </a:txBody>
                  <a:tcPr marL="82296" marR="64008" marT="32004" marB="32004" anchor="ctr">
                    <a:solidFill>
                      <a:srgbClr val="F7F5F2"/>
                    </a:solidFill>
                  </a:tcPr>
                </a:tc>
              </a:tr>
            </a:tbl>
          </a:graphicData>
        </a:graphic>
      </p:graphicFrame>
      <p:sp>
        <p:nvSpPr>
          <p:cNvPr id="18" name="Rounded Rectangle 17"/>
          <p:cNvSpPr/>
          <p:nvPr/>
        </p:nvSpPr>
        <p:spPr>
          <a:xfrm>
            <a:off x="777240" y="1354836"/>
            <a:ext cx="2127443" cy="1075913"/>
          </a:xfrm>
          <a:prstGeom prst="roundRect">
            <a:avLst>
              <a:gd name="adj" fmla="val 6799"/>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2500" b="1" i="0">
                <a:solidFill>
                  <a:srgbClr val="FFFFFF"/>
                </a:solidFill>
                <a:latin typeface="Calibri"/>
              </a:rPr>
              <a:t>242</a:t>
            </a:r>
          </a:p>
          <a:p>
            <a:pPr algn="ctr">
              <a:lnSpc>
                <a:spcPct val="105000"/>
              </a:lnSpc>
              <a:spcBef>
                <a:spcPts val="0"/>
              </a:spcBef>
              <a:spcAft>
                <a:spcPts val="0"/>
              </a:spcAft>
            </a:pPr>
            <a:r>
              <a:rPr sz="2250" b="0" i="0">
                <a:solidFill>
                  <a:srgbClr val="FFFFFF"/>
                </a:solidFill>
                <a:latin typeface="Calibri"/>
              </a:rPr>
              <a:t>checks passed</a:t>
            </a:r>
          </a:p>
        </p:txBody>
      </p:sp>
      <p:sp>
        <p:nvSpPr>
          <p:cNvPr id="19" name="Rounded Rectangle 18"/>
          <p:cNvSpPr/>
          <p:nvPr/>
        </p:nvSpPr>
        <p:spPr>
          <a:xfrm>
            <a:off x="3117427" y="1354836"/>
            <a:ext cx="1914698" cy="1075913"/>
          </a:xfrm>
          <a:prstGeom prst="roundRect">
            <a:avLst>
              <a:gd name="adj" fmla="val 6799"/>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2250" b="1" i="0">
                <a:solidFill>
                  <a:srgbClr val="1A1A1A"/>
                </a:solidFill>
                <a:latin typeface="Calibri"/>
              </a:rPr>
              <a:t>0</a:t>
            </a:r>
          </a:p>
          <a:p>
            <a:pPr algn="ctr">
              <a:lnSpc>
                <a:spcPct val="105000"/>
              </a:lnSpc>
              <a:spcBef>
                <a:spcPts val="0"/>
              </a:spcBef>
              <a:spcAft>
                <a:spcPts val="0"/>
              </a:spcAft>
            </a:pPr>
            <a:r>
              <a:rPr sz="2000" b="0" i="0">
                <a:solidFill>
                  <a:srgbClr val="1A1A1A"/>
                </a:solidFill>
                <a:latin typeface="Calibri"/>
              </a:rPr>
              <a:t>checks failed</a:t>
            </a:r>
          </a:p>
        </p:txBody>
      </p:sp>
      <p:sp>
        <p:nvSpPr>
          <p:cNvPr id="20" name="Oval 19"/>
          <p:cNvSpPr/>
          <p:nvPr/>
        </p:nvSpPr>
        <p:spPr>
          <a:xfrm>
            <a:off x="1309100" y="2919801"/>
            <a:ext cx="3191164" cy="586861"/>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push to develop and main</a:t>
            </a:r>
          </a:p>
        </p:txBody>
      </p:sp>
      <p:sp>
        <p:nvSpPr>
          <p:cNvPr id="21" name="Rounded Rectangle 20"/>
          <p:cNvSpPr/>
          <p:nvPr/>
        </p:nvSpPr>
        <p:spPr>
          <a:xfrm>
            <a:off x="1309100" y="3897904"/>
            <a:ext cx="3191164" cy="586861"/>
          </a:xfrm>
          <a:prstGeom prst="roundRect">
            <a:avLst>
              <a:gd name="adj" fmla="val 1246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CI starts a live SAJHA</a:t>
            </a:r>
          </a:p>
        </p:txBody>
      </p:sp>
      <p:sp>
        <p:nvSpPr>
          <p:cNvPr id="22" name="Rounded Rectangle 21"/>
          <p:cNvSpPr/>
          <p:nvPr/>
        </p:nvSpPr>
        <p:spPr>
          <a:xfrm>
            <a:off x="777240" y="4876007"/>
            <a:ext cx="2021070" cy="782482"/>
          </a:xfrm>
          <a:prstGeom prst="roundRect">
            <a:avLst>
              <a:gd name="adj" fmla="val 934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suite 0.1.16</a:t>
            </a:r>
          </a:p>
          <a:p>
            <a:pPr algn="ctr">
              <a:lnSpc>
                <a:spcPct val="105000"/>
              </a:lnSpc>
              <a:spcBef>
                <a:spcPts val="0"/>
              </a:spcBef>
              <a:spcAft>
                <a:spcPts val="0"/>
              </a:spcAft>
            </a:pPr>
            <a:r>
              <a:rPr sz="950" b="0" i="0">
                <a:solidFill>
                  <a:srgbClr val="1A1A1A"/>
                </a:solidFill>
                <a:latin typeface="Calibri"/>
              </a:rPr>
              <a:t>the 2025-11-25 era</a:t>
            </a:r>
          </a:p>
        </p:txBody>
      </p:sp>
      <p:sp>
        <p:nvSpPr>
          <p:cNvPr id="23" name="Rounded Rectangle 22"/>
          <p:cNvSpPr/>
          <p:nvPr/>
        </p:nvSpPr>
        <p:spPr>
          <a:xfrm>
            <a:off x="3011055" y="4876007"/>
            <a:ext cx="2021070" cy="782482"/>
          </a:xfrm>
          <a:prstGeom prst="roundRect">
            <a:avLst>
              <a:gd name="adj" fmla="val 934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suite 0.2.0-alpha.12</a:t>
            </a:r>
          </a:p>
          <a:p>
            <a:pPr algn="ctr">
              <a:lnSpc>
                <a:spcPct val="105000"/>
              </a:lnSpc>
              <a:spcBef>
                <a:spcPts val="0"/>
              </a:spcBef>
              <a:spcAft>
                <a:spcPts val="0"/>
              </a:spcAft>
            </a:pPr>
            <a:r>
              <a:rPr sz="950" b="0" i="0">
                <a:solidFill>
                  <a:srgbClr val="1A1A1A"/>
                </a:solidFill>
                <a:latin typeface="Calibri"/>
              </a:rPr>
              <a:t>the 2026-07-28 era</a:t>
            </a:r>
          </a:p>
        </p:txBody>
      </p:sp>
      <p:sp>
        <p:nvSpPr>
          <p:cNvPr id="24" name="TextBox 23"/>
          <p:cNvSpPr txBox="1"/>
          <p:nvPr/>
        </p:nvSpPr>
        <p:spPr>
          <a:xfrm>
            <a:off x="777240" y="5854110"/>
            <a:ext cx="10637215" cy="391241"/>
          </a:xfrm>
          <a:prstGeom prst="rect">
            <a:avLst/>
          </a:prstGeom>
          <a:noFill/>
        </p:spPr>
        <p:txBody>
          <a:bodyPr wrap="square" lIns="0" rIns="0" tIns="0" bIns="0" anchor="t">
            <a:spAutoFit/>
          </a:bodyPr>
          <a:lstStyle/>
          <a:p>
            <a:pPr algn="l">
              <a:lnSpc>
                <a:spcPct val="110000"/>
              </a:lnSpc>
              <a:spcBef>
                <a:spcPts val="0"/>
              </a:spcBef>
              <a:spcAft>
                <a:spcPts val="100"/>
              </a:spcAft>
            </a:pPr>
            <a:r>
              <a:rPr sz="1100" b="0" i="1">
                <a:solidFill>
                  <a:srgbClr val="6B7480"/>
                </a:solidFill>
                <a:latin typeface="Calibri"/>
              </a:rPr>
              <a:t>The compliance report records the CI runs and two more suites against the same server: tasks, and the built-in authorization server.</a:t>
            </a:r>
          </a:p>
        </p:txBody>
      </p:sp>
      <p:cxnSp>
        <p:nvCxnSpPr>
          <p:cNvPr id="25" name="Connector 24"/>
          <p:cNvCxnSpPr/>
          <p:nvPr/>
        </p:nvCxnSpPr>
        <p:spPr>
          <a:xfrm>
            <a:off x="2904683" y="3552383"/>
            <a:ext cx="0" cy="29980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2226851" y="4516485"/>
            <a:ext cx="340293" cy="32780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242221" y="4516485"/>
            <a:ext cx="340293" cy="32780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INTERACTION PATTERNS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Four ways an agent calls tools, shown with tools SAJHA ships</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17</a:t>
            </a:r>
          </a:p>
        </p:txBody>
      </p:sp>
      <p:sp>
        <p:nvSpPr>
          <p:cNvPr id="17" name="Rectangle 16"/>
          <p:cNvSpPr/>
          <p:nvPr/>
        </p:nvSpPr>
        <p:spPr>
          <a:xfrm>
            <a:off x="777240" y="1354836"/>
            <a:ext cx="5105863" cy="2249637"/>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18844"/>
            <a:ext cx="488640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SINGLE CALL: one tool, keep reasoning</a:t>
            </a:r>
          </a:p>
        </p:txBody>
      </p:sp>
      <p:sp>
        <p:nvSpPr>
          <p:cNvPr id="19" name="Rectangle 18"/>
          <p:cNvSpPr/>
          <p:nvPr/>
        </p:nvSpPr>
        <p:spPr>
          <a:xfrm>
            <a:off x="6202219" y="1354836"/>
            <a:ext cx="5212235" cy="2249637"/>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1947" y="1418844"/>
            <a:ext cx="499277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CHAINED: one result feeds the next</a:t>
            </a:r>
          </a:p>
        </p:txBody>
      </p:sp>
      <p:sp>
        <p:nvSpPr>
          <p:cNvPr id="21" name="Rectangle 20"/>
          <p:cNvSpPr/>
          <p:nvPr/>
        </p:nvSpPr>
        <p:spPr>
          <a:xfrm>
            <a:off x="777240" y="3800094"/>
            <a:ext cx="5105863" cy="244525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864102"/>
            <a:ext cx="488640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PARALLEL: independent calls at once</a:t>
            </a:r>
          </a:p>
        </p:txBody>
      </p:sp>
      <p:sp>
        <p:nvSpPr>
          <p:cNvPr id="23" name="Rectangle 22"/>
          <p:cNvSpPr/>
          <p:nvPr/>
        </p:nvSpPr>
        <p:spPr>
          <a:xfrm>
            <a:off x="6202219" y="3800094"/>
            <a:ext cx="5212235" cy="244525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11947" y="3864102"/>
            <a:ext cx="499277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MULTI-TURN: explore, then refine</a:t>
            </a:r>
          </a:p>
        </p:txBody>
      </p:sp>
      <p:sp>
        <p:nvSpPr>
          <p:cNvPr id="25" name="Oval 24"/>
          <p:cNvSpPr/>
          <p:nvPr/>
        </p:nvSpPr>
        <p:spPr>
          <a:xfrm>
            <a:off x="989984" y="2088413"/>
            <a:ext cx="850977" cy="684672"/>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agent</a:t>
            </a:r>
          </a:p>
        </p:txBody>
      </p:sp>
      <p:sp>
        <p:nvSpPr>
          <p:cNvPr id="26" name="Rounded Rectangle 25"/>
          <p:cNvSpPr/>
          <p:nvPr/>
        </p:nvSpPr>
        <p:spPr>
          <a:xfrm>
            <a:off x="2479194" y="2137318"/>
            <a:ext cx="2127443"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calc_percentage_change</a:t>
            </a:r>
          </a:p>
        </p:txBody>
      </p:sp>
      <p:sp>
        <p:nvSpPr>
          <p:cNvPr id="27" name="Oval 26"/>
          <p:cNvSpPr/>
          <p:nvPr/>
        </p:nvSpPr>
        <p:spPr>
          <a:xfrm>
            <a:off x="6414964" y="2088413"/>
            <a:ext cx="850977" cy="684672"/>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agent</a:t>
            </a:r>
          </a:p>
        </p:txBody>
      </p:sp>
      <p:sp>
        <p:nvSpPr>
          <p:cNvPr id="28" name="Rounded Rectangle 27"/>
          <p:cNvSpPr/>
          <p:nvPr/>
        </p:nvSpPr>
        <p:spPr>
          <a:xfrm>
            <a:off x="7638243" y="1746077"/>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50" b="0" i="0">
                <a:solidFill>
                  <a:srgbClr val="1A1A1A"/>
                </a:solidFill>
                <a:latin typeface="Calibri"/>
              </a:rPr>
              <a:t>edgar_company_search</a:t>
            </a:r>
          </a:p>
        </p:txBody>
      </p:sp>
      <p:sp>
        <p:nvSpPr>
          <p:cNvPr id="29" name="Rounded Rectangle 28"/>
          <p:cNvSpPr/>
          <p:nvPr/>
        </p:nvSpPr>
        <p:spPr>
          <a:xfrm>
            <a:off x="7638243" y="2577465"/>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edgar_company_facts</a:t>
            </a:r>
          </a:p>
        </p:txBody>
      </p:sp>
      <p:sp>
        <p:nvSpPr>
          <p:cNvPr id="30" name="Rounded Rectangle 29"/>
          <p:cNvSpPr/>
          <p:nvPr/>
        </p:nvSpPr>
        <p:spPr>
          <a:xfrm>
            <a:off x="9606128" y="2161771"/>
            <a:ext cx="1701954"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50" b="0" i="0">
                <a:solidFill>
                  <a:srgbClr val="1A1A1A"/>
                </a:solidFill>
                <a:latin typeface="Calibri"/>
              </a:rPr>
              <a:t>calc_percentage_change</a:t>
            </a:r>
          </a:p>
        </p:txBody>
      </p:sp>
      <p:sp>
        <p:nvSpPr>
          <p:cNvPr id="31" name="Oval 30"/>
          <p:cNvSpPr/>
          <p:nvPr/>
        </p:nvSpPr>
        <p:spPr>
          <a:xfrm>
            <a:off x="989984" y="4729292"/>
            <a:ext cx="850977" cy="684672"/>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agent</a:t>
            </a:r>
          </a:p>
        </p:txBody>
      </p:sp>
      <p:sp>
        <p:nvSpPr>
          <p:cNvPr id="32" name="Rounded Rectangle 31"/>
          <p:cNvSpPr/>
          <p:nvPr/>
        </p:nvSpPr>
        <p:spPr>
          <a:xfrm>
            <a:off x="2904683" y="4142430"/>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fred_2yr_treasury</a:t>
            </a:r>
          </a:p>
        </p:txBody>
      </p:sp>
      <p:sp>
        <p:nvSpPr>
          <p:cNvPr id="33" name="Rounded Rectangle 32"/>
          <p:cNvSpPr/>
          <p:nvPr/>
        </p:nvSpPr>
        <p:spPr>
          <a:xfrm>
            <a:off x="2904683" y="4876007"/>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fred_10yr_treasury</a:t>
            </a:r>
          </a:p>
        </p:txBody>
      </p:sp>
      <p:sp>
        <p:nvSpPr>
          <p:cNvPr id="34" name="Rounded Rectangle 33"/>
          <p:cNvSpPr/>
          <p:nvPr/>
        </p:nvSpPr>
        <p:spPr>
          <a:xfrm>
            <a:off x="2904683" y="5609584"/>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yahoo_get_quote</a:t>
            </a:r>
          </a:p>
        </p:txBody>
      </p:sp>
      <p:sp>
        <p:nvSpPr>
          <p:cNvPr id="35" name="Oval 34"/>
          <p:cNvSpPr/>
          <p:nvPr/>
        </p:nvSpPr>
        <p:spPr>
          <a:xfrm>
            <a:off x="6414964" y="4729292"/>
            <a:ext cx="850977" cy="684672"/>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turns</a:t>
            </a:r>
          </a:p>
        </p:txBody>
      </p:sp>
      <p:sp>
        <p:nvSpPr>
          <p:cNvPr id="36" name="Rounded Rectangle 35"/>
          <p:cNvSpPr/>
          <p:nvPr/>
        </p:nvSpPr>
        <p:spPr>
          <a:xfrm>
            <a:off x="7797802" y="4142430"/>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duckdb_list_tables</a:t>
            </a:r>
          </a:p>
        </p:txBody>
      </p:sp>
      <p:sp>
        <p:nvSpPr>
          <p:cNvPr id="37" name="Rounded Rectangle 36"/>
          <p:cNvSpPr/>
          <p:nvPr/>
        </p:nvSpPr>
        <p:spPr>
          <a:xfrm>
            <a:off x="7797802" y="4876007"/>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duckdb_describe_table</a:t>
            </a:r>
          </a:p>
        </p:txBody>
      </p:sp>
      <p:sp>
        <p:nvSpPr>
          <p:cNvPr id="38" name="Rounded Rectangle 37"/>
          <p:cNvSpPr/>
          <p:nvPr/>
        </p:nvSpPr>
        <p:spPr>
          <a:xfrm>
            <a:off x="7797802" y="5609584"/>
            <a:ext cx="1595582"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duckdb_sql</a:t>
            </a:r>
          </a:p>
        </p:txBody>
      </p:sp>
      <p:sp>
        <p:nvSpPr>
          <p:cNvPr id="39" name="TextBox 38"/>
          <p:cNvSpPr txBox="1"/>
          <p:nvPr/>
        </p:nvSpPr>
        <p:spPr>
          <a:xfrm>
            <a:off x="2479194" y="2919801"/>
            <a:ext cx="3191164" cy="489051"/>
          </a:xfrm>
          <a:prstGeom prst="rect">
            <a:avLst/>
          </a:prstGeom>
          <a:noFill/>
        </p:spPr>
        <p:txBody>
          <a:bodyPr wrap="square" lIns="0" rIns="0" tIns="0" bIns="0" anchor="t">
            <a:spAutoFit/>
          </a:bodyPr>
          <a:lstStyle/>
          <a:p>
            <a:pPr algn="l">
              <a:lnSpc>
                <a:spcPct val="110000"/>
              </a:lnSpc>
              <a:spcBef>
                <a:spcPts val="0"/>
              </a:spcBef>
              <a:spcAft>
                <a:spcPts val="100"/>
              </a:spcAft>
            </a:pPr>
            <a:r>
              <a:rPr sz="1200" b="0" i="1">
                <a:solidFill>
                  <a:srgbClr val="6B7480"/>
                </a:solidFill>
                <a:latin typeface="Calibri"/>
              </a:rPr>
              <a:t>“What is the change from 80 to 100?”</a:t>
            </a:r>
          </a:p>
        </p:txBody>
      </p:sp>
      <p:sp>
        <p:nvSpPr>
          <p:cNvPr id="40" name="TextBox 39"/>
          <p:cNvSpPr txBox="1"/>
          <p:nvPr/>
        </p:nvSpPr>
        <p:spPr>
          <a:xfrm>
            <a:off x="4713009" y="4582576"/>
            <a:ext cx="1063721" cy="1222629"/>
          </a:xfrm>
          <a:prstGeom prst="rect">
            <a:avLst/>
          </a:prstGeom>
          <a:noFill/>
        </p:spPr>
        <p:txBody>
          <a:bodyPr wrap="square" lIns="0" rIns="0" tIns="0" bIns="0" anchor="t">
            <a:spAutoFit/>
          </a:bodyPr>
          <a:lstStyle/>
          <a:p>
            <a:pPr algn="l">
              <a:lnSpc>
                <a:spcPct val="110000"/>
              </a:lnSpc>
              <a:spcBef>
                <a:spcPts val="0"/>
              </a:spcBef>
              <a:spcAft>
                <a:spcPts val="100"/>
              </a:spcAft>
            </a:pPr>
            <a:r>
              <a:rPr sz="1100" b="0" i="0">
                <a:solidFill>
                  <a:srgbClr val="6B7480"/>
                </a:solidFill>
                <a:latin typeface="Calibri"/>
              </a:rPr>
              <a:t>plan_execute</a:t>
            </a:r>
          </a:p>
          <a:p>
            <a:pPr algn="l">
              <a:lnSpc>
                <a:spcPct val="110000"/>
              </a:lnSpc>
              <a:spcBef>
                <a:spcPts val="0"/>
              </a:spcBef>
              <a:spcAft>
                <a:spcPts val="100"/>
              </a:spcAft>
            </a:pPr>
            <a:r>
              <a:rPr sz="1100" b="0" i="0">
                <a:solidFill>
                  <a:srgbClr val="6B7480"/>
                </a:solidFill>
                <a:latin typeface="Calibri"/>
              </a:rPr>
              <a:t>runs them</a:t>
            </a:r>
          </a:p>
          <a:p>
            <a:pPr algn="l">
              <a:lnSpc>
                <a:spcPct val="110000"/>
              </a:lnSpc>
              <a:spcBef>
                <a:spcPts val="0"/>
              </a:spcBef>
              <a:spcAft>
                <a:spcPts val="100"/>
              </a:spcAft>
            </a:pPr>
            <a:r>
              <a:rPr sz="1100" b="0" i="0">
                <a:solidFill>
                  <a:srgbClr val="6B7480"/>
                </a:solidFill>
                <a:latin typeface="Calibri"/>
              </a:rPr>
              <a:t>side by side</a:t>
            </a:r>
          </a:p>
        </p:txBody>
      </p:sp>
      <p:cxnSp>
        <p:nvCxnSpPr>
          <p:cNvPr id="41" name="Connector 40"/>
          <p:cNvCxnSpPr/>
          <p:nvPr/>
        </p:nvCxnSpPr>
        <p:spPr>
          <a:xfrm>
            <a:off x="1886681" y="2381844"/>
            <a:ext cx="546793" cy="0"/>
          </a:xfrm>
          <a:prstGeom prst="line">
            <a:avLst/>
          </a:prstGeom>
          <a:ln w="20320">
            <a:solidFill>
              <a:srgbClr val="A51C3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7287015" y="2222834"/>
            <a:ext cx="307154" cy="8472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436034" y="2280848"/>
            <a:ext cx="0" cy="25089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500042" y="2314856"/>
            <a:ext cx="993648" cy="201168"/>
          </a:xfrm>
          <a:prstGeom prst="rect">
            <a:avLst/>
          </a:prstGeom>
          <a:noFill/>
        </p:spPr>
        <p:txBody>
          <a:bodyPr wrap="square" lIns="0" rIns="0" tIns="0" bIns="0" anchor="t">
            <a:spAutoFit/>
          </a:bodyPr>
          <a:lstStyle/>
          <a:p>
            <a:pPr algn="l">
              <a:lnSpc>
                <a:spcPct val="120000"/>
              </a:lnSpc>
              <a:spcBef>
                <a:spcPts val="0"/>
              </a:spcBef>
              <a:spcAft>
                <a:spcPts val="0"/>
              </a:spcAft>
            </a:pPr>
            <a:r>
              <a:rPr sz="950" b="0" i="1">
                <a:solidFill>
                  <a:srgbClr val="6B7480"/>
                </a:solidFill>
                <a:latin typeface="Calibri"/>
              </a:rPr>
              <a:t>result feeds</a:t>
            </a:r>
          </a:p>
        </p:txBody>
      </p:sp>
      <p:cxnSp>
        <p:nvCxnSpPr>
          <p:cNvPr id="45" name="Connector 44"/>
          <p:cNvCxnSpPr/>
          <p:nvPr/>
        </p:nvCxnSpPr>
        <p:spPr>
          <a:xfrm flipV="1">
            <a:off x="9278608" y="2590536"/>
            <a:ext cx="282738" cy="58154"/>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858049" y="4638907"/>
            <a:ext cx="1002834" cy="300224"/>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886520" y="5081701"/>
            <a:ext cx="972453" cy="20794"/>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850286" y="5220396"/>
            <a:ext cx="1094242" cy="374388"/>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7265907" y="4648097"/>
            <a:ext cx="660256" cy="25756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595593" y="4677201"/>
            <a:ext cx="0" cy="15308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595593" y="5410779"/>
            <a:ext cx="0" cy="15308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BEYOND LIST AND CALL</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Streaming, cancellation, input mid-call, long tasks and views</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18</a:t>
            </a:r>
          </a:p>
        </p:txBody>
      </p:sp>
      <p:sp>
        <p:nvSpPr>
          <p:cNvPr id="17" name="Rectangle 16"/>
          <p:cNvSpPr/>
          <p:nvPr/>
        </p:nvSpPr>
        <p:spPr>
          <a:xfrm>
            <a:off x="777240" y="1338770"/>
            <a:ext cx="1063721" cy="4906581"/>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02778"/>
            <a:ext cx="844265"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MCP CLIENT</a:t>
            </a:r>
          </a:p>
        </p:txBody>
      </p:sp>
      <p:sp>
        <p:nvSpPr>
          <p:cNvPr id="19" name="Rectangle 18"/>
          <p:cNvSpPr/>
          <p:nvPr/>
        </p:nvSpPr>
        <p:spPr>
          <a:xfrm>
            <a:off x="6734080" y="1338770"/>
            <a:ext cx="1063721" cy="4906581"/>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43808" y="1402778"/>
            <a:ext cx="844265"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SAJHA AND THE TOOL</a:t>
            </a:r>
          </a:p>
        </p:txBody>
      </p:sp>
      <p:sp>
        <p:nvSpPr>
          <p:cNvPr id="21" name="Rounded Rectangle 20"/>
          <p:cNvSpPr/>
          <p:nvPr/>
        </p:nvSpPr>
        <p:spPr>
          <a:xfrm>
            <a:off x="8223290" y="1770549"/>
            <a:ext cx="3191164" cy="485751"/>
          </a:xfrm>
          <a:prstGeom prst="roundRect">
            <a:avLst>
              <a:gd name="adj" fmla="val 15059"/>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50" b="1" i="0">
                <a:solidFill>
                  <a:srgbClr val="1A1A1A"/>
                </a:solidFill>
                <a:latin typeface="Calibri"/>
              </a:rPr>
              <a:t>HEADERS</a:t>
            </a:r>
          </a:p>
          <a:p>
            <a:pPr algn="ctr">
              <a:lnSpc>
                <a:spcPct val="105000"/>
              </a:lnSpc>
              <a:spcBef>
                <a:spcPts val="0"/>
              </a:spcBef>
              <a:spcAft>
                <a:spcPts val="0"/>
              </a:spcAft>
            </a:pPr>
            <a:r>
              <a:rPr sz="1100" b="0" i="0">
                <a:solidFill>
                  <a:srgbClr val="1A1A1A"/>
                </a:solidFill>
                <a:latin typeface="Calibri"/>
              </a:rPr>
              <a:t>a gateway routes without reading the body</a:t>
            </a:r>
          </a:p>
        </p:txBody>
      </p:sp>
      <p:sp>
        <p:nvSpPr>
          <p:cNvPr id="22" name="Rounded Rectangle 21"/>
          <p:cNvSpPr/>
          <p:nvPr/>
        </p:nvSpPr>
        <p:spPr>
          <a:xfrm>
            <a:off x="8223290" y="2334806"/>
            <a:ext cx="3191164" cy="485751"/>
          </a:xfrm>
          <a:prstGeom prst="roundRect">
            <a:avLst>
              <a:gd name="adj" fmla="val 15059"/>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STREAMING</a:t>
            </a:r>
          </a:p>
          <a:p>
            <a:pPr algn="ctr">
              <a:lnSpc>
                <a:spcPct val="105000"/>
              </a:lnSpc>
              <a:spcBef>
                <a:spcPts val="0"/>
              </a:spcBef>
              <a:spcAft>
                <a:spcPts val="0"/>
              </a:spcAft>
            </a:pPr>
            <a:r>
              <a:rPr sz="1150" b="0" i="0">
                <a:solidFill>
                  <a:srgbClr val="1A1A1A"/>
                </a:solidFill>
                <a:latin typeface="Calibri"/>
              </a:rPr>
              <a:t>progress and logs while a tool runs</a:t>
            </a:r>
          </a:p>
        </p:txBody>
      </p:sp>
      <p:sp>
        <p:nvSpPr>
          <p:cNvPr id="23" name="Rounded Rectangle 22"/>
          <p:cNvSpPr/>
          <p:nvPr/>
        </p:nvSpPr>
        <p:spPr>
          <a:xfrm>
            <a:off x="8223290" y="2899063"/>
            <a:ext cx="3191164" cy="1050008"/>
          </a:xfrm>
          <a:prstGeom prst="roundRect">
            <a:avLst>
              <a:gd name="adj" fmla="val 696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MRTR</a:t>
            </a:r>
          </a:p>
          <a:p>
            <a:pPr algn="ctr">
              <a:lnSpc>
                <a:spcPct val="105000"/>
              </a:lnSpc>
              <a:spcBef>
                <a:spcPts val="0"/>
              </a:spcBef>
              <a:spcAft>
                <a:spcPts val="0"/>
              </a:spcAft>
            </a:pPr>
            <a:r>
              <a:rPr sz="1150" b="0" i="0">
                <a:solidFill>
                  <a:srgbClr val="FFFFFF"/>
                </a:solidFill>
                <a:latin typeface="Calibri"/>
              </a:rPr>
              <a:t>Multi Round-Trip Requests: input mid-call, no session</a:t>
            </a:r>
          </a:p>
        </p:txBody>
      </p:sp>
      <p:sp>
        <p:nvSpPr>
          <p:cNvPr id="24" name="Rounded Rectangle 23"/>
          <p:cNvSpPr/>
          <p:nvPr/>
        </p:nvSpPr>
        <p:spPr>
          <a:xfrm>
            <a:off x="8223290" y="4027577"/>
            <a:ext cx="3191164" cy="1050008"/>
          </a:xfrm>
          <a:prstGeom prst="roundRect">
            <a:avLst>
              <a:gd name="adj" fmla="val 6966"/>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TASKS</a:t>
            </a:r>
          </a:p>
          <a:p>
            <a:pPr algn="ctr">
              <a:lnSpc>
                <a:spcPct val="105000"/>
              </a:lnSpc>
              <a:spcBef>
                <a:spcPts val="0"/>
              </a:spcBef>
              <a:spcAft>
                <a:spcPts val="0"/>
              </a:spcAft>
            </a:pPr>
            <a:r>
              <a:rPr sz="1150" b="0" i="0">
                <a:solidFill>
                  <a:srgbClr val="FFFFFF"/>
                </a:solidFill>
                <a:latin typeface="Calibri"/>
              </a:rPr>
              <a:t>long calls become tasks</a:t>
            </a:r>
          </a:p>
        </p:txBody>
      </p:sp>
      <p:sp>
        <p:nvSpPr>
          <p:cNvPr id="25" name="Rounded Rectangle 24"/>
          <p:cNvSpPr/>
          <p:nvPr/>
        </p:nvSpPr>
        <p:spPr>
          <a:xfrm>
            <a:off x="8223290" y="5156090"/>
            <a:ext cx="3191164" cy="485751"/>
          </a:xfrm>
          <a:prstGeom prst="roundRect">
            <a:avLst>
              <a:gd name="adj" fmla="val 15059"/>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CANCELLATION</a:t>
            </a:r>
          </a:p>
          <a:p>
            <a:pPr algn="ctr">
              <a:lnSpc>
                <a:spcPct val="105000"/>
              </a:lnSpc>
              <a:spcBef>
                <a:spcPts val="0"/>
              </a:spcBef>
              <a:spcAft>
                <a:spcPts val="0"/>
              </a:spcAft>
            </a:pPr>
            <a:r>
              <a:rPr sz="1150" b="0" i="0">
                <a:solidFill>
                  <a:srgbClr val="1A1A1A"/>
                </a:solidFill>
                <a:latin typeface="Calibri"/>
              </a:rPr>
              <a:t>a long tool can stop early</a:t>
            </a:r>
          </a:p>
        </p:txBody>
      </p:sp>
      <p:sp>
        <p:nvSpPr>
          <p:cNvPr id="26" name="Rounded Rectangle 25"/>
          <p:cNvSpPr/>
          <p:nvPr/>
        </p:nvSpPr>
        <p:spPr>
          <a:xfrm>
            <a:off x="8223290" y="5720347"/>
            <a:ext cx="3191164" cy="485751"/>
          </a:xfrm>
          <a:prstGeom prst="roundRect">
            <a:avLst>
              <a:gd name="adj" fmla="val 1505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MCP APPS</a:t>
            </a:r>
          </a:p>
          <a:p>
            <a:pPr algn="ctr">
              <a:lnSpc>
                <a:spcPct val="105000"/>
              </a:lnSpc>
              <a:spcBef>
                <a:spcPts val="0"/>
              </a:spcBef>
              <a:spcAft>
                <a:spcPts val="0"/>
              </a:spcAft>
            </a:pPr>
            <a:r>
              <a:rPr sz="1150" b="0" i="0">
                <a:solidFill>
                  <a:srgbClr val="FFFFFF"/>
                </a:solidFill>
                <a:latin typeface="Calibri"/>
              </a:rPr>
              <a:t>e.g. calc_loan_amortization's chart</a:t>
            </a:r>
          </a:p>
        </p:txBody>
      </p:sp>
      <p:cxnSp>
        <p:nvCxnSpPr>
          <p:cNvPr id="27" name="Connector 26"/>
          <p:cNvCxnSpPr/>
          <p:nvPr/>
        </p:nvCxnSpPr>
        <p:spPr>
          <a:xfrm>
            <a:off x="1877537" y="2013425"/>
            <a:ext cx="481996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318513" y="1775681"/>
            <a:ext cx="3938016"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tools/call, with Mcp-Method and Mcp-Name headers</a:t>
            </a:r>
          </a:p>
        </p:txBody>
      </p:sp>
      <p:cxnSp>
        <p:nvCxnSpPr>
          <p:cNvPr id="29" name="Connector 28"/>
          <p:cNvCxnSpPr/>
          <p:nvPr/>
        </p:nvCxnSpPr>
        <p:spPr>
          <a:xfrm flipH="1">
            <a:off x="1877537" y="2577682"/>
            <a:ext cx="481996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514093" y="2339938"/>
            <a:ext cx="3546856"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progress and logs, on the streamed response</a:t>
            </a:r>
          </a:p>
        </p:txBody>
      </p:sp>
      <p:cxnSp>
        <p:nvCxnSpPr>
          <p:cNvPr id="31" name="Connector 30"/>
          <p:cNvCxnSpPr/>
          <p:nvPr/>
        </p:nvCxnSpPr>
        <p:spPr>
          <a:xfrm flipH="1">
            <a:off x="1877537" y="3141939"/>
            <a:ext cx="4819967"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631441" y="2904195"/>
            <a:ext cx="3312160"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input_required: the tool needs an answer</a:t>
            </a:r>
          </a:p>
        </p:txBody>
      </p:sp>
      <p:cxnSp>
        <p:nvCxnSpPr>
          <p:cNvPr id="33" name="Connector 32"/>
          <p:cNvCxnSpPr/>
          <p:nvPr/>
        </p:nvCxnSpPr>
        <p:spPr>
          <a:xfrm>
            <a:off x="1877537" y="3706196"/>
            <a:ext cx="4819967"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631441" y="3468452"/>
            <a:ext cx="3312160"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the same request again, with the answers</a:t>
            </a:r>
          </a:p>
        </p:txBody>
      </p:sp>
      <p:cxnSp>
        <p:nvCxnSpPr>
          <p:cNvPr id="35" name="Connector 34"/>
          <p:cNvCxnSpPr/>
          <p:nvPr/>
        </p:nvCxnSpPr>
        <p:spPr>
          <a:xfrm flipH="1">
            <a:off x="1877537" y="4270452"/>
            <a:ext cx="4819967" cy="0"/>
          </a:xfrm>
          <a:prstGeom prst="line">
            <a:avLst/>
          </a:prstGeom>
          <a:ln w="20320">
            <a:solidFill>
              <a:srgbClr val="2933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631441" y="4032708"/>
            <a:ext cx="3312160"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a task id, when the tool is task-capable</a:t>
            </a:r>
          </a:p>
        </p:txBody>
      </p:sp>
      <p:cxnSp>
        <p:nvCxnSpPr>
          <p:cNvPr id="37" name="Connector 36"/>
          <p:cNvCxnSpPr/>
          <p:nvPr/>
        </p:nvCxnSpPr>
        <p:spPr>
          <a:xfrm>
            <a:off x="1877537" y="4834709"/>
            <a:ext cx="4819967" cy="0"/>
          </a:xfrm>
          <a:prstGeom prst="line">
            <a:avLst/>
          </a:prstGeom>
          <a:ln w="20320">
            <a:solidFill>
              <a:srgbClr val="29335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748789" y="4596965"/>
            <a:ext cx="3077464"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tasks/get until done; or tasks/cancel</a:t>
            </a:r>
          </a:p>
        </p:txBody>
      </p:sp>
      <p:cxnSp>
        <p:nvCxnSpPr>
          <p:cNvPr id="39" name="Connector 38"/>
          <p:cNvCxnSpPr/>
          <p:nvPr/>
        </p:nvCxnSpPr>
        <p:spPr>
          <a:xfrm>
            <a:off x="1877537" y="5398966"/>
            <a:ext cx="4819967" cy="0"/>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435861" y="5161222"/>
            <a:ext cx="3703320"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closes the stream: the tool sees is_cancelled</a:t>
            </a:r>
          </a:p>
        </p:txBody>
      </p:sp>
      <p:cxnSp>
        <p:nvCxnSpPr>
          <p:cNvPr id="41" name="Connector 40"/>
          <p:cNvCxnSpPr/>
          <p:nvPr/>
        </p:nvCxnSpPr>
        <p:spPr>
          <a:xfrm flipH="1">
            <a:off x="1877537" y="5963223"/>
            <a:ext cx="4819967" cy="0"/>
          </a:xfrm>
          <a:prstGeom prst="line">
            <a:avLst/>
          </a:prstGeom>
          <a:ln w="279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2670557" y="5725479"/>
            <a:ext cx="3233928"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0">
                <a:solidFill>
                  <a:srgbClr val="1A1A1A"/>
                </a:solidFill>
                <a:latin typeface="Calibri"/>
              </a:rPr>
              <a:t>the result, with a ui:// view beside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MCP IN LLM PIPELINES</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The model decides when to call a tool; MCP carries the call and the result</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19</a:t>
            </a:r>
          </a:p>
        </p:txBody>
      </p:sp>
      <p:cxnSp>
        <p:nvCxnSpPr>
          <p:cNvPr id="17" name="Connector 16"/>
          <p:cNvCxnSpPr/>
          <p:nvPr/>
        </p:nvCxnSpPr>
        <p:spPr>
          <a:xfrm>
            <a:off x="2409398" y="1983557"/>
            <a:ext cx="61826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96399" y="1983557"/>
            <a:ext cx="61826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710639" y="1782389"/>
            <a:ext cx="58978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tool call</a:t>
            </a:r>
          </a:p>
        </p:txBody>
      </p:sp>
      <p:cxnSp>
        <p:nvCxnSpPr>
          <p:cNvPr id="20" name="Connector 19"/>
          <p:cNvCxnSpPr/>
          <p:nvPr/>
        </p:nvCxnSpPr>
        <p:spPr>
          <a:xfrm>
            <a:off x="6983400" y="1983557"/>
            <a:ext cx="61826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024310" y="1782389"/>
            <a:ext cx="53644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JSON-RPC</a:t>
            </a:r>
          </a:p>
        </p:txBody>
      </p:sp>
      <p:cxnSp>
        <p:nvCxnSpPr>
          <p:cNvPr id="22" name="Connector 21"/>
          <p:cNvCxnSpPr/>
          <p:nvPr/>
        </p:nvCxnSpPr>
        <p:spPr>
          <a:xfrm>
            <a:off x="9270402" y="1983557"/>
            <a:ext cx="61826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436034" y="2391806"/>
            <a:ext cx="0" cy="73214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500042" y="2675580"/>
            <a:ext cx="429768" cy="155448"/>
          </a:xfrm>
          <a:prstGeom prst="rect">
            <a:avLst/>
          </a:prstGeom>
          <a:noFill/>
        </p:spPr>
        <p:txBody>
          <a:bodyPr wrap="square" lIns="0" rIns="0" tIns="0" bIns="0" anchor="t">
            <a:spAutoFit/>
          </a:bodyPr>
          <a:lstStyle/>
          <a:p>
            <a:pPr algn="l">
              <a:lnSpc>
                <a:spcPct val="120000"/>
              </a:lnSpc>
              <a:spcBef>
                <a:spcPts val="0"/>
              </a:spcBef>
              <a:spcAft>
                <a:spcPts val="0"/>
              </a:spcAft>
            </a:pPr>
            <a:r>
              <a:rPr sz="750" b="0" i="1">
                <a:solidFill>
                  <a:srgbClr val="6B7480"/>
                </a:solidFill>
                <a:latin typeface="Calibri"/>
              </a:rPr>
              <a:t>result</a:t>
            </a:r>
          </a:p>
        </p:txBody>
      </p:sp>
      <p:cxnSp>
        <p:nvCxnSpPr>
          <p:cNvPr id="25" name="Connector 24"/>
          <p:cNvCxnSpPr/>
          <p:nvPr/>
        </p:nvCxnSpPr>
        <p:spPr>
          <a:xfrm flipH="1">
            <a:off x="4696399" y="3501222"/>
            <a:ext cx="290526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77240" y="1611884"/>
            <a:ext cx="1595582" cy="743346"/>
          </a:xfrm>
          <a:prstGeom prst="roundRect">
            <a:avLst>
              <a:gd name="adj" fmla="val 9840"/>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User query</a:t>
            </a:r>
          </a:p>
        </p:txBody>
      </p:sp>
      <p:sp>
        <p:nvSpPr>
          <p:cNvPr id="27" name="Rounded Rectangle 26"/>
          <p:cNvSpPr/>
          <p:nvPr/>
        </p:nvSpPr>
        <p:spPr>
          <a:xfrm>
            <a:off x="3064241" y="1611884"/>
            <a:ext cx="1595582" cy="743346"/>
          </a:xfrm>
          <a:prstGeom prst="roundRect">
            <a:avLst>
              <a:gd name="adj" fmla="val 984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LLM agent</a:t>
            </a:r>
          </a:p>
        </p:txBody>
      </p:sp>
      <p:sp>
        <p:nvSpPr>
          <p:cNvPr id="28" name="Rounded Rectangle 27"/>
          <p:cNvSpPr/>
          <p:nvPr/>
        </p:nvSpPr>
        <p:spPr>
          <a:xfrm>
            <a:off x="5351242" y="1611884"/>
            <a:ext cx="1595582" cy="743346"/>
          </a:xfrm>
          <a:prstGeom prst="roundRect">
            <a:avLst>
              <a:gd name="adj" fmla="val 984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MCP client</a:t>
            </a:r>
          </a:p>
        </p:txBody>
      </p:sp>
      <p:sp>
        <p:nvSpPr>
          <p:cNvPr id="29" name="Rounded Rectangle 28"/>
          <p:cNvSpPr/>
          <p:nvPr/>
        </p:nvSpPr>
        <p:spPr>
          <a:xfrm>
            <a:off x="7638243" y="1611884"/>
            <a:ext cx="1595582" cy="743346"/>
          </a:xfrm>
          <a:prstGeom prst="roundRect">
            <a:avLst>
              <a:gd name="adj" fmla="val 984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MCP server</a:t>
            </a:r>
          </a:p>
          <a:p>
            <a:pPr algn="ctr">
              <a:lnSpc>
                <a:spcPct val="105000"/>
              </a:lnSpc>
              <a:spcBef>
                <a:spcPts val="0"/>
              </a:spcBef>
              <a:spcAft>
                <a:spcPts val="0"/>
              </a:spcAft>
            </a:pPr>
            <a:r>
              <a:rPr sz="1250" b="0" i="0">
                <a:solidFill>
                  <a:srgbClr val="FFFFFF"/>
                </a:solidFill>
                <a:latin typeface="Calibri"/>
              </a:rPr>
              <a:t>SAJHA</a:t>
            </a:r>
          </a:p>
        </p:txBody>
      </p:sp>
      <p:sp>
        <p:nvSpPr>
          <p:cNvPr id="30" name="Rounded Rectangle 29"/>
          <p:cNvSpPr/>
          <p:nvPr/>
        </p:nvSpPr>
        <p:spPr>
          <a:xfrm>
            <a:off x="9925245" y="1611884"/>
            <a:ext cx="1489210" cy="743346"/>
          </a:xfrm>
          <a:prstGeom prst="roundRect">
            <a:avLst>
              <a:gd name="adj" fmla="val 9840"/>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API · database · file</a:t>
            </a:r>
          </a:p>
        </p:txBody>
      </p:sp>
      <p:sp>
        <p:nvSpPr>
          <p:cNvPr id="31" name="Rounded Rectangle 30"/>
          <p:cNvSpPr/>
          <p:nvPr/>
        </p:nvSpPr>
        <p:spPr>
          <a:xfrm>
            <a:off x="7638243" y="3160522"/>
            <a:ext cx="1595582" cy="681400"/>
          </a:xfrm>
          <a:prstGeom prst="roundRect">
            <a:avLst>
              <a:gd name="adj" fmla="val 1073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Structured result</a:t>
            </a:r>
          </a:p>
        </p:txBody>
      </p:sp>
      <p:sp>
        <p:nvSpPr>
          <p:cNvPr id="32" name="Rounded Rectangle 31"/>
          <p:cNvSpPr/>
          <p:nvPr/>
        </p:nvSpPr>
        <p:spPr>
          <a:xfrm>
            <a:off x="3064241" y="3160522"/>
            <a:ext cx="1595582" cy="681400"/>
          </a:xfrm>
          <a:prstGeom prst="roundRect">
            <a:avLst>
              <a:gd name="adj" fmla="val 1073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LLM → final answer</a:t>
            </a:r>
          </a:p>
        </p:txBody>
      </p:sp>
      <p:sp>
        <p:nvSpPr>
          <p:cNvPr id="33" name="TextBox 32"/>
          <p:cNvSpPr txBox="1"/>
          <p:nvPr/>
        </p:nvSpPr>
        <p:spPr>
          <a:xfrm>
            <a:off x="777240" y="4873752"/>
            <a:ext cx="10637215" cy="1371600"/>
          </a:xfrm>
          <a:prstGeom prst="rect">
            <a:avLst/>
          </a:prstGeom>
          <a:noFill/>
        </p:spPr>
        <p:txBody>
          <a:bodyPr wrap="square" lIns="0" rIns="0" tIns="0" bIns="0" anchor="t">
            <a:spAutoFit/>
          </a:bodyPr>
          <a:lstStyle/>
          <a:p>
            <a:pPr algn="l">
              <a:lnSpc>
                <a:spcPct val="120000"/>
              </a:lnSpc>
              <a:spcBef>
                <a:spcPts val="0"/>
              </a:spcBef>
              <a:spcAft>
                <a:spcPts val="0"/>
              </a:spcAft>
            </a:pPr>
            <a:r>
              <a:rPr sz="1700" b="1">
                <a:solidFill>
                  <a:srgbClr val="A51C30"/>
                </a:solidFill>
                <a:latin typeface="Calibri"/>
              </a:rPr>
              <a:t>▪  </a:t>
            </a:r>
            <a:r>
              <a:rPr sz="1700" b="0">
                <a:solidFill>
                  <a:srgbClr val="1A1A1A"/>
                </a:solidFill>
                <a:latin typeface="Calibri"/>
              </a:rPr>
              <a:t>Tool schemas go into the model's context when the prompt is built; the model, not hard-coded logic, decides when and which tool to call.</a:t>
            </a:r>
          </a:p>
          <a:p>
            <a:pPr>
              <a:lnSpc>
                <a:spcPct val="120000"/>
              </a:lnSpc>
              <a:spcBef>
                <a:spcPts val="600"/>
              </a:spcBef>
              <a:spcAft>
                <a:spcPts val="0"/>
              </a:spcAft>
            </a:pPr>
            <a:r>
              <a:rPr sz="1700" b="1">
                <a:solidFill>
                  <a:srgbClr val="A51C30"/>
                </a:solidFill>
                <a:latin typeface="Calibri"/>
              </a:rPr>
              <a:t>▪  </a:t>
            </a:r>
            <a:r>
              <a:rPr sz="1700" b="0">
                <a:solidFill>
                  <a:srgbClr val="1A1A1A"/>
                </a:solidFill>
                <a:latin typeface="Calibri"/>
              </a:rPr>
              <a:t>Results come back as structured data, not raw HTML; agent frameworks with an MCP client plug in the same way.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03</a:t>
            </a:r>
          </a:p>
        </p:txBody>
      </p:sp>
      <p:sp>
        <p:nvSpPr>
          <p:cNvPr id="12" name="TextBox 11"/>
          <p:cNvSpPr txBox="1"/>
          <p:nvPr/>
        </p:nvSpPr>
        <p:spPr>
          <a:xfrm>
            <a:off x="1521845" y="2487168"/>
            <a:ext cx="9148005" cy="688340"/>
          </a:xfrm>
          <a:prstGeom prst="rect">
            <a:avLst/>
          </a:prstGeom>
          <a:noFill/>
        </p:spPr>
        <p:txBody>
          <a:bodyPr wrap="square" lIns="0" rIns="0" tIns="0" bIns="0" anchor="t">
            <a:spAutoFit/>
          </a:bodyPr>
          <a:lstStyle/>
          <a:p>
            <a:pPr algn="ctr">
              <a:lnSpc>
                <a:spcPct val="110000"/>
              </a:lnSpc>
              <a:spcBef>
                <a:spcPts val="0"/>
              </a:spcBef>
              <a:spcAft>
                <a:spcPts val="0"/>
              </a:spcAft>
            </a:pPr>
            <a:r>
              <a:rPr sz="4000" b="0" i="0">
                <a:solidFill>
                  <a:srgbClr val="FFFFFF"/>
                </a:solidFill>
                <a:latin typeface="Georgia"/>
              </a:rPr>
              <a:t>The SAJHA MCP server</a:t>
            </a:r>
          </a:p>
        </p:txBody>
      </p:sp>
      <p:sp>
        <p:nvSpPr>
          <p:cNvPr id="13" name="Rectangle 12"/>
          <p:cNvSpPr/>
          <p:nvPr/>
        </p:nvSpPr>
        <p:spPr>
          <a:xfrm>
            <a:off x="5364327" y="3330956"/>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559556"/>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SAJHA (साझा, Hindi for “shared”): one self-hosted server that holds the tools an organisation's agents use, serves them to any MCP client, and applies one set of identities, permissions, rules and records to every call.</a:t>
            </a:r>
          </a:p>
        </p:txBody>
      </p:sp>
      <p:sp>
        <p:nvSpPr>
          <p:cNvPr id="15" name="TextBox 14"/>
          <p:cNvSpPr txBox="1"/>
          <p:nvPr/>
        </p:nvSpPr>
        <p:spPr>
          <a:xfrm>
            <a:off x="1143000" y="4969764"/>
            <a:ext cx="9905695" cy="1248155"/>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Overview   ·   Tools in the box   ·   MCP Studio   ·   Federation   ·   Architecture   ·   Web console   ·   Access and authentication   ·   Credentials   ·   Policy and audit   ·   Deploy anywhere</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OVERVIEW</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One catalog of tools, one address, one set of rules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21</a:t>
            </a:r>
          </a:p>
        </p:txBody>
      </p:sp>
      <p:sp>
        <p:nvSpPr>
          <p:cNvPr id="17" name="Rounded Rectangle 16"/>
          <p:cNvSpPr/>
          <p:nvPr/>
        </p:nvSpPr>
        <p:spPr>
          <a:xfrm>
            <a:off x="777240" y="1484134"/>
            <a:ext cx="2021070" cy="728757"/>
          </a:xfrm>
          <a:prstGeom prst="roundRect">
            <a:avLst>
              <a:gd name="adj" fmla="val 1003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Built-in tools</a:t>
            </a:r>
          </a:p>
        </p:txBody>
      </p:sp>
      <p:sp>
        <p:nvSpPr>
          <p:cNvPr id="18" name="Rounded Rectangle 17"/>
          <p:cNvSpPr/>
          <p:nvPr/>
        </p:nvSpPr>
        <p:spPr>
          <a:xfrm>
            <a:off x="777240" y="2455811"/>
            <a:ext cx="2021070" cy="728757"/>
          </a:xfrm>
          <a:prstGeom prst="roundRect">
            <a:avLst>
              <a:gd name="adj" fmla="val 1003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12 MCP Studio creators</a:t>
            </a:r>
          </a:p>
        </p:txBody>
      </p:sp>
      <p:sp>
        <p:nvSpPr>
          <p:cNvPr id="19" name="Rounded Rectangle 18"/>
          <p:cNvSpPr/>
          <p:nvPr/>
        </p:nvSpPr>
        <p:spPr>
          <a:xfrm>
            <a:off x="777240" y="3427488"/>
            <a:ext cx="2021070" cy="728757"/>
          </a:xfrm>
          <a:prstGeom prst="roundRect">
            <a:avLst>
              <a:gd name="adj" fmla="val 1003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API import, data connectors</a:t>
            </a:r>
          </a:p>
        </p:txBody>
      </p:sp>
      <p:sp>
        <p:nvSpPr>
          <p:cNvPr id="20" name="Rounded Rectangle 19"/>
          <p:cNvSpPr/>
          <p:nvPr/>
        </p:nvSpPr>
        <p:spPr>
          <a:xfrm>
            <a:off x="777240" y="4399165"/>
            <a:ext cx="2021070" cy="728757"/>
          </a:xfrm>
          <a:prstGeom prst="roundRect">
            <a:avLst>
              <a:gd name="adj" fmla="val 1003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Proxied MCP servers</a:t>
            </a:r>
          </a:p>
        </p:txBody>
      </p:sp>
      <p:sp>
        <p:nvSpPr>
          <p:cNvPr id="21" name="Rounded Rectangle 20"/>
          <p:cNvSpPr/>
          <p:nvPr/>
        </p:nvSpPr>
        <p:spPr>
          <a:xfrm>
            <a:off x="777240" y="5370842"/>
            <a:ext cx="2021070" cy="728757"/>
          </a:xfrm>
          <a:prstGeom prst="roundRect">
            <a:avLst>
              <a:gd name="adj" fmla="val 1003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SAJHA Net members</a:t>
            </a:r>
          </a:p>
        </p:txBody>
      </p:sp>
      <p:sp>
        <p:nvSpPr>
          <p:cNvPr id="22" name="Oval 21"/>
          <p:cNvSpPr/>
          <p:nvPr/>
        </p:nvSpPr>
        <p:spPr>
          <a:xfrm>
            <a:off x="9712500" y="1969973"/>
            <a:ext cx="1701954" cy="971677"/>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MCP clients, both eras</a:t>
            </a:r>
          </a:p>
        </p:txBody>
      </p:sp>
      <p:sp>
        <p:nvSpPr>
          <p:cNvPr id="23" name="Oval 22"/>
          <p:cNvSpPr/>
          <p:nvPr/>
        </p:nvSpPr>
        <p:spPr>
          <a:xfrm>
            <a:off x="9712500" y="3281737"/>
            <a:ext cx="1701954" cy="971677"/>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Console and Ask SAJHA</a:t>
            </a:r>
          </a:p>
        </p:txBody>
      </p:sp>
      <p:sp>
        <p:nvSpPr>
          <p:cNvPr id="24" name="Oval 23"/>
          <p:cNvSpPr/>
          <p:nvPr/>
        </p:nvSpPr>
        <p:spPr>
          <a:xfrm>
            <a:off x="9712500" y="4593501"/>
            <a:ext cx="1701954" cy="971677"/>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Agents, workflows, A2A</a:t>
            </a:r>
          </a:p>
        </p:txBody>
      </p:sp>
      <p:sp>
        <p:nvSpPr>
          <p:cNvPr id="25" name="Rounded Rectangle 24"/>
          <p:cNvSpPr/>
          <p:nvPr/>
        </p:nvSpPr>
        <p:spPr>
          <a:xfrm>
            <a:off x="3542915" y="2698730"/>
            <a:ext cx="1914698" cy="1943354"/>
          </a:xfrm>
          <a:prstGeom prst="roundRect">
            <a:avLst>
              <a:gd name="adj" fmla="val 382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One catalog</a:t>
            </a:r>
          </a:p>
          <a:p>
            <a:pPr algn="ctr">
              <a:lnSpc>
                <a:spcPct val="105000"/>
              </a:lnSpc>
              <a:spcBef>
                <a:spcPts val="0"/>
              </a:spcBef>
              <a:spcAft>
                <a:spcPts val="0"/>
              </a:spcAft>
            </a:pPr>
            <a:r>
              <a:rPr sz="1550" b="0" i="0">
                <a:solidFill>
                  <a:srgbClr val="FFFFFF"/>
                </a:solidFill>
                <a:latin typeface="Calibri"/>
              </a:rPr>
              <a:t>603 tools in 32 groups when this deck was built</a:t>
            </a:r>
          </a:p>
        </p:txBody>
      </p:sp>
      <p:sp>
        <p:nvSpPr>
          <p:cNvPr id="26" name="Hexagon 25"/>
          <p:cNvSpPr/>
          <p:nvPr/>
        </p:nvSpPr>
        <p:spPr>
          <a:xfrm>
            <a:off x="5989475" y="2698730"/>
            <a:ext cx="1595582" cy="1943354"/>
          </a:xfrm>
          <a:prstGeom prst="hexagon">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One set of rules</a:t>
            </a:r>
          </a:p>
          <a:p>
            <a:pPr algn="ctr">
              <a:lnSpc>
                <a:spcPct val="105000"/>
              </a:lnSpc>
              <a:spcBef>
                <a:spcPts val="0"/>
              </a:spcBef>
              <a:spcAft>
                <a:spcPts val="0"/>
              </a:spcAft>
            </a:pPr>
            <a:r>
              <a:rPr sz="1250" b="0" i="0">
                <a:solidFill>
                  <a:srgbClr val="FFFFFF"/>
                </a:solidFill>
                <a:latin typeface="Calibri"/>
              </a:rPr>
              <a:t>identity, access, policy, approvals, audit</a:t>
            </a:r>
          </a:p>
        </p:txBody>
      </p:sp>
      <p:sp>
        <p:nvSpPr>
          <p:cNvPr id="27" name="Rounded Rectangle 26"/>
          <p:cNvSpPr/>
          <p:nvPr/>
        </p:nvSpPr>
        <p:spPr>
          <a:xfrm>
            <a:off x="8010546" y="2698730"/>
            <a:ext cx="1276465" cy="1943354"/>
          </a:xfrm>
          <a:prstGeom prst="roundRect">
            <a:avLst>
              <a:gd name="adj" fmla="val 5730"/>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One address</a:t>
            </a:r>
          </a:p>
          <a:p>
            <a:pPr algn="ctr">
              <a:lnSpc>
                <a:spcPct val="105000"/>
              </a:lnSpc>
              <a:spcBef>
                <a:spcPts val="0"/>
              </a:spcBef>
              <a:spcAft>
                <a:spcPts val="0"/>
              </a:spcAft>
            </a:pPr>
            <a:r>
              <a:rPr sz="1250" b="0" i="0">
                <a:solidFill>
                  <a:srgbClr val="FFFFFF"/>
                </a:solidFill>
                <a:latin typeface="Calibri"/>
              </a:rPr>
              <a:t>/mcp: 5 protocol versions, four transports</a:t>
            </a:r>
          </a:p>
        </p:txBody>
      </p:sp>
      <p:sp>
        <p:nvSpPr>
          <p:cNvPr id="28" name="TextBox 27"/>
          <p:cNvSpPr txBox="1"/>
          <p:nvPr/>
        </p:nvSpPr>
        <p:spPr>
          <a:xfrm>
            <a:off x="3117427" y="5273675"/>
            <a:ext cx="6382329" cy="874509"/>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A production Python MCP server on FastAPI, with its own intelligence layer and browser tool builders; 5376 automated tests in the suite.</a:t>
            </a:r>
          </a:p>
        </p:txBody>
      </p:sp>
      <p:cxnSp>
        <p:nvCxnSpPr>
          <p:cNvPr id="29" name="Connector 28"/>
          <p:cNvCxnSpPr/>
          <p:nvPr/>
        </p:nvCxnSpPr>
        <p:spPr>
          <a:xfrm>
            <a:off x="2824849" y="1885742"/>
            <a:ext cx="691528" cy="97009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837170" y="2844278"/>
            <a:ext cx="666885" cy="41337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2843434" y="3677768"/>
            <a:ext cx="654358" cy="10673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2831522" y="4090500"/>
            <a:ext cx="678182" cy="64162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821200" y="4487327"/>
            <a:ext cx="698826" cy="120831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503334" y="3670407"/>
            <a:ext cx="440421" cy="0"/>
          </a:xfrm>
          <a:prstGeom prst="line">
            <a:avLst/>
          </a:prstGeom>
          <a:ln w="2794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630777" y="3670407"/>
            <a:ext cx="334049" cy="0"/>
          </a:xfrm>
          <a:prstGeom prst="line">
            <a:avLst/>
          </a:prstGeom>
          <a:ln w="2794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9312556" y="2493729"/>
            <a:ext cx="374400" cy="555754"/>
          </a:xfrm>
          <a:prstGeom prst="line">
            <a:avLst/>
          </a:prstGeom>
          <a:ln w="20320">
            <a:solidFill>
              <a:srgbClr val="6B74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331584" y="3680586"/>
            <a:ext cx="336344" cy="76810"/>
          </a:xfrm>
          <a:prstGeom prst="line">
            <a:avLst/>
          </a:prstGeom>
          <a:ln w="20320">
            <a:solidFill>
              <a:srgbClr val="6B74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307950" y="4294057"/>
            <a:ext cx="383612" cy="744638"/>
          </a:xfrm>
          <a:prstGeom prst="line">
            <a:avLst/>
          </a:prstGeom>
          <a:ln w="20320">
            <a:solidFill>
              <a:srgbClr val="6B74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WHY SAJHA</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What makes SAJHA different from a plain tool server</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22</a:t>
            </a:r>
          </a:p>
        </p:txBody>
      </p:sp>
      <p:sp>
        <p:nvSpPr>
          <p:cNvPr id="17" name="TextBox 16"/>
          <p:cNvSpPr txBox="1"/>
          <p:nvPr/>
        </p:nvSpPr>
        <p:spPr>
          <a:xfrm>
            <a:off x="777240" y="1386967"/>
            <a:ext cx="10637215" cy="4858385"/>
          </a:xfrm>
          <a:prstGeom prst="rect">
            <a:avLst/>
          </a:prstGeom>
          <a:noFill/>
        </p:spPr>
        <p:txBody>
          <a:bodyPr wrap="square" lIns="0" rIns="0" tIns="0" bIns="0" anchor="t">
            <a:spAutoFit/>
          </a:bodyPr>
          <a:lstStyle/>
          <a:p>
            <a:pPr algn="l">
              <a:lnSpc>
                <a:spcPct val="120000"/>
              </a:lnSpc>
              <a:spcBef>
                <a:spcPts val="0"/>
              </a:spcBef>
              <a:spcAft>
                <a:spcPts val="100"/>
              </a:spcAft>
            </a:pPr>
            <a:r>
              <a:rPr sz="1600" b="1">
                <a:solidFill>
                  <a:srgbClr val="A51C30"/>
                </a:solidFill>
                <a:latin typeface="Calibri"/>
              </a:rPr>
              <a:t>▪  </a:t>
            </a:r>
            <a:r>
              <a:rPr sz="1600" b="1">
                <a:solidFill>
                  <a:srgbClr val="1A1A1A"/>
                </a:solidFill>
                <a:latin typeface="Calibri"/>
              </a:rPr>
              <a:t>A governed server, not a pipe</a:t>
            </a:r>
          </a:p>
          <a:p>
            <a:pPr lvl="1">
              <a:lnSpc>
                <a:spcPct val="120000"/>
              </a:lnSpc>
              <a:spcBef>
                <a:spcPts val="0"/>
              </a:spcBef>
              <a:spcAft>
                <a:spcPts val="0"/>
              </a:spcAft>
            </a:pPr>
            <a:r>
              <a:rPr sz="1450" b="0">
                <a:solidFill>
                  <a:srgbClr val="6B7480"/>
                </a:solidFill>
                <a:latin typeface="Calibri"/>
              </a:rPr>
              <a:t>Access policy, declarative rules, human approval and a hash-chained audit apply to every call on every path.</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603 tools from day one</a:t>
            </a:r>
          </a:p>
          <a:p>
            <a:pPr lvl="1">
              <a:lnSpc>
                <a:spcPct val="120000"/>
              </a:lnSpc>
              <a:spcBef>
                <a:spcPts val="0"/>
              </a:spcBef>
              <a:spcAft>
                <a:spcPts val="0"/>
              </a:spcAft>
            </a:pPr>
            <a:r>
              <a:rPr sz="1450" b="0">
                <a:solidFill>
                  <a:srgbClr val="6B7480"/>
                </a:solidFill>
                <a:latin typeface="Calibri"/>
              </a:rPr>
              <a:t>Markets, central banks, filings, public statistics, search, documents and calculators, ready to call.</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Zero code to full code</a:t>
            </a:r>
          </a:p>
          <a:p>
            <a:pPr lvl="1">
              <a:lnSpc>
                <a:spcPct val="120000"/>
              </a:lnSpc>
              <a:spcBef>
                <a:spcPts val="0"/>
              </a:spcBef>
              <a:spcAft>
                <a:spcPts val="0"/>
              </a:spcAft>
            </a:pPr>
            <a:r>
              <a:rPr sz="1450" b="0">
                <a:solidFill>
                  <a:srgbClr val="6B7480"/>
                </a:solidFill>
                <a:latin typeface="Calibri"/>
              </a:rPr>
              <a:t>12 ways to make a tool in the browser, or a Python class; the same MCP tool either way.</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An intelligence layer inside</a:t>
            </a:r>
          </a:p>
          <a:p>
            <a:pPr lvl="1">
              <a:lnSpc>
                <a:spcPct val="120000"/>
              </a:lnSpc>
              <a:spcBef>
                <a:spcPts val="0"/>
              </a:spcBef>
              <a:spcAft>
                <a:spcPts val="0"/>
              </a:spcAft>
            </a:pPr>
            <a:r>
              <a:rPr sz="1450" b="0">
                <a:solidFill>
                  <a:srgbClr val="6B7480"/>
                </a:solidFill>
                <a:latin typeface="Calibri"/>
              </a:rPr>
              <a:t>20 provider types behind one gateway, planners, memory, document search and evals; the offline mock is the default.</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Every client's language</a:t>
            </a:r>
          </a:p>
          <a:p>
            <a:pPr lvl="1">
              <a:lnSpc>
                <a:spcPct val="120000"/>
              </a:lnSpc>
              <a:spcBef>
                <a:spcPts val="0"/>
              </a:spcBef>
              <a:spcAft>
                <a:spcPts val="0"/>
              </a:spcAft>
            </a:pPr>
            <a:r>
              <a:rPr sz="1450" b="0">
                <a:solidFill>
                  <a:srgbClr val="6B7480"/>
                </a:solidFill>
                <a:latin typeface="Calibri"/>
              </a:rPr>
              <a:t>Both MCP eras, four transports, its own OAuth 2.1 server, and the official conformance suite in CI.</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Many servers, one net</a:t>
            </a:r>
          </a:p>
          <a:p>
            <a:pPr lvl="1">
              <a:lnSpc>
                <a:spcPct val="120000"/>
              </a:lnSpc>
              <a:spcBef>
                <a:spcPts val="0"/>
              </a:spcBef>
              <a:spcAft>
                <a:spcPts val="0"/>
              </a:spcAft>
            </a:pPr>
            <a:r>
              <a:rPr sz="1450" b="0">
                <a:solidFill>
                  <a:srgbClr val="6B7480"/>
                </a:solidFill>
                <a:latin typeface="Calibri"/>
              </a:rPr>
              <a:t>SAJHA Net joins servers across boundaries; each keeps its own data, rules and models, and only governed calls cross.</a:t>
            </a:r>
          </a:p>
          <a:p>
            <a:pPr>
              <a:lnSpc>
                <a:spcPct val="120000"/>
              </a:lnSpc>
              <a:spcBef>
                <a:spcPts val="500"/>
              </a:spcBef>
              <a:spcAft>
                <a:spcPts val="100"/>
              </a:spcAft>
            </a:pPr>
            <a:r>
              <a:rPr sz="1600" b="1">
                <a:solidFill>
                  <a:srgbClr val="A51C30"/>
                </a:solidFill>
                <a:latin typeface="Calibri"/>
              </a:rPr>
              <a:t>▪  </a:t>
            </a:r>
            <a:r>
              <a:rPr sz="1600" b="1">
                <a:solidFill>
                  <a:srgbClr val="1A1A1A"/>
                </a:solidFill>
                <a:latin typeface="Calibri"/>
              </a:rPr>
              <a:t>Runs where your data is</a:t>
            </a:r>
          </a:p>
          <a:p>
            <a:pPr lvl="1">
              <a:lnSpc>
                <a:spcPct val="120000"/>
              </a:lnSpc>
              <a:spcBef>
                <a:spcPts val="0"/>
              </a:spcBef>
              <a:spcAft>
                <a:spcPts val="0"/>
              </a:spcAft>
            </a:pPr>
            <a:r>
              <a:rPr sz="1450" b="0">
                <a:solidFill>
                  <a:srgbClr val="6B7480"/>
                </a:solidFill>
                <a:latin typeface="Calibri"/>
              </a:rPr>
              <a:t>Laptop, VM, Docker, Kubernetes; SQLite or PostgreSQL; local disk or an object store.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TOOLS IN THE BOX</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603 built-in tools, from market data to calculators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23</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live list is tools/list or the Tools page; a caller sees only the tools it may run.</a:t>
            </a:r>
          </a:p>
        </p:txBody>
      </p:sp>
      <p:sp>
        <p:nvSpPr>
          <p:cNvPr id="19" name="Rounded Rectangle 18"/>
          <p:cNvSpPr/>
          <p:nvPr/>
        </p:nvSpPr>
        <p:spPr>
          <a:xfrm>
            <a:off x="3330171" y="1449863"/>
            <a:ext cx="3403908"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261</a:t>
            </a:r>
          </a:p>
        </p:txBody>
      </p:sp>
      <p:sp>
        <p:nvSpPr>
          <p:cNvPr id="20" name="Rounded Rectangle 19"/>
          <p:cNvSpPr/>
          <p:nvPr/>
        </p:nvSpPr>
        <p:spPr>
          <a:xfrm>
            <a:off x="3330171" y="1899126"/>
            <a:ext cx="1408514"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108</a:t>
            </a:r>
          </a:p>
        </p:txBody>
      </p:sp>
      <p:sp>
        <p:nvSpPr>
          <p:cNvPr id="21" name="Rounded Rectangle 20"/>
          <p:cNvSpPr/>
          <p:nvPr/>
        </p:nvSpPr>
        <p:spPr>
          <a:xfrm>
            <a:off x="3330171" y="2348388"/>
            <a:ext cx="1160719"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89</a:t>
            </a:r>
          </a:p>
        </p:txBody>
      </p:sp>
      <p:sp>
        <p:nvSpPr>
          <p:cNvPr id="22" name="Rounded Rectangle 21"/>
          <p:cNvSpPr/>
          <p:nvPr/>
        </p:nvSpPr>
        <p:spPr>
          <a:xfrm>
            <a:off x="3330171" y="2797651"/>
            <a:ext cx="469504"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36</a:t>
            </a:r>
          </a:p>
        </p:txBody>
      </p:sp>
      <p:sp>
        <p:nvSpPr>
          <p:cNvPr id="23" name="Rounded Rectangle 22"/>
          <p:cNvSpPr/>
          <p:nvPr/>
        </p:nvSpPr>
        <p:spPr>
          <a:xfrm>
            <a:off x="3330171" y="3246913"/>
            <a:ext cx="456462"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35</a:t>
            </a:r>
          </a:p>
        </p:txBody>
      </p:sp>
      <p:sp>
        <p:nvSpPr>
          <p:cNvPr id="24" name="Rounded Rectangle 23"/>
          <p:cNvSpPr/>
          <p:nvPr/>
        </p:nvSpPr>
        <p:spPr>
          <a:xfrm>
            <a:off x="3330171" y="3696176"/>
            <a:ext cx="443421"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34</a:t>
            </a:r>
          </a:p>
        </p:txBody>
      </p:sp>
      <p:sp>
        <p:nvSpPr>
          <p:cNvPr id="25" name="Rounded Rectangle 24"/>
          <p:cNvSpPr/>
          <p:nvPr/>
        </p:nvSpPr>
        <p:spPr>
          <a:xfrm>
            <a:off x="3330171" y="4145438"/>
            <a:ext cx="425488"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15</a:t>
            </a:r>
          </a:p>
        </p:txBody>
      </p:sp>
      <p:sp>
        <p:nvSpPr>
          <p:cNvPr id="26" name="Rounded Rectangle 25"/>
          <p:cNvSpPr/>
          <p:nvPr/>
        </p:nvSpPr>
        <p:spPr>
          <a:xfrm>
            <a:off x="3330171" y="4594701"/>
            <a:ext cx="425488"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14</a:t>
            </a:r>
          </a:p>
        </p:txBody>
      </p:sp>
      <p:sp>
        <p:nvSpPr>
          <p:cNvPr id="27" name="Rounded Rectangle 26"/>
          <p:cNvSpPr/>
          <p:nvPr/>
        </p:nvSpPr>
        <p:spPr>
          <a:xfrm>
            <a:off x="3330171" y="5043963"/>
            <a:ext cx="425488"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7</a:t>
            </a:r>
          </a:p>
        </p:txBody>
      </p:sp>
      <p:sp>
        <p:nvSpPr>
          <p:cNvPr id="28" name="Rounded Rectangle 27"/>
          <p:cNvSpPr/>
          <p:nvPr/>
        </p:nvSpPr>
        <p:spPr>
          <a:xfrm>
            <a:off x="3330171" y="5493226"/>
            <a:ext cx="425488" cy="323469"/>
          </a:xfrm>
          <a:prstGeom prst="roundRect">
            <a:avLst>
              <a:gd name="adj" fmla="val 2261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4</a:t>
            </a:r>
          </a:p>
        </p:txBody>
      </p:sp>
      <p:sp>
        <p:nvSpPr>
          <p:cNvPr id="29" name="TextBox 28"/>
          <p:cNvSpPr txBox="1"/>
          <p:nvPr/>
        </p:nvSpPr>
        <p:spPr>
          <a:xfrm>
            <a:off x="777240" y="1422908"/>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Markets and equities</a:t>
            </a:r>
          </a:p>
        </p:txBody>
      </p:sp>
      <p:sp>
        <p:nvSpPr>
          <p:cNvPr id="30" name="TextBox 29"/>
          <p:cNvSpPr txBox="1"/>
          <p:nvPr/>
        </p:nvSpPr>
        <p:spPr>
          <a:xfrm>
            <a:off x="7053196" y="1422908"/>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Quotes, statements, crypto, indices</a:t>
            </a:r>
          </a:p>
        </p:txBody>
      </p:sp>
      <p:sp>
        <p:nvSpPr>
          <p:cNvPr id="31" name="TextBox 30"/>
          <p:cNvSpPr txBox="1"/>
          <p:nvPr/>
        </p:nvSpPr>
        <p:spPr>
          <a:xfrm>
            <a:off x="777240" y="1872170"/>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Risk analytics</a:t>
            </a:r>
          </a:p>
        </p:txBody>
      </p:sp>
      <p:sp>
        <p:nvSpPr>
          <p:cNvPr id="32" name="TextBox 31"/>
          <p:cNvSpPr txBox="1"/>
          <p:nvPr/>
        </p:nvSpPr>
        <p:spPr>
          <a:xfrm>
            <a:off x="7053196" y="1872170"/>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Pricing, VaR, FRTB, SA-CCR, XVA (qlrisk)</a:t>
            </a:r>
          </a:p>
        </p:txBody>
      </p:sp>
      <p:sp>
        <p:nvSpPr>
          <p:cNvPr id="33" name="TextBox 32"/>
          <p:cNvSpPr txBox="1"/>
          <p:nvPr/>
        </p:nvSpPr>
        <p:spPr>
          <a:xfrm>
            <a:off x="777240" y="2321433"/>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Central banks</a:t>
            </a:r>
          </a:p>
        </p:txBody>
      </p:sp>
      <p:sp>
        <p:nvSpPr>
          <p:cNvPr id="34" name="TextBox 33"/>
          <p:cNvSpPr txBox="1"/>
          <p:nvPr/>
        </p:nvSpPr>
        <p:spPr>
          <a:xfrm>
            <a:off x="7053196" y="2321433"/>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Policy rates, yields, money supply</a:t>
            </a:r>
          </a:p>
        </p:txBody>
      </p:sp>
      <p:sp>
        <p:nvSpPr>
          <p:cNvPr id="35" name="TextBox 34"/>
          <p:cNvSpPr txBox="1"/>
          <p:nvPr/>
        </p:nvSpPr>
        <p:spPr>
          <a:xfrm>
            <a:off x="777240" y="2770695"/>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Analytics and SQL</a:t>
            </a:r>
          </a:p>
        </p:txBody>
      </p:sp>
      <p:sp>
        <p:nvSpPr>
          <p:cNvPr id="36" name="TextBox 35"/>
          <p:cNvSpPr txBox="1"/>
          <p:nvPr/>
        </p:nvSpPr>
        <p:spPr>
          <a:xfrm>
            <a:off x="7053196" y="2770695"/>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SQL over files, pivots, financial calculators</a:t>
            </a:r>
          </a:p>
        </p:txBody>
      </p:sp>
      <p:sp>
        <p:nvSpPr>
          <p:cNvPr id="37" name="TextBox 36"/>
          <p:cNvSpPr txBox="1"/>
          <p:nvPr/>
        </p:nvSpPr>
        <p:spPr>
          <a:xfrm>
            <a:off x="777240" y="3219958"/>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Public data</a:t>
            </a:r>
          </a:p>
        </p:txBody>
      </p:sp>
      <p:sp>
        <p:nvSpPr>
          <p:cNvPr id="38" name="TextBox 37"/>
          <p:cNvSpPr txBox="1"/>
          <p:nvPr/>
        </p:nvSpPr>
        <p:spPr>
          <a:xfrm>
            <a:off x="7053196" y="3219958"/>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Outlooks, development, trade, crime data</a:t>
            </a:r>
          </a:p>
        </p:txBody>
      </p:sp>
      <p:sp>
        <p:nvSpPr>
          <p:cNvPr id="39" name="TextBox 38"/>
          <p:cNvSpPr txBox="1"/>
          <p:nvPr/>
        </p:nvSpPr>
        <p:spPr>
          <a:xfrm>
            <a:off x="777240" y="3669220"/>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Filings and reports</a:t>
            </a:r>
          </a:p>
        </p:txBody>
      </p:sp>
      <p:sp>
        <p:nvSpPr>
          <p:cNvPr id="40" name="TextBox 39"/>
          <p:cNvSpPr txBox="1"/>
          <p:nvPr/>
        </p:nvSpPr>
        <p:spPr>
          <a:xfrm>
            <a:off x="7053196" y="3669220"/>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Filings, facts, insider trades, reports</a:t>
            </a:r>
          </a:p>
        </p:txBody>
      </p:sp>
      <p:sp>
        <p:nvSpPr>
          <p:cNvPr id="41" name="TextBox 40"/>
          <p:cNvSpPr txBox="1"/>
          <p:nvPr/>
        </p:nvSpPr>
        <p:spPr>
          <a:xfrm>
            <a:off x="777240" y="4118483"/>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Documents</a:t>
            </a:r>
          </a:p>
        </p:txBody>
      </p:sp>
      <p:sp>
        <p:nvSpPr>
          <p:cNvPr id="42" name="TextBox 41"/>
          <p:cNvSpPr txBox="1"/>
          <p:nvPr/>
        </p:nvSpPr>
        <p:spPr>
          <a:xfrm>
            <a:off x="7053196" y="4118483"/>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Word and Excel, SharePoint, SAJHA's own guides</a:t>
            </a:r>
          </a:p>
        </p:txBody>
      </p:sp>
      <p:sp>
        <p:nvSpPr>
          <p:cNvPr id="43" name="TextBox 42"/>
          <p:cNvSpPr txBox="1"/>
          <p:nvPr/>
        </p:nvSpPr>
        <p:spPr>
          <a:xfrm>
            <a:off x="777240" y="4567745"/>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Search and the web</a:t>
            </a:r>
          </a:p>
        </p:txBody>
      </p:sp>
      <p:sp>
        <p:nvSpPr>
          <p:cNvPr id="44" name="TextBox 43"/>
          <p:cNvSpPr txBox="1"/>
          <p:nvPr/>
        </p:nvSpPr>
        <p:spPr>
          <a:xfrm>
            <a:off x="7053196" y="4567745"/>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Web and news search, extraction, crawling</a:t>
            </a:r>
          </a:p>
        </p:txBody>
      </p:sp>
      <p:sp>
        <p:nvSpPr>
          <p:cNvPr id="45" name="TextBox 44"/>
          <p:cNvSpPr txBox="1"/>
          <p:nvPr/>
        </p:nvSpPr>
        <p:spPr>
          <a:xfrm>
            <a:off x="777240" y="5017008"/>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Connected accounts</a:t>
            </a:r>
          </a:p>
        </p:txBody>
      </p:sp>
      <p:sp>
        <p:nvSpPr>
          <p:cNvPr id="46" name="TextBox 45"/>
          <p:cNvSpPr txBox="1"/>
          <p:nvPr/>
        </p:nvSpPr>
        <p:spPr>
          <a:xfrm>
            <a:off x="7053196" y="5017008"/>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6B7480"/>
                </a:solidFill>
                <a:latin typeface="Calibri"/>
              </a:rPr>
              <a:t>Act as the user in SaaS apps</a:t>
            </a:r>
          </a:p>
        </p:txBody>
      </p:sp>
      <p:sp>
        <p:nvSpPr>
          <p:cNvPr id="47" name="TextBox 46"/>
          <p:cNvSpPr txBox="1"/>
          <p:nvPr/>
        </p:nvSpPr>
        <p:spPr>
          <a:xfrm>
            <a:off x="777240" y="5466270"/>
            <a:ext cx="2499745" cy="377380"/>
          </a:xfrm>
          <a:prstGeom prst="rect">
            <a:avLst/>
          </a:prstGeom>
          <a:noFill/>
        </p:spPr>
        <p:txBody>
          <a:bodyPr wrap="square" lIns="0" rIns="0" tIns="0" bIns="0" anchor="t">
            <a:spAutoFit/>
          </a:bodyPr>
          <a:lstStyle/>
          <a:p>
            <a:pPr algn="l">
              <a:lnSpc>
                <a:spcPct val="110000"/>
              </a:lnSpc>
              <a:spcBef>
                <a:spcPts val="0"/>
              </a:spcBef>
              <a:spcAft>
                <a:spcPts val="100"/>
              </a:spcAft>
            </a:pPr>
            <a:r>
              <a:rPr sz="1400" b="1" i="0">
                <a:solidFill>
                  <a:srgbClr val="1A1A1A"/>
                </a:solidFill>
                <a:latin typeface="Calibri"/>
              </a:rPr>
              <a:t>LLM tools</a:t>
            </a:r>
          </a:p>
        </p:txBody>
      </p:sp>
      <p:sp>
        <p:nvSpPr>
          <p:cNvPr id="48" name="TextBox 47"/>
          <p:cNvSpPr txBox="1"/>
          <p:nvPr/>
        </p:nvSpPr>
        <p:spPr>
          <a:xfrm>
            <a:off x="7053196" y="5466270"/>
            <a:ext cx="4361258" cy="377380"/>
          </a:xfrm>
          <a:prstGeom prst="rect">
            <a:avLst/>
          </a:prstGeom>
          <a:noFill/>
        </p:spPr>
        <p:txBody>
          <a:bodyPr wrap="square" lIns="0" rIns="0" tIns="0" bIns="0" anchor="t">
            <a:spAutoFit/>
          </a:bodyPr>
          <a:lstStyle/>
          <a:p>
            <a:pPr algn="l">
              <a:lnSpc>
                <a:spcPct val="110000"/>
              </a:lnSpc>
              <a:spcBef>
                <a:spcPts val="0"/>
              </a:spcBef>
              <a:spcAft>
                <a:spcPts val="100"/>
              </a:spcAft>
            </a:pPr>
            <a:r>
              <a:rPr sz="1100" b="0" i="0">
                <a:solidFill>
                  <a:srgbClr val="6B7480"/>
                </a:solidFill>
                <a:latin typeface="Calibri"/>
              </a:rPr>
              <a:t>Example LLM tools: assistant, summariser, triage, docs Q&amp;A (disabled by default)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MCP STUDIO</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MCP Studio: 12 ways to create a tool in the browser</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24</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Each creator deploys into the running server, with no restart; generated code and scripts run in the sandbox.</a:t>
            </a:r>
          </a:p>
        </p:txBody>
      </p:sp>
      <p:sp>
        <p:nvSpPr>
          <p:cNvPr id="19" name="Rectangle 18"/>
          <p:cNvSpPr/>
          <p:nvPr/>
        </p:nvSpPr>
        <p:spPr>
          <a:xfrm>
            <a:off x="777240" y="1431893"/>
            <a:ext cx="3637927" cy="763746"/>
          </a:xfrm>
          <a:prstGeom prst="rect">
            <a:avLst/>
          </a:prstGeom>
          <a:no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2330418"/>
            <a:ext cx="4797384" cy="763746"/>
          </a:xfrm>
          <a:prstGeom prst="rect">
            <a:avLst/>
          </a:prstGeom>
          <a:no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228943"/>
            <a:ext cx="5956840" cy="763746"/>
          </a:xfrm>
          <a:prstGeom prst="rect">
            <a:avLst/>
          </a:prstGeom>
          <a:no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127468"/>
            <a:ext cx="3637927" cy="763746"/>
          </a:xfrm>
          <a:prstGeom prst="rect">
            <a:avLst/>
          </a:prstGeom>
          <a:no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025993"/>
            <a:ext cx="2478471" cy="763746"/>
          </a:xfrm>
          <a:prstGeom prst="rect">
            <a:avLst/>
          </a:prstGeom>
          <a:no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2337" y="1499282"/>
            <a:ext cx="1063721" cy="628967"/>
          </a:xfrm>
          <a:prstGeom prst="roundRect">
            <a:avLst>
              <a:gd name="adj" fmla="val 116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Code</a:t>
            </a:r>
          </a:p>
        </p:txBody>
      </p:sp>
      <p:sp>
        <p:nvSpPr>
          <p:cNvPr id="25" name="Rounded Rectangle 24"/>
          <p:cNvSpPr/>
          <p:nvPr/>
        </p:nvSpPr>
        <p:spPr>
          <a:xfrm>
            <a:off x="2032431" y="1499282"/>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Python code</a:t>
            </a:r>
          </a:p>
        </p:txBody>
      </p:sp>
      <p:sp>
        <p:nvSpPr>
          <p:cNvPr id="26" name="Rounded Rectangle 25"/>
          <p:cNvSpPr/>
          <p:nvPr/>
        </p:nvSpPr>
        <p:spPr>
          <a:xfrm>
            <a:off x="3191887" y="1499282"/>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Script</a:t>
            </a:r>
          </a:p>
        </p:txBody>
      </p:sp>
      <p:sp>
        <p:nvSpPr>
          <p:cNvPr id="27" name="Rounded Rectangle 26"/>
          <p:cNvSpPr/>
          <p:nvPr/>
        </p:nvSpPr>
        <p:spPr>
          <a:xfrm>
            <a:off x="862337" y="2397807"/>
            <a:ext cx="1063721" cy="628967"/>
          </a:xfrm>
          <a:prstGeom prst="roundRect">
            <a:avLst>
              <a:gd name="adj" fmla="val 116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Services</a:t>
            </a:r>
          </a:p>
        </p:txBody>
      </p:sp>
      <p:sp>
        <p:nvSpPr>
          <p:cNvPr id="28" name="Rounded Rectangle 27"/>
          <p:cNvSpPr/>
          <p:nvPr/>
        </p:nvSpPr>
        <p:spPr>
          <a:xfrm>
            <a:off x="2032431" y="2397807"/>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REST service</a:t>
            </a:r>
          </a:p>
        </p:txBody>
      </p:sp>
      <p:sp>
        <p:nvSpPr>
          <p:cNvPr id="29" name="Rounded Rectangle 28"/>
          <p:cNvSpPr/>
          <p:nvPr/>
        </p:nvSpPr>
        <p:spPr>
          <a:xfrm>
            <a:off x="3191887" y="2397807"/>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Import an API</a:t>
            </a:r>
          </a:p>
        </p:txBody>
      </p:sp>
      <p:sp>
        <p:nvSpPr>
          <p:cNvPr id="30" name="Rounded Rectangle 29"/>
          <p:cNvSpPr/>
          <p:nvPr/>
        </p:nvSpPr>
        <p:spPr>
          <a:xfrm>
            <a:off x="4351344" y="2397807"/>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Import JSON</a:t>
            </a:r>
          </a:p>
        </p:txBody>
      </p:sp>
      <p:sp>
        <p:nvSpPr>
          <p:cNvPr id="31" name="Rounded Rectangle 30"/>
          <p:cNvSpPr/>
          <p:nvPr/>
        </p:nvSpPr>
        <p:spPr>
          <a:xfrm>
            <a:off x="862337" y="3296332"/>
            <a:ext cx="1063721" cy="628967"/>
          </a:xfrm>
          <a:prstGeom prst="roundRect">
            <a:avLst>
              <a:gd name="adj" fmla="val 116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Data and BI</a:t>
            </a:r>
          </a:p>
        </p:txBody>
      </p:sp>
      <p:sp>
        <p:nvSpPr>
          <p:cNvPr id="32" name="Rounded Rectangle 31"/>
          <p:cNvSpPr/>
          <p:nvPr/>
        </p:nvSpPr>
        <p:spPr>
          <a:xfrm>
            <a:off x="2032431" y="3296332"/>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Database query</a:t>
            </a:r>
          </a:p>
        </p:txBody>
      </p:sp>
      <p:sp>
        <p:nvSpPr>
          <p:cNvPr id="33" name="Rounded Rectangle 32"/>
          <p:cNvSpPr/>
          <p:nvPr/>
        </p:nvSpPr>
        <p:spPr>
          <a:xfrm>
            <a:off x="3191887" y="3296332"/>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OLAP dataset</a:t>
            </a:r>
          </a:p>
        </p:txBody>
      </p:sp>
      <p:sp>
        <p:nvSpPr>
          <p:cNvPr id="34" name="Rounded Rectangle 33"/>
          <p:cNvSpPr/>
          <p:nvPr/>
        </p:nvSpPr>
        <p:spPr>
          <a:xfrm>
            <a:off x="4351344" y="3296332"/>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Power BI report</a:t>
            </a:r>
          </a:p>
        </p:txBody>
      </p:sp>
      <p:sp>
        <p:nvSpPr>
          <p:cNvPr id="35" name="Rounded Rectangle 34"/>
          <p:cNvSpPr/>
          <p:nvPr/>
        </p:nvSpPr>
        <p:spPr>
          <a:xfrm>
            <a:off x="5510800" y="3296332"/>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Power BI DAX</a:t>
            </a:r>
          </a:p>
        </p:txBody>
      </p:sp>
      <p:sp>
        <p:nvSpPr>
          <p:cNvPr id="36" name="Rounded Rectangle 35"/>
          <p:cNvSpPr/>
          <p:nvPr/>
        </p:nvSpPr>
        <p:spPr>
          <a:xfrm>
            <a:off x="862337" y="4194857"/>
            <a:ext cx="1063721" cy="628967"/>
          </a:xfrm>
          <a:prstGeom prst="roundRect">
            <a:avLst>
              <a:gd name="adj" fmla="val 116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Documents</a:t>
            </a:r>
          </a:p>
        </p:txBody>
      </p:sp>
      <p:sp>
        <p:nvSpPr>
          <p:cNvPr id="37" name="Rounded Rectangle 36"/>
          <p:cNvSpPr/>
          <p:nvPr/>
        </p:nvSpPr>
        <p:spPr>
          <a:xfrm>
            <a:off x="2032431" y="4194857"/>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SharePoint</a:t>
            </a:r>
          </a:p>
        </p:txBody>
      </p:sp>
      <p:sp>
        <p:nvSpPr>
          <p:cNvPr id="38" name="Rounded Rectangle 37"/>
          <p:cNvSpPr/>
          <p:nvPr/>
        </p:nvSpPr>
        <p:spPr>
          <a:xfrm>
            <a:off x="3191887" y="4194857"/>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OpenText LiveLink</a:t>
            </a:r>
          </a:p>
        </p:txBody>
      </p:sp>
      <p:sp>
        <p:nvSpPr>
          <p:cNvPr id="39" name="Rounded Rectangle 38"/>
          <p:cNvSpPr/>
          <p:nvPr/>
        </p:nvSpPr>
        <p:spPr>
          <a:xfrm>
            <a:off x="862337" y="5093382"/>
            <a:ext cx="1063721" cy="628967"/>
          </a:xfrm>
          <a:prstGeom prst="roundRect">
            <a:avLst>
              <a:gd name="adj" fmla="val 116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 sentence</a:t>
            </a:r>
          </a:p>
        </p:txBody>
      </p:sp>
      <p:sp>
        <p:nvSpPr>
          <p:cNvPr id="40" name="Rounded Rectangle 39"/>
          <p:cNvSpPr/>
          <p:nvPr/>
        </p:nvSpPr>
        <p:spPr>
          <a:xfrm>
            <a:off x="2032431" y="5093382"/>
            <a:ext cx="1095633" cy="628967"/>
          </a:xfrm>
          <a:prstGeom prst="roundRect">
            <a:avLst>
              <a:gd name="adj" fmla="val 116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Describe a tool</a:t>
            </a:r>
          </a:p>
        </p:txBody>
      </p:sp>
      <p:sp>
        <p:nvSpPr>
          <p:cNvPr id="41" name="Rounded Rectangle 40"/>
          <p:cNvSpPr/>
          <p:nvPr/>
        </p:nvSpPr>
        <p:spPr>
          <a:xfrm>
            <a:off x="7585057" y="2734754"/>
            <a:ext cx="1595582" cy="1617345"/>
          </a:xfrm>
          <a:prstGeom prst="roundRect">
            <a:avLst>
              <a:gd name="adj" fmla="val 458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Preview</a:t>
            </a:r>
          </a:p>
          <a:p>
            <a:pPr algn="ctr">
              <a:lnSpc>
                <a:spcPct val="105000"/>
              </a:lnSpc>
              <a:spcBef>
                <a:spcPts val="0"/>
              </a:spcBef>
              <a:spcAft>
                <a:spcPts val="0"/>
              </a:spcAft>
            </a:pPr>
            <a:r>
              <a:rPr sz="1250" b="0" i="0">
                <a:solidFill>
                  <a:srgbClr val="FFFFFF"/>
                </a:solidFill>
                <a:latin typeface="Calibri"/>
              </a:rPr>
              <a:t>the JSON Schema generated; drafts tested and reviewed</a:t>
            </a:r>
          </a:p>
        </p:txBody>
      </p:sp>
      <p:sp>
        <p:nvSpPr>
          <p:cNvPr id="42" name="Hexagon 41"/>
          <p:cNvSpPr/>
          <p:nvPr/>
        </p:nvSpPr>
        <p:spPr>
          <a:xfrm>
            <a:off x="9818872" y="1656524"/>
            <a:ext cx="1595582" cy="1347787"/>
          </a:xfrm>
          <a:prstGeom prst="hexagon">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Deploy</a:t>
            </a:r>
          </a:p>
          <a:p>
            <a:pPr algn="ctr">
              <a:lnSpc>
                <a:spcPct val="105000"/>
              </a:lnSpc>
              <a:spcBef>
                <a:spcPts val="0"/>
              </a:spcBef>
              <a:spcAft>
                <a:spcPts val="0"/>
              </a:spcAft>
            </a:pPr>
            <a:r>
              <a:rPr sz="1250" b="0" i="0">
                <a:solidFill>
                  <a:srgbClr val="FFFFFF"/>
                </a:solidFill>
                <a:latin typeface="Calibri"/>
              </a:rPr>
              <a:t>into the running server; no restart</a:t>
            </a:r>
          </a:p>
        </p:txBody>
      </p:sp>
      <p:sp>
        <p:nvSpPr>
          <p:cNvPr id="43" name="Oval 42"/>
          <p:cNvSpPr/>
          <p:nvPr/>
        </p:nvSpPr>
        <p:spPr>
          <a:xfrm>
            <a:off x="9818872" y="4172394"/>
            <a:ext cx="1595582" cy="1347787"/>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tools/list</a:t>
            </a:r>
          </a:p>
          <a:p>
            <a:pPr algn="ctr">
              <a:lnSpc>
                <a:spcPct val="105000"/>
              </a:lnSpc>
              <a:spcBef>
                <a:spcPts val="0"/>
              </a:spcBef>
              <a:spcAft>
                <a:spcPts val="0"/>
              </a:spcAft>
            </a:pPr>
            <a:r>
              <a:rPr sz="1150" b="0" i="0">
                <a:solidFill>
                  <a:srgbClr val="1A1A1A"/>
                </a:solidFill>
                <a:latin typeface="Calibri"/>
              </a:rPr>
              <a:t>under each caller's access</a:t>
            </a:r>
          </a:p>
        </p:txBody>
      </p:sp>
      <p:cxnSp>
        <p:nvCxnSpPr>
          <p:cNvPr id="44" name="Connector 43"/>
          <p:cNvCxnSpPr/>
          <p:nvPr/>
        </p:nvCxnSpPr>
        <p:spPr>
          <a:xfrm>
            <a:off x="4458433" y="1828544"/>
            <a:ext cx="3083358" cy="1053166"/>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618952" y="2723485"/>
            <a:ext cx="1921777" cy="485279"/>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779657" y="3547036"/>
            <a:ext cx="759823" cy="60171"/>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59976" y="3875977"/>
            <a:ext cx="3080272" cy="624282"/>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299723" y="4202742"/>
            <a:ext cx="4241321" cy="1192747"/>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9220818" y="2785453"/>
            <a:ext cx="557876" cy="302938"/>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616664" y="3050032"/>
            <a:ext cx="0" cy="1076642"/>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DESCRIBE A TOOL</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 sentence becomes a proposal, and nothing deploys without a person</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25</a:t>
            </a:r>
          </a:p>
        </p:txBody>
      </p:sp>
      <p:sp>
        <p:nvSpPr>
          <p:cNvPr id="17" name="Rectangle 16"/>
          <p:cNvSpPr/>
          <p:nvPr/>
        </p:nvSpPr>
        <p:spPr>
          <a:xfrm>
            <a:off x="777240"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Describe</a:t>
            </a:r>
          </a:p>
        </p:txBody>
      </p:sp>
      <p:sp>
        <p:nvSpPr>
          <p:cNvPr id="20" name="TextBox 19"/>
          <p:cNvSpPr txBox="1"/>
          <p:nvPr/>
        </p:nvSpPr>
        <p:spPr>
          <a:xfrm>
            <a:off x="960120" y="1867916"/>
            <a:ext cx="1556857" cy="2053907"/>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“Fetch today's FX rate for a currency pair from our rates API.”</a:t>
            </a:r>
          </a:p>
        </p:txBody>
      </p:sp>
      <p:sp>
        <p:nvSpPr>
          <p:cNvPr id="21" name="Rectangle 20"/>
          <p:cNvSpPr/>
          <p:nvPr/>
        </p:nvSpPr>
        <p:spPr>
          <a:xfrm>
            <a:off x="2955889"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955889"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138769"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Propose</a:t>
            </a:r>
          </a:p>
        </p:txBody>
      </p:sp>
      <p:sp>
        <p:nvSpPr>
          <p:cNvPr id="24" name="TextBox 23"/>
          <p:cNvSpPr txBox="1"/>
          <p:nvPr/>
        </p:nvSpPr>
        <p:spPr>
          <a:xfrm>
            <a:off x="3138769" y="1867916"/>
            <a:ext cx="1556857" cy="2053907"/>
          </a:xfrm>
          <a:prstGeom prst="rect">
            <a:avLst/>
          </a:prstGeom>
          <a:noFill/>
        </p:spPr>
        <p:txBody>
          <a:bodyPr wrap="square" lIns="0" rIns="0" tIns="0" bIns="0" anchor="t">
            <a:spAutoFit/>
          </a:bodyPr>
          <a:lstStyle/>
          <a:p>
            <a:pPr algn="l">
              <a:lnSpc>
                <a:spcPct val="120000"/>
              </a:lnSpc>
              <a:spcBef>
                <a:spcPts val="0"/>
              </a:spcBef>
              <a:spcAft>
                <a:spcPts val="0"/>
              </a:spcAft>
            </a:pPr>
            <a:r>
              <a:rPr sz="1600" b="0" i="0">
                <a:solidFill>
                  <a:srgbClr val="6B7480"/>
                </a:solidFill>
                <a:latin typeface="Calibri"/>
              </a:rPr>
              <a:t>The toolsmith model drafts the kind, name, schemas, implementation and test cases.</a:t>
            </a:r>
          </a:p>
        </p:txBody>
      </p:sp>
      <p:cxnSp>
        <p:nvCxnSpPr>
          <p:cNvPr id="25" name="Connector 24"/>
          <p:cNvCxnSpPr/>
          <p:nvPr/>
        </p:nvCxnSpPr>
        <p:spPr>
          <a:xfrm>
            <a:off x="2727289"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134538"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134538"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317418"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Check</a:t>
            </a:r>
          </a:p>
        </p:txBody>
      </p:sp>
      <p:sp>
        <p:nvSpPr>
          <p:cNvPr id="29" name="TextBox 28"/>
          <p:cNvSpPr txBox="1"/>
          <p:nvPr/>
        </p:nvSpPr>
        <p:spPr>
          <a:xfrm>
            <a:off x="5317418" y="1867916"/>
            <a:ext cx="1556857" cy="2053907"/>
          </a:xfrm>
          <a:prstGeom prst="rect">
            <a:avLst/>
          </a:prstGeom>
          <a:noFill/>
        </p:spPr>
        <p:txBody>
          <a:bodyPr wrap="square" lIns="0" rIns="0" tIns="0" bIns="0" anchor="t">
            <a:spAutoFit/>
          </a:bodyPr>
          <a:lstStyle/>
          <a:p>
            <a:pPr algn="l">
              <a:lnSpc>
                <a:spcPct val="120000"/>
              </a:lnSpc>
              <a:spcBef>
                <a:spcPts val="0"/>
              </a:spcBef>
              <a:spcAft>
                <a:spcPts val="0"/>
              </a:spcAft>
            </a:pPr>
            <a:r>
              <a:rPr sz="1500" b="0" i="0">
                <a:solidFill>
                  <a:srgbClr val="6B7480"/>
                </a:solidFill>
                <a:latin typeface="Calibri"/>
              </a:rPr>
              <a:t>Treated as untrusted: read-only SQL, host checks, no credentials, risky imports flagged.</a:t>
            </a:r>
          </a:p>
        </p:txBody>
      </p:sp>
      <p:cxnSp>
        <p:nvCxnSpPr>
          <p:cNvPr id="30" name="Connector 29"/>
          <p:cNvCxnSpPr/>
          <p:nvPr/>
        </p:nvCxnSpPr>
        <p:spPr>
          <a:xfrm>
            <a:off x="4905938"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7313188"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313188"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6068"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Test</a:t>
            </a:r>
          </a:p>
        </p:txBody>
      </p:sp>
      <p:sp>
        <p:nvSpPr>
          <p:cNvPr id="34" name="TextBox 33"/>
          <p:cNvSpPr txBox="1"/>
          <p:nvPr/>
        </p:nvSpPr>
        <p:spPr>
          <a:xfrm>
            <a:off x="7496068" y="1867916"/>
            <a:ext cx="1556857" cy="2053907"/>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Cases run in the sandbox, offline where possible, bound to the draft's SHA-256.</a:t>
            </a:r>
          </a:p>
        </p:txBody>
      </p:sp>
      <p:cxnSp>
        <p:nvCxnSpPr>
          <p:cNvPr id="35" name="Connector 34"/>
          <p:cNvCxnSpPr/>
          <p:nvPr/>
        </p:nvCxnSpPr>
        <p:spPr>
          <a:xfrm>
            <a:off x="7084588"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9491837" y="1306639"/>
            <a:ext cx="1922617" cy="2743200"/>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91837" y="1306639"/>
            <a:ext cx="192261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674717" y="1471231"/>
            <a:ext cx="1556857"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Approve</a:t>
            </a:r>
          </a:p>
        </p:txBody>
      </p:sp>
      <p:sp>
        <p:nvSpPr>
          <p:cNvPr id="39" name="TextBox 38"/>
          <p:cNvSpPr txBox="1"/>
          <p:nvPr/>
        </p:nvSpPr>
        <p:spPr>
          <a:xfrm>
            <a:off x="9674717" y="1867916"/>
            <a:ext cx="1556857" cy="2053907"/>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An administrator approves that hash; policy can require a second one.</a:t>
            </a:r>
          </a:p>
        </p:txBody>
      </p:sp>
      <p:cxnSp>
        <p:nvCxnSpPr>
          <p:cNvPr id="40" name="Connector 39"/>
          <p:cNvCxnSpPr/>
          <p:nvPr/>
        </p:nvCxnSpPr>
        <p:spPr>
          <a:xfrm>
            <a:off x="9263237" y="2678239"/>
            <a:ext cx="201168" cy="0"/>
          </a:xfrm>
          <a:prstGeom prst="line">
            <a:avLst/>
          </a:prstGeom>
          <a:ln w="25400">
            <a:solidFill>
              <a:srgbClr val="A51C3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777240" y="4260151"/>
            <a:ext cx="10637215" cy="1985200"/>
          </a:xfrm>
          <a:prstGeom prst="rect">
            <a:avLst/>
          </a:prstGeom>
          <a:noFill/>
        </p:spPr>
        <p:txBody>
          <a:bodyPr wrap="square" lIns="0" rIns="0" tIns="0" bIns="0" anchor="t">
            <a:spAutoFit/>
          </a:bodyPr>
          <a:lstStyle/>
          <a:p>
            <a:pPr algn="l">
              <a:lnSpc>
                <a:spcPct val="120000"/>
              </a:lnSpc>
              <a:spcBef>
                <a:spcPts val="0"/>
              </a:spcBef>
              <a:spcAft>
                <a:spcPts val="0"/>
              </a:spcAft>
            </a:pPr>
            <a:r>
              <a:rPr sz="1800" b="1">
                <a:solidFill>
                  <a:srgbClr val="A51C30"/>
                </a:solidFill>
                <a:latin typeface="Calibri"/>
              </a:rPr>
              <a:t>▪  </a:t>
            </a:r>
            <a:r>
              <a:rPr sz="1800" b="0">
                <a:solidFill>
                  <a:srgbClr val="1A1A1A"/>
                </a:solidFill>
                <a:latin typeface="Calibri"/>
              </a:rPr>
              <a:t>Out of the box the toolsmith alias points at an offline mock that knows a few shapes; real designs need a real model. Generated Python tools always run sandboxed.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APIS AND DATABASES</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An API description or a database becomes governed, read-only tools</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26</a:t>
            </a:r>
          </a:p>
        </p:txBody>
      </p:sp>
      <p:sp>
        <p:nvSpPr>
          <p:cNvPr id="17" name="Rectangle 16"/>
          <p:cNvSpPr/>
          <p:nvPr/>
        </p:nvSpPr>
        <p:spPr>
          <a:xfrm>
            <a:off x="777240" y="1306639"/>
            <a:ext cx="10637215" cy="2271807"/>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370647"/>
            <a:ext cx="1041775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IMPORT AN API</a:t>
            </a:r>
          </a:p>
        </p:txBody>
      </p:sp>
      <p:sp>
        <p:nvSpPr>
          <p:cNvPr id="19" name="Rectangle 18"/>
          <p:cNvSpPr/>
          <p:nvPr/>
        </p:nvSpPr>
        <p:spPr>
          <a:xfrm>
            <a:off x="777240" y="3874770"/>
            <a:ext cx="10637215" cy="2370582"/>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3938778"/>
            <a:ext cx="1041775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DATA CONNECTORS</a:t>
            </a:r>
          </a:p>
        </p:txBody>
      </p:sp>
      <p:sp>
        <p:nvSpPr>
          <p:cNvPr id="21" name="Document 20"/>
          <p:cNvSpPr/>
          <p:nvPr/>
        </p:nvSpPr>
        <p:spPr>
          <a:xfrm>
            <a:off x="989984" y="1899285"/>
            <a:ext cx="1914698" cy="1284065"/>
          </a:xfrm>
          <a:prstGeom prst="flowChartDocument">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OpenAPI 3, Swagger 2 or GraphQL</a:t>
            </a:r>
          </a:p>
        </p:txBody>
      </p:sp>
      <p:sp>
        <p:nvSpPr>
          <p:cNvPr id="22" name="Rounded Rectangle 21"/>
          <p:cNvSpPr/>
          <p:nvPr/>
        </p:nvSpPr>
        <p:spPr>
          <a:xfrm>
            <a:off x="3436543" y="1849897"/>
            <a:ext cx="2340187" cy="1284065"/>
          </a:xfrm>
          <a:prstGeom prst="roundRect">
            <a:avLst>
              <a:gd name="adj" fmla="val 569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Preview</a:t>
            </a:r>
          </a:p>
          <a:p>
            <a:pPr algn="ctr">
              <a:lnSpc>
                <a:spcPct val="105000"/>
              </a:lnSpc>
              <a:spcBef>
                <a:spcPts val="0"/>
              </a:spcBef>
              <a:spcAft>
                <a:spcPts val="0"/>
              </a:spcAft>
            </a:pPr>
            <a:r>
              <a:rPr sz="1150" b="0" i="0">
                <a:solidFill>
                  <a:srgbClr val="1A1A1A"/>
                </a:solidFill>
                <a:latin typeface="Calibri"/>
              </a:rPr>
              <a:t>every operation: name, schemas, read-only and destructive hints</a:t>
            </a:r>
          </a:p>
        </p:txBody>
      </p:sp>
      <p:sp>
        <p:nvSpPr>
          <p:cNvPr id="23" name="Rounded Rectangle 22"/>
          <p:cNvSpPr/>
          <p:nvPr/>
        </p:nvSpPr>
        <p:spPr>
          <a:xfrm>
            <a:off x="6308591" y="1849897"/>
            <a:ext cx="2127443" cy="1284065"/>
          </a:xfrm>
          <a:prstGeom prst="roundRect">
            <a:avLst>
              <a:gd name="adj" fmla="val 569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Choose and test</a:t>
            </a:r>
          </a:p>
          <a:p>
            <a:pPr algn="ctr">
              <a:lnSpc>
                <a:spcPct val="105000"/>
              </a:lnSpc>
              <a:spcBef>
                <a:spcPts val="0"/>
              </a:spcBef>
              <a:spcAft>
                <a:spcPts val="0"/>
              </a:spcAft>
            </a:pPr>
            <a:r>
              <a:rPr sz="1150" b="0" i="0">
                <a:solidFill>
                  <a:srgbClr val="1A1A1A"/>
                </a:solidFill>
                <a:latin typeface="Calibri"/>
              </a:rPr>
              <a:t>one live call; credentials only as secret references</a:t>
            </a:r>
          </a:p>
        </p:txBody>
      </p:sp>
      <p:sp>
        <p:nvSpPr>
          <p:cNvPr id="24" name="Rounded Rectangle 23"/>
          <p:cNvSpPr/>
          <p:nvPr/>
        </p:nvSpPr>
        <p:spPr>
          <a:xfrm>
            <a:off x="8967895" y="1849897"/>
            <a:ext cx="2233815" cy="1284065"/>
          </a:xfrm>
          <a:prstGeom prst="roundRect">
            <a:avLst>
              <a:gd name="adj" fmla="val 569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Deployed tools</a:t>
            </a:r>
          </a:p>
          <a:p>
            <a:pPr algn="ctr">
              <a:lnSpc>
                <a:spcPct val="105000"/>
              </a:lnSpc>
              <a:spcBef>
                <a:spcPts val="0"/>
              </a:spcBef>
              <a:spcAft>
                <a:spcPts val="0"/>
              </a:spcAft>
            </a:pPr>
            <a:r>
              <a:rPr sz="1150" b="0" i="0">
                <a:solidFill>
                  <a:srgbClr val="FFFFFF"/>
                </a:solidFill>
                <a:latin typeface="Calibri"/>
              </a:rPr>
              <a:t>every call through an SSRF guard; re-import shows a diff</a:t>
            </a:r>
          </a:p>
        </p:txBody>
      </p:sp>
      <p:sp>
        <p:nvSpPr>
          <p:cNvPr id="25" name="Can 24"/>
          <p:cNvSpPr/>
          <p:nvPr/>
        </p:nvSpPr>
        <p:spPr>
          <a:xfrm>
            <a:off x="989984" y="4467415"/>
            <a:ext cx="1914698" cy="1382839"/>
          </a:xfrm>
          <a:prstGeom prst="can">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Your database</a:t>
            </a:r>
          </a:p>
          <a:p>
            <a:pPr algn="ctr">
              <a:lnSpc>
                <a:spcPct val="105000"/>
              </a:lnSpc>
              <a:spcBef>
                <a:spcPts val="0"/>
              </a:spcBef>
              <a:spcAft>
                <a:spcPts val="0"/>
              </a:spcAft>
            </a:pPr>
            <a:r>
              <a:rPr sz="1150" b="0" i="0">
                <a:solidFill>
                  <a:srgbClr val="1A1A1A"/>
                </a:solidFill>
                <a:latin typeface="Calibri"/>
              </a:rPr>
              <a:t>SQL: postgresql, pgvector, redshift and mysql, ...</a:t>
            </a:r>
          </a:p>
        </p:txBody>
      </p:sp>
      <p:sp>
        <p:nvSpPr>
          <p:cNvPr id="26" name="Rounded Rectangle 25"/>
          <p:cNvSpPr/>
          <p:nvPr/>
        </p:nvSpPr>
        <p:spPr>
          <a:xfrm>
            <a:off x="3436543" y="4516802"/>
            <a:ext cx="2340187" cy="1284065"/>
          </a:xfrm>
          <a:prstGeom prst="roundRect">
            <a:avLst>
              <a:gd name="adj" fmla="val 569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Read-only three times</a:t>
            </a:r>
          </a:p>
          <a:p>
            <a:pPr algn="ctr">
              <a:lnSpc>
                <a:spcPct val="105000"/>
              </a:lnSpc>
              <a:spcBef>
                <a:spcPts val="0"/>
              </a:spcBef>
              <a:spcAft>
                <a:spcPts val="0"/>
              </a:spcAft>
            </a:pPr>
            <a:r>
              <a:rPr sz="1150" b="0" i="0">
                <a:solidFill>
                  <a:srgbClr val="FFFFFF"/>
                </a:solidFill>
                <a:latin typeface="Calibri"/>
              </a:rPr>
              <a:t>statement guard, read-only session, the login's own grants</a:t>
            </a:r>
          </a:p>
        </p:txBody>
      </p:sp>
      <p:sp>
        <p:nvSpPr>
          <p:cNvPr id="27" name="Rounded Rectangle 26"/>
          <p:cNvSpPr/>
          <p:nvPr/>
        </p:nvSpPr>
        <p:spPr>
          <a:xfrm>
            <a:off x="6308591" y="4516802"/>
            <a:ext cx="2127443" cy="1284065"/>
          </a:xfrm>
          <a:prstGeom prst="roundRect">
            <a:avLst>
              <a:gd name="adj" fmla="val 569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Curated views</a:t>
            </a:r>
          </a:p>
          <a:p>
            <a:pPr algn="ctr">
              <a:lnSpc>
                <a:spcPct val="105000"/>
              </a:lnSpc>
              <a:spcBef>
                <a:spcPts val="0"/>
              </a:spcBef>
              <a:spcAft>
                <a:spcPts val="0"/>
              </a:spcAft>
            </a:pPr>
            <a:r>
              <a:rPr sz="1150" b="0" i="0">
                <a:solidFill>
                  <a:srgbClr val="1A1A1A"/>
                </a:solidFill>
                <a:latin typeface="Calibri"/>
              </a:rPr>
              <a:t>become typed tools</a:t>
            </a:r>
          </a:p>
        </p:txBody>
      </p:sp>
      <p:sp>
        <p:nvSpPr>
          <p:cNvPr id="28" name="Rounded Rectangle 27"/>
          <p:cNvSpPr/>
          <p:nvPr/>
        </p:nvSpPr>
        <p:spPr>
          <a:xfrm>
            <a:off x="8967895" y="4516802"/>
            <a:ext cx="2233815" cy="1284065"/>
          </a:xfrm>
          <a:prstGeom prst="roundRect">
            <a:avLst>
              <a:gd name="adj" fmla="val 569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prefix__operation</a:t>
            </a:r>
          </a:p>
          <a:p>
            <a:pPr algn="ctr">
              <a:lnSpc>
                <a:spcPct val="105000"/>
              </a:lnSpc>
              <a:spcBef>
                <a:spcPts val="0"/>
              </a:spcBef>
              <a:spcAft>
                <a:spcPts val="0"/>
              </a:spcAft>
            </a:pPr>
            <a:r>
              <a:rPr sz="1150" b="0" i="0">
                <a:solidFill>
                  <a:srgbClr val="FFFFFF"/>
                </a:solidFill>
                <a:latin typeface="Calibri"/>
              </a:rPr>
              <a:t>snowflake, bigquery and databricks can sign in as each user</a:t>
            </a:r>
          </a:p>
        </p:txBody>
      </p:sp>
      <p:cxnSp>
        <p:nvCxnSpPr>
          <p:cNvPr id="29" name="Connector 28"/>
          <p:cNvCxnSpPr/>
          <p:nvPr/>
        </p:nvCxnSpPr>
        <p:spPr>
          <a:xfrm>
            <a:off x="2950403" y="2516624"/>
            <a:ext cx="44042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822451" y="2491930"/>
            <a:ext cx="44042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81754" y="2491930"/>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50403" y="5158835"/>
            <a:ext cx="44042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822451" y="5158835"/>
            <a:ext cx="44042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481754" y="5158835"/>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FEDERATION</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Other MCP servers' tools join the catalog under SAJHA's rules</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27</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Not isolated: an upstream runs where it runs; SAJHA governs the calls, not its process. A user's own token can be passed through instead of a shared one.</a:t>
            </a:r>
          </a:p>
        </p:txBody>
      </p:sp>
      <p:sp>
        <p:nvSpPr>
          <p:cNvPr id="19" name="Rectangle 18"/>
          <p:cNvSpPr/>
          <p:nvPr/>
        </p:nvSpPr>
        <p:spPr>
          <a:xfrm>
            <a:off x="2904683" y="1338770"/>
            <a:ext cx="6382329" cy="4339653"/>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14411" y="1402778"/>
            <a:ext cx="6162873"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SAJHA (FEDERATION SHIPS OFF)</a:t>
            </a:r>
          </a:p>
        </p:txBody>
      </p:sp>
      <p:sp>
        <p:nvSpPr>
          <p:cNvPr id="21" name="Rounded Rectangle 20"/>
          <p:cNvSpPr/>
          <p:nvPr/>
        </p:nvSpPr>
        <p:spPr>
          <a:xfrm>
            <a:off x="777240" y="1599149"/>
            <a:ext cx="1701954"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weather MCP server</a:t>
            </a:r>
          </a:p>
          <a:p>
            <a:pPr algn="ctr">
              <a:lnSpc>
                <a:spcPct val="105000"/>
              </a:lnSpc>
              <a:spcBef>
                <a:spcPts val="0"/>
              </a:spcBef>
              <a:spcAft>
                <a:spcPts val="0"/>
              </a:spcAft>
            </a:pPr>
            <a:r>
              <a:rPr sz="1050" b="0" i="0">
                <a:solidFill>
                  <a:srgbClr val="1A1A1A"/>
                </a:solidFill>
                <a:latin typeface="Calibri"/>
              </a:rPr>
              <a:t>Streamable HTTP</a:t>
            </a:r>
          </a:p>
        </p:txBody>
      </p:sp>
      <p:sp>
        <p:nvSpPr>
          <p:cNvPr id="22" name="Rounded Rectangle 21"/>
          <p:cNvSpPr/>
          <p:nvPr/>
        </p:nvSpPr>
        <p:spPr>
          <a:xfrm>
            <a:off x="777240" y="2857649"/>
            <a:ext cx="1701954"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fetch MCP server</a:t>
            </a:r>
          </a:p>
          <a:p>
            <a:pPr algn="ctr">
              <a:lnSpc>
                <a:spcPct val="105000"/>
              </a:lnSpc>
              <a:spcBef>
                <a:spcPts val="0"/>
              </a:spcBef>
              <a:spcAft>
                <a:spcPts val="0"/>
              </a:spcAft>
            </a:pPr>
            <a:r>
              <a:rPr sz="1050" b="0" i="0">
                <a:solidFill>
                  <a:srgbClr val="1A1A1A"/>
                </a:solidFill>
                <a:latin typeface="Calibri"/>
              </a:rPr>
              <a:t>stdio</a:t>
            </a:r>
          </a:p>
        </p:txBody>
      </p:sp>
      <p:sp>
        <p:nvSpPr>
          <p:cNvPr id="23" name="Document 22"/>
          <p:cNvSpPr/>
          <p:nvPr/>
        </p:nvSpPr>
        <p:spPr>
          <a:xfrm>
            <a:off x="777240" y="4289734"/>
            <a:ext cx="1701954" cy="954723"/>
          </a:xfrm>
          <a:prstGeom prst="flowChartDocument">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mcpServers file</a:t>
            </a:r>
          </a:p>
          <a:p>
            <a:pPr algn="ctr">
              <a:lnSpc>
                <a:spcPct val="105000"/>
              </a:lnSpc>
              <a:spcBef>
                <a:spcPts val="0"/>
              </a:spcBef>
              <a:spcAft>
                <a:spcPts val="0"/>
              </a:spcAft>
            </a:pPr>
            <a:r>
              <a:rPr sz="1050" b="0" i="0">
                <a:solidFill>
                  <a:srgbClr val="1A1A1A"/>
                </a:solidFill>
                <a:latin typeface="Calibri"/>
              </a:rPr>
              <a:t>the JSON desktop clients use</a:t>
            </a:r>
          </a:p>
        </p:txBody>
      </p:sp>
      <p:sp>
        <p:nvSpPr>
          <p:cNvPr id="24" name="Hexagon 23"/>
          <p:cNvSpPr/>
          <p:nvPr/>
        </p:nvSpPr>
        <p:spPr>
          <a:xfrm>
            <a:off x="3223799" y="2119908"/>
            <a:ext cx="1755140" cy="1041516"/>
          </a:xfrm>
          <a:prstGeom prst="hexagon">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SSRF guard</a:t>
            </a:r>
          </a:p>
          <a:p>
            <a:pPr algn="ctr">
              <a:lnSpc>
                <a:spcPct val="105000"/>
              </a:lnSpc>
              <a:spcBef>
                <a:spcPts val="0"/>
              </a:spcBef>
              <a:spcAft>
                <a:spcPts val="0"/>
              </a:spcAft>
            </a:pPr>
            <a:r>
              <a:rPr sz="1050" b="0" i="0">
                <a:solidFill>
                  <a:srgbClr val="1A1A1A"/>
                </a:solidFill>
                <a:latin typeface="Calibri"/>
              </a:rPr>
              <a:t>on upstream and token addresses</a:t>
            </a:r>
          </a:p>
        </p:txBody>
      </p:sp>
      <p:sp>
        <p:nvSpPr>
          <p:cNvPr id="25" name="Rounded Rectangle 24"/>
          <p:cNvSpPr/>
          <p:nvPr/>
        </p:nvSpPr>
        <p:spPr>
          <a:xfrm>
            <a:off x="5244870" y="2119908"/>
            <a:ext cx="1755140" cy="1041516"/>
          </a:xfrm>
          <a:prstGeom prst="roundRect">
            <a:avLst>
              <a:gd name="adj" fmla="val 7023"/>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Approval</a:t>
            </a:r>
          </a:p>
          <a:p>
            <a:pPr algn="ctr">
              <a:lnSpc>
                <a:spcPct val="105000"/>
              </a:lnSpc>
              <a:spcBef>
                <a:spcPts val="0"/>
              </a:spcBef>
              <a:spcAft>
                <a:spcPts val="0"/>
              </a:spcAft>
            </a:pPr>
            <a:r>
              <a:rPr sz="1050" b="0" i="0">
                <a:solidFill>
                  <a:srgbClr val="1A1A1A"/>
                </a:solidFill>
                <a:latin typeface="Calibri"/>
              </a:rPr>
              <a:t>each tool waits for an administrator; a change waits again</a:t>
            </a:r>
          </a:p>
        </p:txBody>
      </p:sp>
      <p:sp>
        <p:nvSpPr>
          <p:cNvPr id="26" name="Rounded Rectangle 25"/>
          <p:cNvSpPr/>
          <p:nvPr/>
        </p:nvSpPr>
        <p:spPr>
          <a:xfrm>
            <a:off x="7265941" y="2119908"/>
            <a:ext cx="1755140" cy="1041516"/>
          </a:xfrm>
          <a:prstGeom prst="roundRect">
            <a:avLst>
              <a:gd name="adj" fmla="val 7023"/>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Screening</a:t>
            </a:r>
          </a:p>
          <a:p>
            <a:pPr algn="ctr">
              <a:lnSpc>
                <a:spcPct val="105000"/>
              </a:lnSpc>
              <a:spcBef>
                <a:spcPts val="0"/>
              </a:spcBef>
              <a:spcAft>
                <a:spcPts val="0"/>
              </a:spcAft>
            </a:pPr>
            <a:r>
              <a:rPr sz="1050" b="0" i="0">
                <a:solidFill>
                  <a:srgbClr val="1A1A1A"/>
                </a:solidFill>
                <a:latin typeface="Calibri"/>
              </a:rPr>
              <a:t>descriptions and results checked for injected instructions</a:t>
            </a:r>
          </a:p>
        </p:txBody>
      </p:sp>
      <p:sp>
        <p:nvSpPr>
          <p:cNvPr id="27" name="Rounded Rectangle 26"/>
          <p:cNvSpPr/>
          <p:nvPr/>
        </p:nvSpPr>
        <p:spPr>
          <a:xfrm>
            <a:off x="3968404" y="4029355"/>
            <a:ext cx="4254886" cy="867930"/>
          </a:xfrm>
          <a:prstGeom prst="roundRect">
            <a:avLst>
              <a:gd name="adj" fmla="val 842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weather__get_forecast</a:t>
            </a:r>
          </a:p>
          <a:p>
            <a:pPr algn="ctr">
              <a:lnSpc>
                <a:spcPct val="105000"/>
              </a:lnSpc>
              <a:spcBef>
                <a:spcPts val="0"/>
              </a:spcBef>
              <a:spcAft>
                <a:spcPts val="0"/>
              </a:spcAft>
            </a:pPr>
            <a:r>
              <a:rPr sz="1250" b="0" i="0">
                <a:solidFill>
                  <a:srgbClr val="FFFFFF"/>
                </a:solidFill>
                <a:latin typeface="Calibri"/>
              </a:rPr>
              <a:t>in the catalog, under access, policy, cache, breakers and audit</a:t>
            </a:r>
          </a:p>
        </p:txBody>
      </p:sp>
      <p:sp>
        <p:nvSpPr>
          <p:cNvPr id="28" name="Oval 27"/>
          <p:cNvSpPr/>
          <p:nvPr/>
        </p:nvSpPr>
        <p:spPr>
          <a:xfrm>
            <a:off x="9818872" y="3942562"/>
            <a:ext cx="1595582" cy="1041516"/>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MCP clients</a:t>
            </a:r>
          </a:p>
          <a:p>
            <a:pPr algn="ctr">
              <a:lnSpc>
                <a:spcPct val="105000"/>
              </a:lnSpc>
              <a:spcBef>
                <a:spcPts val="0"/>
              </a:spcBef>
              <a:spcAft>
                <a:spcPts val="0"/>
              </a:spcAft>
            </a:pPr>
            <a:r>
              <a:rPr sz="1050" b="0" i="0">
                <a:solidFill>
                  <a:srgbClr val="1A1A1A"/>
                </a:solidFill>
                <a:latin typeface="Calibri"/>
              </a:rPr>
              <a:t>and Ask SAJHA</a:t>
            </a:r>
          </a:p>
        </p:txBody>
      </p:sp>
      <p:cxnSp>
        <p:nvCxnSpPr>
          <p:cNvPr id="29" name="Connector 28"/>
          <p:cNvCxnSpPr/>
          <p:nvPr/>
        </p:nvCxnSpPr>
        <p:spPr>
          <a:xfrm>
            <a:off x="2523311" y="2211467"/>
            <a:ext cx="656371" cy="17851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523683" y="2859088"/>
            <a:ext cx="655627" cy="15530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1628217" y="3641110"/>
            <a:ext cx="0" cy="602904"/>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692225" y="3851122"/>
            <a:ext cx="68072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defines</a:t>
            </a:r>
          </a:p>
        </p:txBody>
      </p:sp>
      <p:cxnSp>
        <p:nvCxnSpPr>
          <p:cNvPr id="33" name="Connector 32"/>
          <p:cNvCxnSpPr/>
          <p:nvPr/>
        </p:nvCxnSpPr>
        <p:spPr>
          <a:xfrm>
            <a:off x="5024660" y="2640666"/>
            <a:ext cx="17449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045730" y="2640666"/>
            <a:ext cx="17449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617537" y="3191823"/>
            <a:ext cx="906776" cy="807134"/>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269010" y="4463321"/>
            <a:ext cx="1504142"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SERVER ARCHITECTURE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Six layers, and every call crosses the governance layer</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28</a:t>
            </a:r>
          </a:p>
        </p:txBody>
      </p:sp>
      <p:sp>
        <p:nvSpPr>
          <p:cNvPr id="17" name="Rounded Rectangle 16"/>
          <p:cNvSpPr/>
          <p:nvPr/>
        </p:nvSpPr>
        <p:spPr>
          <a:xfrm>
            <a:off x="777240" y="1435550"/>
            <a:ext cx="1701954" cy="663979"/>
          </a:xfrm>
          <a:prstGeom prst="roundRect">
            <a:avLst>
              <a:gd name="adj" fmla="val 1101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Clients</a:t>
            </a:r>
          </a:p>
        </p:txBody>
      </p:sp>
      <p:sp>
        <p:nvSpPr>
          <p:cNvPr id="18" name="Rounded Rectangle 17"/>
          <p:cNvSpPr/>
          <p:nvPr/>
        </p:nvSpPr>
        <p:spPr>
          <a:xfrm>
            <a:off x="2638752" y="1435550"/>
            <a:ext cx="8775702" cy="663979"/>
          </a:xfrm>
          <a:prstGeom prst="roundRect">
            <a:avLst>
              <a:gd name="adj" fmla="val 110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0" i="0">
                <a:solidFill>
                  <a:srgbClr val="1A1A1A"/>
                </a:solidFill>
                <a:latin typeface="Calibri"/>
              </a:rPr>
              <a:t>MCP clients (both eras) · browser console · sajha CLI · Python SDK · A2A agents · workflows</a:t>
            </a:r>
          </a:p>
        </p:txBody>
      </p:sp>
      <p:sp>
        <p:nvSpPr>
          <p:cNvPr id="19" name="Rounded Rectangle 18"/>
          <p:cNvSpPr/>
          <p:nvPr/>
        </p:nvSpPr>
        <p:spPr>
          <a:xfrm>
            <a:off x="777240" y="2245281"/>
            <a:ext cx="1701954" cy="663979"/>
          </a:xfrm>
          <a:prstGeom prst="roundRect">
            <a:avLst>
              <a:gd name="adj" fmla="val 1101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Transports</a:t>
            </a:r>
          </a:p>
        </p:txBody>
      </p:sp>
      <p:sp>
        <p:nvSpPr>
          <p:cNvPr id="20" name="Rounded Rectangle 19"/>
          <p:cNvSpPr/>
          <p:nvPr/>
        </p:nvSpPr>
        <p:spPr>
          <a:xfrm>
            <a:off x="2638752" y="2245281"/>
            <a:ext cx="8775702" cy="663979"/>
          </a:xfrm>
          <a:prstGeom prst="roundRect">
            <a:avLst>
              <a:gd name="adj" fmla="val 110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0" i="0">
                <a:solidFill>
                  <a:srgbClr val="1A1A1A"/>
                </a:solidFill>
                <a:latin typeface="Calibri"/>
              </a:rPr>
              <a:t>Streamable HTTP /mcp · legacy SSE /mcp/sse · WebSocket /mcp/ws · stdio · REST API</a:t>
            </a:r>
          </a:p>
        </p:txBody>
      </p:sp>
      <p:sp>
        <p:nvSpPr>
          <p:cNvPr id="21" name="Rounded Rectangle 20"/>
          <p:cNvSpPr/>
          <p:nvPr/>
        </p:nvSpPr>
        <p:spPr>
          <a:xfrm>
            <a:off x="777240" y="3055012"/>
            <a:ext cx="1701954" cy="663979"/>
          </a:xfrm>
          <a:prstGeom prst="roundRect">
            <a:avLst>
              <a:gd name="adj" fmla="val 1101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Governance</a:t>
            </a:r>
          </a:p>
        </p:txBody>
      </p:sp>
      <p:sp>
        <p:nvSpPr>
          <p:cNvPr id="22" name="Rounded Rectangle 21"/>
          <p:cNvSpPr/>
          <p:nvPr/>
        </p:nvSpPr>
        <p:spPr>
          <a:xfrm>
            <a:off x="2638752" y="3055012"/>
            <a:ext cx="8775702" cy="663979"/>
          </a:xfrm>
          <a:prstGeom prst="roundRect">
            <a:avLst>
              <a:gd name="adj" fmla="val 110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0" i="0">
                <a:solidFill>
                  <a:srgbClr val="1A1A1A"/>
                </a:solidFill>
                <a:latin typeface="Calibri"/>
              </a:rPr>
              <a:t>Authentication · tool access policy · policy engine (deny, approve, limit, redact) · hash-chained audit and SIEM export</a:t>
            </a:r>
          </a:p>
        </p:txBody>
      </p:sp>
      <p:sp>
        <p:nvSpPr>
          <p:cNvPr id="23" name="Rounded Rectangle 22"/>
          <p:cNvSpPr/>
          <p:nvPr/>
        </p:nvSpPr>
        <p:spPr>
          <a:xfrm>
            <a:off x="777240" y="3864743"/>
            <a:ext cx="1701954" cy="663979"/>
          </a:xfrm>
          <a:prstGeom prst="roundRect">
            <a:avLst>
              <a:gd name="adj" fmla="val 1101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Intelligence</a:t>
            </a:r>
          </a:p>
        </p:txBody>
      </p:sp>
      <p:sp>
        <p:nvSpPr>
          <p:cNvPr id="24" name="Rounded Rectangle 23"/>
          <p:cNvSpPr/>
          <p:nvPr/>
        </p:nvSpPr>
        <p:spPr>
          <a:xfrm>
            <a:off x="2638752" y="3864743"/>
            <a:ext cx="8775702" cy="663979"/>
          </a:xfrm>
          <a:prstGeom prst="roundRect">
            <a:avLst>
              <a:gd name="adj" fmla="val 110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0" i="0">
                <a:solidFill>
                  <a:srgbClr val="1A1A1A"/>
                </a:solidFill>
                <a:latin typeface="Calibri"/>
              </a:rPr>
              <a:t>LLM gateway · Ask SAJHA and planners · memory and document search · evals · Describe a tool</a:t>
            </a:r>
          </a:p>
        </p:txBody>
      </p:sp>
      <p:sp>
        <p:nvSpPr>
          <p:cNvPr id="25" name="Rounded Rectangle 24"/>
          <p:cNvSpPr/>
          <p:nvPr/>
        </p:nvSpPr>
        <p:spPr>
          <a:xfrm>
            <a:off x="777240" y="4674474"/>
            <a:ext cx="1701954" cy="663979"/>
          </a:xfrm>
          <a:prstGeom prst="roundRect">
            <a:avLst>
              <a:gd name="adj" fmla="val 1101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Tools</a:t>
            </a:r>
          </a:p>
        </p:txBody>
      </p:sp>
      <p:sp>
        <p:nvSpPr>
          <p:cNvPr id="26" name="Rounded Rectangle 25"/>
          <p:cNvSpPr/>
          <p:nvPr/>
        </p:nvSpPr>
        <p:spPr>
          <a:xfrm>
            <a:off x="2638752" y="4674474"/>
            <a:ext cx="8775702" cy="663979"/>
          </a:xfrm>
          <a:prstGeom prst="roundRect">
            <a:avLst>
              <a:gd name="adj" fmla="val 110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0" i="0">
                <a:solidFill>
                  <a:srgbClr val="1A1A1A"/>
                </a:solidFill>
                <a:latin typeface="Calibri"/>
              </a:rPr>
              <a:t>Tools registry · composites · workflows · federation · data connectors · sandbox · cache and circuit breakers</a:t>
            </a:r>
          </a:p>
        </p:txBody>
      </p:sp>
      <p:sp>
        <p:nvSpPr>
          <p:cNvPr id="27" name="Rounded Rectangle 26"/>
          <p:cNvSpPr/>
          <p:nvPr/>
        </p:nvSpPr>
        <p:spPr>
          <a:xfrm>
            <a:off x="777240" y="5484205"/>
            <a:ext cx="1701954" cy="663979"/>
          </a:xfrm>
          <a:prstGeom prst="roundRect">
            <a:avLst>
              <a:gd name="adj" fmla="val 1101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Platform</a:t>
            </a:r>
          </a:p>
        </p:txBody>
      </p:sp>
      <p:sp>
        <p:nvSpPr>
          <p:cNvPr id="28" name="Rounded Rectangle 27"/>
          <p:cNvSpPr/>
          <p:nvPr/>
        </p:nvSpPr>
        <p:spPr>
          <a:xfrm>
            <a:off x="2638752" y="5484205"/>
            <a:ext cx="8775702" cy="663979"/>
          </a:xfrm>
          <a:prstGeom prst="roundRect">
            <a:avLst>
              <a:gd name="adj" fmla="val 11017"/>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0" i="0">
                <a:solidFill>
                  <a:srgbClr val="1A1A1A"/>
                </a:solidFill>
                <a:latin typeface="Calibri"/>
              </a:rPr>
              <a:t>FastAPI on uvicorn · postgresql or sqlite · state store (memory/redis/database) · storage (Local/S3/AzureBlob/GCS) · metrics and traces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WEB CONSOLE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 web console of 72 pages, each with its own help</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29</a:t>
            </a:r>
          </a:p>
        </p:txBody>
      </p:sp>
      <p:sp>
        <p:nvSpPr>
          <p:cNvPr id="17" name="Rectangle 16"/>
          <p:cNvSpPr/>
          <p:nvPr/>
        </p:nvSpPr>
        <p:spPr>
          <a:xfrm>
            <a:off x="777240" y="1386967"/>
            <a:ext cx="10637215" cy="3206534"/>
          </a:xfrm>
          <a:prstGeom prst="rect">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4886" y="1872805"/>
            <a:ext cx="1063721" cy="583006"/>
          </a:xfrm>
          <a:prstGeom prst="roundRect">
            <a:avLst>
              <a:gd name="adj" fmla="val 1254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a:t>
            </a:r>
          </a:p>
        </p:txBody>
      </p:sp>
      <p:sp>
        <p:nvSpPr>
          <p:cNvPr id="19" name="Rounded Rectangle 18"/>
          <p:cNvSpPr/>
          <p:nvPr/>
        </p:nvSpPr>
        <p:spPr>
          <a:xfrm>
            <a:off x="2160077" y="1872805"/>
            <a:ext cx="1436024" cy="583006"/>
          </a:xfrm>
          <a:prstGeom prst="roundRect">
            <a:avLst>
              <a:gd name="adj" fmla="val 1254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Tools</a:t>
            </a:r>
          </a:p>
        </p:txBody>
      </p:sp>
      <p:sp>
        <p:nvSpPr>
          <p:cNvPr id="20" name="Rounded Rectangle 19"/>
          <p:cNvSpPr/>
          <p:nvPr/>
        </p:nvSpPr>
        <p:spPr>
          <a:xfrm>
            <a:off x="2160077" y="2941650"/>
            <a:ext cx="1436024" cy="1457515"/>
          </a:xfrm>
          <a:prstGeom prst="roundRect">
            <a:avLst>
              <a:gd name="adj" fmla="val 509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Use</a:t>
            </a:r>
          </a:p>
          <a:p>
            <a:pPr algn="ctr">
              <a:lnSpc>
                <a:spcPct val="105000"/>
              </a:lnSpc>
              <a:spcBef>
                <a:spcPts val="0"/>
              </a:spcBef>
              <a:spcAft>
                <a:spcPts val="0"/>
              </a:spcAft>
            </a:pPr>
            <a:r>
              <a:rPr sz="1200" b="0" i="0">
                <a:solidFill>
                  <a:srgbClr val="1A1A1A"/>
                </a:solidFill>
                <a:latin typeface="Calibri"/>
              </a:rPr>
              <a:t>Monitor</a:t>
            </a:r>
          </a:p>
        </p:txBody>
      </p:sp>
      <p:sp>
        <p:nvSpPr>
          <p:cNvPr id="21" name="Rounded Rectangle 20"/>
          <p:cNvSpPr/>
          <p:nvPr/>
        </p:nvSpPr>
        <p:spPr>
          <a:xfrm>
            <a:off x="3702474" y="1872805"/>
            <a:ext cx="1436024" cy="583006"/>
          </a:xfrm>
          <a:prstGeom prst="roundRect">
            <a:avLst>
              <a:gd name="adj" fmla="val 1254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AI</a:t>
            </a:r>
          </a:p>
        </p:txBody>
      </p:sp>
      <p:sp>
        <p:nvSpPr>
          <p:cNvPr id="22" name="Rounded Rectangle 21"/>
          <p:cNvSpPr/>
          <p:nvPr/>
        </p:nvSpPr>
        <p:spPr>
          <a:xfrm>
            <a:off x="3702474" y="2941650"/>
            <a:ext cx="1436024" cy="1457515"/>
          </a:xfrm>
          <a:prstGeom prst="roundRect">
            <a:avLst>
              <a:gd name="adj" fmla="val 509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Ask</a:t>
            </a:r>
          </a:p>
          <a:p>
            <a:pPr algn="ctr">
              <a:lnSpc>
                <a:spcPct val="105000"/>
              </a:lnSpc>
              <a:spcBef>
                <a:spcPts val="0"/>
              </a:spcBef>
              <a:spcAft>
                <a:spcPts val="0"/>
              </a:spcAft>
            </a:pPr>
            <a:r>
              <a:rPr sz="1200" b="0" i="0">
                <a:solidFill>
                  <a:srgbClr val="1A1A1A"/>
                </a:solidFill>
                <a:latin typeface="Calibri"/>
              </a:rPr>
              <a:t>Models &amp; prompts</a:t>
            </a:r>
          </a:p>
        </p:txBody>
      </p:sp>
      <p:sp>
        <p:nvSpPr>
          <p:cNvPr id="23" name="Rounded Rectangle 22"/>
          <p:cNvSpPr/>
          <p:nvPr/>
        </p:nvSpPr>
        <p:spPr>
          <a:xfrm>
            <a:off x="5244870" y="1872805"/>
            <a:ext cx="1436024" cy="583006"/>
          </a:xfrm>
          <a:prstGeom prst="roundRect">
            <a:avLst>
              <a:gd name="adj" fmla="val 1254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SAJHA Net</a:t>
            </a:r>
          </a:p>
        </p:txBody>
      </p:sp>
      <p:sp>
        <p:nvSpPr>
          <p:cNvPr id="24" name="Rounded Rectangle 23"/>
          <p:cNvSpPr/>
          <p:nvPr/>
        </p:nvSpPr>
        <p:spPr>
          <a:xfrm>
            <a:off x="5244870" y="2941650"/>
            <a:ext cx="1436024" cy="1457515"/>
          </a:xfrm>
          <a:prstGeom prst="roundRect">
            <a:avLst>
              <a:gd name="adj" fmla="val 509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Net</a:t>
            </a:r>
          </a:p>
        </p:txBody>
      </p:sp>
      <p:sp>
        <p:nvSpPr>
          <p:cNvPr id="25" name="Rounded Rectangle 24"/>
          <p:cNvSpPr/>
          <p:nvPr/>
        </p:nvSpPr>
        <p:spPr>
          <a:xfrm>
            <a:off x="6787266" y="1872805"/>
            <a:ext cx="1436024" cy="583006"/>
          </a:xfrm>
          <a:prstGeom prst="roundRect">
            <a:avLst>
              <a:gd name="adj" fmla="val 1254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MCP Studio</a:t>
            </a:r>
          </a:p>
        </p:txBody>
      </p:sp>
      <p:sp>
        <p:nvSpPr>
          <p:cNvPr id="26" name="Rounded Rectangle 25"/>
          <p:cNvSpPr/>
          <p:nvPr/>
        </p:nvSpPr>
        <p:spPr>
          <a:xfrm>
            <a:off x="6787266" y="2941650"/>
            <a:ext cx="1436024" cy="1457515"/>
          </a:xfrm>
          <a:prstGeom prst="roundRect">
            <a:avLst>
              <a:gd name="adj" fmla="val 509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Code &amp; services</a:t>
            </a:r>
          </a:p>
          <a:p>
            <a:pPr algn="ctr">
              <a:lnSpc>
                <a:spcPct val="105000"/>
              </a:lnSpc>
              <a:spcBef>
                <a:spcPts val="0"/>
              </a:spcBef>
              <a:spcAft>
                <a:spcPts val="0"/>
              </a:spcAft>
            </a:pPr>
            <a:r>
              <a:rPr sz="1200" b="0" i="0">
                <a:solidFill>
                  <a:srgbClr val="1A1A1A"/>
                </a:solidFill>
                <a:latin typeface="Calibri"/>
              </a:rPr>
              <a:t>Enterprise sources</a:t>
            </a:r>
          </a:p>
          <a:p>
            <a:pPr algn="ctr">
              <a:lnSpc>
                <a:spcPct val="105000"/>
              </a:lnSpc>
              <a:spcBef>
                <a:spcPts val="0"/>
              </a:spcBef>
              <a:spcAft>
                <a:spcPts val="0"/>
              </a:spcAft>
            </a:pPr>
            <a:r>
              <a:rPr sz="1200" b="0" i="0">
                <a:solidFill>
                  <a:srgbClr val="1A1A1A"/>
                </a:solidFill>
                <a:latin typeface="Calibri"/>
              </a:rPr>
              <a:t>Language models</a:t>
            </a:r>
          </a:p>
          <a:p>
            <a:pPr algn="ctr">
              <a:lnSpc>
                <a:spcPct val="105000"/>
              </a:lnSpc>
              <a:spcBef>
                <a:spcPts val="0"/>
              </a:spcBef>
              <a:spcAft>
                <a:spcPts val="0"/>
              </a:spcAft>
            </a:pPr>
            <a:r>
              <a:rPr sz="1200" b="0" i="0">
                <a:solidFill>
                  <a:srgbClr val="1A1A1A"/>
                </a:solidFill>
                <a:latin typeface="Calibri"/>
              </a:rPr>
              <a:t>Compose</a:t>
            </a:r>
          </a:p>
        </p:txBody>
      </p:sp>
      <p:sp>
        <p:nvSpPr>
          <p:cNvPr id="27" name="Rounded Rectangle 26"/>
          <p:cNvSpPr/>
          <p:nvPr/>
        </p:nvSpPr>
        <p:spPr>
          <a:xfrm>
            <a:off x="8329662" y="1872805"/>
            <a:ext cx="1436024" cy="583006"/>
          </a:xfrm>
          <a:prstGeom prst="roundRect">
            <a:avLst>
              <a:gd name="adj" fmla="val 1254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Admin</a:t>
            </a:r>
          </a:p>
        </p:txBody>
      </p:sp>
      <p:sp>
        <p:nvSpPr>
          <p:cNvPr id="28" name="Rounded Rectangle 27"/>
          <p:cNvSpPr/>
          <p:nvPr/>
        </p:nvSpPr>
        <p:spPr>
          <a:xfrm>
            <a:off x="8329662" y="2941650"/>
            <a:ext cx="1436024" cy="1457515"/>
          </a:xfrm>
          <a:prstGeom prst="roundRect">
            <a:avLst>
              <a:gd name="adj" fmla="val 509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Manage</a:t>
            </a:r>
          </a:p>
          <a:p>
            <a:pPr algn="ctr">
              <a:lnSpc>
                <a:spcPct val="105000"/>
              </a:lnSpc>
              <a:spcBef>
                <a:spcPts val="0"/>
              </a:spcBef>
              <a:spcAft>
                <a:spcPts val="0"/>
              </a:spcAft>
            </a:pPr>
            <a:r>
              <a:rPr sz="1200" b="0" i="0">
                <a:solidFill>
                  <a:srgbClr val="1A1A1A"/>
                </a:solidFill>
                <a:latin typeface="Calibri"/>
              </a:rPr>
              <a:t>Governance</a:t>
            </a:r>
          </a:p>
          <a:p>
            <a:pPr algn="ctr">
              <a:lnSpc>
                <a:spcPct val="105000"/>
              </a:lnSpc>
              <a:spcBef>
                <a:spcPts val="0"/>
              </a:spcBef>
              <a:spcAft>
                <a:spcPts val="0"/>
              </a:spcAft>
            </a:pPr>
            <a:r>
              <a:rPr sz="1200" b="0" i="0">
                <a:solidFill>
                  <a:srgbClr val="1A1A1A"/>
                </a:solidFill>
                <a:latin typeface="Calibri"/>
              </a:rPr>
              <a:t>Operations</a:t>
            </a:r>
          </a:p>
        </p:txBody>
      </p:sp>
      <p:sp>
        <p:nvSpPr>
          <p:cNvPr id="29" name="Rounded Rectangle 28"/>
          <p:cNvSpPr/>
          <p:nvPr/>
        </p:nvSpPr>
        <p:spPr>
          <a:xfrm>
            <a:off x="9872058" y="1872805"/>
            <a:ext cx="1436024" cy="583006"/>
          </a:xfrm>
          <a:prstGeom prst="roundRect">
            <a:avLst>
              <a:gd name="adj" fmla="val 1254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Help</a:t>
            </a:r>
          </a:p>
        </p:txBody>
      </p:sp>
      <p:sp>
        <p:nvSpPr>
          <p:cNvPr id="30" name="Rounded Rectangle 29"/>
          <p:cNvSpPr/>
          <p:nvPr/>
        </p:nvSpPr>
        <p:spPr>
          <a:xfrm>
            <a:off x="9872058" y="2941650"/>
            <a:ext cx="1436024" cy="1457515"/>
          </a:xfrm>
          <a:prstGeom prst="roundRect">
            <a:avLst>
              <a:gd name="adj" fmla="val 509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Learn</a:t>
            </a:r>
          </a:p>
          <a:p>
            <a:pPr algn="ctr">
              <a:lnSpc>
                <a:spcPct val="105000"/>
              </a:lnSpc>
              <a:spcBef>
                <a:spcPts val="0"/>
              </a:spcBef>
              <a:spcAft>
                <a:spcPts val="0"/>
              </a:spcAft>
            </a:pPr>
            <a:r>
              <a:rPr sz="1200" b="0" i="0">
                <a:solidFill>
                  <a:srgbClr val="1A1A1A"/>
                </a:solidFill>
                <a:latin typeface="Calibri"/>
              </a:rPr>
              <a:t>Reference</a:t>
            </a:r>
          </a:p>
        </p:txBody>
      </p:sp>
      <p:sp>
        <p:nvSpPr>
          <p:cNvPr id="31" name="Rounded Rectangle 30"/>
          <p:cNvSpPr/>
          <p:nvPr/>
        </p:nvSpPr>
        <p:spPr>
          <a:xfrm>
            <a:off x="1096356" y="4885004"/>
            <a:ext cx="2340187" cy="971677"/>
          </a:xfrm>
          <a:prstGeom prst="roundRect">
            <a:avLst>
              <a:gd name="adj" fmla="val 752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72 pages</a:t>
            </a:r>
          </a:p>
          <a:p>
            <a:pPr algn="ctr">
              <a:lnSpc>
                <a:spcPct val="105000"/>
              </a:lnSpc>
              <a:spcBef>
                <a:spcPts val="0"/>
              </a:spcBef>
              <a:spcAft>
                <a:spcPts val="0"/>
              </a:spcAft>
            </a:pPr>
            <a:r>
              <a:rPr sz="1350" b="0" i="0">
                <a:solidFill>
                  <a:srgbClr val="FFFFFF"/>
                </a:solidFill>
                <a:latin typeface="Calibri"/>
              </a:rPr>
              <a:t>each with an About this page panel</a:t>
            </a:r>
          </a:p>
        </p:txBody>
      </p:sp>
      <p:sp>
        <p:nvSpPr>
          <p:cNvPr id="32" name="Rounded Rectangle 31"/>
          <p:cNvSpPr/>
          <p:nvPr/>
        </p:nvSpPr>
        <p:spPr>
          <a:xfrm>
            <a:off x="3755660" y="4885004"/>
            <a:ext cx="2340187"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Help in the app</a:t>
            </a:r>
          </a:p>
          <a:p>
            <a:pPr algn="ctr">
              <a:lnSpc>
                <a:spcPct val="105000"/>
              </a:lnSpc>
              <a:spcBef>
                <a:spcPts val="0"/>
              </a:spcBef>
              <a:spcAft>
                <a:spcPts val="0"/>
              </a:spcAft>
            </a:pPr>
            <a:r>
              <a:rPr sz="1150" b="0" i="0">
                <a:solidFill>
                  <a:srgbClr val="1A1A1A"/>
                </a:solidFill>
                <a:latin typeface="Calibri"/>
              </a:rPr>
              <a:t>every guide in docs/, the glossary, page help</a:t>
            </a:r>
          </a:p>
        </p:txBody>
      </p:sp>
      <p:sp>
        <p:nvSpPr>
          <p:cNvPr id="33" name="Rounded Rectangle 32"/>
          <p:cNvSpPr/>
          <p:nvPr/>
        </p:nvSpPr>
        <p:spPr>
          <a:xfrm>
            <a:off x="6414964" y="4885004"/>
            <a:ext cx="2340187"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Menus follow the role</a:t>
            </a:r>
          </a:p>
          <a:p>
            <a:pPr algn="ctr">
              <a:lnSpc>
                <a:spcPct val="105000"/>
              </a:lnSpc>
              <a:spcBef>
                <a:spcPts val="0"/>
              </a:spcBef>
              <a:spcAft>
                <a:spcPts val="0"/>
              </a:spcAft>
            </a:pPr>
            <a:r>
              <a:rPr sz="1150" b="0" i="0">
                <a:solidFill>
                  <a:srgbClr val="1A1A1A"/>
                </a:solidFill>
                <a:latin typeface="Calibri"/>
              </a:rPr>
              <a:t>Admin for administrators; Studio for those with Studio rights</a:t>
            </a:r>
          </a:p>
        </p:txBody>
      </p:sp>
      <p:sp>
        <p:nvSpPr>
          <p:cNvPr id="34" name="Rounded Rectangle 33"/>
          <p:cNvSpPr/>
          <p:nvPr/>
        </p:nvSpPr>
        <p:spPr>
          <a:xfrm>
            <a:off x="9074267" y="4885004"/>
            <a:ext cx="2127443"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Any screen</a:t>
            </a:r>
          </a:p>
          <a:p>
            <a:pPr algn="ctr">
              <a:lnSpc>
                <a:spcPct val="105000"/>
              </a:lnSpc>
              <a:spcBef>
                <a:spcPts val="0"/>
              </a:spcBef>
              <a:spcAft>
                <a:spcPts val="0"/>
              </a:spcAft>
            </a:pPr>
            <a:r>
              <a:rPr sz="1150" b="0" i="0">
                <a:solidFill>
                  <a:srgbClr val="1A1A1A"/>
                </a:solidFill>
                <a:latin typeface="Calibri"/>
              </a:rPr>
              <a:t>works on a phone; light, dark, blue and green themes</a:t>
            </a:r>
          </a:p>
        </p:txBody>
      </p:sp>
      <p:cxnSp>
        <p:nvCxnSpPr>
          <p:cNvPr id="35" name="Connector 34"/>
          <p:cNvCxnSpPr/>
          <p:nvPr/>
        </p:nvCxnSpPr>
        <p:spPr>
          <a:xfrm>
            <a:off x="2878090" y="2501531"/>
            <a:ext cx="0" cy="39439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420486" y="2501531"/>
            <a:ext cx="0" cy="39439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62882" y="2501531"/>
            <a:ext cx="0" cy="39439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505278" y="2501531"/>
            <a:ext cx="0" cy="39439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047674" y="2501531"/>
            <a:ext cx="0" cy="39439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0590071" y="2501531"/>
            <a:ext cx="0" cy="39439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PARALLEL SDLC</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Tool developers and AI developers ship independently</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30</a:t>
            </a:r>
          </a:p>
        </p:txBody>
      </p:sp>
      <p:sp>
        <p:nvSpPr>
          <p:cNvPr id="17" name="Rectangle 16"/>
          <p:cNvSpPr/>
          <p:nvPr/>
        </p:nvSpPr>
        <p:spPr>
          <a:xfrm>
            <a:off x="777240" y="1386967"/>
            <a:ext cx="3191164" cy="388670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41831"/>
            <a:ext cx="2971708"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TOOL DEVELOPERS</a:t>
            </a:r>
          </a:p>
        </p:txBody>
      </p:sp>
      <p:sp>
        <p:nvSpPr>
          <p:cNvPr id="19" name="Rectangle 18"/>
          <p:cNvSpPr/>
          <p:nvPr/>
        </p:nvSpPr>
        <p:spPr>
          <a:xfrm>
            <a:off x="8223290" y="1386967"/>
            <a:ext cx="3191164" cy="388670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3018" y="1441831"/>
            <a:ext cx="2971708"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AI DEVELOPERS</a:t>
            </a:r>
          </a:p>
        </p:txBody>
      </p:sp>
      <p:cxnSp>
        <p:nvCxnSpPr>
          <p:cNvPr id="21" name="Connector 20"/>
          <p:cNvCxnSpPr/>
          <p:nvPr/>
        </p:nvCxnSpPr>
        <p:spPr>
          <a:xfrm>
            <a:off x="2372822" y="2783890"/>
            <a:ext cx="0" cy="21835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372822" y="3949903"/>
            <a:ext cx="0" cy="21835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818872" y="2783890"/>
            <a:ext cx="0" cy="21835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818872" y="3949903"/>
            <a:ext cx="0" cy="21835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685864" y="3476072"/>
            <a:ext cx="109694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966110" y="3274904"/>
            <a:ext cx="53644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register</a:t>
            </a:r>
          </a:p>
        </p:txBody>
      </p:sp>
      <p:cxnSp>
        <p:nvCxnSpPr>
          <p:cNvPr id="27" name="Connector 26"/>
          <p:cNvCxnSpPr/>
          <p:nvPr/>
        </p:nvCxnSpPr>
        <p:spPr>
          <a:xfrm>
            <a:off x="7408889" y="3476072"/>
            <a:ext cx="109694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475776" y="3274904"/>
            <a:ext cx="963167"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discover, invoke</a:t>
            </a:r>
          </a:p>
        </p:txBody>
      </p:sp>
      <p:sp>
        <p:nvSpPr>
          <p:cNvPr id="29" name="Rounded Rectangle 28"/>
          <p:cNvSpPr/>
          <p:nvPr/>
        </p:nvSpPr>
        <p:spPr>
          <a:xfrm>
            <a:off x="1096356" y="1872805"/>
            <a:ext cx="2552931" cy="874509"/>
          </a:xfrm>
          <a:prstGeom prst="roundRect">
            <a:avLst>
              <a:gd name="adj" fmla="val 8364"/>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Build</a:t>
            </a:r>
          </a:p>
          <a:p>
            <a:pPr algn="ctr">
              <a:lnSpc>
                <a:spcPct val="105000"/>
              </a:lnSpc>
              <a:spcBef>
                <a:spcPts val="0"/>
              </a:spcBef>
              <a:spcAft>
                <a:spcPts val="0"/>
              </a:spcAft>
            </a:pPr>
            <a:r>
              <a:rPr sz="1250" b="0" i="0">
                <a:solidFill>
                  <a:srgbClr val="1A1A1A"/>
                </a:solidFill>
                <a:latin typeface="Calibri"/>
              </a:rPr>
              <a:t>Studio or a Python tool</a:t>
            </a:r>
          </a:p>
        </p:txBody>
      </p:sp>
      <p:sp>
        <p:nvSpPr>
          <p:cNvPr id="30" name="Rounded Rectangle 29"/>
          <p:cNvSpPr/>
          <p:nvPr/>
        </p:nvSpPr>
        <p:spPr>
          <a:xfrm>
            <a:off x="1096356" y="3038817"/>
            <a:ext cx="2552931" cy="874509"/>
          </a:xfrm>
          <a:prstGeom prst="roundRect">
            <a:avLst>
              <a:gd name="adj" fmla="val 8364"/>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Test</a:t>
            </a:r>
          </a:p>
          <a:p>
            <a:pPr algn="ctr">
              <a:lnSpc>
                <a:spcPct val="105000"/>
              </a:lnSpc>
              <a:spcBef>
                <a:spcPts val="0"/>
              </a:spcBef>
              <a:spcAft>
                <a:spcPts val="0"/>
              </a:spcAft>
            </a:pPr>
            <a:r>
              <a:rPr sz="1250" b="0" i="0">
                <a:solidFill>
                  <a:srgbClr val="1A1A1A"/>
                </a:solidFill>
                <a:latin typeface="Calibri"/>
              </a:rPr>
              <a:t>tool tests, schema lint</a:t>
            </a:r>
          </a:p>
        </p:txBody>
      </p:sp>
      <p:sp>
        <p:nvSpPr>
          <p:cNvPr id="31" name="Rounded Rectangle 30"/>
          <p:cNvSpPr/>
          <p:nvPr/>
        </p:nvSpPr>
        <p:spPr>
          <a:xfrm>
            <a:off x="1096356" y="4204830"/>
            <a:ext cx="2552931" cy="874509"/>
          </a:xfrm>
          <a:prstGeom prst="roundRect">
            <a:avLst>
              <a:gd name="adj" fmla="val 8364"/>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Deploy</a:t>
            </a:r>
          </a:p>
          <a:p>
            <a:pPr algn="ctr">
              <a:lnSpc>
                <a:spcPct val="105000"/>
              </a:lnSpc>
              <a:spcBef>
                <a:spcPts val="0"/>
              </a:spcBef>
              <a:spcAft>
                <a:spcPts val="0"/>
              </a:spcAft>
            </a:pPr>
            <a:r>
              <a:rPr sz="1250" b="0" i="0">
                <a:solidFill>
                  <a:srgbClr val="1A1A1A"/>
                </a:solidFill>
                <a:latin typeface="Calibri"/>
              </a:rPr>
              <a:t>drop a config; hot reload</a:t>
            </a:r>
          </a:p>
        </p:txBody>
      </p:sp>
      <p:sp>
        <p:nvSpPr>
          <p:cNvPr id="32" name="Rounded Rectangle 31"/>
          <p:cNvSpPr/>
          <p:nvPr/>
        </p:nvSpPr>
        <p:spPr>
          <a:xfrm>
            <a:off x="4819381" y="2747314"/>
            <a:ext cx="2552931" cy="1360347"/>
          </a:xfrm>
          <a:prstGeom prst="roundRect">
            <a:avLst>
              <a:gd name="adj" fmla="val 537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SAJHA</a:t>
            </a:r>
          </a:p>
          <a:p>
            <a:pPr algn="ctr">
              <a:lnSpc>
                <a:spcPct val="105000"/>
              </a:lnSpc>
              <a:spcBef>
                <a:spcPts val="0"/>
              </a:spcBef>
              <a:spcAft>
                <a:spcPts val="0"/>
              </a:spcAft>
            </a:pPr>
            <a:r>
              <a:rPr sz="1250" b="0" i="0">
                <a:solidFill>
                  <a:srgbClr val="FFFFFF"/>
                </a:solidFill>
                <a:latin typeface="Calibri"/>
              </a:rPr>
              <a:t>the schema is the contract</a:t>
            </a:r>
          </a:p>
        </p:txBody>
      </p:sp>
      <p:sp>
        <p:nvSpPr>
          <p:cNvPr id="33" name="Rounded Rectangle 32"/>
          <p:cNvSpPr/>
          <p:nvPr/>
        </p:nvSpPr>
        <p:spPr>
          <a:xfrm>
            <a:off x="8542407" y="1872805"/>
            <a:ext cx="2552931" cy="874509"/>
          </a:xfrm>
          <a:prstGeom prst="roundRect">
            <a:avLst>
              <a:gd name="adj" fmla="val 8364"/>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Design</a:t>
            </a:r>
          </a:p>
          <a:p>
            <a:pPr algn="ctr">
              <a:lnSpc>
                <a:spcPct val="105000"/>
              </a:lnSpc>
              <a:spcBef>
                <a:spcPts val="0"/>
              </a:spcBef>
              <a:spcAft>
                <a:spcPts val="0"/>
              </a:spcAft>
            </a:pPr>
            <a:r>
              <a:rPr sz="1250" b="0" i="0">
                <a:solidFill>
                  <a:srgbClr val="1A1A1A"/>
                </a:solidFill>
                <a:latin typeface="Calibri"/>
              </a:rPr>
              <a:t>agent logic and prompts</a:t>
            </a:r>
          </a:p>
        </p:txBody>
      </p:sp>
      <p:sp>
        <p:nvSpPr>
          <p:cNvPr id="34" name="Rounded Rectangle 33"/>
          <p:cNvSpPr/>
          <p:nvPr/>
        </p:nvSpPr>
        <p:spPr>
          <a:xfrm>
            <a:off x="8542407" y="3038817"/>
            <a:ext cx="2552931" cy="874509"/>
          </a:xfrm>
          <a:prstGeom prst="roundRect">
            <a:avLst>
              <a:gd name="adj" fmla="val 8364"/>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Evaluate</a:t>
            </a:r>
          </a:p>
          <a:p>
            <a:pPr algn="ctr">
              <a:lnSpc>
                <a:spcPct val="105000"/>
              </a:lnSpc>
              <a:spcBef>
                <a:spcPts val="0"/>
              </a:spcBef>
              <a:spcAft>
                <a:spcPts val="0"/>
              </a:spcAft>
            </a:pPr>
            <a:r>
              <a:rPr sz="1250" b="0" i="0">
                <a:solidFill>
                  <a:srgbClr val="1A1A1A"/>
                </a:solidFill>
                <a:latin typeface="Calibri"/>
              </a:rPr>
              <a:t>golden questions (evals)</a:t>
            </a:r>
          </a:p>
        </p:txBody>
      </p:sp>
      <p:sp>
        <p:nvSpPr>
          <p:cNvPr id="35" name="Rounded Rectangle 34"/>
          <p:cNvSpPr/>
          <p:nvPr/>
        </p:nvSpPr>
        <p:spPr>
          <a:xfrm>
            <a:off x="8542407" y="4204830"/>
            <a:ext cx="2552931" cy="874509"/>
          </a:xfrm>
          <a:prstGeom prst="roundRect">
            <a:avLst>
              <a:gd name="adj" fmla="val 8364"/>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Iterate</a:t>
            </a:r>
          </a:p>
          <a:p>
            <a:pPr algn="ctr">
              <a:lnSpc>
                <a:spcPct val="105000"/>
              </a:lnSpc>
              <a:spcBef>
                <a:spcPts val="0"/>
              </a:spcBef>
              <a:spcAft>
                <a:spcPts val="0"/>
              </a:spcAft>
            </a:pPr>
            <a:r>
              <a:rPr sz="1250" b="0" i="0">
                <a:solidFill>
                  <a:srgbClr val="1A1A1A"/>
                </a:solidFill>
                <a:latin typeface="Calibri"/>
              </a:rPr>
              <a:t>tune prompts and planners</a:t>
            </a:r>
          </a:p>
        </p:txBody>
      </p:sp>
      <p:sp>
        <p:nvSpPr>
          <p:cNvPr id="36" name="Rounded Rectangle 35"/>
          <p:cNvSpPr/>
          <p:nvPr/>
        </p:nvSpPr>
        <p:spPr>
          <a:xfrm>
            <a:off x="777240" y="5613761"/>
            <a:ext cx="10637215" cy="631590"/>
          </a:xfrm>
          <a:prstGeom prst="roundRect">
            <a:avLst>
              <a:gd name="adj" fmla="val 11582"/>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Integration: agents discover and call tools from both pipelines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ROLE-BASED ACCESS CONTROL</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Tool-level permissions, checked on every call, on every path</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31</a:t>
            </a:r>
          </a:p>
        </p:txBody>
      </p:sp>
      <p:sp>
        <p:nvSpPr>
          <p:cNvPr id="17" name="Rounded Rectangle 16"/>
          <p:cNvSpPr/>
          <p:nvPr/>
        </p:nvSpPr>
        <p:spPr>
          <a:xfrm>
            <a:off x="777240" y="1413522"/>
            <a:ext cx="4893118" cy="581272"/>
          </a:xfrm>
          <a:prstGeom prst="roundRect">
            <a:avLst>
              <a:gd name="adj" fmla="val 1258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Role admin: Full system access</a:t>
            </a:r>
          </a:p>
          <a:p>
            <a:pPr algn="ctr">
              <a:lnSpc>
                <a:spcPct val="105000"/>
              </a:lnSpc>
              <a:spcBef>
                <a:spcPts val="0"/>
              </a:spcBef>
              <a:spcAft>
                <a:spcPts val="0"/>
              </a:spcAft>
            </a:pPr>
            <a:r>
              <a:rPr sz="950" b="0" i="0">
                <a:solidFill>
                  <a:srgbClr val="1A1A1A"/>
                </a:solidFill>
                <a:latin typeface="Calibri"/>
              </a:rPr>
              <a:t>everything: all actions</a:t>
            </a:r>
          </a:p>
        </p:txBody>
      </p:sp>
      <p:sp>
        <p:nvSpPr>
          <p:cNvPr id="18" name="Rounded Rectangle 17"/>
          <p:cNvSpPr/>
          <p:nvPr/>
        </p:nvSpPr>
        <p:spPr>
          <a:xfrm>
            <a:off x="777240" y="2112167"/>
            <a:ext cx="4893118" cy="581272"/>
          </a:xfrm>
          <a:prstGeom prst="roundRect">
            <a:avLst>
              <a:gd name="adj" fmla="val 1258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Role user: Standard tool access</a:t>
            </a:r>
          </a:p>
          <a:p>
            <a:pPr algn="ctr">
              <a:lnSpc>
                <a:spcPct val="105000"/>
              </a:lnSpc>
              <a:spcBef>
                <a:spcPts val="0"/>
              </a:spcBef>
              <a:spcAft>
                <a:spcPts val="0"/>
              </a:spcAft>
            </a:pPr>
            <a:r>
              <a:rPr sz="950" b="0" i="0">
                <a:solidFill>
                  <a:srgbClr val="1A1A1A"/>
                </a:solidFill>
                <a:latin typeface="Calibri"/>
              </a:rPr>
              <a:t>tool (any): execute, read</a:t>
            </a:r>
          </a:p>
        </p:txBody>
      </p:sp>
      <p:sp>
        <p:nvSpPr>
          <p:cNvPr id="19" name="Rounded Rectangle 18"/>
          <p:cNvSpPr/>
          <p:nvPr/>
        </p:nvSpPr>
        <p:spPr>
          <a:xfrm>
            <a:off x="777240" y="2810812"/>
            <a:ext cx="4893118" cy="581272"/>
          </a:xfrm>
          <a:prstGeom prst="roundRect">
            <a:avLst>
              <a:gd name="adj" fmla="val 1258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Role viewer: Read-only access</a:t>
            </a:r>
          </a:p>
          <a:p>
            <a:pPr algn="ctr">
              <a:lnSpc>
                <a:spcPct val="105000"/>
              </a:lnSpc>
              <a:spcBef>
                <a:spcPts val="0"/>
              </a:spcBef>
              <a:spcAft>
                <a:spcPts val="0"/>
              </a:spcAft>
            </a:pPr>
            <a:r>
              <a:rPr sz="950" b="0" i="0">
                <a:solidFill>
                  <a:srgbClr val="1A1A1A"/>
                </a:solidFill>
                <a:latin typeface="Calibri"/>
              </a:rPr>
              <a:t>tool (any): read</a:t>
            </a:r>
          </a:p>
        </p:txBody>
      </p:sp>
      <p:sp>
        <p:nvSpPr>
          <p:cNvPr id="20" name="Rounded Rectangle 19"/>
          <p:cNvSpPr/>
          <p:nvPr/>
        </p:nvSpPr>
        <p:spPr>
          <a:xfrm>
            <a:off x="777240" y="3509457"/>
            <a:ext cx="4893118" cy="581272"/>
          </a:xfrm>
          <a:prstGeom prst="roundRect">
            <a:avLst>
              <a:gd name="adj" fmla="val 1258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Role developer: Developer access — MCP Studio</a:t>
            </a:r>
          </a:p>
          <a:p>
            <a:pPr algn="ctr">
              <a:lnSpc>
                <a:spcPct val="105000"/>
              </a:lnSpc>
              <a:spcBef>
                <a:spcPts val="0"/>
              </a:spcBef>
              <a:spcAft>
                <a:spcPts val="0"/>
              </a:spcAft>
            </a:pPr>
            <a:r>
              <a:rPr sz="950" b="0" i="0">
                <a:solidFill>
                  <a:srgbClr val="1A1A1A"/>
                </a:solidFill>
                <a:latin typeface="Calibri"/>
              </a:rPr>
              <a:t>studio (any): all actions; tool (any): execute, read, create</a:t>
            </a:r>
          </a:p>
        </p:txBody>
      </p:sp>
      <p:sp>
        <p:nvSpPr>
          <p:cNvPr id="21" name="Rounded Rectangle 20"/>
          <p:cNvSpPr/>
          <p:nvPr/>
        </p:nvSpPr>
        <p:spPr>
          <a:xfrm>
            <a:off x="777240" y="4208102"/>
            <a:ext cx="4893118" cy="581272"/>
          </a:xfrm>
          <a:prstGeom prst="roundRect">
            <a:avLst>
              <a:gd name="adj" fmla="val 1258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Role llm_author: MCP Studio: LLM tools only</a:t>
            </a:r>
          </a:p>
          <a:p>
            <a:pPr algn="ctr">
              <a:lnSpc>
                <a:spcPct val="105000"/>
              </a:lnSpc>
              <a:spcBef>
                <a:spcPts val="0"/>
              </a:spcBef>
              <a:spcAft>
                <a:spcPts val="0"/>
              </a:spcAft>
            </a:pPr>
            <a:r>
              <a:rPr sz="950" b="0" i="0">
                <a:solidFill>
                  <a:srgbClr val="1A1A1A"/>
                </a:solidFill>
                <a:latin typeface="Calibri"/>
              </a:rPr>
              <a:t>studio llm: use; tool (any): execute, read</a:t>
            </a:r>
          </a:p>
        </p:txBody>
      </p:sp>
      <p:sp>
        <p:nvSpPr>
          <p:cNvPr id="22" name="Rounded Rectangle 21"/>
          <p:cNvSpPr/>
          <p:nvPr/>
        </p:nvSpPr>
        <p:spPr>
          <a:xfrm>
            <a:off x="777240" y="4906747"/>
            <a:ext cx="4893118" cy="581272"/>
          </a:xfrm>
          <a:prstGeom prst="roundRect">
            <a:avLst>
              <a:gd name="adj" fmla="val 1258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An API key: The key's tool access mode; never an admin</a:t>
            </a:r>
          </a:p>
          <a:p>
            <a:pPr algn="ctr">
              <a:lnSpc>
                <a:spcPct val="105000"/>
              </a:lnSpc>
              <a:spcBef>
                <a:spcPts val="0"/>
              </a:spcBef>
              <a:spcAft>
                <a:spcPts val="0"/>
              </a:spcAft>
            </a:pPr>
            <a:r>
              <a:rPr sz="950" b="0" i="0">
                <a:solidFill>
                  <a:srgbClr val="1A1A1A"/>
                </a:solidFill>
                <a:latin typeface="Calibri"/>
              </a:rPr>
              <a:t>all, allowlist, denylist or regex</a:t>
            </a:r>
          </a:p>
        </p:txBody>
      </p:sp>
      <p:sp>
        <p:nvSpPr>
          <p:cNvPr id="23" name="Rounded Rectangle 22"/>
          <p:cNvSpPr/>
          <p:nvPr/>
        </p:nvSpPr>
        <p:spPr>
          <a:xfrm>
            <a:off x="777240" y="5605393"/>
            <a:ext cx="4893118" cy="581272"/>
          </a:xfrm>
          <a:prstGeom prst="roundRect">
            <a:avLst>
              <a:gd name="adj" fmla="val 1258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Anonymous: Nothing, unless an operator allows it</a:t>
            </a:r>
          </a:p>
          <a:p>
            <a:pPr algn="ctr">
              <a:lnSpc>
                <a:spcPct val="105000"/>
              </a:lnSpc>
              <a:spcBef>
                <a:spcPts val="0"/>
              </a:spcBef>
              <a:spcAft>
                <a:spcPts val="0"/>
              </a:spcAft>
            </a:pPr>
            <a:r>
              <a:rPr sz="950" b="0" i="0">
                <a:solidFill>
                  <a:srgbClr val="1A1A1A"/>
                </a:solidFill>
                <a:latin typeface="Calibri"/>
              </a:rPr>
              <a:t>mcp.anonymous.tools (empty by default)</a:t>
            </a:r>
          </a:p>
        </p:txBody>
      </p:sp>
      <p:sp>
        <p:nvSpPr>
          <p:cNvPr id="24" name="Rounded Rectangle 23"/>
          <p:cNvSpPr/>
          <p:nvPr/>
        </p:nvSpPr>
        <p:spPr>
          <a:xfrm>
            <a:off x="6627708" y="2577465"/>
            <a:ext cx="2340187" cy="2445258"/>
          </a:xfrm>
          <a:prstGeom prst="roundRect">
            <a:avLst>
              <a:gd name="adj" fmla="val 312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One access policy</a:t>
            </a:r>
          </a:p>
          <a:p>
            <a:pPr algn="ctr">
              <a:lnSpc>
                <a:spcPct val="105000"/>
              </a:lnSpc>
              <a:spcBef>
                <a:spcPts val="0"/>
              </a:spcBef>
              <a:spcAft>
                <a:spcPts val="0"/>
              </a:spcAft>
            </a:pPr>
            <a:r>
              <a:rPr sz="1250" b="0" i="0">
                <a:solidFill>
                  <a:srgbClr val="FFFFFF"/>
                </a:solidFill>
                <a:latin typeface="Calibri"/>
              </a:rPr>
              <a:t>sajha/auth/access.py: read lets a caller see a tool, execute lets it run one; fnmatch patterns such as fred_*</a:t>
            </a:r>
          </a:p>
        </p:txBody>
      </p:sp>
      <p:sp>
        <p:nvSpPr>
          <p:cNvPr id="25" name="Oval 24"/>
          <p:cNvSpPr/>
          <p:nvPr/>
        </p:nvSpPr>
        <p:spPr>
          <a:xfrm>
            <a:off x="9818872" y="3066516"/>
            <a:ext cx="1595582" cy="1467154"/>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tools</a:t>
            </a:r>
          </a:p>
          <a:p>
            <a:pPr algn="ctr">
              <a:lnSpc>
                <a:spcPct val="105000"/>
              </a:lnSpc>
              <a:spcBef>
                <a:spcPts val="0"/>
              </a:spcBef>
              <a:spcAft>
                <a:spcPts val="0"/>
              </a:spcAft>
            </a:pPr>
            <a:r>
              <a:rPr sz="1250" b="0" i="0">
                <a:solidFill>
                  <a:srgbClr val="1A1A1A"/>
                </a:solidFill>
                <a:latin typeface="Calibri"/>
              </a:rPr>
              <a:t>tools/list shows only what may be seen</a:t>
            </a:r>
          </a:p>
        </p:txBody>
      </p:sp>
      <p:sp>
        <p:nvSpPr>
          <p:cNvPr id="26" name="TextBox 25"/>
          <p:cNvSpPr txBox="1"/>
          <p:nvPr/>
        </p:nvSpPr>
        <p:spPr>
          <a:xfrm>
            <a:off x="6627708" y="5267248"/>
            <a:ext cx="4786746" cy="978103"/>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The same policy on REST, MCP in both eras, SSE, WebSocket, stdio and A2A.</a:t>
            </a:r>
          </a:p>
        </p:txBody>
      </p:sp>
      <p:cxnSp>
        <p:nvCxnSpPr>
          <p:cNvPr id="27" name="Connector 26"/>
          <p:cNvCxnSpPr/>
          <p:nvPr/>
        </p:nvCxnSpPr>
        <p:spPr>
          <a:xfrm>
            <a:off x="5701195" y="1737913"/>
            <a:ext cx="895676" cy="980457"/>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07290" y="2429755"/>
            <a:ext cx="883486" cy="644742"/>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713309" y="3117120"/>
            <a:ext cx="871449" cy="317979"/>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716078" y="3800094"/>
            <a:ext cx="865910" cy="0"/>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5713309" y="4165088"/>
            <a:ext cx="871449" cy="317979"/>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5707290" y="4525690"/>
            <a:ext cx="883486" cy="644742"/>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701195" y="4881817"/>
            <a:ext cx="895676" cy="980457"/>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013615" y="3800094"/>
            <a:ext cx="759537" cy="0"/>
          </a:xfrm>
          <a:prstGeom prst="line">
            <a:avLst/>
          </a:prstGeom>
          <a:ln w="2794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ENTERPRISE SECURITY</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Security in layers, each with the threat it answers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32</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Rate limits on tool calls come from policy rules; /mcp itself has no built-in request rate limit.</a:t>
            </a:r>
          </a:p>
        </p:txBody>
      </p:sp>
      <p:sp>
        <p:nvSpPr>
          <p:cNvPr id="19" name="Rounded Rectangle 18"/>
          <p:cNvSpPr/>
          <p:nvPr/>
        </p:nvSpPr>
        <p:spPr>
          <a:xfrm>
            <a:off x="777240" y="1926082"/>
            <a:ext cx="2340187" cy="1257935"/>
          </a:xfrm>
          <a:prstGeom prst="roundRect">
            <a:avLst>
              <a:gd name="adj" fmla="val 58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Transport</a:t>
            </a:r>
          </a:p>
          <a:p>
            <a:pPr algn="ctr">
              <a:lnSpc>
                <a:spcPct val="105000"/>
              </a:lnSpc>
              <a:spcBef>
                <a:spcPts val="0"/>
              </a:spcBef>
              <a:spcAft>
                <a:spcPts val="0"/>
              </a:spcAft>
            </a:pPr>
            <a:r>
              <a:rPr sz="1350" b="0" i="0">
                <a:solidFill>
                  <a:srgbClr val="FFFFFF"/>
                </a:solidFill>
                <a:latin typeface="Calibri"/>
              </a:rPr>
              <a:t>Origin allow-list on /mcp; HTTPS at the proxy; HSTS, CSP</a:t>
            </a:r>
          </a:p>
        </p:txBody>
      </p:sp>
      <p:sp>
        <p:nvSpPr>
          <p:cNvPr id="20" name="Rounded Rectangle 19"/>
          <p:cNvSpPr/>
          <p:nvPr/>
        </p:nvSpPr>
        <p:spPr>
          <a:xfrm>
            <a:off x="989984" y="138696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50" b="0" i="0">
                <a:solidFill>
                  <a:srgbClr val="1A1A1A"/>
                </a:solidFill>
                <a:latin typeface="Calibri"/>
              </a:rPr>
              <a:t>answers: DNS rebinding, interception</a:t>
            </a:r>
          </a:p>
        </p:txBody>
      </p:sp>
      <p:sp>
        <p:nvSpPr>
          <p:cNvPr id="21" name="Rounded Rectangle 20"/>
          <p:cNvSpPr/>
          <p:nvPr/>
        </p:nvSpPr>
        <p:spPr>
          <a:xfrm>
            <a:off x="3542915" y="1926082"/>
            <a:ext cx="2340187" cy="1257935"/>
          </a:xfrm>
          <a:prstGeom prst="roundRect">
            <a:avLst>
              <a:gd name="adj" fmla="val 5815"/>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Sign-in</a:t>
            </a:r>
          </a:p>
          <a:p>
            <a:pPr algn="ctr">
              <a:lnSpc>
                <a:spcPct val="105000"/>
              </a:lnSpc>
              <a:spcBef>
                <a:spcPts val="0"/>
              </a:spcBef>
              <a:spcAft>
                <a:spcPts val="0"/>
              </a:spcAft>
            </a:pPr>
            <a:r>
              <a:rPr sz="1350" b="0" i="0">
                <a:solidFill>
                  <a:srgbClr val="FFFFFF"/>
                </a:solidFill>
                <a:latin typeface="Calibri"/>
              </a:rPr>
              <a:t>Per-IP throttling and account lockout</a:t>
            </a:r>
          </a:p>
        </p:txBody>
      </p:sp>
      <p:sp>
        <p:nvSpPr>
          <p:cNvPr id="22" name="Rounded Rectangle 21"/>
          <p:cNvSpPr/>
          <p:nvPr/>
        </p:nvSpPr>
        <p:spPr>
          <a:xfrm>
            <a:off x="3755660" y="138696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answers: Password guessing</a:t>
            </a:r>
          </a:p>
        </p:txBody>
      </p:sp>
      <p:sp>
        <p:nvSpPr>
          <p:cNvPr id="23" name="Rounded Rectangle 22"/>
          <p:cNvSpPr/>
          <p:nvPr/>
        </p:nvSpPr>
        <p:spPr>
          <a:xfrm>
            <a:off x="6308591" y="1926082"/>
            <a:ext cx="2340187" cy="1257935"/>
          </a:xfrm>
          <a:prstGeom prst="roundRect">
            <a:avLst>
              <a:gd name="adj" fmla="val 58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Authentication</a:t>
            </a:r>
          </a:p>
          <a:p>
            <a:pPr algn="ctr">
              <a:lnSpc>
                <a:spcPct val="105000"/>
              </a:lnSpc>
              <a:spcBef>
                <a:spcPts val="0"/>
              </a:spcBef>
              <a:spcAft>
                <a:spcPts val="0"/>
              </a:spcAft>
            </a:pPr>
            <a:r>
              <a:rPr sz="1350" b="0" i="0">
                <a:solidFill>
                  <a:srgbClr val="FFFFFF"/>
                </a:solidFill>
                <a:latin typeface="Calibri"/>
              </a:rPr>
              <a:t>Cookie, single sign-on, revocable JWT, API keys, OAuth 2.1</a:t>
            </a:r>
          </a:p>
        </p:txBody>
      </p:sp>
      <p:sp>
        <p:nvSpPr>
          <p:cNvPr id="24" name="Rounded Rectangle 23"/>
          <p:cNvSpPr/>
          <p:nvPr/>
        </p:nvSpPr>
        <p:spPr>
          <a:xfrm>
            <a:off x="6521336" y="138696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answers: Unknown callers</a:t>
            </a:r>
          </a:p>
        </p:txBody>
      </p:sp>
      <p:sp>
        <p:nvSpPr>
          <p:cNvPr id="25" name="Rounded Rectangle 24"/>
          <p:cNvSpPr/>
          <p:nvPr/>
        </p:nvSpPr>
        <p:spPr>
          <a:xfrm>
            <a:off x="9074267" y="1926082"/>
            <a:ext cx="2340187" cy="1257935"/>
          </a:xfrm>
          <a:prstGeom prst="roundRect">
            <a:avLst>
              <a:gd name="adj" fmla="val 5815"/>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Authorization</a:t>
            </a:r>
          </a:p>
          <a:p>
            <a:pPr algn="ctr">
              <a:lnSpc>
                <a:spcPct val="105000"/>
              </a:lnSpc>
              <a:spcBef>
                <a:spcPts val="0"/>
              </a:spcBef>
              <a:spcAft>
                <a:spcPts val="0"/>
              </a:spcAft>
            </a:pPr>
            <a:r>
              <a:rPr sz="1350" b="0" i="0">
                <a:solidFill>
                  <a:srgbClr val="FFFFFF"/>
                </a:solidFill>
                <a:latin typeface="Calibri"/>
              </a:rPr>
              <a:t>Role permissions and key modes, per tool, every path</a:t>
            </a:r>
          </a:p>
        </p:txBody>
      </p:sp>
      <p:sp>
        <p:nvSpPr>
          <p:cNvPr id="26" name="Rounded Rectangle 25"/>
          <p:cNvSpPr/>
          <p:nvPr/>
        </p:nvSpPr>
        <p:spPr>
          <a:xfrm>
            <a:off x="9287012" y="138696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answers: Privilege escalation</a:t>
            </a:r>
          </a:p>
        </p:txBody>
      </p:sp>
      <p:sp>
        <p:nvSpPr>
          <p:cNvPr id="27" name="Rounded Rectangle 26"/>
          <p:cNvSpPr/>
          <p:nvPr/>
        </p:nvSpPr>
        <p:spPr>
          <a:xfrm>
            <a:off x="9074267" y="3992689"/>
            <a:ext cx="2340187" cy="1257935"/>
          </a:xfrm>
          <a:prstGeom prst="roundRect">
            <a:avLst>
              <a:gd name="adj" fmla="val 58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Input</a:t>
            </a:r>
          </a:p>
          <a:p>
            <a:pPr algn="ctr">
              <a:lnSpc>
                <a:spcPct val="105000"/>
              </a:lnSpc>
              <a:spcBef>
                <a:spcPts val="0"/>
              </a:spcBef>
              <a:spcAft>
                <a:spcPts val="0"/>
              </a:spcAft>
            </a:pPr>
            <a:r>
              <a:rPr sz="1350" b="0" i="0">
                <a:solidFill>
                  <a:srgbClr val="FFFFFF"/>
                </a:solidFill>
                <a:latin typeface="Calibri"/>
              </a:rPr>
              <a:t>JSON Schema on every call; SQL guards; SSRF guard</a:t>
            </a:r>
          </a:p>
        </p:txBody>
      </p:sp>
      <p:sp>
        <p:nvSpPr>
          <p:cNvPr id="28" name="Rounded Rectangle 27"/>
          <p:cNvSpPr/>
          <p:nvPr/>
        </p:nvSpPr>
        <p:spPr>
          <a:xfrm>
            <a:off x="9287012" y="534047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50" b="0" i="0">
                <a:solidFill>
                  <a:srgbClr val="1A1A1A"/>
                </a:solidFill>
                <a:latin typeface="Calibri"/>
              </a:rPr>
              <a:t>answers: Injection, internal-network access</a:t>
            </a:r>
          </a:p>
        </p:txBody>
      </p:sp>
      <p:sp>
        <p:nvSpPr>
          <p:cNvPr id="29" name="Rounded Rectangle 28"/>
          <p:cNvSpPr/>
          <p:nvPr/>
        </p:nvSpPr>
        <p:spPr>
          <a:xfrm>
            <a:off x="6308591" y="3992689"/>
            <a:ext cx="2340187" cy="1257935"/>
          </a:xfrm>
          <a:prstGeom prst="roundRect">
            <a:avLst>
              <a:gd name="adj" fmla="val 5815"/>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Policy</a:t>
            </a:r>
          </a:p>
          <a:p>
            <a:pPr algn="ctr">
              <a:lnSpc>
                <a:spcPct val="105000"/>
              </a:lnSpc>
              <a:spcBef>
                <a:spcPts val="0"/>
              </a:spcBef>
              <a:spcAft>
                <a:spcPts val="0"/>
              </a:spcAft>
            </a:pPr>
            <a:r>
              <a:rPr sz="1350" b="0" i="0">
                <a:solidFill>
                  <a:srgbClr val="FFFFFF"/>
                </a:solidFill>
                <a:latin typeface="Calibri"/>
              </a:rPr>
              <a:t>Deny, approval, argument limits, rate limits, quotas, redaction</a:t>
            </a:r>
          </a:p>
        </p:txBody>
      </p:sp>
      <p:sp>
        <p:nvSpPr>
          <p:cNvPr id="30" name="Rounded Rectangle 29"/>
          <p:cNvSpPr/>
          <p:nvPr/>
        </p:nvSpPr>
        <p:spPr>
          <a:xfrm>
            <a:off x="6521336" y="534047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answers: Unsafe or excessive calls</a:t>
            </a:r>
          </a:p>
        </p:txBody>
      </p:sp>
      <p:sp>
        <p:nvSpPr>
          <p:cNvPr id="31" name="Rounded Rectangle 30"/>
          <p:cNvSpPr/>
          <p:nvPr/>
        </p:nvSpPr>
        <p:spPr>
          <a:xfrm>
            <a:off x="3542915" y="3992689"/>
            <a:ext cx="2340187" cy="1257935"/>
          </a:xfrm>
          <a:prstGeom prst="roundRect">
            <a:avLst>
              <a:gd name="adj" fmla="val 58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Code</a:t>
            </a:r>
          </a:p>
          <a:p>
            <a:pPr algn="ctr">
              <a:lnSpc>
                <a:spcPct val="105000"/>
              </a:lnSpc>
              <a:spcBef>
                <a:spcPts val="0"/>
              </a:spcBef>
              <a:spcAft>
                <a:spcPts val="0"/>
              </a:spcAft>
            </a:pPr>
            <a:r>
              <a:rPr sz="1350" b="0" i="0">
                <a:solidFill>
                  <a:srgbClr val="FFFFFF"/>
                </a:solidFill>
                <a:latin typeface="Calibri"/>
              </a:rPr>
              <a:t>Studio code and scripts in a per-call sandbox</a:t>
            </a:r>
          </a:p>
        </p:txBody>
      </p:sp>
      <p:sp>
        <p:nvSpPr>
          <p:cNvPr id="32" name="Rounded Rectangle 31"/>
          <p:cNvSpPr/>
          <p:nvPr/>
        </p:nvSpPr>
        <p:spPr>
          <a:xfrm>
            <a:off x="3755660" y="534047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answers: Untrusted code</a:t>
            </a:r>
          </a:p>
        </p:txBody>
      </p:sp>
      <p:sp>
        <p:nvSpPr>
          <p:cNvPr id="33" name="Rounded Rectangle 32"/>
          <p:cNvSpPr/>
          <p:nvPr/>
        </p:nvSpPr>
        <p:spPr>
          <a:xfrm>
            <a:off x="777240" y="3992689"/>
            <a:ext cx="2340187" cy="1257935"/>
          </a:xfrm>
          <a:prstGeom prst="roundRect">
            <a:avLst>
              <a:gd name="adj" fmla="val 5815"/>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Record</a:t>
            </a:r>
          </a:p>
          <a:p>
            <a:pPr algn="ctr">
              <a:lnSpc>
                <a:spcPct val="105000"/>
              </a:lnSpc>
              <a:spcBef>
                <a:spcPts val="0"/>
              </a:spcBef>
              <a:spcAft>
                <a:spcPts val="0"/>
              </a:spcAft>
            </a:pPr>
            <a:r>
              <a:rPr sz="1350" b="0" i="0">
                <a:solidFill>
                  <a:srgbClr val="FFFFFF"/>
                </a:solidFill>
                <a:latin typeface="Calibri"/>
              </a:rPr>
              <a:t>Hash-chained, signed audit; SIEM export</a:t>
            </a:r>
          </a:p>
        </p:txBody>
      </p:sp>
      <p:sp>
        <p:nvSpPr>
          <p:cNvPr id="34" name="Rounded Rectangle 33"/>
          <p:cNvSpPr/>
          <p:nvPr/>
        </p:nvSpPr>
        <p:spPr>
          <a:xfrm>
            <a:off x="989984" y="5340477"/>
            <a:ext cx="1914698" cy="449262"/>
          </a:xfrm>
          <a:prstGeom prst="roundRect">
            <a:avLst>
              <a:gd name="adj" fmla="val 1628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answers: Undetected tampering</a:t>
            </a:r>
          </a:p>
        </p:txBody>
      </p:sp>
      <p:cxnSp>
        <p:nvCxnSpPr>
          <p:cNvPr id="35" name="Connector 34"/>
          <p:cNvCxnSpPr/>
          <p:nvPr/>
        </p:nvCxnSpPr>
        <p:spPr>
          <a:xfrm>
            <a:off x="3163147" y="2555049"/>
            <a:ext cx="33404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28823" y="2555049"/>
            <a:ext cx="33404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8694499" y="2555049"/>
            <a:ext cx="33404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244361" y="3229737"/>
            <a:ext cx="0" cy="717232"/>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8694499" y="4621656"/>
            <a:ext cx="33404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928823" y="4621656"/>
            <a:ext cx="33404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3163147" y="4621656"/>
            <a:ext cx="334048" cy="0"/>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AUTHENTICATION</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Four ways to prove who is calling, and one access policy behind them</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33</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A credential that fails is refused, never treated as anonymous. Every SAJHA JWT can be revoked before it expires: sign out, or sign out everywhere.</a:t>
            </a:r>
          </a:p>
        </p:txBody>
      </p:sp>
      <p:sp>
        <p:nvSpPr>
          <p:cNvPr id="19" name="Rounded Rectangle 18"/>
          <p:cNvSpPr/>
          <p:nvPr/>
        </p:nvSpPr>
        <p:spPr>
          <a:xfrm>
            <a:off x="777240" y="1306639"/>
            <a:ext cx="2872048" cy="786921"/>
          </a:xfrm>
          <a:prstGeom prst="roundRect">
            <a:avLst>
              <a:gd name="adj" fmla="val 929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 person in the console</a:t>
            </a:r>
          </a:p>
          <a:p>
            <a:pPr algn="ctr">
              <a:lnSpc>
                <a:spcPct val="105000"/>
              </a:lnSpc>
              <a:spcBef>
                <a:spcPts val="0"/>
              </a:spcBef>
              <a:spcAft>
                <a:spcPts val="0"/>
              </a:spcAft>
            </a:pPr>
            <a:r>
              <a:rPr sz="1050" b="0" i="0">
                <a:solidFill>
                  <a:srgbClr val="1A1A1A"/>
                </a:solidFill>
                <a:latin typeface="Calibri"/>
              </a:rPr>
              <a:t>sign-in form or single sign-on: the sajha_token cookie</a:t>
            </a:r>
          </a:p>
        </p:txBody>
      </p:sp>
      <p:sp>
        <p:nvSpPr>
          <p:cNvPr id="20" name="Rounded Rectangle 19"/>
          <p:cNvSpPr/>
          <p:nvPr/>
        </p:nvSpPr>
        <p:spPr>
          <a:xfrm>
            <a:off x="777240" y="2443303"/>
            <a:ext cx="2872048" cy="786921"/>
          </a:xfrm>
          <a:prstGeom prst="roundRect">
            <a:avLst>
              <a:gd name="adj" fmla="val 929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 script with a password</a:t>
            </a:r>
          </a:p>
          <a:p>
            <a:pPr algn="ctr">
              <a:lnSpc>
                <a:spcPct val="105000"/>
              </a:lnSpc>
              <a:spcBef>
                <a:spcPts val="0"/>
              </a:spcBef>
              <a:spcAft>
                <a:spcPts val="0"/>
              </a:spcAft>
            </a:pPr>
            <a:r>
              <a:rPr sz="1050" b="0" i="0">
                <a:solidFill>
                  <a:srgbClr val="1A1A1A"/>
                </a:solidFill>
                <a:latin typeface="Calibri"/>
              </a:rPr>
              <a:t>POST /api/auth/login: a SAJHA JWT</a:t>
            </a:r>
          </a:p>
        </p:txBody>
      </p:sp>
      <p:sp>
        <p:nvSpPr>
          <p:cNvPr id="21" name="Rounded Rectangle 20"/>
          <p:cNvSpPr/>
          <p:nvPr/>
        </p:nvSpPr>
        <p:spPr>
          <a:xfrm>
            <a:off x="777240" y="3579967"/>
            <a:ext cx="2872048" cy="786921"/>
          </a:xfrm>
          <a:prstGeom prst="roundRect">
            <a:avLst>
              <a:gd name="adj" fmla="val 929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An automation</a:t>
            </a:r>
          </a:p>
          <a:p>
            <a:pPr algn="ctr">
              <a:lnSpc>
                <a:spcPct val="105000"/>
              </a:lnSpc>
              <a:spcBef>
                <a:spcPts val="0"/>
              </a:spcBef>
              <a:spcAft>
                <a:spcPts val="0"/>
              </a:spcAft>
            </a:pPr>
            <a:r>
              <a:rPr sz="1050" b="0" i="0">
                <a:solidFill>
                  <a:srgbClr val="1A1A1A"/>
                </a:solidFill>
                <a:latin typeface="Calibri"/>
              </a:rPr>
              <a:t>an API key sja_… from an administrator or its owner</a:t>
            </a:r>
          </a:p>
        </p:txBody>
      </p:sp>
      <p:sp>
        <p:nvSpPr>
          <p:cNvPr id="22" name="Rounded Rectangle 21"/>
          <p:cNvSpPr/>
          <p:nvPr/>
        </p:nvSpPr>
        <p:spPr>
          <a:xfrm>
            <a:off x="777240" y="4716631"/>
            <a:ext cx="2872048" cy="786921"/>
          </a:xfrm>
          <a:prstGeom prst="roundRect">
            <a:avLst>
              <a:gd name="adj" fmla="val 929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An OAuth client</a:t>
            </a:r>
          </a:p>
          <a:p>
            <a:pPr algn="ctr">
              <a:lnSpc>
                <a:spcPct val="105000"/>
              </a:lnSpc>
              <a:spcBef>
                <a:spcPts val="0"/>
              </a:spcBef>
              <a:spcAft>
                <a:spcPts val="0"/>
              </a:spcAft>
            </a:pPr>
            <a:r>
              <a:rPr sz="1050" b="0" i="0">
                <a:solidFill>
                  <a:srgbClr val="1A1A1A"/>
                </a:solidFill>
                <a:latin typeface="Calibri"/>
              </a:rPr>
              <a:t>an access token, MCP endpoints only</a:t>
            </a:r>
          </a:p>
        </p:txBody>
      </p:sp>
      <p:sp>
        <p:nvSpPr>
          <p:cNvPr id="23" name="Rounded Rectangle 22"/>
          <p:cNvSpPr/>
          <p:nvPr/>
        </p:nvSpPr>
        <p:spPr>
          <a:xfrm>
            <a:off x="4606637" y="1568946"/>
            <a:ext cx="2552931" cy="2535635"/>
          </a:xfrm>
          <a:prstGeom prst="roundRect">
            <a:avLst>
              <a:gd name="adj" fmla="val 288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authenticate_request</a:t>
            </a:r>
          </a:p>
          <a:p>
            <a:pPr algn="ctr">
              <a:lnSpc>
                <a:spcPct val="105000"/>
              </a:lnSpc>
              <a:spcBef>
                <a:spcPts val="0"/>
              </a:spcBef>
              <a:spcAft>
                <a:spcPts val="0"/>
              </a:spcAft>
            </a:pPr>
            <a:r>
              <a:rPr sz="1150" b="0" i="0">
                <a:solidFill>
                  <a:srgbClr val="FFFFFF"/>
                </a:solidFill>
                <a:latin typeface="Calibri"/>
              </a:rPr>
              <a:t>tried in order: 1 Bearer JWT, 2 X-API-Key, 3 Authorization: sja_…, 4 the cookie</a:t>
            </a:r>
          </a:p>
        </p:txBody>
      </p:sp>
      <p:sp>
        <p:nvSpPr>
          <p:cNvPr id="24" name="Rounded Rectangle 23"/>
          <p:cNvSpPr/>
          <p:nvPr/>
        </p:nvSpPr>
        <p:spPr>
          <a:xfrm>
            <a:off x="4606637" y="4629195"/>
            <a:ext cx="2552931" cy="961792"/>
          </a:xfrm>
          <a:prstGeom prst="roundRect">
            <a:avLst>
              <a:gd name="adj" fmla="val 760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Resource server on /mcp</a:t>
            </a:r>
          </a:p>
          <a:p>
            <a:pPr algn="ctr">
              <a:lnSpc>
                <a:spcPct val="105000"/>
              </a:lnSpc>
              <a:spcBef>
                <a:spcPts val="0"/>
              </a:spcBef>
              <a:spcAft>
                <a:spcPts val="0"/>
              </a:spcAft>
            </a:pPr>
            <a:r>
              <a:rPr sz="1050" b="0" i="0">
                <a:solidFill>
                  <a:srgbClr val="1A1A1A"/>
                </a:solidFill>
                <a:latin typeface="Calibri"/>
              </a:rPr>
              <a:t>issuer, audience, expiry, scope</a:t>
            </a:r>
          </a:p>
        </p:txBody>
      </p:sp>
      <p:sp>
        <p:nvSpPr>
          <p:cNvPr id="25" name="Rounded Rectangle 24"/>
          <p:cNvSpPr/>
          <p:nvPr/>
        </p:nvSpPr>
        <p:spPr>
          <a:xfrm>
            <a:off x="8116918" y="2618174"/>
            <a:ext cx="1595582" cy="1748713"/>
          </a:xfrm>
          <a:prstGeom prst="roundRect">
            <a:avLst>
              <a:gd name="adj" fmla="val 458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One access policy</a:t>
            </a:r>
          </a:p>
          <a:p>
            <a:pPr algn="ctr">
              <a:lnSpc>
                <a:spcPct val="105000"/>
              </a:lnSpc>
              <a:spcBef>
                <a:spcPts val="0"/>
              </a:spcBef>
              <a:spcAft>
                <a:spcPts val="0"/>
              </a:spcAft>
            </a:pPr>
            <a:r>
              <a:rPr sz="1150" b="0" i="0">
                <a:solidFill>
                  <a:srgbClr val="FFFFFF"/>
                </a:solidFill>
                <a:latin typeface="Calibri"/>
              </a:rPr>
              <a:t>sajha/auth/access.py: roles' patterns or the key's mode</a:t>
            </a:r>
          </a:p>
        </p:txBody>
      </p:sp>
      <p:sp>
        <p:nvSpPr>
          <p:cNvPr id="26" name="Oval 25"/>
          <p:cNvSpPr/>
          <p:nvPr/>
        </p:nvSpPr>
        <p:spPr>
          <a:xfrm>
            <a:off x="10244361" y="3055353"/>
            <a:ext cx="1170093" cy="874356"/>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tools</a:t>
            </a:r>
          </a:p>
        </p:txBody>
      </p:sp>
      <p:cxnSp>
        <p:nvCxnSpPr>
          <p:cNvPr id="27" name="Connector 26"/>
          <p:cNvCxnSpPr/>
          <p:nvPr/>
        </p:nvCxnSpPr>
        <p:spPr>
          <a:xfrm>
            <a:off x="3527266" y="2107087"/>
            <a:ext cx="1035698" cy="32078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95008" y="2836764"/>
            <a:ext cx="86590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527266" y="3245652"/>
            <a:ext cx="1035698" cy="32078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695008" y="5110092"/>
            <a:ext cx="86590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04255" y="3122542"/>
            <a:ext cx="867976" cy="18775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6824728" y="3939728"/>
            <a:ext cx="1251853" cy="667945"/>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758220" y="3492531"/>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OAUTH 2.1</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OAuth 2.1 on /mcp: SAJHA's own authorization server, or yours</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34</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Off by default (mcp.auth.mode: off, optional or required); API keys and SAJHA's own tokens work in every mode. OAuth here controls who may call /mcp; console sign-in is separate.</a:t>
            </a:r>
          </a:p>
        </p:txBody>
      </p:sp>
      <p:sp>
        <p:nvSpPr>
          <p:cNvPr id="19" name="Oval 18"/>
          <p:cNvSpPr/>
          <p:nvPr/>
        </p:nvSpPr>
        <p:spPr>
          <a:xfrm>
            <a:off x="777240" y="2901045"/>
            <a:ext cx="1701954" cy="1041516"/>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MCP client</a:t>
            </a:r>
          </a:p>
        </p:txBody>
      </p:sp>
      <p:sp>
        <p:nvSpPr>
          <p:cNvPr id="20" name="Rounded Rectangle 19"/>
          <p:cNvSpPr/>
          <p:nvPr/>
        </p:nvSpPr>
        <p:spPr>
          <a:xfrm>
            <a:off x="4606637" y="1338770"/>
            <a:ext cx="3191164" cy="1041516"/>
          </a:xfrm>
          <a:prstGeom prst="roundRect">
            <a:avLst>
              <a:gd name="adj" fmla="val 7023"/>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Authorization server</a:t>
            </a:r>
          </a:p>
          <a:p>
            <a:pPr algn="ctr">
              <a:lnSpc>
                <a:spcPct val="105000"/>
              </a:lnSpc>
              <a:spcBef>
                <a:spcPts val="0"/>
              </a:spcBef>
              <a:spcAft>
                <a:spcPts val="0"/>
              </a:spcAft>
            </a:pPr>
            <a:r>
              <a:rPr sz="1150" b="0" i="0">
                <a:solidFill>
                  <a:srgbClr val="FFFFFF"/>
                </a:solidFill>
                <a:latin typeface="Calibri"/>
              </a:rPr>
              <a:t>SAJHA's own, or your identity provider: PKCE S256, rotating refresh tokens</a:t>
            </a:r>
          </a:p>
        </p:txBody>
      </p:sp>
      <p:sp>
        <p:nvSpPr>
          <p:cNvPr id="21" name="Rounded Rectangle 20"/>
          <p:cNvSpPr/>
          <p:nvPr/>
        </p:nvSpPr>
        <p:spPr>
          <a:xfrm>
            <a:off x="4606637" y="4376527"/>
            <a:ext cx="3191164" cy="1041516"/>
          </a:xfrm>
          <a:prstGeom prst="roundRect">
            <a:avLst>
              <a:gd name="adj" fmla="val 7023"/>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Resource server: SAJHA /mcp</a:t>
            </a:r>
          </a:p>
          <a:p>
            <a:pPr algn="ctr">
              <a:lnSpc>
                <a:spcPct val="105000"/>
              </a:lnSpc>
              <a:spcBef>
                <a:spcPts val="0"/>
              </a:spcBef>
              <a:spcAft>
                <a:spcPts val="0"/>
              </a:spcAft>
            </a:pPr>
            <a:r>
              <a:rPr sz="1150" b="0" i="0">
                <a:solidFill>
                  <a:srgbClr val="FFFFFF"/>
                </a:solidFill>
                <a:latin typeface="Calibri"/>
              </a:rPr>
              <a:t>audience-bound tokens; scopes mcp:read, mcp:tools</a:t>
            </a:r>
          </a:p>
        </p:txBody>
      </p:sp>
      <p:sp>
        <p:nvSpPr>
          <p:cNvPr id="22" name="Oval 21"/>
          <p:cNvSpPr/>
          <p:nvPr/>
        </p:nvSpPr>
        <p:spPr>
          <a:xfrm>
            <a:off x="9499756" y="1425563"/>
            <a:ext cx="1701954" cy="867930"/>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the user</a:t>
            </a:r>
          </a:p>
          <a:p>
            <a:pPr algn="ctr">
              <a:lnSpc>
                <a:spcPct val="105000"/>
              </a:lnSpc>
              <a:spcBef>
                <a:spcPts val="0"/>
              </a:spcBef>
              <a:spcAft>
                <a:spcPts val="0"/>
              </a:spcAft>
            </a:pPr>
            <a:r>
              <a:rPr sz="1050" b="0" i="0">
                <a:solidFill>
                  <a:srgbClr val="1A1A1A"/>
                </a:solidFill>
                <a:latin typeface="Calibri"/>
              </a:rPr>
              <a:t>signs in and consents</a:t>
            </a:r>
          </a:p>
        </p:txBody>
      </p:sp>
      <p:sp>
        <p:nvSpPr>
          <p:cNvPr id="23" name="Rounded Rectangle 22"/>
          <p:cNvSpPr/>
          <p:nvPr/>
        </p:nvSpPr>
        <p:spPr>
          <a:xfrm>
            <a:off x="9180640" y="4463321"/>
            <a:ext cx="2233815" cy="867930"/>
          </a:xfrm>
          <a:prstGeom prst="roundRect">
            <a:avLst>
              <a:gd name="adj" fmla="val 842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then the user's tool access</a:t>
            </a:r>
          </a:p>
          <a:p>
            <a:pPr algn="ctr">
              <a:lnSpc>
                <a:spcPct val="105000"/>
              </a:lnSpc>
              <a:spcBef>
                <a:spcPts val="0"/>
              </a:spcBef>
              <a:spcAft>
                <a:spcPts val="0"/>
              </a:spcAft>
            </a:pPr>
            <a:r>
              <a:rPr sz="1050" b="0" i="0">
                <a:solidFill>
                  <a:srgbClr val="1A1A1A"/>
                </a:solidFill>
                <a:latin typeface="Calibri"/>
              </a:rPr>
              <a:t>as for any caller</a:t>
            </a:r>
          </a:p>
        </p:txBody>
      </p:sp>
      <p:cxnSp>
        <p:nvCxnSpPr>
          <p:cNvPr id="24" name="Connector 23"/>
          <p:cNvCxnSpPr/>
          <p:nvPr/>
        </p:nvCxnSpPr>
        <p:spPr>
          <a:xfrm flipH="1">
            <a:off x="1628217" y="4897286"/>
            <a:ext cx="2932700"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628217" y="3988282"/>
            <a:ext cx="0" cy="909004"/>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920325" y="4659542"/>
            <a:ext cx="2348484"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1  no token: 401 and metadata</a:t>
            </a:r>
          </a:p>
        </p:txBody>
      </p:sp>
      <p:cxnSp>
        <p:nvCxnSpPr>
          <p:cNvPr id="27" name="Connector 26"/>
          <p:cNvCxnSpPr/>
          <p:nvPr/>
        </p:nvCxnSpPr>
        <p:spPr>
          <a:xfrm flipV="1">
            <a:off x="2414554" y="2395065"/>
            <a:ext cx="2219732" cy="758161"/>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53482" y="2490681"/>
            <a:ext cx="3244596"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2  authorize with PKCE; 3  code for token</a:t>
            </a:r>
          </a:p>
        </p:txBody>
      </p:sp>
      <p:cxnSp>
        <p:nvCxnSpPr>
          <p:cNvPr id="29" name="Connector 28"/>
          <p:cNvCxnSpPr/>
          <p:nvPr/>
        </p:nvCxnSpPr>
        <p:spPr>
          <a:xfrm>
            <a:off x="7843522" y="1859528"/>
            <a:ext cx="1610514" cy="0"/>
          </a:xfrm>
          <a:prstGeom prst="line">
            <a:avLst/>
          </a:prstGeom>
          <a:ln w="20320">
            <a:solidFill>
              <a:srgbClr val="6B74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522658" y="3435989"/>
            <a:ext cx="2838306" cy="92635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158981" y="3752862"/>
            <a:ext cx="1303020"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4  Bearer token</a:t>
            </a:r>
          </a:p>
        </p:txBody>
      </p:sp>
      <p:cxnSp>
        <p:nvCxnSpPr>
          <p:cNvPr id="32" name="Connector 31"/>
          <p:cNvCxnSpPr/>
          <p:nvPr/>
        </p:nvCxnSpPr>
        <p:spPr>
          <a:xfrm>
            <a:off x="7843522" y="4897286"/>
            <a:ext cx="129139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CREDENTIALS, SIGN-IN AND THE BROWSER</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Where credentials live, and how sign-in and the browser are guarded</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35</a:t>
            </a:r>
          </a:p>
        </p:txBody>
      </p:sp>
      <p:sp>
        <p:nvSpPr>
          <p:cNvPr id="17" name="Rectangle 16"/>
          <p:cNvSpPr/>
          <p:nvPr/>
        </p:nvSpPr>
        <p:spPr>
          <a:xfrm>
            <a:off x="777240" y="1306639"/>
            <a:ext cx="4148513" cy="4938712"/>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370647"/>
            <a:ext cx="392905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CREDENTIALS: USERS / API KEYS</a:t>
            </a:r>
          </a:p>
        </p:txBody>
      </p:sp>
      <p:sp>
        <p:nvSpPr>
          <p:cNvPr id="19" name="Rectangle 18"/>
          <p:cNvSpPr/>
          <p:nvPr/>
        </p:nvSpPr>
        <p:spPr>
          <a:xfrm>
            <a:off x="5191684" y="1306639"/>
            <a:ext cx="2127443" cy="4938712"/>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1412" y="1370647"/>
            <a:ext cx="190798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SIGN-IN</a:t>
            </a:r>
          </a:p>
        </p:txBody>
      </p:sp>
      <p:sp>
        <p:nvSpPr>
          <p:cNvPr id="21" name="Rectangle 20"/>
          <p:cNvSpPr/>
          <p:nvPr/>
        </p:nvSpPr>
        <p:spPr>
          <a:xfrm>
            <a:off x="9233826" y="1306639"/>
            <a:ext cx="2180629" cy="4938712"/>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43554" y="1370647"/>
            <a:ext cx="1961173"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BROWSER AND TRANSPORT</a:t>
            </a:r>
          </a:p>
        </p:txBody>
      </p:sp>
      <p:sp>
        <p:nvSpPr>
          <p:cNvPr id="23" name="Rounded Rectangle 22"/>
          <p:cNvSpPr/>
          <p:nvPr/>
        </p:nvSpPr>
        <p:spPr>
          <a:xfrm>
            <a:off x="936798" y="1800510"/>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config/users.json</a:t>
            </a:r>
          </a:p>
          <a:p>
            <a:pPr algn="ctr">
              <a:lnSpc>
                <a:spcPct val="105000"/>
              </a:lnSpc>
              <a:spcBef>
                <a:spcPts val="0"/>
              </a:spcBef>
              <a:spcAft>
                <a:spcPts val="0"/>
              </a:spcAft>
            </a:pPr>
            <a:r>
              <a:rPr sz="950" b="0" i="0">
                <a:solidFill>
                  <a:srgbClr val="1A1A1A"/>
                </a:solidFill>
                <a:latin typeface="Calibri"/>
              </a:rPr>
              <a:t>wins: applied at start and on change</a:t>
            </a:r>
          </a:p>
        </p:txBody>
      </p:sp>
      <p:sp>
        <p:nvSpPr>
          <p:cNvPr id="24" name="Rounded Rectangle 23"/>
          <p:cNvSpPr/>
          <p:nvPr/>
        </p:nvSpPr>
        <p:spPr>
          <a:xfrm>
            <a:off x="936798" y="2936414"/>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users table</a:t>
            </a:r>
          </a:p>
          <a:p>
            <a:pPr algn="ctr">
              <a:lnSpc>
                <a:spcPct val="105000"/>
              </a:lnSpc>
              <a:spcBef>
                <a:spcPts val="0"/>
              </a:spcBef>
              <a:spcAft>
                <a:spcPts val="0"/>
              </a:spcAft>
            </a:pPr>
            <a:r>
              <a:rPr sz="950" b="0" i="0">
                <a:solidFill>
                  <a:srgbClr val="1A1A1A"/>
                </a:solidFill>
                <a:latin typeface="Calibri"/>
              </a:rPr>
              <a:t>everything else</a:t>
            </a:r>
          </a:p>
        </p:txBody>
      </p:sp>
      <p:sp>
        <p:nvSpPr>
          <p:cNvPr id="25" name="Rounded Rectangle 24"/>
          <p:cNvSpPr/>
          <p:nvPr/>
        </p:nvSpPr>
        <p:spPr>
          <a:xfrm>
            <a:off x="2957869" y="1800510"/>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config/apikeys.json</a:t>
            </a:r>
          </a:p>
          <a:p>
            <a:pPr algn="ctr">
              <a:lnSpc>
                <a:spcPct val="105000"/>
              </a:lnSpc>
              <a:spcBef>
                <a:spcPts val="0"/>
              </a:spcBef>
              <a:spcAft>
                <a:spcPts val="0"/>
              </a:spcAft>
            </a:pPr>
            <a:r>
              <a:rPr sz="950" b="0" i="0">
                <a:solidFill>
                  <a:srgbClr val="1A1A1A"/>
                </a:solidFill>
                <a:latin typeface="Calibri"/>
              </a:rPr>
              <a:t>wins: checked first</a:t>
            </a:r>
          </a:p>
        </p:txBody>
      </p:sp>
      <p:sp>
        <p:nvSpPr>
          <p:cNvPr id="26" name="Rounded Rectangle 25"/>
          <p:cNvSpPr/>
          <p:nvPr/>
        </p:nvSpPr>
        <p:spPr>
          <a:xfrm>
            <a:off x="2957869" y="2936414"/>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database</a:t>
            </a:r>
          </a:p>
          <a:p>
            <a:pPr algn="ctr">
              <a:lnSpc>
                <a:spcPct val="105000"/>
              </a:lnSpc>
              <a:spcBef>
                <a:spcPts val="0"/>
              </a:spcBef>
              <a:spcAft>
                <a:spcPts val="0"/>
              </a:spcAft>
            </a:pPr>
            <a:r>
              <a:rPr sz="950" b="0" i="0">
                <a:solidFill>
                  <a:srgbClr val="1A1A1A"/>
                </a:solidFill>
                <a:latin typeface="Calibri"/>
              </a:rPr>
              <a:t>validated on every request</a:t>
            </a:r>
          </a:p>
        </p:txBody>
      </p:sp>
      <p:sp>
        <p:nvSpPr>
          <p:cNvPr id="27" name="Rounded Rectangle 26"/>
          <p:cNvSpPr/>
          <p:nvPr/>
        </p:nvSpPr>
        <p:spPr>
          <a:xfrm>
            <a:off x="2957869" y="4072318"/>
            <a:ext cx="1808326" cy="839581"/>
          </a:xfrm>
          <a:prstGeom prst="roundRect">
            <a:avLst>
              <a:gd name="adj" fmla="val 871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50" b="1" i="0">
                <a:solidFill>
                  <a:srgbClr val="1A1A1A"/>
                </a:solidFill>
                <a:latin typeface="Calibri"/>
              </a:rPr>
              <a:t>config/apikeys_db.json</a:t>
            </a:r>
          </a:p>
          <a:p>
            <a:pPr algn="ctr">
              <a:lnSpc>
                <a:spcPct val="105000"/>
              </a:lnSpc>
              <a:spcBef>
                <a:spcPts val="0"/>
              </a:spcBef>
              <a:spcAft>
                <a:spcPts val="0"/>
              </a:spcAft>
            </a:pPr>
            <a:r>
              <a:rPr sz="800" b="0" i="0">
                <a:solidFill>
                  <a:srgbClr val="1A1A1A"/>
                </a:solidFill>
                <a:latin typeface="Calibri"/>
              </a:rPr>
              <a:t>last: only if the database cannot answer</a:t>
            </a:r>
          </a:p>
        </p:txBody>
      </p:sp>
      <p:sp>
        <p:nvSpPr>
          <p:cNvPr id="28" name="Rounded Rectangle 27"/>
          <p:cNvSpPr/>
          <p:nvPr/>
        </p:nvSpPr>
        <p:spPr>
          <a:xfrm>
            <a:off x="936798" y="5208222"/>
            <a:ext cx="3829397" cy="938355"/>
          </a:xfrm>
          <a:prstGeom prst="roundRect">
            <a:avLst>
              <a:gd name="adj" fmla="val 7795"/>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Stored plain by default</a:t>
            </a:r>
          </a:p>
          <a:p>
            <a:pPr algn="ctr">
              <a:lnSpc>
                <a:spcPct val="105000"/>
              </a:lnSpc>
              <a:spcBef>
                <a:spcPts val="0"/>
              </a:spcBef>
              <a:spcAft>
                <a:spcPts val="0"/>
              </a:spcAft>
            </a:pPr>
            <a:r>
              <a:rPr sz="1050" b="0" i="0">
                <a:solidFill>
                  <a:srgbClr val="1A1A1A"/>
                </a:solidFill>
                <a:latin typeface="Calibri"/>
              </a:rPr>
              <a:t>the owner's decision for intranet use; set hashed and run python -m sajha.auth rehash to switch</a:t>
            </a:r>
          </a:p>
        </p:txBody>
      </p:sp>
      <p:sp>
        <p:nvSpPr>
          <p:cNvPr id="29" name="Rounded Rectangle 28"/>
          <p:cNvSpPr/>
          <p:nvPr/>
        </p:nvSpPr>
        <p:spPr>
          <a:xfrm>
            <a:off x="5351242" y="1800510"/>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Single sign-on</a:t>
            </a:r>
          </a:p>
          <a:p>
            <a:pPr algn="ctr">
              <a:lnSpc>
                <a:spcPct val="105000"/>
              </a:lnSpc>
              <a:spcBef>
                <a:spcPts val="0"/>
              </a:spcBef>
              <a:spcAft>
                <a:spcPts val="0"/>
              </a:spcAft>
            </a:pPr>
            <a:r>
              <a:rPr sz="950" b="0" i="0">
                <a:solidFill>
                  <a:srgbClr val="1A1A1A"/>
                </a:solidFill>
                <a:latin typeface="Calibri"/>
              </a:rPr>
              <a:t>OpenID Connect, beside passwords</a:t>
            </a:r>
          </a:p>
        </p:txBody>
      </p:sp>
      <p:sp>
        <p:nvSpPr>
          <p:cNvPr id="30" name="Rounded Rectangle 29"/>
          <p:cNvSpPr/>
          <p:nvPr/>
        </p:nvSpPr>
        <p:spPr>
          <a:xfrm>
            <a:off x="5351242" y="2788253"/>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Revocable sessions</a:t>
            </a:r>
          </a:p>
          <a:p>
            <a:pPr algn="ctr">
              <a:lnSpc>
                <a:spcPct val="105000"/>
              </a:lnSpc>
              <a:spcBef>
                <a:spcPts val="0"/>
              </a:spcBef>
              <a:spcAft>
                <a:spcPts val="0"/>
              </a:spcAft>
            </a:pPr>
            <a:r>
              <a:rPr sz="950" b="0" i="0">
                <a:solidFill>
                  <a:srgbClr val="1A1A1A"/>
                </a:solidFill>
                <a:latin typeface="Calibri"/>
              </a:rPr>
              <a:t>sign out; sign out everywhere</a:t>
            </a:r>
          </a:p>
        </p:txBody>
      </p:sp>
      <p:sp>
        <p:nvSpPr>
          <p:cNvPr id="31" name="Rounded Rectangle 30"/>
          <p:cNvSpPr/>
          <p:nvPr/>
        </p:nvSpPr>
        <p:spPr>
          <a:xfrm>
            <a:off x="5351242" y="3775995"/>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50" b="1" i="0">
                <a:solidFill>
                  <a:srgbClr val="1A1A1A"/>
                </a:solidFill>
                <a:latin typeface="Calibri"/>
              </a:rPr>
              <a:t>Throttle and lockout</a:t>
            </a:r>
          </a:p>
          <a:p>
            <a:pPr algn="ctr">
              <a:lnSpc>
                <a:spcPct val="105000"/>
              </a:lnSpc>
              <a:spcBef>
                <a:spcPts val="0"/>
              </a:spcBef>
              <a:spcAft>
                <a:spcPts val="0"/>
              </a:spcAft>
            </a:pPr>
            <a:r>
              <a:rPr sz="900" b="0" i="0">
                <a:solidFill>
                  <a:srgbClr val="1A1A1A"/>
                </a:solidFill>
                <a:latin typeface="Calibri"/>
              </a:rPr>
              <a:t>per address and per account</a:t>
            </a:r>
          </a:p>
        </p:txBody>
      </p:sp>
      <p:sp>
        <p:nvSpPr>
          <p:cNvPr id="32" name="Rounded Rectangle 31"/>
          <p:cNvSpPr/>
          <p:nvPr/>
        </p:nvSpPr>
        <p:spPr>
          <a:xfrm>
            <a:off x="5351242" y="4862512"/>
            <a:ext cx="1808326" cy="987742"/>
          </a:xfrm>
          <a:prstGeom prst="roundRect">
            <a:avLst>
              <a:gd name="adj" fmla="val 7405"/>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Test admin key</a:t>
            </a:r>
          </a:p>
          <a:p>
            <a:pPr algn="ctr">
              <a:lnSpc>
                <a:spcPct val="105000"/>
              </a:lnSpc>
              <a:spcBef>
                <a:spcPts val="0"/>
              </a:spcBef>
              <a:spcAft>
                <a:spcPts val="0"/>
              </a:spcAft>
            </a:pPr>
            <a:r>
              <a:rPr sz="950" b="0" i="0">
                <a:solidFill>
                  <a:srgbClr val="1A1A1A"/>
                </a:solidFill>
                <a:latin typeface="Calibri"/>
              </a:rPr>
              <a:t>ships on: a critical notice shows while it is active</a:t>
            </a:r>
          </a:p>
        </p:txBody>
      </p:sp>
      <p:sp>
        <p:nvSpPr>
          <p:cNvPr id="33" name="Rounded Rectangle 32"/>
          <p:cNvSpPr/>
          <p:nvPr/>
        </p:nvSpPr>
        <p:spPr>
          <a:xfrm>
            <a:off x="9393384" y="1800510"/>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1" i="0">
                <a:solidFill>
                  <a:srgbClr val="1A1A1A"/>
                </a:solidFill>
                <a:latin typeface="Calibri"/>
              </a:rPr>
              <a:t>Content-Security-Policy</a:t>
            </a:r>
          </a:p>
          <a:p>
            <a:pPr algn="ctr">
              <a:lnSpc>
                <a:spcPct val="105000"/>
              </a:lnSpc>
              <a:spcBef>
                <a:spcPts val="0"/>
              </a:spcBef>
              <a:spcAft>
                <a:spcPts val="0"/>
              </a:spcAft>
            </a:pPr>
            <a:r>
              <a:rPr sz="750" b="0" i="0">
                <a:solidFill>
                  <a:srgbClr val="1A1A1A"/>
                </a:solidFill>
                <a:latin typeface="Calibri"/>
              </a:rPr>
              <a:t>scripts only with a per-response nonce</a:t>
            </a:r>
          </a:p>
        </p:txBody>
      </p:sp>
      <p:sp>
        <p:nvSpPr>
          <p:cNvPr id="34" name="Rounded Rectangle 33"/>
          <p:cNvSpPr/>
          <p:nvPr/>
        </p:nvSpPr>
        <p:spPr>
          <a:xfrm>
            <a:off x="9393384" y="2788253"/>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Cross-site check</a:t>
            </a:r>
          </a:p>
          <a:p>
            <a:pPr algn="ctr">
              <a:lnSpc>
                <a:spcPct val="105000"/>
              </a:lnSpc>
              <a:spcBef>
                <a:spcPts val="0"/>
              </a:spcBef>
              <a:spcAft>
                <a:spcPts val="0"/>
              </a:spcAft>
            </a:pPr>
            <a:r>
              <a:rPr sz="950" b="0" i="0">
                <a:solidFill>
                  <a:srgbClr val="1A1A1A"/>
                </a:solidFill>
                <a:latin typeface="Calibri"/>
              </a:rPr>
              <a:t>cookie requests from another site refused</a:t>
            </a:r>
          </a:p>
        </p:txBody>
      </p:sp>
      <p:sp>
        <p:nvSpPr>
          <p:cNvPr id="35" name="Rounded Rectangle 34"/>
          <p:cNvSpPr/>
          <p:nvPr/>
        </p:nvSpPr>
        <p:spPr>
          <a:xfrm>
            <a:off x="9393384" y="3775995"/>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Origin allow-list</a:t>
            </a:r>
          </a:p>
          <a:p>
            <a:pPr algn="ctr">
              <a:lnSpc>
                <a:spcPct val="105000"/>
              </a:lnSpc>
              <a:spcBef>
                <a:spcPts val="0"/>
              </a:spcBef>
              <a:spcAft>
                <a:spcPts val="0"/>
              </a:spcAft>
            </a:pPr>
            <a:r>
              <a:rPr sz="950" b="0" i="0">
                <a:solidFill>
                  <a:srgbClr val="1A1A1A"/>
                </a:solidFill>
                <a:latin typeface="Calibri"/>
              </a:rPr>
              <a:t>on /mcp, against DNS rebinding</a:t>
            </a:r>
          </a:p>
        </p:txBody>
      </p:sp>
      <p:sp>
        <p:nvSpPr>
          <p:cNvPr id="36" name="Rounded Rectangle 35"/>
          <p:cNvSpPr/>
          <p:nvPr/>
        </p:nvSpPr>
        <p:spPr>
          <a:xfrm>
            <a:off x="9393384" y="4763738"/>
            <a:ext cx="1808326" cy="740806"/>
          </a:xfrm>
          <a:prstGeom prst="roundRect">
            <a:avLst>
              <a:gd name="adj" fmla="val 987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TLS at the proxy</a:t>
            </a:r>
          </a:p>
          <a:p>
            <a:pPr algn="ctr">
              <a:lnSpc>
                <a:spcPct val="105000"/>
              </a:lnSpc>
              <a:spcBef>
                <a:spcPts val="0"/>
              </a:spcBef>
              <a:spcAft>
                <a:spcPts val="0"/>
              </a:spcAft>
            </a:pPr>
            <a:r>
              <a:rPr sz="950" b="0" i="0">
                <a:solidFill>
                  <a:srgbClr val="1A1A1A"/>
                </a:solidFill>
                <a:latin typeface="Calibri"/>
              </a:rPr>
              <a:t>plus HSTS and other headers</a:t>
            </a:r>
          </a:p>
        </p:txBody>
      </p:sp>
      <p:sp>
        <p:nvSpPr>
          <p:cNvPr id="37" name="TextBox 36"/>
          <p:cNvSpPr txBox="1"/>
          <p:nvPr/>
        </p:nvSpPr>
        <p:spPr>
          <a:xfrm>
            <a:off x="7531871" y="1800510"/>
            <a:ext cx="1595582" cy="3950970"/>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Every SAJHA JWT</a:t>
            </a:r>
          </a:p>
          <a:p>
            <a:pPr algn="l">
              <a:lnSpc>
                <a:spcPct val="110000"/>
              </a:lnSpc>
              <a:spcBef>
                <a:spcPts val="0"/>
              </a:spcBef>
              <a:spcAft>
                <a:spcPts val="100"/>
              </a:spcAft>
            </a:pPr>
            <a:r>
              <a:rPr sz="1200" b="0" i="0">
                <a:solidFill>
                  <a:srgbClr val="6B7480"/>
                </a:solidFill>
                <a:latin typeface="Calibri"/>
              </a:rPr>
              <a:t>carries an id and</a:t>
            </a:r>
          </a:p>
          <a:p>
            <a:pPr algn="l">
              <a:lnSpc>
                <a:spcPct val="110000"/>
              </a:lnSpc>
              <a:spcBef>
                <a:spcPts val="0"/>
              </a:spcBef>
              <a:spcAft>
                <a:spcPts val="100"/>
              </a:spcAft>
            </a:pPr>
            <a:r>
              <a:rPr sz="1200" b="0" i="0">
                <a:solidFill>
                  <a:srgbClr val="6B7480"/>
                </a:solidFill>
                <a:latin typeface="Calibri"/>
              </a:rPr>
              <a:t>the user's token</a:t>
            </a:r>
          </a:p>
          <a:p>
            <a:pPr algn="l">
              <a:lnSpc>
                <a:spcPct val="110000"/>
              </a:lnSpc>
              <a:spcBef>
                <a:spcPts val="0"/>
              </a:spcBef>
              <a:spcAft>
                <a:spcPts val="100"/>
              </a:spcAft>
            </a:pPr>
            <a:r>
              <a:rPr sz="1200" b="0" i="0">
                <a:solidFill>
                  <a:srgbClr val="6B7480"/>
                </a:solidFill>
                <a:latin typeface="Calibri"/>
              </a:rPr>
              <a:t>version, so it can</a:t>
            </a:r>
          </a:p>
          <a:p>
            <a:pPr algn="l">
              <a:lnSpc>
                <a:spcPct val="110000"/>
              </a:lnSpc>
              <a:spcBef>
                <a:spcPts val="0"/>
              </a:spcBef>
              <a:spcAft>
                <a:spcPts val="100"/>
              </a:spcAft>
            </a:pPr>
            <a:r>
              <a:rPr sz="1200" b="0" i="0">
                <a:solidFill>
                  <a:srgbClr val="6B7480"/>
                </a:solidFill>
                <a:latin typeface="Calibri"/>
              </a:rPr>
              <a:t>be withdrawn before</a:t>
            </a:r>
          </a:p>
          <a:p>
            <a:pPr algn="l">
              <a:lnSpc>
                <a:spcPct val="110000"/>
              </a:lnSpc>
              <a:spcBef>
                <a:spcPts val="0"/>
              </a:spcBef>
              <a:spcAft>
                <a:spcPts val="100"/>
              </a:spcAft>
            </a:pPr>
            <a:r>
              <a:rPr sz="1200" b="0" i="0">
                <a:solidFill>
                  <a:srgbClr val="6B7480"/>
                </a:solidFill>
                <a:latin typeface="Calibri"/>
              </a:rPr>
              <a:t>it expires.</a:t>
            </a:r>
          </a:p>
          <a:p>
            <a:pPr algn="l">
              <a:lnSpc>
                <a:spcPct val="110000"/>
              </a:lnSpc>
              <a:spcBef>
                <a:spcPts val="0"/>
              </a:spcBef>
              <a:spcAft>
                <a:spcPts val="100"/>
              </a:spcAft>
            </a:pPr>
            <a:r>
              <a:rPr sz="1200" b="0" i="0">
                <a:solidFill>
                  <a:srgbClr val="6B7480"/>
                </a:solidFill>
                <a:latin typeface="Calibri"/>
              </a:rPr>
              <a:t/>
            </a:r>
          </a:p>
          <a:p>
            <a:pPr algn="l">
              <a:lnSpc>
                <a:spcPct val="110000"/>
              </a:lnSpc>
              <a:spcBef>
                <a:spcPts val="0"/>
              </a:spcBef>
              <a:spcAft>
                <a:spcPts val="100"/>
              </a:spcAft>
            </a:pPr>
            <a:r>
              <a:rPr sz="1200" b="0" i="0">
                <a:solidFill>
                  <a:srgbClr val="6B7480"/>
                </a:solidFill>
                <a:latin typeface="Calibri"/>
              </a:rPr>
              <a:t>An API key is not</a:t>
            </a:r>
          </a:p>
          <a:p>
            <a:pPr algn="l">
              <a:lnSpc>
                <a:spcPct val="110000"/>
              </a:lnSpc>
              <a:spcBef>
                <a:spcPts val="0"/>
              </a:spcBef>
              <a:spcAft>
                <a:spcPts val="100"/>
              </a:spcAft>
            </a:pPr>
            <a:r>
              <a:rPr sz="1200" b="0" i="0">
                <a:solidFill>
                  <a:srgbClr val="6B7480"/>
                </a:solidFill>
                <a:latin typeface="Calibri"/>
              </a:rPr>
              <a:t>a session: revoke</a:t>
            </a:r>
          </a:p>
          <a:p>
            <a:pPr algn="l">
              <a:lnSpc>
                <a:spcPct val="110000"/>
              </a:lnSpc>
              <a:spcBef>
                <a:spcPts val="0"/>
              </a:spcBef>
              <a:spcAft>
                <a:spcPts val="100"/>
              </a:spcAft>
            </a:pPr>
            <a:r>
              <a:rPr sz="1200" b="0" i="0">
                <a:solidFill>
                  <a:srgbClr val="6B7480"/>
                </a:solidFill>
                <a:latin typeface="Calibri"/>
              </a:rPr>
              <a:t>or rotate it.</a:t>
            </a:r>
          </a:p>
        </p:txBody>
      </p:sp>
      <p:cxnSp>
        <p:nvCxnSpPr>
          <p:cNvPr id="38" name="Connector 37"/>
          <p:cNvCxnSpPr/>
          <p:nvPr/>
        </p:nvCxnSpPr>
        <p:spPr>
          <a:xfrm>
            <a:off x="1840961" y="2587037"/>
            <a:ext cx="0" cy="30365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904969" y="2647426"/>
            <a:ext cx="467359"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else</a:t>
            </a:r>
          </a:p>
        </p:txBody>
      </p:sp>
      <p:cxnSp>
        <p:nvCxnSpPr>
          <p:cNvPr id="40" name="Connector 39"/>
          <p:cNvCxnSpPr/>
          <p:nvPr/>
        </p:nvCxnSpPr>
        <p:spPr>
          <a:xfrm>
            <a:off x="3862032" y="2587037"/>
            <a:ext cx="0" cy="30365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3926040" y="2647426"/>
            <a:ext cx="467359"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else</a:t>
            </a:r>
          </a:p>
        </p:txBody>
      </p:sp>
      <p:cxnSp>
        <p:nvCxnSpPr>
          <p:cNvPr id="42" name="Connector 41"/>
          <p:cNvCxnSpPr/>
          <p:nvPr/>
        </p:nvCxnSpPr>
        <p:spPr>
          <a:xfrm>
            <a:off x="3862032" y="3722941"/>
            <a:ext cx="0" cy="30365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3926040" y="3783330"/>
            <a:ext cx="467359"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else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STEP BY STEP</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Authentication: the session cookie (web console)</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36</a:t>
            </a:r>
          </a:p>
        </p:txBody>
      </p:sp>
      <p:sp>
        <p:nvSpPr>
          <p:cNvPr id="17" name="Rectangle 16"/>
          <p:cNvSpPr/>
          <p:nvPr/>
        </p:nvSpPr>
        <p:spPr>
          <a:xfrm>
            <a:off x="777240"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BROWSER</a:t>
            </a:r>
          </a:p>
        </p:txBody>
      </p:sp>
      <p:sp>
        <p:nvSpPr>
          <p:cNvPr id="19" name="Rectangle 18"/>
          <p:cNvSpPr/>
          <p:nvPr/>
        </p:nvSpPr>
        <p:spPr>
          <a:xfrm>
            <a:off x="5191684"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1412"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SAJHA SERVER</a:t>
            </a:r>
          </a:p>
        </p:txBody>
      </p:sp>
      <p:sp>
        <p:nvSpPr>
          <p:cNvPr id="21" name="Rectangle 20"/>
          <p:cNvSpPr/>
          <p:nvPr/>
        </p:nvSpPr>
        <p:spPr>
          <a:xfrm>
            <a:off x="9606128"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15856"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USERS TABLE</a:t>
            </a:r>
          </a:p>
        </p:txBody>
      </p:sp>
      <p:sp>
        <p:nvSpPr>
          <p:cNvPr id="23" name="Rounded Rectangle 22"/>
          <p:cNvSpPr/>
          <p:nvPr/>
        </p:nvSpPr>
        <p:spPr>
          <a:xfrm>
            <a:off x="3862032" y="3152309"/>
            <a:ext cx="4467630" cy="375455"/>
          </a:xfrm>
          <a:prstGeom prst="roundRect">
            <a:avLst>
              <a:gd name="adj" fmla="val 1948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per-IP throttle: too many failures → 429</a:t>
            </a:r>
          </a:p>
        </p:txBody>
      </p:sp>
      <p:sp>
        <p:nvSpPr>
          <p:cNvPr id="24" name="Rounded Rectangle 23"/>
          <p:cNvSpPr/>
          <p:nvPr/>
        </p:nvSpPr>
        <p:spPr>
          <a:xfrm>
            <a:off x="3862032" y="4046252"/>
            <a:ext cx="4467630" cy="375455"/>
          </a:xfrm>
          <a:prstGeom prst="roundRect">
            <a:avLst>
              <a:gd name="adj" fmla="val 19483"/>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repeated failures lock the account → 423</a:t>
            </a:r>
          </a:p>
        </p:txBody>
      </p:sp>
      <p:sp>
        <p:nvSpPr>
          <p:cNvPr id="25" name="Rounded Rectangle 24"/>
          <p:cNvSpPr/>
          <p:nvPr/>
        </p:nvSpPr>
        <p:spPr>
          <a:xfrm>
            <a:off x="3862032" y="5387166"/>
            <a:ext cx="4467630" cy="375455"/>
          </a:xfrm>
          <a:prstGeom prst="roundRect">
            <a:avLst>
              <a:gd name="adj" fmla="val 1948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checked: signature, algorithm, expiry</a:t>
            </a:r>
          </a:p>
        </p:txBody>
      </p:sp>
      <p:cxnSp>
        <p:nvCxnSpPr>
          <p:cNvPr id="26" name="Connector 25"/>
          <p:cNvCxnSpPr/>
          <p:nvPr/>
        </p:nvCxnSpPr>
        <p:spPr>
          <a:xfrm>
            <a:off x="2622142" y="1999123"/>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265563" y="1761379"/>
            <a:ext cx="1246124"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1  GET /login</a:t>
            </a:r>
          </a:p>
        </p:txBody>
      </p:sp>
      <p:cxnSp>
        <p:nvCxnSpPr>
          <p:cNvPr id="28" name="Connector 27"/>
          <p:cNvCxnSpPr/>
          <p:nvPr/>
        </p:nvCxnSpPr>
        <p:spPr>
          <a:xfrm flipH="1">
            <a:off x="2622142" y="2446094"/>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142881" y="2208350"/>
            <a:ext cx="1491488"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the sign-in form</a:t>
            </a:r>
          </a:p>
        </p:txBody>
      </p:sp>
      <p:cxnSp>
        <p:nvCxnSpPr>
          <p:cNvPr id="30" name="Connector 29"/>
          <p:cNvCxnSpPr/>
          <p:nvPr/>
        </p:nvCxnSpPr>
        <p:spPr>
          <a:xfrm>
            <a:off x="2622142" y="2893066"/>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2406789" y="2655322"/>
            <a:ext cx="296367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2  POST /login {user_id, password}</a:t>
            </a:r>
          </a:p>
        </p:txBody>
      </p:sp>
      <p:cxnSp>
        <p:nvCxnSpPr>
          <p:cNvPr id="32" name="Connector 31"/>
          <p:cNvCxnSpPr/>
          <p:nvPr/>
        </p:nvCxnSpPr>
        <p:spPr>
          <a:xfrm>
            <a:off x="7036586" y="3787009"/>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75537" y="3549265"/>
            <a:ext cx="1655064"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check the password</a:t>
            </a:r>
          </a:p>
        </p:txBody>
      </p:sp>
      <p:cxnSp>
        <p:nvCxnSpPr>
          <p:cNvPr id="34" name="Connector 33"/>
          <p:cNvCxnSpPr/>
          <p:nvPr/>
        </p:nvCxnSpPr>
        <p:spPr>
          <a:xfrm flipH="1">
            <a:off x="2622142" y="4680952"/>
            <a:ext cx="2532966"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693047" y="4443208"/>
            <a:ext cx="2391156"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Set-Cookie sajha_token; 302</a:t>
            </a:r>
          </a:p>
        </p:txBody>
      </p:sp>
      <p:cxnSp>
        <p:nvCxnSpPr>
          <p:cNvPr id="36" name="Connector 35"/>
          <p:cNvCxnSpPr/>
          <p:nvPr/>
        </p:nvCxnSpPr>
        <p:spPr>
          <a:xfrm>
            <a:off x="2622142" y="5127923"/>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2202319" y="4890179"/>
            <a:ext cx="337261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3  every later request, with the cookie</a:t>
            </a:r>
          </a:p>
        </p:txBody>
      </p:sp>
      <p:cxnSp>
        <p:nvCxnSpPr>
          <p:cNvPr id="38" name="Connector 37"/>
          <p:cNvCxnSpPr/>
          <p:nvPr/>
        </p:nvCxnSpPr>
        <p:spPr>
          <a:xfrm>
            <a:off x="7036586" y="6021866"/>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7148385" y="5784122"/>
            <a:ext cx="2309368"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reload the user every time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STEP BY STEP</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Authentication: the SAJHA JWT (API clients)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37</a:t>
            </a:r>
          </a:p>
        </p:txBody>
      </p:sp>
      <p:sp>
        <p:nvSpPr>
          <p:cNvPr id="17" name="Rectangle 16"/>
          <p:cNvSpPr/>
          <p:nvPr/>
        </p:nvSpPr>
        <p:spPr>
          <a:xfrm>
            <a:off x="777240"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API CLIENT</a:t>
            </a:r>
          </a:p>
        </p:txBody>
      </p:sp>
      <p:sp>
        <p:nvSpPr>
          <p:cNvPr id="19" name="Rectangle 18"/>
          <p:cNvSpPr/>
          <p:nvPr/>
        </p:nvSpPr>
        <p:spPr>
          <a:xfrm>
            <a:off x="5191684"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1412"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SAJHA: AUTHENTICATE</a:t>
            </a:r>
          </a:p>
        </p:txBody>
      </p:sp>
      <p:sp>
        <p:nvSpPr>
          <p:cNvPr id="21" name="Rectangle 20"/>
          <p:cNvSpPr/>
          <p:nvPr/>
        </p:nvSpPr>
        <p:spPr>
          <a:xfrm>
            <a:off x="9606128"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15856"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ACCESS POLICY AND TOOLS</a:t>
            </a:r>
          </a:p>
        </p:txBody>
      </p:sp>
      <p:sp>
        <p:nvSpPr>
          <p:cNvPr id="23" name="Rounded Rectangle 22"/>
          <p:cNvSpPr/>
          <p:nvPr/>
        </p:nvSpPr>
        <p:spPr>
          <a:xfrm>
            <a:off x="3862032" y="2312003"/>
            <a:ext cx="4467630" cy="417173"/>
          </a:xfrm>
          <a:prstGeom prst="roundRect">
            <a:avLst>
              <a:gd name="adj" fmla="val 1753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throttle and lockout, as for the web form</a:t>
            </a:r>
          </a:p>
        </p:txBody>
      </p:sp>
      <p:sp>
        <p:nvSpPr>
          <p:cNvPr id="24" name="Rounded Rectangle 23"/>
          <p:cNvSpPr/>
          <p:nvPr/>
        </p:nvSpPr>
        <p:spPr>
          <a:xfrm>
            <a:off x="3862032" y="4298543"/>
            <a:ext cx="4467630" cy="417173"/>
          </a:xfrm>
          <a:prstGeom prst="roundRect">
            <a:avLst>
              <a:gd name="adj" fmla="val 1753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signature, allowed algorithm, exp</a:t>
            </a:r>
          </a:p>
        </p:txBody>
      </p:sp>
      <p:sp>
        <p:nvSpPr>
          <p:cNvPr id="25" name="Rounded Rectangle 24"/>
          <p:cNvSpPr/>
          <p:nvPr/>
        </p:nvSpPr>
        <p:spPr>
          <a:xfrm>
            <a:off x="3862032" y="4795178"/>
            <a:ext cx="4467630" cy="417173"/>
          </a:xfrm>
          <a:prstGeom prst="roundRect">
            <a:avLst>
              <a:gd name="adj" fmla="val 1753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claims: sub, roles, iss sajha-mcp-server</a:t>
            </a:r>
          </a:p>
        </p:txBody>
      </p:sp>
      <p:sp>
        <p:nvSpPr>
          <p:cNvPr id="26" name="Rounded Rectangle 25"/>
          <p:cNvSpPr/>
          <p:nvPr/>
        </p:nvSpPr>
        <p:spPr>
          <a:xfrm>
            <a:off x="7797802" y="5788447"/>
            <a:ext cx="3616653" cy="417173"/>
          </a:xfrm>
          <a:prstGeom prst="roundRect">
            <a:avLst>
              <a:gd name="adj" fmla="val 1753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REST, /mcp, and /mcp/ws?token=…</a:t>
            </a:r>
          </a:p>
        </p:txBody>
      </p:sp>
      <p:cxnSp>
        <p:nvCxnSpPr>
          <p:cNvPr id="27" name="Connector 26"/>
          <p:cNvCxnSpPr/>
          <p:nvPr/>
        </p:nvCxnSpPr>
        <p:spPr>
          <a:xfrm>
            <a:off x="2622142" y="2023955"/>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56623" y="1786211"/>
            <a:ext cx="2064004"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1  POST /api/auth/login</a:t>
            </a:r>
          </a:p>
        </p:txBody>
      </p:sp>
      <p:cxnSp>
        <p:nvCxnSpPr>
          <p:cNvPr id="29" name="Connector 28"/>
          <p:cNvCxnSpPr/>
          <p:nvPr/>
        </p:nvCxnSpPr>
        <p:spPr>
          <a:xfrm flipH="1">
            <a:off x="2622142" y="3017225"/>
            <a:ext cx="2532966" cy="0"/>
          </a:xfrm>
          <a:prstGeom prst="line">
            <a:avLst/>
          </a:prstGeom>
          <a:ln w="20320">
            <a:solidFill>
              <a:srgbClr val="8A162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693047" y="2779481"/>
            <a:ext cx="2391156"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invalid → 401; locked → 423</a:t>
            </a:r>
          </a:p>
        </p:txBody>
      </p:sp>
      <p:cxnSp>
        <p:nvCxnSpPr>
          <p:cNvPr id="31" name="Connector 30"/>
          <p:cNvCxnSpPr/>
          <p:nvPr/>
        </p:nvCxnSpPr>
        <p:spPr>
          <a:xfrm flipH="1">
            <a:off x="2622142" y="3513859"/>
            <a:ext cx="2532966"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447683" y="3276115"/>
            <a:ext cx="2881884"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2  {token: eyJ…, user: {roles …}}</a:t>
            </a:r>
          </a:p>
        </p:txBody>
      </p:sp>
      <p:cxnSp>
        <p:nvCxnSpPr>
          <p:cNvPr id="33" name="Connector 32"/>
          <p:cNvCxnSpPr/>
          <p:nvPr/>
        </p:nvCxnSpPr>
        <p:spPr>
          <a:xfrm>
            <a:off x="2622142" y="4010494"/>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611259" y="3772750"/>
            <a:ext cx="255473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3  Authorization: Bearer eyJ…</a:t>
            </a:r>
          </a:p>
        </p:txBody>
      </p:sp>
      <p:cxnSp>
        <p:nvCxnSpPr>
          <p:cNvPr id="35" name="Connector 34"/>
          <p:cNvCxnSpPr/>
          <p:nvPr/>
        </p:nvCxnSpPr>
        <p:spPr>
          <a:xfrm>
            <a:off x="7036586" y="5500399"/>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107491" y="5262655"/>
            <a:ext cx="2391156"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4  the caller's tool access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STEP BY STEP</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Authentication: the API key (automation)</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38</a:t>
            </a:r>
          </a:p>
        </p:txBody>
      </p:sp>
      <p:sp>
        <p:nvSpPr>
          <p:cNvPr id="17" name="Rectangle 16"/>
          <p:cNvSpPr/>
          <p:nvPr/>
        </p:nvSpPr>
        <p:spPr>
          <a:xfrm>
            <a:off x="777240"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SCRIPT OR AGENT</a:t>
            </a:r>
          </a:p>
        </p:txBody>
      </p:sp>
      <p:sp>
        <p:nvSpPr>
          <p:cNvPr id="19" name="Rectangle 18"/>
          <p:cNvSpPr/>
          <p:nvPr/>
        </p:nvSpPr>
        <p:spPr>
          <a:xfrm>
            <a:off x="5191684"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01412"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SAJHA SERVER</a:t>
            </a:r>
          </a:p>
        </p:txBody>
      </p:sp>
      <p:sp>
        <p:nvSpPr>
          <p:cNvPr id="21" name="Rectangle 20"/>
          <p:cNvSpPr/>
          <p:nvPr/>
        </p:nvSpPr>
        <p:spPr>
          <a:xfrm>
            <a:off x="9606128" y="1386967"/>
            <a:ext cx="1808326"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15856" y="1450975"/>
            <a:ext cx="1588870"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ADMINISTRATOR</a:t>
            </a:r>
          </a:p>
        </p:txBody>
      </p:sp>
      <p:sp>
        <p:nvSpPr>
          <p:cNvPr id="23" name="Rounded Rectangle 22"/>
          <p:cNvSpPr/>
          <p:nvPr/>
        </p:nvSpPr>
        <p:spPr>
          <a:xfrm>
            <a:off x="3862032" y="2258366"/>
            <a:ext cx="4467630" cy="375455"/>
          </a:xfrm>
          <a:prstGeom prst="roundRect">
            <a:avLst>
              <a:gd name="adj" fmla="val 1948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950" b="0" i="0">
                <a:solidFill>
                  <a:srgbClr val="1A1A1A"/>
                </a:solidFill>
                <a:latin typeface="Calibri"/>
              </a:rPr>
              <a:t>sja_ + 48 hex; its SHA-256 and prefix stored (raw too under plain storage)</a:t>
            </a:r>
          </a:p>
        </p:txBody>
      </p:sp>
      <p:sp>
        <p:nvSpPr>
          <p:cNvPr id="24" name="Rounded Rectangle 23"/>
          <p:cNvSpPr/>
          <p:nvPr/>
        </p:nvSpPr>
        <p:spPr>
          <a:xfrm>
            <a:off x="3862032" y="2705338"/>
            <a:ext cx="4467630" cy="375455"/>
          </a:xfrm>
          <a:prstGeom prst="roundRect">
            <a:avLst>
              <a:gd name="adj" fmla="val 1948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tool access mode: all, allowlist, denylist or regex</a:t>
            </a:r>
          </a:p>
        </p:txBody>
      </p:sp>
      <p:sp>
        <p:nvSpPr>
          <p:cNvPr id="25" name="Rounded Rectangle 24"/>
          <p:cNvSpPr/>
          <p:nvPr/>
        </p:nvSpPr>
        <p:spPr>
          <a:xfrm>
            <a:off x="3862032" y="3599281"/>
            <a:ext cx="4467630" cy="375455"/>
          </a:xfrm>
          <a:prstGeom prst="roundRect">
            <a:avLst>
              <a:gd name="adj" fmla="val 19483"/>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950" b="0" i="0">
                <a:solidFill>
                  <a:srgbClr val="1A1A1A"/>
                </a:solidFill>
                <a:latin typeface="Calibri"/>
              </a:rPr>
              <a:t>keys file, then database, then dump; unknown, disabled or expired → refused</a:t>
            </a:r>
          </a:p>
        </p:txBody>
      </p:sp>
      <p:sp>
        <p:nvSpPr>
          <p:cNvPr id="26" name="Rounded Rectangle 25"/>
          <p:cNvSpPr/>
          <p:nvPr/>
        </p:nvSpPr>
        <p:spPr>
          <a:xfrm>
            <a:off x="3862032" y="4046252"/>
            <a:ext cx="4467630" cy="375455"/>
          </a:xfrm>
          <a:prstGeom prst="roundRect">
            <a:avLst>
              <a:gd name="adj" fmla="val 1948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950" b="0" i="0">
                <a:solidFill>
                  <a:srgbClr val="1A1A1A"/>
                </a:solidFill>
                <a:latin typeface="Calibri"/>
              </a:rPr>
              <a:t>signs in as its owner (owner's roles; key's tool list as a ceiling)</a:t>
            </a:r>
          </a:p>
        </p:txBody>
      </p:sp>
      <p:cxnSp>
        <p:nvCxnSpPr>
          <p:cNvPr id="27" name="Connector 26"/>
          <p:cNvCxnSpPr/>
          <p:nvPr/>
        </p:nvCxnSpPr>
        <p:spPr>
          <a:xfrm flipH="1">
            <a:off x="7036586" y="1999123"/>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43915" y="1761379"/>
            <a:ext cx="2718308"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1  create a key, in the console</a:t>
            </a:r>
          </a:p>
        </p:txBody>
      </p:sp>
      <p:cxnSp>
        <p:nvCxnSpPr>
          <p:cNvPr id="29" name="Connector 28"/>
          <p:cNvCxnSpPr/>
          <p:nvPr/>
        </p:nvCxnSpPr>
        <p:spPr>
          <a:xfrm>
            <a:off x="2622142" y="3340037"/>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20199" y="3102293"/>
            <a:ext cx="173685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2  X-API-Key: sja_…</a:t>
            </a:r>
          </a:p>
        </p:txBody>
      </p:sp>
      <p:cxnSp>
        <p:nvCxnSpPr>
          <p:cNvPr id="31" name="Connector 30"/>
          <p:cNvCxnSpPr/>
          <p:nvPr/>
        </p:nvCxnSpPr>
        <p:spPr>
          <a:xfrm>
            <a:off x="2622142" y="4680952"/>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897517" y="4443208"/>
            <a:ext cx="1982216"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3  tools/call fred_gdp</a:t>
            </a:r>
          </a:p>
        </p:txBody>
      </p:sp>
      <p:cxnSp>
        <p:nvCxnSpPr>
          <p:cNvPr id="33" name="Connector 32"/>
          <p:cNvCxnSpPr/>
          <p:nvPr/>
        </p:nvCxnSpPr>
        <p:spPr>
          <a:xfrm flipH="1">
            <a:off x="2622142" y="5127923"/>
            <a:ext cx="2532966"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325001" y="4890179"/>
            <a:ext cx="3127248"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allowlist fred_*, calc_*: the result</a:t>
            </a:r>
          </a:p>
        </p:txBody>
      </p:sp>
      <p:cxnSp>
        <p:nvCxnSpPr>
          <p:cNvPr id="35" name="Connector 34"/>
          <p:cNvCxnSpPr/>
          <p:nvPr/>
        </p:nvCxnSpPr>
        <p:spPr>
          <a:xfrm>
            <a:off x="2622142" y="5574894"/>
            <a:ext cx="253296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856623" y="5337150"/>
            <a:ext cx="2064004"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tools/call yf_fast_info</a:t>
            </a:r>
          </a:p>
        </p:txBody>
      </p:sp>
      <p:cxnSp>
        <p:nvCxnSpPr>
          <p:cNvPr id="37" name="Connector 36"/>
          <p:cNvCxnSpPr/>
          <p:nvPr/>
        </p:nvCxnSpPr>
        <p:spPr>
          <a:xfrm flipH="1">
            <a:off x="2622142" y="6021866"/>
            <a:ext cx="2532966" cy="0"/>
          </a:xfrm>
          <a:prstGeom prst="line">
            <a:avLst/>
          </a:prstGeom>
          <a:ln w="20320">
            <a:solidFill>
              <a:srgbClr val="8A1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3183775" y="5784122"/>
            <a:ext cx="1409700"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403: not listed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STEP BY STEP</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Authorization: OAuth 2.1 with PKCE on /mcp</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39</a:t>
            </a:r>
          </a:p>
        </p:txBody>
      </p:sp>
      <p:sp>
        <p:nvSpPr>
          <p:cNvPr id="17" name="Rectangle 16"/>
          <p:cNvSpPr/>
          <p:nvPr/>
        </p:nvSpPr>
        <p:spPr>
          <a:xfrm>
            <a:off x="777240" y="1386967"/>
            <a:ext cx="1595582"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50975"/>
            <a:ext cx="1376126"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AUTHORIZATION SERVER</a:t>
            </a:r>
          </a:p>
        </p:txBody>
      </p:sp>
      <p:sp>
        <p:nvSpPr>
          <p:cNvPr id="19" name="Rectangle 18"/>
          <p:cNvSpPr/>
          <p:nvPr/>
        </p:nvSpPr>
        <p:spPr>
          <a:xfrm>
            <a:off x="5298056" y="1386967"/>
            <a:ext cx="1595582"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07784" y="1450975"/>
            <a:ext cx="1376126"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MCP CLIENT</a:t>
            </a:r>
          </a:p>
        </p:txBody>
      </p:sp>
      <p:sp>
        <p:nvSpPr>
          <p:cNvPr id="21" name="Rectangle 20"/>
          <p:cNvSpPr/>
          <p:nvPr/>
        </p:nvSpPr>
        <p:spPr>
          <a:xfrm>
            <a:off x="9818872" y="1386967"/>
            <a:ext cx="1595582"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928600" y="1450975"/>
            <a:ext cx="1376126"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SAJHA /MCP</a:t>
            </a:r>
          </a:p>
        </p:txBody>
      </p:sp>
      <p:sp>
        <p:nvSpPr>
          <p:cNvPr id="23" name="Rounded Rectangle 22"/>
          <p:cNvSpPr/>
          <p:nvPr/>
        </p:nvSpPr>
        <p:spPr>
          <a:xfrm>
            <a:off x="777240" y="3839833"/>
            <a:ext cx="3191164" cy="341323"/>
          </a:xfrm>
          <a:prstGeom prst="roundRect">
            <a:avLst>
              <a:gd name="adj" fmla="val 2143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0" i="0">
                <a:solidFill>
                  <a:srgbClr val="1A1A1A"/>
                </a:solidFill>
                <a:latin typeface="Calibri"/>
              </a:rPr>
              <a:t>the user signs in and consents</a:t>
            </a:r>
          </a:p>
        </p:txBody>
      </p:sp>
      <p:sp>
        <p:nvSpPr>
          <p:cNvPr id="24" name="Rounded Rectangle 23"/>
          <p:cNvSpPr/>
          <p:nvPr/>
        </p:nvSpPr>
        <p:spPr>
          <a:xfrm>
            <a:off x="6946824" y="5871521"/>
            <a:ext cx="4467630" cy="341323"/>
          </a:xfrm>
          <a:prstGeom prst="roundRect">
            <a:avLst>
              <a:gd name="adj" fmla="val 2143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50" b="0" i="0">
                <a:solidFill>
                  <a:srgbClr val="1A1A1A"/>
                </a:solidFill>
                <a:latin typeface="Calibri"/>
              </a:rPr>
              <a:t>signature, issuer, audience, expiry, scope; then tool access</a:t>
            </a:r>
          </a:p>
        </p:txBody>
      </p:sp>
      <p:cxnSp>
        <p:nvCxnSpPr>
          <p:cNvPr id="25" name="Connector 24"/>
          <p:cNvCxnSpPr/>
          <p:nvPr/>
        </p:nvCxnSpPr>
        <p:spPr>
          <a:xfrm>
            <a:off x="6930214" y="1978806"/>
            <a:ext cx="285208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365147" y="1741062"/>
            <a:ext cx="1982216"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1  POST /mcp, no token</a:t>
            </a:r>
          </a:p>
        </p:txBody>
      </p:sp>
      <p:cxnSp>
        <p:nvCxnSpPr>
          <p:cNvPr id="27" name="Connector 26"/>
          <p:cNvCxnSpPr/>
          <p:nvPr/>
        </p:nvCxnSpPr>
        <p:spPr>
          <a:xfrm flipH="1">
            <a:off x="6930214" y="2385144"/>
            <a:ext cx="2852082" cy="0"/>
          </a:xfrm>
          <a:prstGeom prst="line">
            <a:avLst/>
          </a:prstGeom>
          <a:ln w="20320">
            <a:solidFill>
              <a:srgbClr val="8A162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629055" y="2147400"/>
            <a:ext cx="3454400"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401, WWW-Authenticate: resource_metadata</a:t>
            </a:r>
          </a:p>
        </p:txBody>
      </p:sp>
      <p:cxnSp>
        <p:nvCxnSpPr>
          <p:cNvPr id="29" name="Connector 28"/>
          <p:cNvCxnSpPr/>
          <p:nvPr/>
        </p:nvCxnSpPr>
        <p:spPr>
          <a:xfrm>
            <a:off x="6930214" y="2791481"/>
            <a:ext cx="285208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874419" y="2553737"/>
            <a:ext cx="296367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2  GET protected-resource metadata</a:t>
            </a:r>
          </a:p>
        </p:txBody>
      </p:sp>
      <p:cxnSp>
        <p:nvCxnSpPr>
          <p:cNvPr id="31" name="Connector 30"/>
          <p:cNvCxnSpPr/>
          <p:nvPr/>
        </p:nvCxnSpPr>
        <p:spPr>
          <a:xfrm flipH="1">
            <a:off x="6930214" y="3197819"/>
            <a:ext cx="285208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037995" y="2960075"/>
            <a:ext cx="2636520"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names the authorization server</a:t>
            </a:r>
          </a:p>
        </p:txBody>
      </p:sp>
      <p:cxnSp>
        <p:nvCxnSpPr>
          <p:cNvPr id="33" name="Connector 32"/>
          <p:cNvCxnSpPr/>
          <p:nvPr/>
        </p:nvCxnSpPr>
        <p:spPr>
          <a:xfrm flipH="1">
            <a:off x="2409398" y="3604157"/>
            <a:ext cx="285208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108239" y="3366413"/>
            <a:ext cx="3454400"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3  /oauth/authorize, PKCE S256, resource</a:t>
            </a:r>
          </a:p>
        </p:txBody>
      </p:sp>
      <p:cxnSp>
        <p:nvCxnSpPr>
          <p:cNvPr id="35" name="Connector 34"/>
          <p:cNvCxnSpPr/>
          <p:nvPr/>
        </p:nvCxnSpPr>
        <p:spPr>
          <a:xfrm>
            <a:off x="2409398" y="4416832"/>
            <a:ext cx="285208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2885225" y="4179088"/>
            <a:ext cx="1900428"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an authorization code</a:t>
            </a:r>
          </a:p>
        </p:txBody>
      </p:sp>
      <p:cxnSp>
        <p:nvCxnSpPr>
          <p:cNvPr id="37" name="Connector 36"/>
          <p:cNvCxnSpPr/>
          <p:nvPr/>
        </p:nvCxnSpPr>
        <p:spPr>
          <a:xfrm flipH="1">
            <a:off x="2409398" y="4823170"/>
            <a:ext cx="285208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230921" y="4585426"/>
            <a:ext cx="3209036"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4  /oauth/token {code, code_verifier}</a:t>
            </a:r>
          </a:p>
        </p:txBody>
      </p:sp>
      <p:cxnSp>
        <p:nvCxnSpPr>
          <p:cNvPr id="39" name="Connector 38"/>
          <p:cNvCxnSpPr/>
          <p:nvPr/>
        </p:nvCxnSpPr>
        <p:spPr>
          <a:xfrm>
            <a:off x="2409398" y="5229507"/>
            <a:ext cx="2852082"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2271815" y="4991763"/>
            <a:ext cx="3127248"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access token for /mcp; refresh token</a:t>
            </a:r>
          </a:p>
        </p:txBody>
      </p:sp>
      <p:cxnSp>
        <p:nvCxnSpPr>
          <p:cNvPr id="41" name="Connector 40"/>
          <p:cNvCxnSpPr/>
          <p:nvPr/>
        </p:nvCxnSpPr>
        <p:spPr>
          <a:xfrm>
            <a:off x="6930214" y="5635845"/>
            <a:ext cx="2852082"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201571" y="5398101"/>
            <a:ext cx="2309368"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5  POST /mcp, Bearer token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STEP BY STEP</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A1A1A"/>
                </a:solidFill>
                <a:latin typeface="Georgia"/>
              </a:rPr>
              <a:t>Authorization: the access and policy check on tools/call</a:t>
            </a:r>
          </a:p>
        </p:txBody>
      </p:sp>
      <p:sp>
        <p:nvSpPr>
          <p:cNvPr id="6" name="Rectangle 5"/>
          <p:cNvSpPr/>
          <p:nvPr/>
        </p:nvSpPr>
        <p:spPr>
          <a:xfrm>
            <a:off x="777240" y="124288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40</a:t>
            </a:r>
          </a:p>
        </p:txBody>
      </p:sp>
      <p:sp>
        <p:nvSpPr>
          <p:cNvPr id="17" name="Rounded Rectangle 16"/>
          <p:cNvSpPr/>
          <p:nvPr/>
        </p:nvSpPr>
        <p:spPr>
          <a:xfrm>
            <a:off x="777240" y="2199558"/>
            <a:ext cx="1329651" cy="1267357"/>
          </a:xfrm>
          <a:prstGeom prst="roundRect">
            <a:avLst>
              <a:gd name="adj" fmla="val 577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tools/call</a:t>
            </a:r>
          </a:p>
          <a:p>
            <a:pPr algn="ctr">
              <a:lnSpc>
                <a:spcPct val="105000"/>
              </a:lnSpc>
              <a:spcBef>
                <a:spcPts val="0"/>
              </a:spcBef>
              <a:spcAft>
                <a:spcPts val="0"/>
              </a:spcAft>
            </a:pPr>
            <a:r>
              <a:rPr sz="1050" b="0" i="0">
                <a:solidFill>
                  <a:srgbClr val="1A1A1A"/>
                </a:solidFill>
                <a:latin typeface="Calibri"/>
              </a:rPr>
              <a:t>duckdb_sql, arguments</a:t>
            </a:r>
          </a:p>
        </p:txBody>
      </p:sp>
      <p:sp>
        <p:nvSpPr>
          <p:cNvPr id="18" name="Rounded Rectangle 17"/>
          <p:cNvSpPr/>
          <p:nvPr/>
        </p:nvSpPr>
        <p:spPr>
          <a:xfrm>
            <a:off x="2328500" y="2199558"/>
            <a:ext cx="1329651" cy="1267357"/>
          </a:xfrm>
          <a:prstGeom prst="roundRect">
            <a:avLst>
              <a:gd name="adj" fmla="val 5772"/>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Who is calling?</a:t>
            </a:r>
          </a:p>
          <a:p>
            <a:pPr algn="ctr">
              <a:lnSpc>
                <a:spcPct val="105000"/>
              </a:lnSpc>
              <a:spcBef>
                <a:spcPts val="0"/>
              </a:spcBef>
              <a:spcAft>
                <a:spcPts val="0"/>
              </a:spcAft>
            </a:pPr>
            <a:r>
              <a:rPr sz="1050" b="0" i="0">
                <a:solidFill>
                  <a:srgbClr val="1A1A1A"/>
                </a:solidFill>
                <a:latin typeface="Calibri"/>
              </a:rPr>
              <a:t>JWT, API key, cookie, OAuth token or anonymous</a:t>
            </a:r>
          </a:p>
        </p:txBody>
      </p:sp>
      <p:sp>
        <p:nvSpPr>
          <p:cNvPr id="19" name="Diamond 18"/>
          <p:cNvSpPr/>
          <p:nvPr/>
        </p:nvSpPr>
        <p:spPr>
          <a:xfrm>
            <a:off x="3879761" y="1955835"/>
            <a:ext cx="1329651" cy="1754802"/>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Access?</a:t>
            </a:r>
          </a:p>
        </p:txBody>
      </p:sp>
      <p:sp>
        <p:nvSpPr>
          <p:cNvPr id="20" name="Rectangle 19"/>
          <p:cNvSpPr/>
          <p:nvPr/>
        </p:nvSpPr>
        <p:spPr>
          <a:xfrm>
            <a:off x="3879761" y="1370901"/>
            <a:ext cx="1329651" cy="487445"/>
          </a:xfrm>
          <a:prstGeom prst="rect">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roles' patterns or the key's mode</a:t>
            </a:r>
          </a:p>
        </p:txBody>
      </p:sp>
      <p:sp>
        <p:nvSpPr>
          <p:cNvPr id="21" name="Diamond 20"/>
          <p:cNvSpPr/>
          <p:nvPr/>
        </p:nvSpPr>
        <p:spPr>
          <a:xfrm>
            <a:off x="5431021" y="1955835"/>
            <a:ext cx="1329651" cy="1754802"/>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Valid?</a:t>
            </a:r>
          </a:p>
        </p:txBody>
      </p:sp>
      <p:sp>
        <p:nvSpPr>
          <p:cNvPr id="22" name="Rectangle 21"/>
          <p:cNvSpPr/>
          <p:nvPr/>
        </p:nvSpPr>
        <p:spPr>
          <a:xfrm>
            <a:off x="5431021" y="1370901"/>
            <a:ext cx="1329651" cy="487445"/>
          </a:xfrm>
          <a:prstGeom prst="rect">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arguments against the JSON Schema</a:t>
            </a:r>
          </a:p>
        </p:txBody>
      </p:sp>
      <p:sp>
        <p:nvSpPr>
          <p:cNvPr id="23" name="Diamond 22"/>
          <p:cNvSpPr/>
          <p:nvPr/>
        </p:nvSpPr>
        <p:spPr>
          <a:xfrm>
            <a:off x="6982282" y="1955835"/>
            <a:ext cx="1329651" cy="1754802"/>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Policy?</a:t>
            </a:r>
          </a:p>
        </p:txBody>
      </p:sp>
      <p:sp>
        <p:nvSpPr>
          <p:cNvPr id="24" name="Rectangle 23"/>
          <p:cNvSpPr/>
          <p:nvPr/>
        </p:nvSpPr>
        <p:spPr>
          <a:xfrm>
            <a:off x="6982282" y="1370901"/>
            <a:ext cx="1329651" cy="487445"/>
          </a:xfrm>
          <a:prstGeom prst="rect">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config/policies</a:t>
            </a:r>
          </a:p>
        </p:txBody>
      </p:sp>
      <p:sp>
        <p:nvSpPr>
          <p:cNvPr id="25" name="Rounded Rectangle 24"/>
          <p:cNvSpPr/>
          <p:nvPr/>
        </p:nvSpPr>
        <p:spPr>
          <a:xfrm>
            <a:off x="8533542" y="2199558"/>
            <a:ext cx="1329651" cy="1267357"/>
          </a:xfrm>
          <a:prstGeom prst="roundRect">
            <a:avLst>
              <a:gd name="adj" fmla="val 577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Run</a:t>
            </a:r>
          </a:p>
          <a:p>
            <a:pPr algn="ctr">
              <a:lnSpc>
                <a:spcPct val="105000"/>
              </a:lnSpc>
              <a:spcBef>
                <a:spcPts val="0"/>
              </a:spcBef>
              <a:spcAft>
                <a:spcPts val="0"/>
              </a:spcAft>
            </a:pPr>
            <a:r>
              <a:rPr sz="1050" b="0" i="0">
                <a:solidFill>
                  <a:srgbClr val="FFFFFF"/>
                </a:solidFill>
                <a:latin typeface="Calibri"/>
              </a:rPr>
              <a:t>cache, circuit breaker, metrics</a:t>
            </a:r>
          </a:p>
        </p:txBody>
      </p:sp>
      <p:sp>
        <p:nvSpPr>
          <p:cNvPr id="26" name="Rounded Rectangle 25"/>
          <p:cNvSpPr/>
          <p:nvPr/>
        </p:nvSpPr>
        <p:spPr>
          <a:xfrm>
            <a:off x="10084803" y="2199558"/>
            <a:ext cx="1329651" cy="1267357"/>
          </a:xfrm>
          <a:prstGeom prst="roundRect">
            <a:avLst>
              <a:gd name="adj" fmla="val 577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Result</a:t>
            </a:r>
          </a:p>
          <a:p>
            <a:pPr algn="ctr">
              <a:lnSpc>
                <a:spcPct val="105000"/>
              </a:lnSpc>
              <a:spcBef>
                <a:spcPts val="0"/>
              </a:spcBef>
              <a:spcAft>
                <a:spcPts val="0"/>
              </a:spcAft>
            </a:pPr>
            <a:r>
              <a:rPr sz="1050" b="0" i="0">
                <a:solidFill>
                  <a:srgbClr val="FFFFFF"/>
                </a:solidFill>
                <a:latin typeface="Calibri"/>
              </a:rPr>
              <a:t>redaction and screening if a rule says so</a:t>
            </a:r>
          </a:p>
        </p:txBody>
      </p:sp>
      <p:sp>
        <p:nvSpPr>
          <p:cNvPr id="27" name="Rounded Rectangle 26"/>
          <p:cNvSpPr/>
          <p:nvPr/>
        </p:nvSpPr>
        <p:spPr>
          <a:xfrm>
            <a:off x="3879761" y="4393060"/>
            <a:ext cx="1329651" cy="828656"/>
          </a:xfrm>
          <a:prstGeom prst="roundRect">
            <a:avLst>
              <a:gd name="adj" fmla="val 8827"/>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FFFFFF"/>
                </a:solidFill>
                <a:latin typeface="Calibri"/>
              </a:rPr>
              <a:t>access denied, recorded</a:t>
            </a:r>
          </a:p>
        </p:txBody>
      </p:sp>
      <p:sp>
        <p:nvSpPr>
          <p:cNvPr id="28" name="Rounded Rectangle 27"/>
          <p:cNvSpPr/>
          <p:nvPr/>
        </p:nvSpPr>
        <p:spPr>
          <a:xfrm>
            <a:off x="5431021" y="4393060"/>
            <a:ext cx="1329651" cy="828656"/>
          </a:xfrm>
          <a:prstGeom prst="roundRect">
            <a:avLst>
              <a:gd name="adj" fmla="val 8827"/>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FFFFFF"/>
                </a:solidFill>
                <a:latin typeface="Calibri"/>
              </a:rPr>
              <a:t>error -32602</a:t>
            </a:r>
          </a:p>
        </p:txBody>
      </p:sp>
      <p:sp>
        <p:nvSpPr>
          <p:cNvPr id="29" name="Rounded Rectangle 28"/>
          <p:cNvSpPr/>
          <p:nvPr/>
        </p:nvSpPr>
        <p:spPr>
          <a:xfrm>
            <a:off x="6982282" y="4393060"/>
            <a:ext cx="1329651" cy="828656"/>
          </a:xfrm>
          <a:prstGeom prst="roundRect">
            <a:avLst>
              <a:gd name="adj" fmla="val 8827"/>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FFFFFF"/>
                </a:solidFill>
                <a:latin typeface="Calibri"/>
              </a:rPr>
              <a:t>deny with a reason, or wait for approval; audited</a:t>
            </a:r>
          </a:p>
        </p:txBody>
      </p:sp>
      <p:sp>
        <p:nvSpPr>
          <p:cNvPr id="30" name="Rounded Rectangle 29"/>
          <p:cNvSpPr/>
          <p:nvPr/>
        </p:nvSpPr>
        <p:spPr>
          <a:xfrm>
            <a:off x="5351242" y="5562928"/>
            <a:ext cx="6063212" cy="584934"/>
          </a:xfrm>
          <a:prstGeom prst="roundRect">
            <a:avLst>
              <a:gd name="adj" fmla="val 12506"/>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one hash-chained audit record, whatever happened</a:t>
            </a:r>
          </a:p>
        </p:txBody>
      </p:sp>
      <p:sp>
        <p:nvSpPr>
          <p:cNvPr id="31" name="TextBox 30"/>
          <p:cNvSpPr txBox="1"/>
          <p:nvPr/>
        </p:nvSpPr>
        <p:spPr>
          <a:xfrm>
            <a:off x="777240" y="5562928"/>
            <a:ext cx="4467630" cy="584934"/>
          </a:xfrm>
          <a:prstGeom prst="rect">
            <a:avLst/>
          </a:prstGeom>
          <a:noFill/>
        </p:spPr>
        <p:txBody>
          <a:bodyPr wrap="square" lIns="0" rIns="0" tIns="0" bIns="0" anchor="t">
            <a:spAutoFit/>
          </a:bodyPr>
          <a:lstStyle/>
          <a:p>
            <a:pPr algn="l">
              <a:lnSpc>
                <a:spcPct val="110000"/>
              </a:lnSpc>
              <a:spcBef>
                <a:spcPts val="0"/>
              </a:spcBef>
              <a:spcAft>
                <a:spcPts val="100"/>
              </a:spcAft>
            </a:pPr>
            <a:r>
              <a:rPr sz="1100" b="0" i="1">
                <a:solidFill>
                  <a:srgbClr val="6B7480"/>
                </a:solidFill>
                <a:latin typeface="Calibri"/>
              </a:rPr>
              <a:t>Any client: HTTP, SSE, WebSocket, stdio, A2A. deny wins over allow.</a:t>
            </a:r>
          </a:p>
        </p:txBody>
      </p:sp>
      <p:cxnSp>
        <p:nvCxnSpPr>
          <p:cNvPr id="32" name="Connector 31"/>
          <p:cNvCxnSpPr/>
          <p:nvPr/>
        </p:nvCxnSpPr>
        <p:spPr>
          <a:xfrm>
            <a:off x="2152611" y="2833236"/>
            <a:ext cx="13016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703872" y="2833236"/>
            <a:ext cx="13016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255133" y="2833236"/>
            <a:ext cx="130168"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806393" y="2833236"/>
            <a:ext cx="13016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357654" y="2833236"/>
            <a:ext cx="130168"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908914" y="2833236"/>
            <a:ext cx="13016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44587" y="3756357"/>
            <a:ext cx="0" cy="59098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4608595" y="3960409"/>
            <a:ext cx="32512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8A1626"/>
                </a:solidFill>
                <a:latin typeface="Calibri"/>
              </a:rPr>
              <a:t>no</a:t>
            </a:r>
          </a:p>
        </p:txBody>
      </p:sp>
      <p:cxnSp>
        <p:nvCxnSpPr>
          <p:cNvPr id="40" name="Connector 39"/>
          <p:cNvCxnSpPr/>
          <p:nvPr/>
        </p:nvCxnSpPr>
        <p:spPr>
          <a:xfrm>
            <a:off x="6095847" y="3756357"/>
            <a:ext cx="0" cy="59098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159855" y="3960409"/>
            <a:ext cx="32512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8A1626"/>
                </a:solidFill>
                <a:latin typeface="Calibri"/>
              </a:rPr>
              <a:t>no</a:t>
            </a:r>
          </a:p>
        </p:txBody>
      </p:sp>
      <p:cxnSp>
        <p:nvCxnSpPr>
          <p:cNvPr id="42" name="Connector 41"/>
          <p:cNvCxnSpPr/>
          <p:nvPr/>
        </p:nvCxnSpPr>
        <p:spPr>
          <a:xfrm>
            <a:off x="7647108" y="3756357"/>
            <a:ext cx="0" cy="59098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711116" y="3960409"/>
            <a:ext cx="32512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8A1626"/>
                </a:solidFill>
                <a:latin typeface="Calibri"/>
              </a:rPr>
              <a:t>no</a:t>
            </a:r>
          </a:p>
        </p:txBody>
      </p:sp>
      <p:cxnSp>
        <p:nvCxnSpPr>
          <p:cNvPr id="44" name="Connector 43"/>
          <p:cNvCxnSpPr/>
          <p:nvPr/>
        </p:nvCxnSpPr>
        <p:spPr>
          <a:xfrm>
            <a:off x="10749629" y="3512635"/>
            <a:ext cx="0" cy="200457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POLICY</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 rule is a few lines of YAML, and it decides before the tool runs</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41</a:t>
            </a:r>
          </a:p>
        </p:txBody>
      </p:sp>
      <p:sp>
        <p:nvSpPr>
          <p:cNvPr id="17" name="Rectangle 16"/>
          <p:cNvSpPr/>
          <p:nvPr/>
        </p:nvSpPr>
        <p:spPr>
          <a:xfrm>
            <a:off x="777240" y="1306639"/>
            <a:ext cx="4467630" cy="4938712"/>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1306639"/>
            <a:ext cx="41148" cy="49387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1452943"/>
            <a:ext cx="4083582" cy="4664392"/>
          </a:xfrm>
          <a:prstGeom prst="rect">
            <a:avLst/>
          </a:prstGeom>
          <a:noFill/>
        </p:spPr>
        <p:txBody>
          <a:bodyPr wrap="square" lIns="0" rIns="0" tIns="0" bIns="0" anchor="t">
            <a:spAutoFit/>
          </a:bodyPr>
          <a:lstStyle/>
          <a:p>
            <a:pPr algn="l">
              <a:lnSpc>
                <a:spcPct val="110000"/>
              </a:lnSpc>
              <a:spcBef>
                <a:spcPts val="0"/>
              </a:spcBef>
              <a:spcAft>
                <a:spcPts val="200"/>
              </a:spcAft>
            </a:pPr>
            <a:r>
              <a:rPr sz="1107" b="0" i="0">
                <a:solidFill>
                  <a:srgbClr val="6B7480"/>
                </a:solidFill>
                <a:latin typeface="Consolas"/>
              </a:rPr>
              <a:t># config/policies/example-guardrails.yaml</a:t>
            </a:r>
          </a:p>
          <a:p>
            <a:pPr>
              <a:lnSpc>
                <a:spcPct val="110000"/>
              </a:lnSpc>
              <a:spcBef>
                <a:spcPts val="0"/>
              </a:spcBef>
              <a:spcAft>
                <a:spcPts val="200"/>
              </a:spcAft>
            </a:pPr>
            <a:r>
              <a:rPr sz="1107" b="0" i="0">
                <a:solidFill>
                  <a:srgbClr val="1A1A1A"/>
                </a:solidFill>
                <a:latin typeface="Consolas"/>
              </a:rPr>
              <a:t>- id: sql-read-only</a:t>
            </a:r>
          </a:p>
          <a:p>
            <a:pPr>
              <a:lnSpc>
                <a:spcPct val="110000"/>
              </a:lnSpc>
              <a:spcBef>
                <a:spcPts val="0"/>
              </a:spcBef>
              <a:spcAft>
                <a:spcPts val="200"/>
              </a:spcAft>
            </a:pPr>
            <a:r>
              <a:rPr sz="1107" b="0" i="0">
                <a:solidFill>
                  <a:srgbClr val="1A1A1A"/>
                </a:solidFill>
                <a:latin typeface="Consolas"/>
              </a:rPr>
              <a:t>  description: Queries may not contain DDL</a:t>
            </a:r>
          </a:p>
          <a:p>
            <a:pPr>
              <a:lnSpc>
                <a:spcPct val="110000"/>
              </a:lnSpc>
              <a:spcBef>
                <a:spcPts val="0"/>
              </a:spcBef>
              <a:spcAft>
                <a:spcPts val="200"/>
              </a:spcAft>
            </a:pPr>
            <a:r>
              <a:rPr sz="1107" b="0" i="0">
                <a:solidFill>
                  <a:srgbClr val="1A1A1A"/>
                </a:solidFill>
                <a:latin typeface="Consolas"/>
              </a:rPr>
              <a:t>      or DML keywords, and stay short.</a:t>
            </a:r>
          </a:p>
          <a:p>
            <a:pPr>
              <a:lnSpc>
                <a:spcPct val="110000"/>
              </a:lnSpc>
              <a:spcBef>
                <a:spcPts val="0"/>
              </a:spcBef>
              <a:spcAft>
                <a:spcPts val="200"/>
              </a:spcAft>
            </a:pPr>
            <a:r>
              <a:rPr sz="1107" b="0" i="0">
                <a:solidFill>
                  <a:srgbClr val="1A1A1A"/>
                </a:solidFill>
                <a:latin typeface="Consolas"/>
              </a:rPr>
              <a:t>  match: {tools: ["duckdb_*",</a:t>
            </a:r>
          </a:p>
          <a:p>
            <a:pPr>
              <a:lnSpc>
                <a:spcPct val="110000"/>
              </a:lnSpc>
              <a:spcBef>
                <a:spcPts val="0"/>
              </a:spcBef>
              <a:spcAft>
                <a:spcPts val="200"/>
              </a:spcAft>
            </a:pPr>
            <a:r>
              <a:rPr sz="1107" b="0" i="0">
                <a:solidFill>
                  <a:srgbClr val="1A1A1A"/>
                </a:solidFill>
                <a:latin typeface="Consolas"/>
              </a:rPr>
              <a:t>      "sqlselect_*"]}</a:t>
            </a:r>
          </a:p>
          <a:p>
            <a:pPr>
              <a:lnSpc>
                <a:spcPct val="110000"/>
              </a:lnSpc>
              <a:spcBef>
                <a:spcPts val="0"/>
              </a:spcBef>
              <a:spcAft>
                <a:spcPts val="200"/>
              </a:spcAft>
            </a:pPr>
            <a:r>
              <a:rPr sz="1107" b="0" i="0">
                <a:solidFill>
                  <a:srgbClr val="1A1A1A"/>
                </a:solidFill>
                <a:latin typeface="Consolas"/>
              </a:rPr>
              <a:t>  constraints:</a:t>
            </a:r>
          </a:p>
          <a:p>
            <a:pPr>
              <a:lnSpc>
                <a:spcPct val="110000"/>
              </a:lnSpc>
              <a:spcBef>
                <a:spcPts val="0"/>
              </a:spcBef>
              <a:spcAft>
                <a:spcPts val="200"/>
              </a:spcAft>
            </a:pPr>
            <a:r>
              <a:rPr sz="1107" b="0" i="0">
                <a:solidFill>
                  <a:srgbClr val="1A1A1A"/>
                </a:solidFill>
                <a:latin typeface="Consolas"/>
              </a:rPr>
              <a:t>    sql: {not_pattern: "(?i)\\b(drop|delete|</a:t>
            </a:r>
          </a:p>
          <a:p>
            <a:pPr>
              <a:lnSpc>
                <a:spcPct val="110000"/>
              </a:lnSpc>
              <a:spcBef>
                <a:spcPts val="0"/>
              </a:spcBef>
              <a:spcAft>
                <a:spcPts val="200"/>
              </a:spcAft>
            </a:pPr>
            <a:r>
              <a:rPr sz="1107" b="0" i="0">
                <a:solidFill>
                  <a:srgbClr val="1A1A1A"/>
                </a:solidFill>
                <a:latin typeface="Consolas"/>
              </a:rPr>
              <a:t>        update|insert|alter|truncate|attach)</a:t>
            </a:r>
          </a:p>
          <a:p>
            <a:pPr>
              <a:lnSpc>
                <a:spcPct val="110000"/>
              </a:lnSpc>
              <a:spcBef>
                <a:spcPts val="0"/>
              </a:spcBef>
              <a:spcAft>
                <a:spcPts val="200"/>
              </a:spcAft>
            </a:pPr>
            <a:r>
              <a:rPr sz="1107" b="0" i="0">
                <a:solidFill>
                  <a:srgbClr val="1A1A1A"/>
                </a:solidFill>
                <a:latin typeface="Consolas"/>
              </a:rPr>
              <a:t>        \\b", max_length: 4000}</a:t>
            </a:r>
          </a:p>
          <a:p>
            <a:pPr>
              <a:lnSpc>
                <a:spcPct val="110000"/>
              </a:lnSpc>
              <a:spcBef>
                <a:spcPts val="0"/>
              </a:spcBef>
              <a:spcAft>
                <a:spcPts val="200"/>
              </a:spcAft>
            </a:pPr>
            <a:r>
              <a:rPr sz="1107" b="0" i="0">
                <a:solidFill>
                  <a:srgbClr val="1A1A1A"/>
                </a:solidFill>
                <a:latin typeface="Consolas"/>
              </a:rPr>
              <a:t>    query: {not_pattern: "(?i)\\b(drop|delet</a:t>
            </a:r>
          </a:p>
          <a:p>
            <a:pPr>
              <a:lnSpc>
                <a:spcPct val="110000"/>
              </a:lnSpc>
              <a:spcBef>
                <a:spcPts val="0"/>
              </a:spcBef>
              <a:spcAft>
                <a:spcPts val="200"/>
              </a:spcAft>
            </a:pPr>
            <a:r>
              <a:rPr sz="1107" b="0" i="0">
                <a:solidFill>
                  <a:srgbClr val="1A1A1A"/>
                </a:solidFill>
                <a:latin typeface="Consolas"/>
              </a:rPr>
              <a:t>        e|update|insert|alter|truncate|attac</a:t>
            </a:r>
          </a:p>
          <a:p>
            <a:pPr>
              <a:lnSpc>
                <a:spcPct val="110000"/>
              </a:lnSpc>
              <a:spcBef>
                <a:spcPts val="0"/>
              </a:spcBef>
              <a:spcAft>
                <a:spcPts val="200"/>
              </a:spcAft>
            </a:pPr>
            <a:r>
              <a:rPr sz="1107" b="0" i="0">
                <a:solidFill>
                  <a:srgbClr val="1A1A1A"/>
                </a:solidFill>
                <a:latin typeface="Consolas"/>
              </a:rPr>
              <a:t>        h)\\b", max_length: 4000}</a:t>
            </a:r>
          </a:p>
          <a:p>
            <a:pPr>
              <a:lnSpc>
                <a:spcPct val="110000"/>
              </a:lnSpc>
              <a:spcBef>
                <a:spcPts val="0"/>
              </a:spcBef>
              <a:spcAft>
                <a:spcPts val="200"/>
              </a:spcAft>
            </a:pPr>
            <a:r>
              <a:rPr sz="1107" b="0" i="0">
                <a:solidFill>
                  <a:srgbClr val="1A1A1A"/>
                </a:solidFill>
                <a:latin typeface="Consolas"/>
              </a:rPr>
              <a:t/>
            </a:r>
          </a:p>
          <a:p>
            <a:pPr>
              <a:lnSpc>
                <a:spcPct val="110000"/>
              </a:lnSpc>
              <a:spcBef>
                <a:spcPts val="0"/>
              </a:spcBef>
              <a:spcAft>
                <a:spcPts val="200"/>
              </a:spcAft>
            </a:pPr>
            <a:r>
              <a:rPr sz="1107" b="0" i="0">
                <a:solidFill>
                  <a:srgbClr val="6B7480"/>
                </a:solidFill>
                <a:latin typeface="Consolas"/>
              </a:rPr>
              <a:t># deny wins over allow; a violated</a:t>
            </a:r>
          </a:p>
          <a:p>
            <a:pPr>
              <a:lnSpc>
                <a:spcPct val="110000"/>
              </a:lnSpc>
              <a:spcBef>
                <a:spcPts val="0"/>
              </a:spcBef>
              <a:spcAft>
                <a:spcPts val="200"/>
              </a:spcAft>
            </a:pPr>
            <a:r>
              <a:rPr sz="1107" b="0" i="0">
                <a:solidFill>
                  <a:srgbClr val="6B7480"/>
                </a:solidFill>
                <a:latin typeface="Consolas"/>
              </a:rPr>
              <a:t># constraint denies with the rule's name</a:t>
            </a:r>
          </a:p>
        </p:txBody>
      </p:sp>
      <p:sp>
        <p:nvSpPr>
          <p:cNvPr id="20" name="Rounded Rectangle 19"/>
          <p:cNvSpPr/>
          <p:nvPr/>
        </p:nvSpPr>
        <p:spPr>
          <a:xfrm>
            <a:off x="5776731" y="1306639"/>
            <a:ext cx="2552931" cy="987742"/>
          </a:xfrm>
          <a:prstGeom prst="roundRect">
            <a:avLst>
              <a:gd name="adj" fmla="val 740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 call</a:t>
            </a:r>
          </a:p>
          <a:p>
            <a:pPr algn="ctr">
              <a:lnSpc>
                <a:spcPct val="105000"/>
              </a:lnSpc>
              <a:spcBef>
                <a:spcPts val="0"/>
              </a:spcBef>
              <a:spcAft>
                <a:spcPts val="0"/>
              </a:spcAft>
            </a:pPr>
            <a:r>
              <a:rPr sz="1150" b="0" i="0">
                <a:solidFill>
                  <a:srgbClr val="1A1A1A"/>
                </a:solidFill>
                <a:latin typeface="Calibri"/>
              </a:rPr>
              <a:t>tool, group, annotations, caller, path, time, arguments</a:t>
            </a:r>
          </a:p>
        </p:txBody>
      </p:sp>
      <p:sp>
        <p:nvSpPr>
          <p:cNvPr id="21" name="Hexagon 20"/>
          <p:cNvSpPr/>
          <p:nvPr/>
        </p:nvSpPr>
        <p:spPr>
          <a:xfrm>
            <a:off x="8861523" y="1306639"/>
            <a:ext cx="2552931" cy="987742"/>
          </a:xfrm>
          <a:prstGeom prst="hexagon">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Match</a:t>
            </a:r>
          </a:p>
          <a:p>
            <a:pPr algn="ctr">
              <a:lnSpc>
                <a:spcPct val="105000"/>
              </a:lnSpc>
              <a:spcBef>
                <a:spcPts val="0"/>
              </a:spcBef>
              <a:spcAft>
                <a:spcPts val="0"/>
              </a:spcAft>
            </a:pPr>
            <a:r>
              <a:rPr sz="1150" b="0" i="0">
                <a:solidFill>
                  <a:srgbClr val="1A1A1A"/>
                </a:solidFill>
                <a:latin typeface="Calibri"/>
              </a:rPr>
              <a:t>every rule whose conditions fit</a:t>
            </a:r>
          </a:p>
        </p:txBody>
      </p:sp>
      <p:sp>
        <p:nvSpPr>
          <p:cNvPr id="22" name="Diamond 21"/>
          <p:cNvSpPr/>
          <p:nvPr/>
        </p:nvSpPr>
        <p:spPr>
          <a:xfrm>
            <a:off x="8967895" y="2689479"/>
            <a:ext cx="2340187" cy="1481613"/>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Decide</a:t>
            </a:r>
          </a:p>
          <a:p>
            <a:pPr algn="ctr">
              <a:lnSpc>
                <a:spcPct val="105000"/>
              </a:lnSpc>
              <a:spcBef>
                <a:spcPts val="0"/>
              </a:spcBef>
              <a:spcAft>
                <a:spcPts val="0"/>
              </a:spcAft>
            </a:pPr>
            <a:r>
              <a:rPr sz="1150" b="0" i="0">
                <a:solidFill>
                  <a:srgbClr val="1A1A1A"/>
                </a:solidFill>
                <a:latin typeface="Calibri"/>
              </a:rPr>
              <a:t>deny overrides</a:t>
            </a:r>
          </a:p>
        </p:txBody>
      </p:sp>
      <p:sp>
        <p:nvSpPr>
          <p:cNvPr id="23" name="Rounded Rectangle 22"/>
          <p:cNvSpPr/>
          <p:nvPr/>
        </p:nvSpPr>
        <p:spPr>
          <a:xfrm>
            <a:off x="5776731" y="2788253"/>
            <a:ext cx="2552931" cy="1284065"/>
          </a:xfrm>
          <a:prstGeom prst="roundRect">
            <a:avLst>
              <a:gd name="adj" fmla="val 5696"/>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allow</a:t>
            </a:r>
          </a:p>
          <a:p>
            <a:pPr algn="ctr">
              <a:lnSpc>
                <a:spcPct val="105000"/>
              </a:lnSpc>
              <a:spcBef>
                <a:spcPts val="0"/>
              </a:spcBef>
              <a:spcAft>
                <a:spcPts val="0"/>
              </a:spcAft>
            </a:pPr>
            <a:r>
              <a:rPr sz="1150" b="0" i="0">
                <a:solidFill>
                  <a:srgbClr val="1A1A1A"/>
                </a:solidFill>
                <a:latin typeface="Calibri"/>
              </a:rPr>
              <a:t>obligations: argument limits, rate limits and quotas, redaction, screening</a:t>
            </a:r>
          </a:p>
        </p:txBody>
      </p:sp>
      <p:sp>
        <p:nvSpPr>
          <p:cNvPr id="24" name="Rounded Rectangle 23"/>
          <p:cNvSpPr/>
          <p:nvPr/>
        </p:nvSpPr>
        <p:spPr>
          <a:xfrm>
            <a:off x="5776731" y="4664964"/>
            <a:ext cx="2552931" cy="888968"/>
          </a:xfrm>
          <a:prstGeom prst="roundRect">
            <a:avLst>
              <a:gd name="adj" fmla="val 8228"/>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deny</a:t>
            </a:r>
          </a:p>
          <a:p>
            <a:pPr algn="ctr">
              <a:lnSpc>
                <a:spcPct val="105000"/>
              </a:lnSpc>
              <a:spcBef>
                <a:spcPts val="0"/>
              </a:spcBef>
              <a:spcAft>
                <a:spcPts val="0"/>
              </a:spcAft>
            </a:pPr>
            <a:r>
              <a:rPr sz="1150" b="0" i="0">
                <a:solidFill>
                  <a:srgbClr val="FFFFFF"/>
                </a:solidFill>
                <a:latin typeface="Calibri"/>
              </a:rPr>
              <a:t>with a reason; audited</a:t>
            </a:r>
          </a:p>
        </p:txBody>
      </p:sp>
      <p:sp>
        <p:nvSpPr>
          <p:cNvPr id="25" name="Rounded Rectangle 24"/>
          <p:cNvSpPr/>
          <p:nvPr/>
        </p:nvSpPr>
        <p:spPr>
          <a:xfrm>
            <a:off x="8861523" y="4664964"/>
            <a:ext cx="2552931" cy="888968"/>
          </a:xfrm>
          <a:prstGeom prst="roundRect">
            <a:avLst>
              <a:gd name="adj" fmla="val 8228"/>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require_approval</a:t>
            </a:r>
          </a:p>
          <a:p>
            <a:pPr algn="ctr">
              <a:lnSpc>
                <a:spcPct val="105000"/>
              </a:lnSpc>
              <a:spcBef>
                <a:spcPts val="0"/>
              </a:spcBef>
              <a:spcAft>
                <a:spcPts val="0"/>
              </a:spcAft>
            </a:pPr>
            <a:r>
              <a:rPr sz="1150" b="0" i="0">
                <a:solidFill>
                  <a:srgbClr val="1A1A1A"/>
                </a:solidFill>
                <a:latin typeface="Calibri"/>
              </a:rPr>
              <a:t>waits for a person; audited</a:t>
            </a:r>
          </a:p>
        </p:txBody>
      </p:sp>
      <p:sp>
        <p:nvSpPr>
          <p:cNvPr id="26" name="TextBox 25"/>
          <p:cNvSpPr txBox="1"/>
          <p:nvPr/>
        </p:nvSpPr>
        <p:spPr>
          <a:xfrm>
            <a:off x="5776731" y="5751480"/>
            <a:ext cx="5637724" cy="493871"/>
          </a:xfrm>
          <a:prstGeom prst="rect">
            <a:avLst/>
          </a:prstGeom>
          <a:noFill/>
        </p:spPr>
        <p:txBody>
          <a:bodyPr wrap="square" lIns="0" rIns="0" tIns="0" bIns="0" anchor="t">
            <a:spAutoFit/>
          </a:bodyPr>
          <a:lstStyle/>
          <a:p>
            <a:pPr algn="l">
              <a:lnSpc>
                <a:spcPct val="110000"/>
              </a:lnSpc>
              <a:spcBef>
                <a:spcPts val="0"/>
              </a:spcBef>
              <a:spcAft>
                <a:spcPts val="100"/>
              </a:spcAft>
            </a:pPr>
            <a:r>
              <a:rPr sz="1100" b="0" i="1">
                <a:solidFill>
                  <a:srgbClr val="6B7480"/>
                </a:solidFill>
                <a:latin typeface="Calibri"/>
              </a:rPr>
              <a:t>default_effect: deny makes it an allowlist. Files reload on change; the Policies page has a test bench.</a:t>
            </a:r>
          </a:p>
        </p:txBody>
      </p:sp>
      <p:cxnSp>
        <p:nvCxnSpPr>
          <p:cNvPr id="27" name="Connector 26"/>
          <p:cNvCxnSpPr/>
          <p:nvPr/>
        </p:nvCxnSpPr>
        <p:spPr>
          <a:xfrm>
            <a:off x="8375382" y="1800510"/>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137989" y="2340102"/>
            <a:ext cx="0" cy="30365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8375382" y="3430285"/>
            <a:ext cx="546793" cy="0"/>
          </a:xfrm>
          <a:prstGeom prst="line">
            <a:avLst/>
          </a:prstGeom>
          <a:ln w="20320">
            <a:solidFill>
              <a:srgbClr val="1E6B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7909915" y="3794618"/>
            <a:ext cx="1558757" cy="848487"/>
          </a:xfrm>
          <a:prstGeom prst="line">
            <a:avLst/>
          </a:prstGeom>
          <a:ln w="20320">
            <a:solidFill>
              <a:srgbClr val="8A16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0137989" y="4216812"/>
            <a:ext cx="0" cy="402432"/>
          </a:xfrm>
          <a:prstGeom prst="line">
            <a:avLst/>
          </a:prstGeom>
          <a:ln w="20320">
            <a:solidFill>
              <a:srgbClr val="7A520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POLICY, EVALUATED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The shipped example policy, evaluated on four calls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42</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same engine sits in BaseMCPTool.execute_with_tracking, so these decisions are the same over MCP, REST, the command line or Ask SAJHA.</a:t>
            </a:r>
          </a:p>
        </p:txBody>
      </p:sp>
      <p:sp>
        <p:nvSpPr>
          <p:cNvPr id="19" name="Oval 18"/>
          <p:cNvSpPr/>
          <p:nvPr/>
        </p:nvSpPr>
        <p:spPr>
          <a:xfrm>
            <a:off x="777240" y="1816112"/>
            <a:ext cx="1223279" cy="793919"/>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alice</a:t>
            </a:r>
          </a:p>
        </p:txBody>
      </p:sp>
      <p:sp>
        <p:nvSpPr>
          <p:cNvPr id="20" name="Rounded Rectangle 19"/>
          <p:cNvSpPr/>
          <p:nvPr/>
        </p:nvSpPr>
        <p:spPr>
          <a:xfrm>
            <a:off x="2372822" y="1816112"/>
            <a:ext cx="3510281" cy="793919"/>
          </a:xfrm>
          <a:prstGeom prst="roundRect">
            <a:avLst>
              <a:gd name="adj" fmla="val 921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onsolas"/>
              </a:rPr>
              <a:t>duckdb_sql</a:t>
            </a:r>
          </a:p>
          <a:p>
            <a:pPr algn="ctr">
              <a:lnSpc>
                <a:spcPct val="105000"/>
              </a:lnSpc>
              <a:spcBef>
                <a:spcPts val="0"/>
              </a:spcBef>
              <a:spcAft>
                <a:spcPts val="0"/>
              </a:spcAft>
            </a:pPr>
            <a:r>
              <a:rPr sz="1050" b="0" i="0">
                <a:solidFill>
                  <a:srgbClr val="1A1A1A"/>
                </a:solidFill>
                <a:latin typeface="Calibri"/>
              </a:rPr>
              <a:t>{"sql": "SELECT region, SUM(amount) FROM orders GROUP BY region"}</a:t>
            </a:r>
          </a:p>
        </p:txBody>
      </p:sp>
      <p:sp>
        <p:nvSpPr>
          <p:cNvPr id="21" name="Rounded Rectangle 20"/>
          <p:cNvSpPr/>
          <p:nvPr/>
        </p:nvSpPr>
        <p:spPr>
          <a:xfrm>
            <a:off x="6414964" y="1816112"/>
            <a:ext cx="1489210" cy="793919"/>
          </a:xfrm>
          <a:prstGeom prst="roundRect">
            <a:avLst>
              <a:gd name="adj" fmla="val 9214"/>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allow</a:t>
            </a:r>
          </a:p>
          <a:p>
            <a:pPr algn="ctr">
              <a:lnSpc>
                <a:spcPct val="105000"/>
              </a:lnSpc>
              <a:spcBef>
                <a:spcPts val="0"/>
              </a:spcBef>
              <a:spcAft>
                <a:spcPts val="0"/>
              </a:spcAft>
            </a:pPr>
            <a:r>
              <a:rPr sz="1150" b="0" i="0">
                <a:solidFill>
                  <a:srgbClr val="1A1A1A"/>
                </a:solidFill>
                <a:latin typeface="Calibri"/>
              </a:rPr>
              <a:t>+ redact</a:t>
            </a:r>
          </a:p>
        </p:txBody>
      </p:sp>
      <p:sp>
        <p:nvSpPr>
          <p:cNvPr id="22" name="Oval 21"/>
          <p:cNvSpPr/>
          <p:nvPr/>
        </p:nvSpPr>
        <p:spPr>
          <a:xfrm>
            <a:off x="777240" y="2781690"/>
            <a:ext cx="1223279" cy="793919"/>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alice</a:t>
            </a:r>
          </a:p>
        </p:txBody>
      </p:sp>
      <p:sp>
        <p:nvSpPr>
          <p:cNvPr id="23" name="Rounded Rectangle 22"/>
          <p:cNvSpPr/>
          <p:nvPr/>
        </p:nvSpPr>
        <p:spPr>
          <a:xfrm>
            <a:off x="2372822" y="2781690"/>
            <a:ext cx="3510281" cy="793919"/>
          </a:xfrm>
          <a:prstGeom prst="roundRect">
            <a:avLst>
              <a:gd name="adj" fmla="val 921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onsolas"/>
              </a:rPr>
              <a:t>duckdb_sql</a:t>
            </a:r>
          </a:p>
          <a:p>
            <a:pPr algn="ctr">
              <a:lnSpc>
                <a:spcPct val="105000"/>
              </a:lnSpc>
              <a:spcBef>
                <a:spcPts val="0"/>
              </a:spcBef>
              <a:spcAft>
                <a:spcPts val="0"/>
              </a:spcAft>
            </a:pPr>
            <a:r>
              <a:rPr sz="1050" b="0" i="0">
                <a:solidFill>
                  <a:srgbClr val="1A1A1A"/>
                </a:solidFill>
                <a:latin typeface="Calibri"/>
              </a:rPr>
              <a:t>{"sql": "SELECT 1; DROP TABLE orders"}</a:t>
            </a:r>
          </a:p>
        </p:txBody>
      </p:sp>
      <p:sp>
        <p:nvSpPr>
          <p:cNvPr id="24" name="Rounded Rectangle 23"/>
          <p:cNvSpPr/>
          <p:nvPr/>
        </p:nvSpPr>
        <p:spPr>
          <a:xfrm>
            <a:off x="6414964" y="2781690"/>
            <a:ext cx="1489210" cy="793919"/>
          </a:xfrm>
          <a:prstGeom prst="roundRect">
            <a:avLst>
              <a:gd name="adj" fmla="val 9214"/>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deny</a:t>
            </a:r>
          </a:p>
        </p:txBody>
      </p:sp>
      <p:sp>
        <p:nvSpPr>
          <p:cNvPr id="25" name="Oval 24"/>
          <p:cNvSpPr/>
          <p:nvPr/>
        </p:nvSpPr>
        <p:spPr>
          <a:xfrm>
            <a:off x="777240" y="3747268"/>
            <a:ext cx="1223279" cy="793919"/>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anonymous</a:t>
            </a:r>
          </a:p>
        </p:txBody>
      </p:sp>
      <p:sp>
        <p:nvSpPr>
          <p:cNvPr id="26" name="Rounded Rectangle 25"/>
          <p:cNvSpPr/>
          <p:nvPr/>
        </p:nvSpPr>
        <p:spPr>
          <a:xfrm>
            <a:off x="2372822" y="3747268"/>
            <a:ext cx="3510281" cy="793919"/>
          </a:xfrm>
          <a:prstGeom prst="roundRect">
            <a:avLst>
              <a:gd name="adj" fmla="val 921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onsolas"/>
              </a:rPr>
              <a:t>github_create_issue</a:t>
            </a:r>
          </a:p>
          <a:p>
            <a:pPr algn="ctr">
              <a:lnSpc>
                <a:spcPct val="105000"/>
              </a:lnSpc>
              <a:spcBef>
                <a:spcPts val="0"/>
              </a:spcBef>
              <a:spcAft>
                <a:spcPts val="0"/>
              </a:spcAft>
            </a:pPr>
            <a:r>
              <a:rPr sz="1050" b="0" i="0">
                <a:solidFill>
                  <a:srgbClr val="1A1A1A"/>
                </a:solidFill>
                <a:latin typeface="Calibri"/>
              </a:rPr>
              <a:t>{"repo": "acme/app", "title": "x"}</a:t>
            </a:r>
          </a:p>
        </p:txBody>
      </p:sp>
      <p:sp>
        <p:nvSpPr>
          <p:cNvPr id="27" name="Rounded Rectangle 26"/>
          <p:cNvSpPr/>
          <p:nvPr/>
        </p:nvSpPr>
        <p:spPr>
          <a:xfrm>
            <a:off x="6414964" y="3747268"/>
            <a:ext cx="1489210" cy="793919"/>
          </a:xfrm>
          <a:prstGeom prst="roundRect">
            <a:avLst>
              <a:gd name="adj" fmla="val 9214"/>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deny</a:t>
            </a:r>
          </a:p>
        </p:txBody>
      </p:sp>
      <p:sp>
        <p:nvSpPr>
          <p:cNvPr id="28" name="Oval 27"/>
          <p:cNvSpPr/>
          <p:nvPr/>
        </p:nvSpPr>
        <p:spPr>
          <a:xfrm>
            <a:off x="777240" y="4712846"/>
            <a:ext cx="1223279" cy="793919"/>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alice</a:t>
            </a:r>
          </a:p>
        </p:txBody>
      </p:sp>
      <p:sp>
        <p:nvSpPr>
          <p:cNvPr id="29" name="Rounded Rectangle 28"/>
          <p:cNvSpPr/>
          <p:nvPr/>
        </p:nvSpPr>
        <p:spPr>
          <a:xfrm>
            <a:off x="2372822" y="4712846"/>
            <a:ext cx="3510281" cy="793919"/>
          </a:xfrm>
          <a:prstGeom prst="roundRect">
            <a:avLst>
              <a:gd name="adj" fmla="val 921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onsolas"/>
              </a:rPr>
              <a:t>github_create_issue</a:t>
            </a:r>
          </a:p>
          <a:p>
            <a:pPr algn="ctr">
              <a:lnSpc>
                <a:spcPct val="105000"/>
              </a:lnSpc>
              <a:spcBef>
                <a:spcPts val="0"/>
              </a:spcBef>
              <a:spcAft>
                <a:spcPts val="0"/>
              </a:spcAft>
            </a:pPr>
            <a:r>
              <a:rPr sz="1050" b="0" i="0">
                <a:solidFill>
                  <a:srgbClr val="1A1A1A"/>
                </a:solidFill>
                <a:latin typeface="Calibri"/>
              </a:rPr>
              <a:t>{"repo": "acme/app", "title": "x"}</a:t>
            </a:r>
          </a:p>
        </p:txBody>
      </p:sp>
      <p:sp>
        <p:nvSpPr>
          <p:cNvPr id="30" name="Rounded Rectangle 29"/>
          <p:cNvSpPr/>
          <p:nvPr/>
        </p:nvSpPr>
        <p:spPr>
          <a:xfrm>
            <a:off x="6414964" y="4712846"/>
            <a:ext cx="1489210" cy="793919"/>
          </a:xfrm>
          <a:prstGeom prst="roundRect">
            <a:avLst>
              <a:gd name="adj" fmla="val 9214"/>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require_approval</a:t>
            </a:r>
          </a:p>
          <a:p>
            <a:pPr algn="ctr">
              <a:lnSpc>
                <a:spcPct val="105000"/>
              </a:lnSpc>
              <a:spcBef>
                <a:spcPts val="0"/>
              </a:spcBef>
              <a:spcAft>
                <a:spcPts val="0"/>
              </a:spcAft>
            </a:pPr>
            <a:r>
              <a:rPr sz="950" b="0" i="0">
                <a:solidFill>
                  <a:srgbClr val="1A1A1A"/>
                </a:solidFill>
                <a:latin typeface="Calibri"/>
              </a:rPr>
              <a:t>+ redact</a:t>
            </a:r>
          </a:p>
        </p:txBody>
      </p:sp>
      <p:sp>
        <p:nvSpPr>
          <p:cNvPr id="31" name="TextBox 30"/>
          <p:cNvSpPr txBox="1"/>
          <p:nvPr/>
        </p:nvSpPr>
        <p:spPr>
          <a:xfrm>
            <a:off x="8116918" y="1816112"/>
            <a:ext cx="3297536" cy="793919"/>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no deciding rule: allowed; obligations still apply</a:t>
            </a:r>
          </a:p>
        </p:txBody>
      </p:sp>
      <p:sp>
        <p:nvSpPr>
          <p:cNvPr id="32" name="TextBox 31"/>
          <p:cNvSpPr txBox="1"/>
          <p:nvPr/>
        </p:nvSpPr>
        <p:spPr>
          <a:xfrm>
            <a:off x="8116918" y="2781690"/>
            <a:ext cx="3297536" cy="793919"/>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sql-read-only: argument constraint: 'sql' matches a forbidden pattern (rule example-guardrails/sql-read-only)</a:t>
            </a:r>
          </a:p>
        </p:txBody>
      </p:sp>
      <p:sp>
        <p:nvSpPr>
          <p:cNvPr id="33" name="TextBox 32"/>
          <p:cNvSpPr txBox="1"/>
          <p:nvPr/>
        </p:nvSpPr>
        <p:spPr>
          <a:xfrm>
            <a:off x="8116918" y="3747268"/>
            <a:ext cx="3297536" cy="793919"/>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no-anonymous-destructive: Sign in to run tools that change or delete data.</a:t>
            </a:r>
          </a:p>
        </p:txBody>
      </p:sp>
      <p:sp>
        <p:nvSpPr>
          <p:cNvPr id="34" name="TextBox 33"/>
          <p:cNvSpPr txBox="1"/>
          <p:nvPr/>
        </p:nvSpPr>
        <p:spPr>
          <a:xfrm>
            <a:off x="8116918" y="4712846"/>
            <a:ext cx="3297536" cy="793919"/>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approve-destructive: This tool can change or delete data</a:t>
            </a:r>
          </a:p>
        </p:txBody>
      </p:sp>
      <p:sp>
        <p:nvSpPr>
          <p:cNvPr id="35" name="TextBox 34"/>
          <p:cNvSpPr txBox="1"/>
          <p:nvPr/>
        </p:nvSpPr>
        <p:spPr>
          <a:xfrm>
            <a:off x="777240" y="1386967"/>
            <a:ext cx="3191164" cy="300401"/>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CALLER</a:t>
            </a:r>
          </a:p>
        </p:txBody>
      </p:sp>
      <p:sp>
        <p:nvSpPr>
          <p:cNvPr id="36" name="TextBox 35"/>
          <p:cNvSpPr txBox="1"/>
          <p:nvPr/>
        </p:nvSpPr>
        <p:spPr>
          <a:xfrm>
            <a:off x="2372822" y="1386967"/>
            <a:ext cx="3191164" cy="300401"/>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TOOL AND ARGUMENTS</a:t>
            </a:r>
          </a:p>
        </p:txBody>
      </p:sp>
      <p:sp>
        <p:nvSpPr>
          <p:cNvPr id="37" name="TextBox 36"/>
          <p:cNvSpPr txBox="1"/>
          <p:nvPr/>
        </p:nvSpPr>
        <p:spPr>
          <a:xfrm>
            <a:off x="6414964" y="1386967"/>
            <a:ext cx="3191164" cy="300401"/>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DECISION</a:t>
            </a:r>
          </a:p>
        </p:txBody>
      </p:sp>
      <p:sp>
        <p:nvSpPr>
          <p:cNvPr id="38" name="TextBox 37"/>
          <p:cNvSpPr txBox="1"/>
          <p:nvPr/>
        </p:nvSpPr>
        <p:spPr>
          <a:xfrm>
            <a:off x="8116918" y="1386967"/>
            <a:ext cx="3191164" cy="300401"/>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RULE AND REASON</a:t>
            </a:r>
          </a:p>
        </p:txBody>
      </p:sp>
      <p:cxnSp>
        <p:nvCxnSpPr>
          <p:cNvPr id="39" name="Connector 38"/>
          <p:cNvCxnSpPr/>
          <p:nvPr/>
        </p:nvCxnSpPr>
        <p:spPr>
          <a:xfrm>
            <a:off x="2046239" y="2213072"/>
            <a:ext cx="280863"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928823" y="2213072"/>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2046239" y="3178650"/>
            <a:ext cx="280863"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928823" y="3178650"/>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2046239" y="4144228"/>
            <a:ext cx="280863"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928823" y="4144228"/>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2046239" y="5109805"/>
            <a:ext cx="280863"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928823" y="5109805"/>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AUDIT, TAMPERED WITH</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Change one stored field and the audit says which record and which field</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43</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An edit, a deletion, an insertion or a reordering breaks the chain at the record where it happened.</a:t>
            </a:r>
          </a:p>
        </p:txBody>
      </p:sp>
      <p:sp>
        <p:nvSpPr>
          <p:cNvPr id="19" name="Rectangle 18"/>
          <p:cNvSpPr/>
          <p:nvPr/>
        </p:nvSpPr>
        <p:spPr>
          <a:xfrm>
            <a:off x="777240" y="1290574"/>
            <a:ext cx="4999491" cy="4589018"/>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1290574"/>
            <a:ext cx="41148" cy="458901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1436878"/>
            <a:ext cx="4615443" cy="4314698"/>
          </a:xfrm>
          <a:prstGeom prst="rect">
            <a:avLst/>
          </a:prstGeom>
          <a:noFill/>
        </p:spPr>
        <p:txBody>
          <a:bodyPr wrap="square" lIns="0" rIns="0" tIns="0" bIns="0" anchor="t">
            <a:spAutoFit/>
          </a:bodyPr>
          <a:lstStyle/>
          <a:p>
            <a:pPr algn="l">
              <a:lnSpc>
                <a:spcPct val="110000"/>
              </a:lnSpc>
              <a:spcBef>
                <a:spcPts val="0"/>
              </a:spcBef>
              <a:spcAft>
                <a:spcPts val="200"/>
              </a:spcAft>
            </a:pPr>
            <a:r>
              <a:rPr sz="1172" b="0" i="0">
                <a:solidFill>
                  <a:srgbClr val="6B7480"/>
                </a:solidFill>
                <a:latin typeface="Consolas"/>
              </a:rPr>
              <a:t># captured while building this deck</a:t>
            </a:r>
          </a:p>
          <a:p>
            <a:pPr>
              <a:lnSpc>
                <a:spcPct val="110000"/>
              </a:lnSpc>
              <a:spcBef>
                <a:spcPts val="0"/>
              </a:spcBef>
              <a:spcAft>
                <a:spcPts val="200"/>
              </a:spcAft>
            </a:pPr>
            <a:r>
              <a:rPr sz="1172" b="0" i="0">
                <a:solidFill>
                  <a:srgbClr val="6B7480"/>
                </a:solidFill>
                <a:latin typeface="Consolas"/>
              </a:rPr>
              <a:t># write a short chain, signed every 5 records</a:t>
            </a:r>
          </a:p>
          <a:p>
            <a:pPr>
              <a:lnSpc>
                <a:spcPct val="110000"/>
              </a:lnSpc>
              <a:spcBef>
                <a:spcPts val="0"/>
              </a:spcBef>
              <a:spcAft>
                <a:spcPts val="200"/>
              </a:spcAft>
            </a:pPr>
            <a:r>
              <a:rPr sz="1172" b="1" i="0">
                <a:solidFill>
                  <a:srgbClr val="6E1120"/>
                </a:solidFill>
                <a:latin typeface="Consolas"/>
              </a:rPr>
              <a:t>✓ verify: 17 records, 3 signed anchors, ok=True</a:t>
            </a:r>
          </a:p>
          <a:p>
            <a:pPr>
              <a:lnSpc>
                <a:spcPct val="110000"/>
              </a:lnSpc>
              <a:spcBef>
                <a:spcPts val="0"/>
              </a:spcBef>
              <a:spcAft>
                <a:spcPts val="200"/>
              </a:spcAft>
            </a:pPr>
            <a:r>
              <a:rPr sz="1172" b="0" i="0">
                <a:solidFill>
                  <a:srgbClr val="1A1A1A"/>
                </a:solidFill>
                <a:latin typeface="Consolas"/>
              </a:rPr>
              <a:t/>
            </a:r>
          </a:p>
          <a:p>
            <a:pPr>
              <a:lnSpc>
                <a:spcPct val="110000"/>
              </a:lnSpc>
              <a:spcBef>
                <a:spcPts val="0"/>
              </a:spcBef>
              <a:spcAft>
                <a:spcPts val="200"/>
              </a:spcAft>
            </a:pPr>
            <a:r>
              <a:rPr sz="1172" b="0" i="0">
                <a:solidFill>
                  <a:srgbClr val="6B7480"/>
                </a:solidFill>
                <a:latin typeface="Consolas"/>
              </a:rPr>
              <a:t># change one stored outcome, deny -&gt; ok</a:t>
            </a:r>
          </a:p>
          <a:p>
            <a:pPr>
              <a:lnSpc>
                <a:spcPct val="110000"/>
              </a:lnSpc>
              <a:spcBef>
                <a:spcPts val="0"/>
              </a:spcBef>
              <a:spcAft>
                <a:spcPts val="200"/>
              </a:spcAft>
            </a:pPr>
            <a:r>
              <a:rPr sz="1172" b="0" i="0">
                <a:solidFill>
                  <a:srgbClr val="1A1A1A"/>
                </a:solidFill>
                <a:latin typeface="Consolas"/>
              </a:rPr>
              <a:t>UPDATE audit_chain SET outcome='ok' WHERE seq=9</a:t>
            </a:r>
          </a:p>
          <a:p>
            <a:pPr>
              <a:lnSpc>
                <a:spcPct val="110000"/>
              </a:lnSpc>
              <a:spcBef>
                <a:spcPts val="0"/>
              </a:spcBef>
              <a:spcAft>
                <a:spcPts val="200"/>
              </a:spcAft>
            </a:pPr>
            <a:r>
              <a:rPr sz="1172" b="0" i="0">
                <a:solidFill>
                  <a:srgbClr val="1A1A1A"/>
                </a:solidFill>
                <a:latin typeface="Consolas"/>
              </a:rPr>
              <a:t/>
            </a:r>
          </a:p>
          <a:p>
            <a:pPr>
              <a:lnSpc>
                <a:spcPct val="110000"/>
              </a:lnSpc>
              <a:spcBef>
                <a:spcPts val="0"/>
              </a:spcBef>
              <a:spcAft>
                <a:spcPts val="200"/>
              </a:spcAft>
            </a:pPr>
            <a:r>
              <a:rPr sz="1172" b="1" i="0">
                <a:solidFill>
                  <a:srgbClr val="6E1120"/>
                </a:solidFill>
                <a:latin typeface="Consolas"/>
              </a:rPr>
              <a:t>✗ verify: ok=False</a:t>
            </a:r>
          </a:p>
          <a:p>
            <a:pPr>
              <a:lnSpc>
                <a:spcPct val="110000"/>
              </a:lnSpc>
              <a:spcBef>
                <a:spcPts val="0"/>
              </a:spcBef>
              <a:spcAft>
                <a:spcPts val="200"/>
              </a:spcAft>
            </a:pPr>
            <a:r>
              <a:rPr sz="1172" b="0" i="0">
                <a:solidFill>
                  <a:srgbClr val="1A1A1A"/>
                </a:solidFill>
                <a:latin typeface="Consolas"/>
              </a:rPr>
              <a:t>seq 9: column outcome was changed ('ok' vs</a:t>
            </a:r>
          </a:p>
          <a:p>
            <a:pPr>
              <a:lnSpc>
                <a:spcPct val="110000"/>
              </a:lnSpc>
              <a:spcBef>
                <a:spcPts val="0"/>
              </a:spcBef>
              <a:spcAft>
                <a:spcPts val="200"/>
              </a:spcAft>
            </a:pPr>
            <a:r>
              <a:rPr sz="1172" b="0" i="0">
                <a:solidFill>
                  <a:srgbClr val="1A1A1A"/>
                </a:solidFill>
                <a:latin typeface="Consolas"/>
              </a:rPr>
              <a:t>  record 'deny')</a:t>
            </a:r>
          </a:p>
        </p:txBody>
      </p:sp>
      <p:sp>
        <p:nvSpPr>
          <p:cNvPr id="22" name="Rounded Rectangle 21"/>
          <p:cNvSpPr/>
          <p:nvPr/>
        </p:nvSpPr>
        <p:spPr>
          <a:xfrm>
            <a:off x="6308591" y="1382354"/>
            <a:ext cx="2552931" cy="688352"/>
          </a:xfrm>
          <a:prstGeom prst="roundRect">
            <a:avLst>
              <a:gd name="adj" fmla="val 1062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record 8</a:t>
            </a:r>
          </a:p>
          <a:p>
            <a:pPr algn="ctr">
              <a:lnSpc>
                <a:spcPct val="105000"/>
              </a:lnSpc>
              <a:spcBef>
                <a:spcPts val="0"/>
              </a:spcBef>
              <a:spcAft>
                <a:spcPts val="0"/>
              </a:spcAft>
            </a:pPr>
            <a:r>
              <a:rPr sz="1050" b="0" i="0">
                <a:solidFill>
                  <a:srgbClr val="1A1A1A"/>
                </a:solidFill>
                <a:latin typeface="Calibri"/>
              </a:rPr>
              <a:t>hash over its fields and the previous hash</a:t>
            </a:r>
          </a:p>
        </p:txBody>
      </p:sp>
      <p:sp>
        <p:nvSpPr>
          <p:cNvPr id="23" name="Rounded Rectangle 22"/>
          <p:cNvSpPr/>
          <p:nvPr/>
        </p:nvSpPr>
        <p:spPr>
          <a:xfrm>
            <a:off x="6308591" y="2300157"/>
            <a:ext cx="2552931" cy="688352"/>
          </a:xfrm>
          <a:prstGeom prst="roundRect">
            <a:avLst>
              <a:gd name="adj" fmla="val 10627"/>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record 9</a:t>
            </a:r>
          </a:p>
          <a:p>
            <a:pPr algn="ctr">
              <a:lnSpc>
                <a:spcPct val="105000"/>
              </a:lnSpc>
              <a:spcBef>
                <a:spcPts val="0"/>
              </a:spcBef>
              <a:spcAft>
                <a:spcPts val="0"/>
              </a:spcAft>
            </a:pPr>
            <a:r>
              <a:rPr sz="1050" b="0" i="0">
                <a:solidFill>
                  <a:srgbClr val="FFFFFF"/>
                </a:solidFill>
                <a:latin typeface="Calibri"/>
              </a:rPr>
              <a:t>changed: its hash no longer matches</a:t>
            </a:r>
          </a:p>
        </p:txBody>
      </p:sp>
      <p:sp>
        <p:nvSpPr>
          <p:cNvPr id="24" name="Rounded Rectangle 23"/>
          <p:cNvSpPr/>
          <p:nvPr/>
        </p:nvSpPr>
        <p:spPr>
          <a:xfrm>
            <a:off x="6308591" y="3217961"/>
            <a:ext cx="2552931" cy="688352"/>
          </a:xfrm>
          <a:prstGeom prst="roundRect">
            <a:avLst>
              <a:gd name="adj" fmla="val 1062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record 10</a:t>
            </a:r>
          </a:p>
          <a:p>
            <a:pPr algn="ctr">
              <a:lnSpc>
                <a:spcPct val="105000"/>
              </a:lnSpc>
              <a:spcBef>
                <a:spcPts val="0"/>
              </a:spcBef>
              <a:spcAft>
                <a:spcPts val="0"/>
              </a:spcAft>
            </a:pPr>
            <a:r>
              <a:rPr sz="1050" b="0" i="0">
                <a:solidFill>
                  <a:srgbClr val="1A1A1A"/>
                </a:solidFill>
                <a:latin typeface="Calibri"/>
              </a:rPr>
              <a:t>carries the previous record's hash</a:t>
            </a:r>
          </a:p>
        </p:txBody>
      </p:sp>
      <p:sp>
        <p:nvSpPr>
          <p:cNvPr id="25" name="Rounded Rectangle 24"/>
          <p:cNvSpPr/>
          <p:nvPr/>
        </p:nvSpPr>
        <p:spPr>
          <a:xfrm>
            <a:off x="6308591" y="4135765"/>
            <a:ext cx="2552931" cy="688352"/>
          </a:xfrm>
          <a:prstGeom prst="roundRect">
            <a:avLst>
              <a:gd name="adj" fmla="val 1062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record 11</a:t>
            </a:r>
          </a:p>
          <a:p>
            <a:pPr algn="ctr">
              <a:lnSpc>
                <a:spcPct val="105000"/>
              </a:lnSpc>
              <a:spcBef>
                <a:spcPts val="0"/>
              </a:spcBef>
              <a:spcAft>
                <a:spcPts val="0"/>
              </a:spcAft>
            </a:pPr>
            <a:r>
              <a:rPr sz="1050" b="0" i="0">
                <a:solidFill>
                  <a:srgbClr val="1A1A1A"/>
                </a:solidFill>
                <a:latin typeface="Calibri"/>
              </a:rPr>
              <a:t>carries the previous record's hash</a:t>
            </a:r>
          </a:p>
        </p:txBody>
      </p:sp>
      <p:sp>
        <p:nvSpPr>
          <p:cNvPr id="26" name="Rounded Rectangle 25"/>
          <p:cNvSpPr/>
          <p:nvPr/>
        </p:nvSpPr>
        <p:spPr>
          <a:xfrm>
            <a:off x="9393384" y="3034400"/>
            <a:ext cx="2021070" cy="1147254"/>
          </a:xfrm>
          <a:prstGeom prst="roundRect">
            <a:avLst>
              <a:gd name="adj" fmla="val 637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signed anchor</a:t>
            </a:r>
          </a:p>
          <a:p>
            <a:pPr algn="ctr">
              <a:lnSpc>
                <a:spcPct val="105000"/>
              </a:lnSpc>
              <a:spcBef>
                <a:spcPts val="0"/>
              </a:spcBef>
              <a:spcAft>
                <a:spcPts val="0"/>
              </a:spcAft>
            </a:pPr>
            <a:r>
              <a:rPr sz="1050" b="0" i="0">
                <a:solidFill>
                  <a:srgbClr val="FFFFFF"/>
                </a:solidFill>
                <a:latin typeface="Calibri"/>
              </a:rPr>
              <a:t>the head, RS256, every N records, every few minutes, at shutdown</a:t>
            </a:r>
          </a:p>
        </p:txBody>
      </p:sp>
      <p:sp>
        <p:nvSpPr>
          <p:cNvPr id="27" name="Rounded Rectangle 26"/>
          <p:cNvSpPr/>
          <p:nvPr/>
        </p:nvSpPr>
        <p:spPr>
          <a:xfrm>
            <a:off x="9393384" y="1382354"/>
            <a:ext cx="2021070" cy="1101364"/>
          </a:xfrm>
          <a:prstGeom prst="roundRect">
            <a:avLst>
              <a:gd name="adj" fmla="val 6641"/>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verify</a:t>
            </a:r>
          </a:p>
          <a:p>
            <a:pPr algn="ctr">
              <a:lnSpc>
                <a:spcPct val="105000"/>
              </a:lnSpc>
              <a:spcBef>
                <a:spcPts val="0"/>
              </a:spcBef>
              <a:spcAft>
                <a:spcPts val="0"/>
              </a:spcAft>
            </a:pPr>
            <a:r>
              <a:rPr sz="1050" b="0" i="0">
                <a:solidFill>
                  <a:srgbClr val="FFFFFF"/>
                </a:solidFill>
                <a:latin typeface="Calibri"/>
              </a:rPr>
              <a:t>python -m sajha.audit verify, or the Audit page</a:t>
            </a:r>
          </a:p>
        </p:txBody>
      </p:sp>
      <p:sp>
        <p:nvSpPr>
          <p:cNvPr id="28" name="Rounded Rectangle 27"/>
          <p:cNvSpPr/>
          <p:nvPr/>
        </p:nvSpPr>
        <p:spPr>
          <a:xfrm>
            <a:off x="9393384" y="4686447"/>
            <a:ext cx="2021070" cy="1147254"/>
          </a:xfrm>
          <a:prstGeom prst="roundRect">
            <a:avLst>
              <a:gd name="adj" fmla="val 6376"/>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SIEM export</a:t>
            </a:r>
          </a:p>
          <a:p>
            <a:pPr algn="ctr">
              <a:lnSpc>
                <a:spcPct val="105000"/>
              </a:lnSpc>
              <a:spcBef>
                <a:spcPts val="0"/>
              </a:spcBef>
              <a:spcAft>
                <a:spcPts val="0"/>
              </a:spcAft>
            </a:pPr>
            <a:r>
              <a:rPr sz="1050" b="0" i="0">
                <a:solidFill>
                  <a:srgbClr val="1A1A1A"/>
                </a:solidFill>
                <a:latin typeface="Calibri"/>
              </a:rPr>
              <a:t>syslog, http and file sinks, as JSON, CEF and OCSF</a:t>
            </a:r>
          </a:p>
        </p:txBody>
      </p:sp>
      <p:cxnSp>
        <p:nvCxnSpPr>
          <p:cNvPr id="29" name="Connector 28"/>
          <p:cNvCxnSpPr/>
          <p:nvPr/>
        </p:nvCxnSpPr>
        <p:spPr>
          <a:xfrm>
            <a:off x="7585057" y="2116427"/>
            <a:ext cx="0" cy="13801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7585057" y="3034230"/>
            <a:ext cx="0" cy="138011"/>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585057" y="3952034"/>
            <a:ext cx="0" cy="138011"/>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741444" y="3934111"/>
            <a:ext cx="608262" cy="188143"/>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403919" y="2529438"/>
            <a:ext cx="0" cy="45924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EVIDENCE</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Security fixes are listed, with where each one lives in the code</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44</a:t>
            </a:r>
          </a:p>
        </p:txBody>
      </p:sp>
      <p:sp>
        <p:nvSpPr>
          <p:cNvPr id="17" name="TextBox 16"/>
          <p:cNvSpPr txBox="1"/>
          <p:nvPr/>
        </p:nvSpPr>
        <p:spPr>
          <a:xfrm>
            <a:off x="777240" y="1322705"/>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The Security Model keeps a table of issues found and fixed since the last major release, each with the file that fixes it, and a list of known limitations.</a:t>
            </a:r>
          </a:p>
        </p:txBody>
      </p:sp>
      <p:sp>
        <p:nvSpPr>
          <p:cNvPr id="18" name="Rectangle 17"/>
          <p:cNvSpPr/>
          <p:nvPr/>
        </p:nvSpPr>
        <p:spPr>
          <a:xfrm>
            <a:off x="777240" y="1976247"/>
            <a:ext cx="5218023"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197624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2104263"/>
            <a:ext cx="4907127"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28</a:t>
            </a:r>
          </a:p>
        </p:txBody>
      </p:sp>
      <p:sp>
        <p:nvSpPr>
          <p:cNvPr id="21" name="TextBox 20"/>
          <p:cNvSpPr txBox="1"/>
          <p:nvPr/>
        </p:nvSpPr>
        <p:spPr>
          <a:xfrm>
            <a:off x="978408" y="2579751"/>
            <a:ext cx="4907127" cy="466344"/>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6B7480"/>
                </a:solidFill>
                <a:latin typeface="Calibri"/>
              </a:rPr>
              <a:t>issues found and fixed, each named with its fix and its file</a:t>
            </a:r>
          </a:p>
        </p:txBody>
      </p:sp>
      <p:sp>
        <p:nvSpPr>
          <p:cNvPr id="22" name="Rectangle 21"/>
          <p:cNvSpPr/>
          <p:nvPr/>
        </p:nvSpPr>
        <p:spPr>
          <a:xfrm>
            <a:off x="6196431" y="1976247"/>
            <a:ext cx="5218023"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6431" y="1976247"/>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97599" y="2104263"/>
            <a:ext cx="4907127"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14</a:t>
            </a:r>
          </a:p>
        </p:txBody>
      </p:sp>
      <p:sp>
        <p:nvSpPr>
          <p:cNvPr id="25" name="TextBox 24"/>
          <p:cNvSpPr txBox="1"/>
          <p:nvPr/>
        </p:nvSpPr>
        <p:spPr>
          <a:xfrm>
            <a:off x="6397599" y="2579751"/>
            <a:ext cx="4907127" cy="466344"/>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6B7480"/>
                </a:solidFill>
                <a:latin typeface="Calibri"/>
              </a:rPr>
              <a:t>known limitations, listed so a deployment can compensate</a:t>
            </a:r>
          </a:p>
        </p:txBody>
      </p:sp>
      <p:graphicFrame>
        <p:nvGraphicFramePr>
          <p:cNvPr id="26" name="Table 25"/>
          <p:cNvGraphicFramePr>
            <a:graphicFrameLocks noGrp="1"/>
          </p:cNvGraphicFramePr>
          <p:nvPr/>
        </p:nvGraphicFramePr>
        <p:xfrm>
          <a:off x="777240" y="3329559"/>
          <a:ext cx="10637215" cy="2867211"/>
        </p:xfrm>
        <a:graphic>
          <a:graphicData uri="http://schemas.openxmlformats.org/drawingml/2006/table">
            <a:tbl>
              <a:tblPr firstRow="1">
                <a:tableStyleId>{5C22544A-7EE6-4342-B048-85BDC9FD1C3A}</a:tableStyleId>
              </a:tblPr>
              <a:tblGrid>
                <a:gridCol w="10637215"/>
              </a:tblGrid>
              <a:tr h="318579">
                <a:tc>
                  <a:txBody>
                    <a:bodyPr wrap="square"/>
                    <a:lstStyle/>
                    <a:p>
                      <a:r>
                        <a:rPr sz="1300" b="1">
                          <a:solidFill>
                            <a:srgbClr val="FFFFFF"/>
                          </a:solidFill>
                          <a:latin typeface="Calibri"/>
                        </a:rPr>
                        <a:t>The shortest entries in the fixes table</a:t>
                      </a:r>
                    </a:p>
                  </a:txBody>
                  <a:tcPr marL="82296" marR="64008" marT="32004" marB="32004" anchor="ctr">
                    <a:solidFill>
                      <a:srgbClr val="A51C30"/>
                    </a:solidFill>
                  </a:tcPr>
                </a:tc>
              </a:tr>
              <a:tr h="318579">
                <a:tc>
                  <a:txBody>
                    <a:bodyPr wrap="square"/>
                    <a:lstStyle/>
                    <a:p>
                      <a:r>
                        <a:rPr sz="1300" b="0">
                          <a:solidFill>
                            <a:srgbClr val="1A1A1A"/>
                          </a:solidFill>
                          <a:latin typeface="Calibri"/>
                        </a:rPr>
                        <a:t>Open admin endpoints</a:t>
                      </a:r>
                    </a:p>
                  </a:txBody>
                  <a:tcPr marL="82296" marR="64008" marT="32004" marB="32004" anchor="ctr">
                    <a:solidFill>
                      <a:srgbClr val="FFFFFF"/>
                    </a:solidFill>
                  </a:tcPr>
                </a:tc>
              </a:tr>
              <a:tr h="318579">
                <a:tc>
                  <a:txBody>
                    <a:bodyPr wrap="square"/>
                    <a:lstStyle/>
                    <a:p>
                      <a:r>
                        <a:rPr sz="1300" b="0">
                          <a:solidFill>
                            <a:srgbClr val="1A1A1A"/>
                          </a:solidFill>
                          <a:latin typeface="Calibri"/>
                        </a:rPr>
                        <a:t>Open redirect via /login?next=</a:t>
                      </a:r>
                    </a:p>
                  </a:txBody>
                  <a:tcPr marL="82296" marR="64008" marT="32004" marB="32004" anchor="ctr">
                    <a:solidFill>
                      <a:srgbClr val="F7F5F2"/>
                    </a:solidFill>
                  </a:tcPr>
                </a:tc>
              </a:tr>
              <a:tr h="318579">
                <a:tc>
                  <a:txBody>
                    <a:bodyPr wrap="square"/>
                    <a:lstStyle/>
                    <a:p>
                      <a:r>
                        <a:rPr sz="1300" b="0">
                          <a:solidFill>
                            <a:srgbClr val="1A1A1A"/>
                          </a:solidFill>
                          <a:latin typeface="Calibri"/>
                        </a:rPr>
                        <a:t>POST /a2a ran tools anonymously</a:t>
                      </a:r>
                    </a:p>
                  </a:txBody>
                  <a:tcPr marL="82296" marR="64008" marT="32004" marB="32004" anchor="ctr">
                    <a:solidFill>
                      <a:srgbClr val="FFFFFF"/>
                    </a:solidFill>
                  </a:tcPr>
                </a:tc>
              </a:tr>
              <a:tr h="318579">
                <a:tc>
                  <a:txBody>
                    <a:bodyPr wrap="square"/>
                    <a:lstStyle/>
                    <a:p>
                      <a:r>
                        <a:rPr sz="1300" b="0">
                          <a:solidFill>
                            <a:srgbClr val="1A1A1A"/>
                          </a:solidFill>
                          <a:latin typeface="Calibri"/>
                        </a:rPr>
                        <a:t>Path traversal in sajha://data/... resources</a:t>
                      </a:r>
                    </a:p>
                  </a:txBody>
                  <a:tcPr marL="82296" marR="64008" marT="32004" marB="32004" anchor="ctr">
                    <a:solidFill>
                      <a:srgbClr val="F7F5F2"/>
                    </a:solidFill>
                  </a:tcPr>
                </a:tc>
              </a:tr>
              <a:tr h="318579">
                <a:tc>
                  <a:txBody>
                    <a:bodyPr wrap="square"/>
                    <a:lstStyle/>
                    <a:p>
                      <a:r>
                        <a:rPr sz="1300" b="0">
                          <a:solidFill>
                            <a:srgbClr val="1A1A1A"/>
                          </a:solidFill>
                          <a:latin typeface="Calibri"/>
                        </a:rPr>
                        <a:t>Tool arguments were checked only for presence</a:t>
                      </a:r>
                    </a:p>
                  </a:txBody>
                  <a:tcPr marL="82296" marR="64008" marT="32004" marB="32004" anchor="ctr">
                    <a:solidFill>
                      <a:srgbClr val="FFFFFF"/>
                    </a:solidFill>
                  </a:tcPr>
                </a:tc>
              </a:tr>
              <a:tr h="318579">
                <a:tc>
                  <a:txBody>
                    <a:bodyPr wrap="square"/>
                    <a:lstStyle/>
                    <a:p>
                      <a:r>
                        <a:rPr sz="1300" b="0">
                          <a:solidFill>
                            <a:srgbClr val="1A1A1A"/>
                          </a:solidFill>
                          <a:latin typeface="Calibri"/>
                        </a:rPr>
                        <a:t>The REST tool catalog listed every tool to anyone</a:t>
                      </a:r>
                    </a:p>
                  </a:txBody>
                  <a:tcPr marL="82296" marR="64008" marT="32004" marB="32004" anchor="ctr">
                    <a:solidFill>
                      <a:srgbClr val="F7F5F2"/>
                    </a:solidFill>
                  </a:tcPr>
                </a:tc>
              </a:tr>
              <a:tr h="318579">
                <a:tc>
                  <a:txBody>
                    <a:bodyPr wrap="square"/>
                    <a:lstStyle/>
                    <a:p>
                      <a:r>
                        <a:rPr sz="1300" b="0">
                          <a:solidFill>
                            <a:srgbClr val="1A1A1A"/>
                          </a:solidFill>
                          <a:latin typeface="Calibri"/>
                        </a:rPr>
                        <a:t>Security headers overwrote stricter per-route values</a:t>
                      </a:r>
                    </a:p>
                  </a:txBody>
                  <a:tcPr marL="82296" marR="64008" marT="32004" marB="32004" anchor="ctr">
                    <a:solidFill>
                      <a:srgbClr val="FFFFFF"/>
                    </a:solidFill>
                  </a:tcPr>
                </a:tc>
              </a:tr>
              <a:tr h="318579">
                <a:tc>
                  <a:txBody>
                    <a:bodyPr wrap="square"/>
                    <a:lstStyle/>
                    <a:p>
                      <a:r>
                        <a:rPr sz="1300" b="0">
                          <a:solidFill>
                            <a:srgbClr val="1A1A1A"/>
                          </a:solidFill>
                          <a:latin typeface="Calibri"/>
                        </a:rPr>
                        <a:t>Async execution wrote to any path and posted to any URL</a:t>
                      </a:r>
                    </a:p>
                  </a:txBody>
                  <a:tcPr marL="82296" marR="64008" marT="32004" marB="32004" anchor="ctr">
                    <a:solidFill>
                      <a:srgbClr val="F7F5F2"/>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DEPLOY ANYWHERE</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On premises, in a private cloud or a public one: the same server</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45</a:t>
            </a:r>
          </a:p>
        </p:txBody>
      </p:sp>
      <p:sp>
        <p:nvSpPr>
          <p:cNvPr id="17" name="TextBox 16"/>
          <p:cNvSpPr txBox="1"/>
          <p:nvPr/>
        </p:nvSpPr>
        <p:spPr>
          <a:xfrm>
            <a:off x="777240" y="4142232"/>
            <a:ext cx="10637215" cy="2103120"/>
          </a:xfrm>
          <a:prstGeom prst="rect">
            <a:avLst/>
          </a:prstGeom>
          <a:noFill/>
        </p:spPr>
        <p:txBody>
          <a:bodyPr wrap="square" lIns="0" rIns="0" tIns="0" bIns="0" anchor="t">
            <a:spAutoFit/>
          </a:bodyPr>
          <a:lstStyle/>
          <a:p>
            <a:pPr algn="l">
              <a:lnSpc>
                <a:spcPct val="120000"/>
              </a:lnSpc>
              <a:spcBef>
                <a:spcPts val="0"/>
              </a:spcBef>
              <a:spcAft>
                <a:spcPts val="100"/>
              </a:spcAft>
            </a:pPr>
            <a:r>
              <a:rPr sz="1700" b="1">
                <a:solidFill>
                  <a:srgbClr val="A51C30"/>
                </a:solidFill>
                <a:latin typeface="Calibri"/>
              </a:rPr>
              <a:t>▪  </a:t>
            </a:r>
            <a:r>
              <a:rPr sz="1700" b="1">
                <a:solidFill>
                  <a:srgbClr val="1A1A1A"/>
                </a:solidFill>
                <a:latin typeface="Calibri"/>
              </a:rPr>
              <a:t>Data locality</a:t>
            </a:r>
          </a:p>
          <a:p>
            <a:pPr lvl="1">
              <a:lnSpc>
                <a:spcPct val="120000"/>
              </a:lnSpc>
              <a:spcBef>
                <a:spcPts val="0"/>
              </a:spcBef>
              <a:spcAft>
                <a:spcPts val="0"/>
              </a:spcAft>
            </a:pPr>
            <a:r>
              <a:rPr sz="1550" b="0">
                <a:solidFill>
                  <a:srgbClr val="6B7480"/>
                </a:solidFill>
                <a:latin typeface="Calibri"/>
              </a:rPr>
              <a:t>Data leaves your infrastructure only when a tool calls an outside service.</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Sovereignty</a:t>
            </a:r>
          </a:p>
          <a:p>
            <a:pPr lvl="1">
              <a:lnSpc>
                <a:spcPct val="120000"/>
              </a:lnSpc>
              <a:spcBef>
                <a:spcPts val="0"/>
              </a:spcBef>
              <a:spcAft>
                <a:spcPts val="0"/>
              </a:spcAft>
            </a:pPr>
            <a:r>
              <a:rPr sz="1550" b="0">
                <a:solidFill>
                  <a:srgbClr val="6B7480"/>
                </a:solidFill>
                <a:latin typeface="Calibri"/>
              </a:rPr>
              <a:t>Run one instance per jurisdiction; nothing phones home.</a:t>
            </a:r>
          </a:p>
          <a:p>
            <a:pPr>
              <a:lnSpc>
                <a:spcPct val="120000"/>
              </a:lnSpc>
              <a:spcBef>
                <a:spcPts val="500"/>
              </a:spcBef>
              <a:spcAft>
                <a:spcPts val="100"/>
              </a:spcAft>
            </a:pPr>
            <a:r>
              <a:rPr sz="1700" b="1">
                <a:solidFill>
                  <a:srgbClr val="A51C30"/>
                </a:solidFill>
                <a:latin typeface="Calibri"/>
              </a:rPr>
              <a:t>▪  </a:t>
            </a:r>
            <a:r>
              <a:rPr sz="1700" b="1">
                <a:solidFill>
                  <a:srgbClr val="1A1A1A"/>
                </a:solidFill>
                <a:latin typeface="Calibri"/>
              </a:rPr>
              <a:t>Same configuration everywhere</a:t>
            </a:r>
          </a:p>
          <a:p>
            <a:pPr lvl="1">
              <a:lnSpc>
                <a:spcPct val="120000"/>
              </a:lnSpc>
              <a:spcBef>
                <a:spcPts val="0"/>
              </a:spcBef>
              <a:spcAft>
                <a:spcPts val="0"/>
              </a:spcAft>
            </a:pPr>
            <a:r>
              <a:rPr sz="1550" b="0">
                <a:solidFill>
                  <a:srgbClr val="6B7480"/>
                </a:solidFill>
                <a:latin typeface="Calibri"/>
              </a:rPr>
              <a:t>Storage on local disk, S3, Azure Blob or GCS; state in memory, redis or database; environment over application.yml.</a:t>
            </a:r>
          </a:p>
        </p:txBody>
      </p:sp>
      <p:sp>
        <p:nvSpPr>
          <p:cNvPr id="18" name="Rectangle 17"/>
          <p:cNvSpPr/>
          <p:nvPr/>
        </p:nvSpPr>
        <p:spPr>
          <a:xfrm>
            <a:off x="777240" y="1322705"/>
            <a:ext cx="3436010" cy="2654935"/>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1322705"/>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1487297"/>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ON PREMISES</a:t>
            </a:r>
          </a:p>
        </p:txBody>
      </p:sp>
      <p:sp>
        <p:nvSpPr>
          <p:cNvPr id="21" name="TextBox 20"/>
          <p:cNvSpPr txBox="1"/>
          <p:nvPr/>
        </p:nvSpPr>
        <p:spPr>
          <a:xfrm>
            <a:off x="960120" y="1743329"/>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Your data centre</a:t>
            </a:r>
          </a:p>
        </p:txBody>
      </p:sp>
      <p:sp>
        <p:nvSpPr>
          <p:cNvPr id="22" name="TextBox 21"/>
          <p:cNvSpPr txBox="1"/>
          <p:nvPr/>
        </p:nvSpPr>
        <p:spPr>
          <a:xfrm>
            <a:off x="960120" y="2140013"/>
            <a:ext cx="3070250" cy="1709610"/>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A VM with systemd and nginx, or Docker; air-gapped works with the offline mock model, local tools and local data.</a:t>
            </a:r>
          </a:p>
        </p:txBody>
      </p:sp>
      <p:sp>
        <p:nvSpPr>
          <p:cNvPr id="23" name="Rectangle 22"/>
          <p:cNvSpPr/>
          <p:nvPr/>
        </p:nvSpPr>
        <p:spPr>
          <a:xfrm>
            <a:off x="4377842" y="1322705"/>
            <a:ext cx="3436010" cy="2654935"/>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77842" y="1322705"/>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60722" y="1487297"/>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PRIVATE CLOUD</a:t>
            </a:r>
          </a:p>
        </p:txBody>
      </p:sp>
      <p:sp>
        <p:nvSpPr>
          <p:cNvPr id="26" name="TextBox 25"/>
          <p:cNvSpPr txBox="1"/>
          <p:nvPr/>
        </p:nvSpPr>
        <p:spPr>
          <a:xfrm>
            <a:off x="4560722" y="1743329"/>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Your VPC or VNet</a:t>
            </a:r>
          </a:p>
        </p:txBody>
      </p:sp>
      <p:sp>
        <p:nvSpPr>
          <p:cNvPr id="27" name="TextBox 26"/>
          <p:cNvSpPr txBox="1"/>
          <p:nvPr/>
        </p:nvSpPr>
        <p:spPr>
          <a:xfrm>
            <a:off x="4560722" y="2140013"/>
            <a:ext cx="3070250" cy="1709610"/>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Kubernetes with the Helm chart, or containers; PostgreSQL and an object store inside your network.</a:t>
            </a:r>
          </a:p>
        </p:txBody>
      </p:sp>
      <p:sp>
        <p:nvSpPr>
          <p:cNvPr id="28" name="Rectangle 27"/>
          <p:cNvSpPr/>
          <p:nvPr/>
        </p:nvSpPr>
        <p:spPr>
          <a:xfrm>
            <a:off x="7978444" y="1322705"/>
            <a:ext cx="3436010" cy="2654935"/>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978444" y="1322705"/>
            <a:ext cx="343601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61324" y="1487297"/>
            <a:ext cx="3070250"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PUBLIC CLOUD</a:t>
            </a:r>
          </a:p>
        </p:txBody>
      </p:sp>
      <p:sp>
        <p:nvSpPr>
          <p:cNvPr id="31" name="TextBox 30"/>
          <p:cNvSpPr txBox="1"/>
          <p:nvPr/>
        </p:nvSpPr>
        <p:spPr>
          <a:xfrm>
            <a:off x="8161324" y="1743329"/>
            <a:ext cx="3070250"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Managed services</a:t>
            </a:r>
          </a:p>
        </p:txBody>
      </p:sp>
      <p:sp>
        <p:nvSpPr>
          <p:cNvPr id="32" name="TextBox 31"/>
          <p:cNvSpPr txBox="1"/>
          <p:nvPr/>
        </p:nvSpPr>
        <p:spPr>
          <a:xfrm>
            <a:off x="8161324" y="2140013"/>
            <a:ext cx="3070250" cy="1709610"/>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ECS Fargate with RDS, S3 and Secrets Manager (a CDK recipe), or any managed Kubernetes.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REFERENCE ARCHITECTURE: PUBLIC CLOUD</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On AWS: Fargate tasks behind a load balancer, state in RDS</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46</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Several tasks share protocol state through RDS (or ElastiCache Redis); every task gets the same secrets from Secrets Manager. SAJHA never runs DDL on RDS: an operator runs the schema file once.</a:t>
            </a:r>
          </a:p>
        </p:txBody>
      </p:sp>
      <p:sp>
        <p:nvSpPr>
          <p:cNvPr id="19" name="Rectangle 18"/>
          <p:cNvSpPr/>
          <p:nvPr/>
        </p:nvSpPr>
        <p:spPr>
          <a:xfrm>
            <a:off x="2372822" y="1354836"/>
            <a:ext cx="9041632" cy="432358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82550" y="1409700"/>
            <a:ext cx="8822176"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AWS ACCOUNT · VPC</a:t>
            </a:r>
          </a:p>
        </p:txBody>
      </p:sp>
      <p:sp>
        <p:nvSpPr>
          <p:cNvPr id="21" name="Rectangle 20"/>
          <p:cNvSpPr/>
          <p:nvPr/>
        </p:nvSpPr>
        <p:spPr>
          <a:xfrm>
            <a:off x="5138498" y="1787194"/>
            <a:ext cx="3403908" cy="2161794"/>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48226" y="1842058"/>
            <a:ext cx="3184452"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ECS FARGATE · 1 TO 6 TASKS</a:t>
            </a:r>
          </a:p>
        </p:txBody>
      </p:sp>
      <p:cxnSp>
        <p:nvCxnSpPr>
          <p:cNvPr id="23" name="Connector 22"/>
          <p:cNvCxnSpPr/>
          <p:nvPr/>
        </p:nvCxnSpPr>
        <p:spPr>
          <a:xfrm>
            <a:off x="2090281" y="2997799"/>
            <a:ext cx="56508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184608" y="2796631"/>
            <a:ext cx="37642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HTTPS</a:t>
            </a:r>
          </a:p>
        </p:txBody>
      </p:sp>
      <p:cxnSp>
        <p:nvCxnSpPr>
          <p:cNvPr id="25" name="Connector 24"/>
          <p:cNvCxnSpPr/>
          <p:nvPr/>
        </p:nvCxnSpPr>
        <p:spPr>
          <a:xfrm>
            <a:off x="4749585" y="2997799"/>
            <a:ext cx="56508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366238" y="3062653"/>
            <a:ext cx="56508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40452" y="3985564"/>
            <a:ext cx="0" cy="44567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77240" y="2565440"/>
            <a:ext cx="1276465" cy="864717"/>
          </a:xfrm>
          <a:prstGeom prst="roundRect">
            <a:avLst>
              <a:gd name="adj" fmla="val 8459"/>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Users and AI agents</a:t>
            </a:r>
          </a:p>
        </p:txBody>
      </p:sp>
      <p:sp>
        <p:nvSpPr>
          <p:cNvPr id="29" name="Rounded Rectangle 28"/>
          <p:cNvSpPr/>
          <p:nvPr/>
        </p:nvSpPr>
        <p:spPr>
          <a:xfrm>
            <a:off x="2691938" y="2565440"/>
            <a:ext cx="2021070" cy="864717"/>
          </a:xfrm>
          <a:prstGeom prst="roundRect">
            <a:avLst>
              <a:gd name="adj" fmla="val 845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Application load balancer</a:t>
            </a:r>
          </a:p>
          <a:p>
            <a:pPr algn="ctr">
              <a:lnSpc>
                <a:spcPct val="105000"/>
              </a:lnSpc>
              <a:spcBef>
                <a:spcPts val="0"/>
              </a:spcBef>
              <a:spcAft>
                <a:spcPts val="0"/>
              </a:spcAft>
            </a:pPr>
            <a:r>
              <a:rPr sz="1250" b="0" i="0">
                <a:solidFill>
                  <a:srgbClr val="FFFFFF"/>
                </a:solidFill>
                <a:latin typeface="Calibri"/>
              </a:rPr>
              <a:t>TLS</a:t>
            </a:r>
          </a:p>
        </p:txBody>
      </p:sp>
      <p:sp>
        <p:nvSpPr>
          <p:cNvPr id="30" name="Rounded Rectangle 29"/>
          <p:cNvSpPr/>
          <p:nvPr/>
        </p:nvSpPr>
        <p:spPr>
          <a:xfrm>
            <a:off x="5351242" y="2565440"/>
            <a:ext cx="2978420" cy="864717"/>
          </a:xfrm>
          <a:prstGeom prst="roundRect">
            <a:avLst>
              <a:gd name="adj" fmla="val 8459"/>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SAJHA container</a:t>
            </a:r>
          </a:p>
          <a:p>
            <a:pPr algn="ctr">
              <a:lnSpc>
                <a:spcPct val="105000"/>
              </a:lnSpc>
              <a:spcBef>
                <a:spcPts val="0"/>
              </a:spcBef>
              <a:spcAft>
                <a:spcPts val="0"/>
              </a:spcAft>
            </a:pPr>
            <a:r>
              <a:rPr sz="1250" b="0" i="0">
                <a:solidFill>
                  <a:srgbClr val="FFFFFF"/>
                </a:solidFill>
                <a:latin typeface="Calibri"/>
              </a:rPr>
              <a:t>non-root image, port 3002</a:t>
            </a:r>
          </a:p>
        </p:txBody>
      </p:sp>
      <p:sp>
        <p:nvSpPr>
          <p:cNvPr id="31" name="Rounded Rectangle 30"/>
          <p:cNvSpPr/>
          <p:nvPr/>
        </p:nvSpPr>
        <p:spPr>
          <a:xfrm>
            <a:off x="8967895" y="1787194"/>
            <a:ext cx="2233815" cy="735009"/>
          </a:xfrm>
          <a:prstGeom prst="roundRect">
            <a:avLst>
              <a:gd name="adj" fmla="val 9952"/>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Secrets Manager</a:t>
            </a:r>
          </a:p>
          <a:p>
            <a:pPr algn="ctr">
              <a:lnSpc>
                <a:spcPct val="105000"/>
              </a:lnSpc>
              <a:spcBef>
                <a:spcPts val="0"/>
              </a:spcBef>
              <a:spcAft>
                <a:spcPts val="0"/>
              </a:spcAft>
            </a:pPr>
            <a:r>
              <a:rPr sz="1250" b="0" i="0">
                <a:solidFill>
                  <a:srgbClr val="1A1A1A"/>
                </a:solidFill>
                <a:latin typeface="Calibri"/>
              </a:rPr>
              <a:t>JWT, session, DB, OAuth key</a:t>
            </a:r>
          </a:p>
        </p:txBody>
      </p:sp>
      <p:sp>
        <p:nvSpPr>
          <p:cNvPr id="32" name="Rounded Rectangle 31"/>
          <p:cNvSpPr/>
          <p:nvPr/>
        </p:nvSpPr>
        <p:spPr>
          <a:xfrm>
            <a:off x="8967895" y="2695148"/>
            <a:ext cx="2233815" cy="735009"/>
          </a:xfrm>
          <a:prstGeom prst="roundRect">
            <a:avLst>
              <a:gd name="adj" fmla="val 9952"/>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S3</a:t>
            </a:r>
          </a:p>
          <a:p>
            <a:pPr algn="ctr">
              <a:lnSpc>
                <a:spcPct val="105000"/>
              </a:lnSpc>
              <a:spcBef>
                <a:spcPts val="0"/>
              </a:spcBef>
              <a:spcAft>
                <a:spcPts val="0"/>
              </a:spcAft>
            </a:pPr>
            <a:r>
              <a:rPr sz="1250" b="0" i="0">
                <a:solidFill>
                  <a:srgbClr val="1A1A1A"/>
                </a:solidFill>
                <a:latin typeface="Calibri"/>
              </a:rPr>
              <a:t>tool and prompt configs</a:t>
            </a:r>
          </a:p>
        </p:txBody>
      </p:sp>
      <p:sp>
        <p:nvSpPr>
          <p:cNvPr id="33" name="Rounded Rectangle 32"/>
          <p:cNvSpPr/>
          <p:nvPr/>
        </p:nvSpPr>
        <p:spPr>
          <a:xfrm>
            <a:off x="8967895" y="3603101"/>
            <a:ext cx="2233815" cy="735009"/>
          </a:xfrm>
          <a:prstGeom prst="roundRect">
            <a:avLst>
              <a:gd name="adj" fmla="val 9952"/>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CloudWatch</a:t>
            </a:r>
          </a:p>
          <a:p>
            <a:pPr algn="ctr">
              <a:lnSpc>
                <a:spcPct val="105000"/>
              </a:lnSpc>
              <a:spcBef>
                <a:spcPts val="0"/>
              </a:spcBef>
              <a:spcAft>
                <a:spcPts val="0"/>
              </a:spcAft>
            </a:pPr>
            <a:r>
              <a:rPr sz="1250" b="0" i="0">
                <a:solidFill>
                  <a:srgbClr val="1A1A1A"/>
                </a:solidFill>
                <a:latin typeface="Calibri"/>
              </a:rPr>
              <a:t>logs, metrics, dashboard</a:t>
            </a:r>
          </a:p>
        </p:txBody>
      </p:sp>
      <p:sp>
        <p:nvSpPr>
          <p:cNvPr id="34" name="Rounded Rectangle 33"/>
          <p:cNvSpPr/>
          <p:nvPr/>
        </p:nvSpPr>
        <p:spPr>
          <a:xfrm>
            <a:off x="5138498" y="4467819"/>
            <a:ext cx="3403908" cy="864717"/>
          </a:xfrm>
          <a:prstGeom prst="roundRect">
            <a:avLst>
              <a:gd name="adj" fmla="val 8459"/>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RDS PostgreSQL</a:t>
            </a:r>
          </a:p>
          <a:p>
            <a:pPr algn="ctr">
              <a:lnSpc>
                <a:spcPct val="105000"/>
              </a:lnSpc>
              <a:spcBef>
                <a:spcPts val="0"/>
              </a:spcBef>
              <a:spcAft>
                <a:spcPts val="0"/>
              </a:spcAft>
            </a:pPr>
            <a:r>
              <a:rPr sz="1250" b="0" i="0">
                <a:solidFill>
                  <a:srgbClr val="1A1A1A"/>
                </a:solidFill>
                <a:latin typeface="Calibri"/>
              </a:rPr>
              <a:t>schema.sql run once; state.backend database</a:t>
            </a:r>
          </a:p>
        </p:txBody>
      </p:sp>
      <p:sp>
        <p:nvSpPr>
          <p:cNvPr id="35" name="Rounded Rectangle 34"/>
          <p:cNvSpPr/>
          <p:nvPr/>
        </p:nvSpPr>
        <p:spPr>
          <a:xfrm>
            <a:off x="8967895" y="4597527"/>
            <a:ext cx="2233815" cy="735009"/>
          </a:xfrm>
          <a:prstGeom prst="roundRect">
            <a:avLst>
              <a:gd name="adj" fmla="val 9952"/>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Bedrock</a:t>
            </a:r>
          </a:p>
          <a:p>
            <a:pPr algn="ctr">
              <a:lnSpc>
                <a:spcPct val="105000"/>
              </a:lnSpc>
              <a:spcBef>
                <a:spcPts val="0"/>
              </a:spcBef>
              <a:spcAft>
                <a:spcPts val="0"/>
              </a:spcAft>
            </a:pPr>
            <a:r>
              <a:rPr sz="1250" b="0" i="0">
                <a:solidFill>
                  <a:srgbClr val="1A1A1A"/>
                </a:solidFill>
                <a:latin typeface="Calibri"/>
              </a:rPr>
              <a:t>optional LLM provider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REFERENCE ARCHITECTURE: ON PREMISES</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In your data centre: nginx in front, PostgreSQL behind, nothing external required</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47</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Air-gapped: the offline mock model, the calculators, DuckDB and your own databases all work without the internet; tools that call outside services are simply not used.</a:t>
            </a:r>
          </a:p>
        </p:txBody>
      </p:sp>
      <p:sp>
        <p:nvSpPr>
          <p:cNvPr id="19" name="Rectangle 18"/>
          <p:cNvSpPr/>
          <p:nvPr/>
        </p:nvSpPr>
        <p:spPr>
          <a:xfrm>
            <a:off x="2372822" y="1611884"/>
            <a:ext cx="9041632" cy="4066539"/>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82550" y="1666748"/>
            <a:ext cx="8822176"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YOUR DATA CENTRE</a:t>
            </a:r>
          </a:p>
        </p:txBody>
      </p:sp>
      <p:sp>
        <p:nvSpPr>
          <p:cNvPr id="21" name="Rectangle 20"/>
          <p:cNvSpPr/>
          <p:nvPr/>
        </p:nvSpPr>
        <p:spPr>
          <a:xfrm>
            <a:off x="5138498" y="2018538"/>
            <a:ext cx="3403908" cy="2033269"/>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48226" y="2073402"/>
            <a:ext cx="3184452"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VM (systemd) OR DOCKER</a:t>
            </a:r>
          </a:p>
        </p:txBody>
      </p:sp>
      <p:cxnSp>
        <p:nvCxnSpPr>
          <p:cNvPr id="23" name="Connector 22"/>
          <p:cNvCxnSpPr/>
          <p:nvPr/>
        </p:nvCxnSpPr>
        <p:spPr>
          <a:xfrm>
            <a:off x="2090281" y="3157169"/>
            <a:ext cx="56508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2184608" y="2956001"/>
            <a:ext cx="37642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HTTPS</a:t>
            </a:r>
          </a:p>
        </p:txBody>
      </p:sp>
      <p:cxnSp>
        <p:nvCxnSpPr>
          <p:cNvPr id="25" name="Connector 24"/>
          <p:cNvCxnSpPr/>
          <p:nvPr/>
        </p:nvCxnSpPr>
        <p:spPr>
          <a:xfrm>
            <a:off x="4749585" y="3157169"/>
            <a:ext cx="56508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366238" y="3218167"/>
            <a:ext cx="56508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40452" y="4088384"/>
            <a:ext cx="0" cy="41483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77240" y="2750515"/>
            <a:ext cx="1276465" cy="813308"/>
          </a:xfrm>
          <a:prstGeom prst="roundRect">
            <a:avLst>
              <a:gd name="adj" fmla="val 8994"/>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Users and agents</a:t>
            </a:r>
          </a:p>
        </p:txBody>
      </p:sp>
      <p:sp>
        <p:nvSpPr>
          <p:cNvPr id="29" name="Rounded Rectangle 28"/>
          <p:cNvSpPr/>
          <p:nvPr/>
        </p:nvSpPr>
        <p:spPr>
          <a:xfrm>
            <a:off x="2691938" y="2750515"/>
            <a:ext cx="2021070" cy="813308"/>
          </a:xfrm>
          <a:prstGeom prst="roundRect">
            <a:avLst>
              <a:gd name="adj" fmla="val 899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nginx</a:t>
            </a:r>
          </a:p>
          <a:p>
            <a:pPr algn="ctr">
              <a:lnSpc>
                <a:spcPct val="105000"/>
              </a:lnSpc>
              <a:spcBef>
                <a:spcPts val="0"/>
              </a:spcBef>
              <a:spcAft>
                <a:spcPts val="0"/>
              </a:spcAft>
            </a:pPr>
            <a:r>
              <a:rPr sz="1250" b="0" i="0">
                <a:solidFill>
                  <a:srgbClr val="FFFFFF"/>
                </a:solidFill>
                <a:latin typeface="Calibri"/>
              </a:rPr>
              <a:t>TLS, proxy, streaming unbuffered</a:t>
            </a:r>
          </a:p>
        </p:txBody>
      </p:sp>
      <p:sp>
        <p:nvSpPr>
          <p:cNvPr id="30" name="Rounded Rectangle 29"/>
          <p:cNvSpPr/>
          <p:nvPr/>
        </p:nvSpPr>
        <p:spPr>
          <a:xfrm>
            <a:off x="5351242" y="2750515"/>
            <a:ext cx="2978420" cy="813308"/>
          </a:xfrm>
          <a:prstGeom prst="roundRect">
            <a:avLst>
              <a:gd name="adj" fmla="val 899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SAJHA</a:t>
            </a:r>
          </a:p>
          <a:p>
            <a:pPr algn="ctr">
              <a:lnSpc>
                <a:spcPct val="105000"/>
              </a:lnSpc>
              <a:spcBef>
                <a:spcPts val="0"/>
              </a:spcBef>
              <a:spcAft>
                <a:spcPts val="0"/>
              </a:spcAft>
            </a:pPr>
            <a:r>
              <a:rPr sz="1250" b="0" i="0">
                <a:solidFill>
                  <a:srgbClr val="FFFFFF"/>
                </a:solidFill>
                <a:latin typeface="Calibri"/>
              </a:rPr>
              <a:t>127.0.0.1:3002</a:t>
            </a:r>
          </a:p>
        </p:txBody>
      </p:sp>
      <p:sp>
        <p:nvSpPr>
          <p:cNvPr id="31" name="Rounded Rectangle 30"/>
          <p:cNvSpPr/>
          <p:nvPr/>
        </p:nvSpPr>
        <p:spPr>
          <a:xfrm>
            <a:off x="8967895" y="2018538"/>
            <a:ext cx="2233815" cy="691311"/>
          </a:xfrm>
          <a:prstGeom prst="roundRect">
            <a:avLst>
              <a:gd name="adj" fmla="val 10581"/>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Local disk</a:t>
            </a:r>
          </a:p>
          <a:p>
            <a:pPr algn="ctr">
              <a:lnSpc>
                <a:spcPct val="105000"/>
              </a:lnSpc>
              <a:spcBef>
                <a:spcPts val="0"/>
              </a:spcBef>
              <a:spcAft>
                <a:spcPts val="0"/>
              </a:spcAft>
            </a:pPr>
            <a:r>
              <a:rPr sz="1250" b="0" i="0">
                <a:solidFill>
                  <a:srgbClr val="1A1A1A"/>
                </a:solidFill>
                <a:latin typeface="Calibri"/>
              </a:rPr>
              <a:t>config/, data/</a:t>
            </a:r>
          </a:p>
        </p:txBody>
      </p:sp>
      <p:sp>
        <p:nvSpPr>
          <p:cNvPr id="32" name="Rounded Rectangle 31"/>
          <p:cNvSpPr/>
          <p:nvPr/>
        </p:nvSpPr>
        <p:spPr>
          <a:xfrm>
            <a:off x="8967895" y="2872511"/>
            <a:ext cx="2233815" cy="691311"/>
          </a:xfrm>
          <a:prstGeom prst="roundRect">
            <a:avLst>
              <a:gd name="adj" fmla="val 10581"/>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50" b="1" i="0">
                <a:solidFill>
                  <a:srgbClr val="1A1A1A"/>
                </a:solidFill>
                <a:latin typeface="Calibri"/>
              </a:rPr>
              <a:t>Redis</a:t>
            </a:r>
          </a:p>
          <a:p>
            <a:pPr algn="ctr">
              <a:lnSpc>
                <a:spcPct val="105000"/>
              </a:lnSpc>
              <a:spcBef>
                <a:spcPts val="0"/>
              </a:spcBef>
              <a:spcAft>
                <a:spcPts val="0"/>
              </a:spcAft>
            </a:pPr>
            <a:r>
              <a:rPr sz="1200" b="0" i="0">
                <a:solidFill>
                  <a:srgbClr val="1A1A1A"/>
                </a:solidFill>
                <a:latin typeface="Calibri"/>
              </a:rPr>
              <a:t>state, when several workers</a:t>
            </a:r>
          </a:p>
        </p:txBody>
      </p:sp>
      <p:sp>
        <p:nvSpPr>
          <p:cNvPr id="33" name="Rounded Rectangle 32"/>
          <p:cNvSpPr/>
          <p:nvPr/>
        </p:nvSpPr>
        <p:spPr>
          <a:xfrm>
            <a:off x="8967895" y="3726484"/>
            <a:ext cx="2233815" cy="691311"/>
          </a:xfrm>
          <a:prstGeom prst="roundRect">
            <a:avLst>
              <a:gd name="adj" fmla="val 10581"/>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50" b="1" i="0">
                <a:solidFill>
                  <a:srgbClr val="1A1A1A"/>
                </a:solidFill>
                <a:latin typeface="Calibri"/>
              </a:rPr>
              <a:t>Prometheus · Grafana</a:t>
            </a:r>
          </a:p>
          <a:p>
            <a:pPr algn="ctr">
              <a:lnSpc>
                <a:spcPct val="105000"/>
              </a:lnSpc>
              <a:spcBef>
                <a:spcPts val="0"/>
              </a:spcBef>
              <a:spcAft>
                <a:spcPts val="0"/>
              </a:spcAft>
            </a:pPr>
            <a:r>
              <a:rPr sz="1200" b="0" i="0">
                <a:solidFill>
                  <a:srgbClr val="1A1A1A"/>
                </a:solidFill>
                <a:latin typeface="Calibri"/>
              </a:rPr>
              <a:t>/metrics; OTLP traces</a:t>
            </a:r>
          </a:p>
        </p:txBody>
      </p:sp>
      <p:sp>
        <p:nvSpPr>
          <p:cNvPr id="34" name="Rounded Rectangle 33"/>
          <p:cNvSpPr/>
          <p:nvPr/>
        </p:nvSpPr>
        <p:spPr>
          <a:xfrm>
            <a:off x="5138498" y="4539792"/>
            <a:ext cx="3403908" cy="813308"/>
          </a:xfrm>
          <a:prstGeom prst="roundRect">
            <a:avLst>
              <a:gd name="adj" fmla="val 8994"/>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PostgreSQL</a:t>
            </a:r>
          </a:p>
          <a:p>
            <a:pPr algn="ctr">
              <a:lnSpc>
                <a:spcPct val="105000"/>
              </a:lnSpc>
              <a:spcBef>
                <a:spcPts val="0"/>
              </a:spcBef>
              <a:spcAft>
                <a:spcPts val="0"/>
              </a:spcAft>
            </a:pPr>
            <a:r>
              <a:rPr sz="1250" b="0" i="0">
                <a:solidFill>
                  <a:srgbClr val="1A1A1A"/>
                </a:solidFill>
                <a:latin typeface="Calibri"/>
              </a:rPr>
              <a:t>schema and seed files, run by an operator</a:t>
            </a:r>
          </a:p>
        </p:txBody>
      </p:sp>
      <p:sp>
        <p:nvSpPr>
          <p:cNvPr id="35" name="Rounded Rectangle 34"/>
          <p:cNvSpPr/>
          <p:nvPr/>
        </p:nvSpPr>
        <p:spPr>
          <a:xfrm>
            <a:off x="8967895" y="4661789"/>
            <a:ext cx="2233815" cy="691311"/>
          </a:xfrm>
          <a:prstGeom prst="roundRect">
            <a:avLst>
              <a:gd name="adj" fmla="val 10581"/>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50" b="1" i="0">
                <a:solidFill>
                  <a:srgbClr val="1A1A1A"/>
                </a:solidFill>
                <a:latin typeface="Calibri"/>
              </a:rPr>
              <a:t>Your SIEM</a:t>
            </a:r>
          </a:p>
          <a:p>
            <a:pPr algn="ctr">
              <a:lnSpc>
                <a:spcPct val="105000"/>
              </a:lnSpc>
              <a:spcBef>
                <a:spcPts val="0"/>
              </a:spcBef>
              <a:spcAft>
                <a:spcPts val="0"/>
              </a:spcAft>
            </a:pPr>
            <a:r>
              <a:rPr sz="1200" b="0" i="0">
                <a:solidFill>
                  <a:srgbClr val="1A1A1A"/>
                </a:solidFill>
                <a:latin typeface="Calibri"/>
              </a:rPr>
              <a:t>syslog or HTTP audit export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PRODUCTION READINESS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Production readiness, in facts the build can check</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48</a:t>
            </a:r>
          </a:p>
        </p:txBody>
      </p:sp>
      <p:sp>
        <p:nvSpPr>
          <p:cNvPr id="17" name="TextBox 16"/>
          <p:cNvSpPr txBox="1"/>
          <p:nvPr/>
        </p:nvSpPr>
        <p:spPr>
          <a:xfrm>
            <a:off x="777240" y="1386967"/>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No load-test figures are claimed here: none has been measured and recorded. These are counted from the repository when the deck is built.</a:t>
            </a:r>
          </a:p>
        </p:txBody>
      </p:sp>
      <p:sp>
        <p:nvSpPr>
          <p:cNvPr id="18" name="Rectangle 17"/>
          <p:cNvSpPr/>
          <p:nvPr/>
        </p:nvSpPr>
        <p:spPr>
          <a:xfrm>
            <a:off x="777240" y="204050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77240" y="204050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 y="216852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5376</a:t>
            </a:r>
          </a:p>
        </p:txBody>
      </p:sp>
      <p:sp>
        <p:nvSpPr>
          <p:cNvPr id="21" name="TextBox 20"/>
          <p:cNvSpPr txBox="1"/>
          <p:nvPr/>
        </p:nvSpPr>
        <p:spPr>
          <a:xfrm>
            <a:off x="978408" y="264401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6B7480"/>
                </a:solidFill>
                <a:latin typeface="Calibri"/>
              </a:rPr>
              <a:t>automated tests</a:t>
            </a:r>
          </a:p>
        </p:txBody>
      </p:sp>
      <p:sp>
        <p:nvSpPr>
          <p:cNvPr id="22" name="Rectangle 21"/>
          <p:cNvSpPr/>
          <p:nvPr/>
        </p:nvSpPr>
        <p:spPr>
          <a:xfrm>
            <a:off x="3486835" y="204050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86835" y="204050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88003" y="216852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242</a:t>
            </a:r>
          </a:p>
        </p:txBody>
      </p:sp>
      <p:sp>
        <p:nvSpPr>
          <p:cNvPr id="25" name="TextBox 24"/>
          <p:cNvSpPr txBox="1"/>
          <p:nvPr/>
        </p:nvSpPr>
        <p:spPr>
          <a:xfrm>
            <a:off x="3688003" y="264401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6B7480"/>
                </a:solidFill>
                <a:latin typeface="Calibri"/>
              </a:rPr>
              <a:t>conformance checks passed, 0 failed</a:t>
            </a:r>
          </a:p>
        </p:txBody>
      </p:sp>
      <p:sp>
        <p:nvSpPr>
          <p:cNvPr id="26" name="Rectangle 25"/>
          <p:cNvSpPr/>
          <p:nvPr/>
        </p:nvSpPr>
        <p:spPr>
          <a:xfrm>
            <a:off x="6196431" y="204050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96431" y="204050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97599" y="216852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28</a:t>
            </a:r>
          </a:p>
        </p:txBody>
      </p:sp>
      <p:sp>
        <p:nvSpPr>
          <p:cNvPr id="29" name="TextBox 28"/>
          <p:cNvSpPr txBox="1"/>
          <p:nvPr/>
        </p:nvSpPr>
        <p:spPr>
          <a:xfrm>
            <a:off x="6397599" y="264401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6B7480"/>
                </a:solidFill>
                <a:latin typeface="Calibri"/>
              </a:rPr>
              <a:t>tables in each of the two schema files</a:t>
            </a:r>
          </a:p>
        </p:txBody>
      </p:sp>
      <p:sp>
        <p:nvSpPr>
          <p:cNvPr id="30" name="Rectangle 29"/>
          <p:cNvSpPr/>
          <p:nvPr/>
        </p:nvSpPr>
        <p:spPr>
          <a:xfrm>
            <a:off x="8906027" y="2040509"/>
            <a:ext cx="2508427" cy="1143000"/>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906027" y="2040509"/>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07195" y="2168525"/>
            <a:ext cx="2197531" cy="457200"/>
          </a:xfrm>
          <a:prstGeom prst="rect">
            <a:avLst/>
          </a:prstGeom>
          <a:noFill/>
        </p:spPr>
        <p:txBody>
          <a:bodyPr wrap="square" lIns="0" rIns="0" tIns="0" bIns="0" anchor="t">
            <a:spAutoFit/>
          </a:bodyPr>
          <a:lstStyle/>
          <a:p>
            <a:pPr algn="l">
              <a:lnSpc>
                <a:spcPct val="100000"/>
              </a:lnSpc>
              <a:spcBef>
                <a:spcPts val="0"/>
              </a:spcBef>
              <a:spcAft>
                <a:spcPts val="0"/>
              </a:spcAft>
            </a:pPr>
            <a:r>
              <a:rPr sz="2400" b="1" i="0">
                <a:solidFill>
                  <a:srgbClr val="A51C30"/>
                </a:solidFill>
                <a:latin typeface="Georgia"/>
              </a:rPr>
              <a:t>12</a:t>
            </a:r>
          </a:p>
        </p:txBody>
      </p:sp>
      <p:sp>
        <p:nvSpPr>
          <p:cNvPr id="33" name="TextBox 32"/>
          <p:cNvSpPr txBox="1"/>
          <p:nvPr/>
        </p:nvSpPr>
        <p:spPr>
          <a:xfrm>
            <a:off x="9107195" y="2644013"/>
            <a:ext cx="2197531" cy="466344"/>
          </a:xfrm>
          <a:prstGeom prst="rect">
            <a:avLst/>
          </a:prstGeom>
          <a:noFill/>
        </p:spPr>
        <p:txBody>
          <a:bodyPr wrap="square" lIns="0" rIns="0" tIns="0" bIns="0" anchor="t">
            <a:spAutoFit/>
          </a:bodyPr>
          <a:lstStyle/>
          <a:p>
            <a:pPr algn="l">
              <a:lnSpc>
                <a:spcPct val="112000"/>
              </a:lnSpc>
              <a:spcBef>
                <a:spcPts val="0"/>
              </a:spcBef>
              <a:spcAft>
                <a:spcPts val="0"/>
              </a:spcAft>
            </a:pPr>
            <a:r>
              <a:rPr sz="1300" b="0" i="0">
                <a:solidFill>
                  <a:srgbClr val="6B7480"/>
                </a:solidFill>
                <a:latin typeface="Calibri"/>
              </a:rPr>
              <a:t>templates in the Helm chart</a:t>
            </a:r>
          </a:p>
        </p:txBody>
      </p:sp>
      <p:sp>
        <p:nvSpPr>
          <p:cNvPr id="34" name="TextBox 33"/>
          <p:cNvSpPr txBox="1"/>
          <p:nvPr/>
        </p:nvSpPr>
        <p:spPr>
          <a:xfrm>
            <a:off x="777240" y="3393821"/>
            <a:ext cx="10637215" cy="2851531"/>
          </a:xfrm>
          <a:prstGeom prst="rect">
            <a:avLst/>
          </a:prstGeom>
          <a:noFill/>
        </p:spPr>
        <p:txBody>
          <a:bodyPr wrap="square" lIns="0" rIns="0" tIns="0" bIns="0" anchor="t">
            <a:spAutoFit/>
          </a:bodyPr>
          <a:lstStyle/>
          <a:p>
            <a:pPr algn="l">
              <a:lnSpc>
                <a:spcPct val="120000"/>
              </a:lnSpc>
              <a:spcBef>
                <a:spcPts val="0"/>
              </a:spcBef>
              <a:spcAft>
                <a:spcPts val="100"/>
              </a:spcAft>
            </a:pPr>
            <a:r>
              <a:rPr sz="1850" b="1">
                <a:solidFill>
                  <a:srgbClr val="A51C30"/>
                </a:solidFill>
                <a:latin typeface="Calibri"/>
              </a:rPr>
              <a:t>▪  </a:t>
            </a:r>
            <a:r>
              <a:rPr sz="1850" b="1">
                <a:solidFill>
                  <a:srgbClr val="1A1A1A"/>
                </a:solidFill>
                <a:latin typeface="Calibri"/>
              </a:rPr>
              <a:t>Kubernetes</a:t>
            </a:r>
          </a:p>
          <a:p>
            <a:pPr lvl="1">
              <a:lnSpc>
                <a:spcPct val="120000"/>
              </a:lnSpc>
              <a:spcBef>
                <a:spcPts val="0"/>
              </a:spcBef>
              <a:spcAft>
                <a:spcPts val="0"/>
              </a:spcAft>
            </a:pPr>
            <a:r>
              <a:rPr sz="1700" b="0">
                <a:solidFill>
                  <a:srgbClr val="6B7480"/>
                </a:solidFill>
                <a:latin typeface="Calibri"/>
              </a:rPr>
              <a:t>HPA, disruption budget, network policy, ServiceMonitor; several replicas need the redis or database state backend.</a:t>
            </a:r>
          </a:p>
          <a:p>
            <a:pPr>
              <a:lnSpc>
                <a:spcPct val="120000"/>
              </a:lnSpc>
              <a:spcBef>
                <a:spcPts val="500"/>
              </a:spcBef>
              <a:spcAft>
                <a:spcPts val="100"/>
              </a:spcAft>
            </a:pPr>
            <a:r>
              <a:rPr sz="1850" b="1">
                <a:solidFill>
                  <a:srgbClr val="A51C30"/>
                </a:solidFill>
                <a:latin typeface="Calibri"/>
              </a:rPr>
              <a:t>▪  </a:t>
            </a:r>
            <a:r>
              <a:rPr sz="1850" b="1">
                <a:solidFill>
                  <a:srgbClr val="1A1A1A"/>
                </a:solidFill>
                <a:latin typeface="Calibri"/>
              </a:rPr>
              <a:t>Several workers</a:t>
            </a:r>
          </a:p>
          <a:p>
            <a:pPr lvl="1">
              <a:lnSpc>
                <a:spcPct val="120000"/>
              </a:lnSpc>
              <a:spcBef>
                <a:spcPts val="0"/>
              </a:spcBef>
              <a:spcAft>
                <a:spcPts val="0"/>
              </a:spcAft>
            </a:pPr>
            <a:r>
              <a:rPr sz="1700" b="0">
                <a:solidFill>
                  <a:srgbClr val="6B7480"/>
                </a:solidFill>
                <a:latin typeface="Calibri"/>
              </a:rPr>
              <a:t>Sessions, tasks, OAuth codes, counters and approvals are shared; caches and circuit breakers stay per process on purpose.</a:t>
            </a:r>
          </a:p>
          <a:p>
            <a:pPr>
              <a:lnSpc>
                <a:spcPct val="120000"/>
              </a:lnSpc>
              <a:spcBef>
                <a:spcPts val="500"/>
              </a:spcBef>
              <a:spcAft>
                <a:spcPts val="100"/>
              </a:spcAft>
            </a:pPr>
            <a:r>
              <a:rPr sz="1850" b="1">
                <a:solidFill>
                  <a:srgbClr val="A51C30"/>
                </a:solidFill>
                <a:latin typeface="Calibri"/>
              </a:rPr>
              <a:t>▪  </a:t>
            </a:r>
            <a:r>
              <a:rPr sz="1850" b="1">
                <a:solidFill>
                  <a:srgbClr val="1A1A1A"/>
                </a:solidFill>
                <a:latin typeface="Calibri"/>
              </a:rPr>
              <a:t>Operated</a:t>
            </a:r>
          </a:p>
          <a:p>
            <a:pPr lvl="1">
              <a:lnSpc>
                <a:spcPct val="120000"/>
              </a:lnSpc>
              <a:spcBef>
                <a:spcPts val="0"/>
              </a:spcBef>
              <a:spcAft>
                <a:spcPts val="0"/>
              </a:spcAft>
            </a:pPr>
            <a:r>
              <a:rPr sz="1700" b="0">
                <a:solidFill>
                  <a:srgbClr val="6B7480"/>
                </a:solidFill>
                <a:latin typeface="Calibri"/>
              </a:rPr>
              <a:t>Prometheus /metrics, OpenTelemetry traces, usage and cost dashboard, alert rules, health at /health.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04</a:t>
            </a:r>
          </a:p>
        </p:txBody>
      </p:sp>
      <p:sp>
        <p:nvSpPr>
          <p:cNvPr id="12" name="TextBox 11"/>
          <p:cNvSpPr txBox="1"/>
          <p:nvPr/>
        </p:nvSpPr>
        <p:spPr>
          <a:xfrm>
            <a:off x="1521845" y="2487168"/>
            <a:ext cx="9148005" cy="624078"/>
          </a:xfrm>
          <a:prstGeom prst="rect">
            <a:avLst/>
          </a:prstGeom>
          <a:noFill/>
        </p:spPr>
        <p:txBody>
          <a:bodyPr wrap="square" lIns="0" rIns="0" tIns="0" bIns="0" anchor="t">
            <a:spAutoFit/>
          </a:bodyPr>
          <a:lstStyle/>
          <a:p>
            <a:pPr algn="ctr">
              <a:lnSpc>
                <a:spcPct val="110000"/>
              </a:lnSpc>
              <a:spcBef>
                <a:spcPts val="0"/>
              </a:spcBef>
              <a:spcAft>
                <a:spcPts val="0"/>
              </a:spcAft>
            </a:pPr>
            <a:r>
              <a:rPr sz="3600" b="0" i="0">
                <a:solidFill>
                  <a:srgbClr val="FFFFFF"/>
                </a:solidFill>
                <a:latin typeface="Georgia"/>
              </a:rPr>
              <a:t>Agents, composition and workflows</a:t>
            </a:r>
          </a:p>
        </p:txBody>
      </p:sp>
      <p:sp>
        <p:nvSpPr>
          <p:cNvPr id="13" name="Rectangle 12"/>
          <p:cNvSpPr/>
          <p:nvPr/>
        </p:nvSpPr>
        <p:spPr>
          <a:xfrm>
            <a:off x="5364327" y="3266694"/>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495294"/>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How agents use SAJHA, alone and together; how tools compose into one governed call; how a schedule or an event runs a governed graph of steps; and how the server is extended while it runs.</a:t>
            </a:r>
          </a:p>
        </p:txBody>
      </p:sp>
      <p:sp>
        <p:nvSpPr>
          <p:cNvPr id="15" name="TextBox 14"/>
          <p:cNvSpPr txBox="1"/>
          <p:nvPr/>
        </p:nvSpPr>
        <p:spPr>
          <a:xfrm>
            <a:off x="1143000" y="4626102"/>
            <a:ext cx="9905695" cy="1591817"/>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Agent architecture   ·   A worked analysis   ·   Several agents   ·   Composite tools   ·   The Composition Framework   ·   Workflows   ·   A run   ·   How they fit   ·   Extending   ·   Hot reload   ·   Making a tool, step by step</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AGENT ARCHITECTURE</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A1A1A"/>
                </a:solidFill>
                <a:latin typeface="Georgia"/>
              </a:rPr>
              <a:t>The agent reasons; SAJHA executes, authorizes and records</a:t>
            </a:r>
          </a:p>
        </p:txBody>
      </p:sp>
      <p:sp>
        <p:nvSpPr>
          <p:cNvPr id="6" name="Rectangle 5"/>
          <p:cNvSpPr/>
          <p:nvPr/>
        </p:nvSpPr>
        <p:spPr>
          <a:xfrm>
            <a:off x="777240" y="124288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50</a:t>
            </a:r>
          </a:p>
        </p:txBody>
      </p:sp>
      <p:sp>
        <p:nvSpPr>
          <p:cNvPr id="17" name="Rectangle 16"/>
          <p:cNvSpPr/>
          <p:nvPr/>
        </p:nvSpPr>
        <p:spPr>
          <a:xfrm>
            <a:off x="777240" y="1370901"/>
            <a:ext cx="3829397" cy="2353184"/>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25765"/>
            <a:ext cx="3609941"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AI AGENT RUNTIME</a:t>
            </a:r>
          </a:p>
        </p:txBody>
      </p:sp>
      <p:sp>
        <p:nvSpPr>
          <p:cNvPr id="19" name="Rectangle 18"/>
          <p:cNvSpPr/>
          <p:nvPr/>
        </p:nvSpPr>
        <p:spPr>
          <a:xfrm>
            <a:off x="6308591" y="1370901"/>
            <a:ext cx="5105863" cy="2353184"/>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18319" y="1425765"/>
            <a:ext cx="488640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SAJHA MCP SERVER</a:t>
            </a:r>
          </a:p>
        </p:txBody>
      </p:sp>
      <p:cxnSp>
        <p:nvCxnSpPr>
          <p:cNvPr id="21" name="Connector 20"/>
          <p:cNvCxnSpPr/>
          <p:nvPr/>
        </p:nvCxnSpPr>
        <p:spPr>
          <a:xfrm>
            <a:off x="2691938" y="2356342"/>
            <a:ext cx="0" cy="7866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691938" y="3001570"/>
            <a:ext cx="0" cy="7866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324097" y="3344539"/>
            <a:ext cx="226703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324097" y="3344539"/>
            <a:ext cx="226703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322740" y="3143371"/>
            <a:ext cx="269748" cy="155448"/>
          </a:xfrm>
          <a:prstGeom prst="rect">
            <a:avLst/>
          </a:prstGeom>
          <a:noFill/>
        </p:spPr>
        <p:txBody>
          <a:bodyPr wrap="square" lIns="0" rIns="0" tIns="0" bIns="0" anchor="t">
            <a:spAutoFit/>
          </a:bodyPr>
          <a:lstStyle/>
          <a:p>
            <a:pPr algn="ctr">
              <a:lnSpc>
                <a:spcPct val="120000"/>
              </a:lnSpc>
              <a:spcBef>
                <a:spcPts val="0"/>
              </a:spcBef>
              <a:spcAft>
                <a:spcPts val="0"/>
              </a:spcAft>
            </a:pPr>
            <a:r>
              <a:rPr sz="750" b="0" i="1">
                <a:solidFill>
                  <a:srgbClr val="6B7480"/>
                </a:solidFill>
                <a:latin typeface="Calibri"/>
              </a:rPr>
              <a:t>MCP</a:t>
            </a:r>
          </a:p>
        </p:txBody>
      </p:sp>
      <p:sp>
        <p:nvSpPr>
          <p:cNvPr id="26" name="Rounded Rectangle 25"/>
          <p:cNvSpPr/>
          <p:nvPr/>
        </p:nvSpPr>
        <p:spPr>
          <a:xfrm>
            <a:off x="1096356" y="1864311"/>
            <a:ext cx="3191164" cy="455455"/>
          </a:xfrm>
          <a:prstGeom prst="roundRect">
            <a:avLst>
              <a:gd name="adj" fmla="val 1606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LLM</a:t>
            </a:r>
          </a:p>
        </p:txBody>
      </p:sp>
      <p:sp>
        <p:nvSpPr>
          <p:cNvPr id="27" name="Rounded Rectangle 26"/>
          <p:cNvSpPr/>
          <p:nvPr/>
        </p:nvSpPr>
        <p:spPr>
          <a:xfrm>
            <a:off x="1096356" y="2471584"/>
            <a:ext cx="3191164" cy="493409"/>
          </a:xfrm>
          <a:prstGeom prst="roundRect">
            <a:avLst>
              <a:gd name="adj" fmla="val 1482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50" b="1" i="0">
                <a:solidFill>
                  <a:srgbClr val="FFFFFF"/>
                </a:solidFill>
                <a:latin typeface="Calibri"/>
              </a:rPr>
              <a:t>Orchestrator</a:t>
            </a:r>
          </a:p>
          <a:p>
            <a:pPr algn="ctr">
              <a:lnSpc>
                <a:spcPct val="105000"/>
              </a:lnSpc>
              <a:spcBef>
                <a:spcPts val="0"/>
              </a:spcBef>
              <a:spcAft>
                <a:spcPts val="0"/>
              </a:spcAft>
            </a:pPr>
            <a:r>
              <a:rPr sz="1200" b="0" i="0">
                <a:solidFill>
                  <a:srgbClr val="FFFFFF"/>
                </a:solidFill>
                <a:latin typeface="Calibri"/>
              </a:rPr>
              <a:t>multi-step reasoning, retries</a:t>
            </a:r>
          </a:p>
        </p:txBody>
      </p:sp>
      <p:sp>
        <p:nvSpPr>
          <p:cNvPr id="28" name="Rounded Rectangle 27"/>
          <p:cNvSpPr/>
          <p:nvPr/>
        </p:nvSpPr>
        <p:spPr>
          <a:xfrm>
            <a:off x="1096356" y="3116812"/>
            <a:ext cx="3191164" cy="455455"/>
          </a:xfrm>
          <a:prstGeom prst="roundRect">
            <a:avLst>
              <a:gd name="adj" fmla="val 16061"/>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MCP client</a:t>
            </a:r>
          </a:p>
        </p:txBody>
      </p:sp>
      <p:sp>
        <p:nvSpPr>
          <p:cNvPr id="29" name="Rounded Rectangle 28"/>
          <p:cNvSpPr/>
          <p:nvPr/>
        </p:nvSpPr>
        <p:spPr>
          <a:xfrm>
            <a:off x="6627708" y="3116812"/>
            <a:ext cx="4467630" cy="455455"/>
          </a:xfrm>
          <a:prstGeom prst="roundRect">
            <a:avLst>
              <a:gd name="adj" fmla="val 16061"/>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Access · policy · audit</a:t>
            </a:r>
          </a:p>
        </p:txBody>
      </p:sp>
      <p:sp>
        <p:nvSpPr>
          <p:cNvPr id="30" name="Rounded Rectangle 29"/>
          <p:cNvSpPr/>
          <p:nvPr/>
        </p:nvSpPr>
        <p:spPr>
          <a:xfrm>
            <a:off x="6627708" y="1864311"/>
            <a:ext cx="1382837" cy="455455"/>
          </a:xfrm>
          <a:prstGeom prst="roundRect">
            <a:avLst>
              <a:gd name="adj" fmla="val 16061"/>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FRED</a:t>
            </a:r>
          </a:p>
        </p:txBody>
      </p:sp>
      <p:sp>
        <p:nvSpPr>
          <p:cNvPr id="31" name="Rounded Rectangle 30"/>
          <p:cNvSpPr/>
          <p:nvPr/>
        </p:nvSpPr>
        <p:spPr>
          <a:xfrm>
            <a:off x="8170104" y="1864311"/>
            <a:ext cx="1382837" cy="455455"/>
          </a:xfrm>
          <a:prstGeom prst="roundRect">
            <a:avLst>
              <a:gd name="adj" fmla="val 16061"/>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EDGAR</a:t>
            </a:r>
          </a:p>
        </p:txBody>
      </p:sp>
      <p:sp>
        <p:nvSpPr>
          <p:cNvPr id="32" name="Rounded Rectangle 31"/>
          <p:cNvSpPr/>
          <p:nvPr/>
        </p:nvSpPr>
        <p:spPr>
          <a:xfrm>
            <a:off x="9712500" y="1864311"/>
            <a:ext cx="1382837" cy="455455"/>
          </a:xfrm>
          <a:prstGeom prst="roundRect">
            <a:avLst>
              <a:gd name="adj" fmla="val 16061"/>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Central banks</a:t>
            </a:r>
          </a:p>
        </p:txBody>
      </p:sp>
      <p:sp>
        <p:nvSpPr>
          <p:cNvPr id="33" name="Rounded Rectangle 32"/>
          <p:cNvSpPr/>
          <p:nvPr/>
        </p:nvSpPr>
        <p:spPr>
          <a:xfrm>
            <a:off x="6627708" y="2471584"/>
            <a:ext cx="1382837" cy="455455"/>
          </a:xfrm>
          <a:prstGeom prst="roundRect">
            <a:avLst>
              <a:gd name="adj" fmla="val 16061"/>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DuckDB</a:t>
            </a:r>
          </a:p>
        </p:txBody>
      </p:sp>
      <p:sp>
        <p:nvSpPr>
          <p:cNvPr id="34" name="Rounded Rectangle 33"/>
          <p:cNvSpPr/>
          <p:nvPr/>
        </p:nvSpPr>
        <p:spPr>
          <a:xfrm>
            <a:off x="8170104" y="2471584"/>
            <a:ext cx="1382837" cy="455455"/>
          </a:xfrm>
          <a:prstGeom prst="roundRect">
            <a:avLst>
              <a:gd name="adj" fmla="val 16061"/>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OLAP</a:t>
            </a:r>
          </a:p>
        </p:txBody>
      </p:sp>
      <p:sp>
        <p:nvSpPr>
          <p:cNvPr id="35" name="Rounded Rectangle 34"/>
          <p:cNvSpPr/>
          <p:nvPr/>
        </p:nvSpPr>
        <p:spPr>
          <a:xfrm>
            <a:off x="9712500" y="2471584"/>
            <a:ext cx="1382837" cy="455455"/>
          </a:xfrm>
          <a:prstGeom prst="roundRect">
            <a:avLst>
              <a:gd name="adj" fmla="val 16061"/>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Tavily</a:t>
            </a:r>
          </a:p>
        </p:txBody>
      </p:sp>
      <p:sp>
        <p:nvSpPr>
          <p:cNvPr id="36" name="Rounded Rectangle 35"/>
          <p:cNvSpPr/>
          <p:nvPr/>
        </p:nvSpPr>
        <p:spPr>
          <a:xfrm>
            <a:off x="6308591" y="4331359"/>
            <a:ext cx="2340187" cy="531364"/>
          </a:xfrm>
          <a:prstGeom prst="roundRect">
            <a:avLst>
              <a:gd name="adj" fmla="val 13766"/>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Databases and lake</a:t>
            </a:r>
          </a:p>
        </p:txBody>
      </p:sp>
      <p:sp>
        <p:nvSpPr>
          <p:cNvPr id="37" name="Rounded Rectangle 36"/>
          <p:cNvSpPr/>
          <p:nvPr/>
        </p:nvSpPr>
        <p:spPr>
          <a:xfrm>
            <a:off x="9074267" y="4331359"/>
            <a:ext cx="2340187" cy="531364"/>
          </a:xfrm>
          <a:prstGeom prst="roundRect">
            <a:avLst>
              <a:gd name="adj" fmla="val 13766"/>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50" b="1" i="0">
                <a:solidFill>
                  <a:srgbClr val="1A1A1A"/>
                </a:solidFill>
                <a:latin typeface="Calibri"/>
              </a:rPr>
              <a:t>Public APIs and the web</a:t>
            </a:r>
          </a:p>
        </p:txBody>
      </p:sp>
      <p:sp>
        <p:nvSpPr>
          <p:cNvPr id="38" name="TextBox 37"/>
          <p:cNvSpPr txBox="1"/>
          <p:nvPr/>
        </p:nvSpPr>
        <p:spPr>
          <a:xfrm>
            <a:off x="777240" y="5330952"/>
            <a:ext cx="10637215" cy="914400"/>
          </a:xfrm>
          <a:prstGeom prst="rect">
            <a:avLst/>
          </a:prstGeom>
          <a:noFill/>
        </p:spPr>
        <p:txBody>
          <a:bodyPr wrap="square" lIns="0" rIns="0" tIns="0" bIns="0" anchor="t">
            <a:spAutoFit/>
          </a:bodyPr>
          <a:lstStyle/>
          <a:p>
            <a:pPr algn="l">
              <a:lnSpc>
                <a:spcPct val="120000"/>
              </a:lnSpc>
              <a:spcBef>
                <a:spcPts val="0"/>
              </a:spcBef>
              <a:spcAft>
                <a:spcPts val="0"/>
              </a:spcAft>
            </a:pPr>
            <a:r>
              <a:rPr sz="1650" b="1">
                <a:solidFill>
                  <a:srgbClr val="A51C30"/>
                </a:solidFill>
                <a:latin typeface="Calibri"/>
              </a:rPr>
              <a:t>▪  </a:t>
            </a:r>
            <a:r>
              <a:rPr sz="1650" b="0">
                <a:solidFill>
                  <a:srgbClr val="1A1A1A"/>
                </a:solidFill>
                <a:latin typeface="Calibri"/>
              </a:rPr>
              <a:t>The agent lists tools at start (tools/list) and puts their schemas in the model's prompt; the orchestrator handles multi-step reasoning and retries.</a:t>
            </a:r>
          </a:p>
          <a:p>
            <a:pPr>
              <a:lnSpc>
                <a:spcPct val="120000"/>
              </a:lnSpc>
              <a:spcBef>
                <a:spcPts val="600"/>
              </a:spcBef>
              <a:spcAft>
                <a:spcPts val="0"/>
              </a:spcAft>
            </a:pPr>
            <a:r>
              <a:rPr sz="1650" b="1">
                <a:solidFill>
                  <a:srgbClr val="A51C30"/>
                </a:solidFill>
                <a:latin typeface="Calibri"/>
              </a:rPr>
              <a:t>▪  </a:t>
            </a:r>
            <a:r>
              <a:rPr sz="1650" b="0">
                <a:solidFill>
                  <a:srgbClr val="1A1A1A"/>
                </a:solidFill>
                <a:latin typeface="Calibri"/>
              </a:rPr>
              <a:t>SAJHA handles execution, authentication, policy and records: a clean separation of concerns.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ILLUSTRATIVE WORKFLOW</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A worked analysis: interest-rate exposure, one tool at a time</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51</a:t>
            </a:r>
          </a:p>
        </p:txBody>
      </p:sp>
      <p:sp>
        <p:nvSpPr>
          <p:cNvPr id="17" name="TextBox 16"/>
          <p:cNvSpPr txBox="1"/>
          <p:nvPr/>
        </p:nvSpPr>
        <p:spPr>
          <a:xfrm>
            <a:off x="777240" y="1338770"/>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Illustrative. “How exposed is our Treasury portfolio to a move in rates?” An agent might chain these real tools; the holdings table is your own data in DuckDB.</a:t>
            </a:r>
          </a:p>
        </p:txBody>
      </p:sp>
      <p:sp>
        <p:nvSpPr>
          <p:cNvPr id="18" name="Rectangle 17"/>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Each output becomes context for the next step; the model chooses the path from what it sees. Section 7 shows a real run, captured when this deck was built.</a:t>
            </a:r>
          </a:p>
        </p:txBody>
      </p:sp>
      <p:sp>
        <p:nvSpPr>
          <p:cNvPr id="20" name="Rounded Rectangle 19"/>
          <p:cNvSpPr/>
          <p:nvPr/>
        </p:nvSpPr>
        <p:spPr>
          <a:xfrm>
            <a:off x="777240" y="1992312"/>
            <a:ext cx="2872048" cy="700361"/>
          </a:xfrm>
          <a:prstGeom prst="roundRect">
            <a:avLst>
              <a:gd name="adj" fmla="val 1044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6  tavily_news_search</a:t>
            </a:r>
          </a:p>
          <a:p>
            <a:pPr algn="ctr">
              <a:lnSpc>
                <a:spcPct val="105000"/>
              </a:lnSpc>
              <a:spcBef>
                <a:spcPts val="0"/>
              </a:spcBef>
              <a:spcAft>
                <a:spcPts val="0"/>
              </a:spcAft>
            </a:pPr>
            <a:r>
              <a:rPr sz="1050" b="0" i="0">
                <a:solidFill>
                  <a:srgbClr val="1A1A1A"/>
                </a:solidFill>
                <a:latin typeface="Calibri"/>
              </a:rPr>
              <a:t>central-bank guidance, with links</a:t>
            </a:r>
          </a:p>
        </p:txBody>
      </p:sp>
      <p:sp>
        <p:nvSpPr>
          <p:cNvPr id="21" name="Rounded Rectangle 20"/>
          <p:cNvSpPr/>
          <p:nvPr/>
        </p:nvSpPr>
        <p:spPr>
          <a:xfrm>
            <a:off x="777240" y="2950701"/>
            <a:ext cx="2872048" cy="700361"/>
          </a:xfrm>
          <a:prstGeom prst="roundRect">
            <a:avLst>
              <a:gd name="adj" fmla="val 1044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1  fred_fed_funds_rate</a:t>
            </a:r>
          </a:p>
          <a:p>
            <a:pPr algn="ctr">
              <a:lnSpc>
                <a:spcPct val="105000"/>
              </a:lnSpc>
              <a:spcBef>
                <a:spcPts val="0"/>
              </a:spcBef>
              <a:spcAft>
                <a:spcPts val="0"/>
              </a:spcAft>
            </a:pPr>
            <a:r>
              <a:rPr sz="1050" b="0" i="0">
                <a:solidFill>
                  <a:srgbClr val="1A1A1A"/>
                </a:solidFill>
                <a:latin typeface="Calibri"/>
              </a:rPr>
              <a:t>the policy rate and its history</a:t>
            </a:r>
          </a:p>
        </p:txBody>
      </p:sp>
      <p:sp>
        <p:nvSpPr>
          <p:cNvPr id="22" name="Rounded Rectangle 21"/>
          <p:cNvSpPr/>
          <p:nvPr/>
        </p:nvSpPr>
        <p:spPr>
          <a:xfrm>
            <a:off x="777240" y="3909090"/>
            <a:ext cx="2872048" cy="700361"/>
          </a:xfrm>
          <a:prstGeom prst="roundRect">
            <a:avLst>
              <a:gd name="adj" fmla="val 1044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2  fred_2yr_treasury, fred_10yr_treasury</a:t>
            </a:r>
          </a:p>
          <a:p>
            <a:pPr algn="ctr">
              <a:lnSpc>
                <a:spcPct val="105000"/>
              </a:lnSpc>
              <a:spcBef>
                <a:spcPts val="0"/>
              </a:spcBef>
              <a:spcAft>
                <a:spcPts val="0"/>
              </a:spcAft>
            </a:pPr>
            <a:r>
              <a:rPr sz="1050" b="0" i="0">
                <a:solidFill>
                  <a:srgbClr val="1A1A1A"/>
                </a:solidFill>
                <a:latin typeface="Calibri"/>
              </a:rPr>
              <a:t>the curve's short and long end</a:t>
            </a:r>
          </a:p>
        </p:txBody>
      </p:sp>
      <p:sp>
        <p:nvSpPr>
          <p:cNvPr id="23" name="Rounded Rectangle 22"/>
          <p:cNvSpPr/>
          <p:nvPr/>
        </p:nvSpPr>
        <p:spPr>
          <a:xfrm>
            <a:off x="777240" y="4867479"/>
            <a:ext cx="2872048" cy="700361"/>
          </a:xfrm>
          <a:prstGeom prst="roundRect">
            <a:avLst>
              <a:gd name="adj" fmla="val 1044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3  duckdb_sql</a:t>
            </a:r>
          </a:p>
          <a:p>
            <a:pPr algn="ctr">
              <a:lnSpc>
                <a:spcPct val="105000"/>
              </a:lnSpc>
              <a:spcBef>
                <a:spcPts val="0"/>
              </a:spcBef>
              <a:spcAft>
                <a:spcPts val="0"/>
              </a:spcAft>
            </a:pPr>
            <a:r>
              <a:rPr sz="1050" b="0" i="0">
                <a:solidFill>
                  <a:srgbClr val="1A1A1A"/>
                </a:solidFill>
                <a:latin typeface="Calibri"/>
              </a:rPr>
              <a:t>holdings: positions, coupons, maturities</a:t>
            </a:r>
          </a:p>
        </p:txBody>
      </p:sp>
      <p:sp>
        <p:nvSpPr>
          <p:cNvPr id="24" name="Rounded Rectangle 23"/>
          <p:cNvSpPr/>
          <p:nvPr/>
        </p:nvSpPr>
        <p:spPr>
          <a:xfrm>
            <a:off x="4713009" y="4019673"/>
            <a:ext cx="2659303" cy="700361"/>
          </a:xfrm>
          <a:prstGeom prst="roundRect">
            <a:avLst>
              <a:gd name="adj" fmla="val 1044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5  calc_bond_price</a:t>
            </a:r>
          </a:p>
          <a:p>
            <a:pPr algn="ctr">
              <a:lnSpc>
                <a:spcPct val="105000"/>
              </a:lnSpc>
              <a:spcBef>
                <a:spcPts val="0"/>
              </a:spcBef>
              <a:spcAft>
                <a:spcPts val="0"/>
              </a:spcAft>
            </a:pPr>
            <a:r>
              <a:rPr sz="1050" b="0" i="0">
                <a:solidFill>
                  <a:srgbClr val="1A1A1A"/>
                </a:solidFill>
                <a:latin typeface="Calibri"/>
              </a:rPr>
              <a:t>each bond repriced after +100 bp</a:t>
            </a:r>
          </a:p>
        </p:txBody>
      </p:sp>
      <p:sp>
        <p:nvSpPr>
          <p:cNvPr id="25" name="Rounded Rectangle 24"/>
          <p:cNvSpPr/>
          <p:nvPr/>
        </p:nvSpPr>
        <p:spPr>
          <a:xfrm>
            <a:off x="4713009" y="4941201"/>
            <a:ext cx="2659303" cy="700361"/>
          </a:xfrm>
          <a:prstGeom prst="roundRect">
            <a:avLst>
              <a:gd name="adj" fmla="val 1044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4  olap_pivot_table</a:t>
            </a:r>
          </a:p>
          <a:p>
            <a:pPr algn="ctr">
              <a:lnSpc>
                <a:spcPct val="105000"/>
              </a:lnSpc>
              <a:spcBef>
                <a:spcPts val="0"/>
              </a:spcBef>
              <a:spcAft>
                <a:spcPts val="0"/>
              </a:spcAft>
            </a:pPr>
            <a:r>
              <a:rPr sz="1050" b="0" i="0">
                <a:solidFill>
                  <a:srgbClr val="1A1A1A"/>
                </a:solidFill>
                <a:latin typeface="Calibri"/>
              </a:rPr>
              <a:t>exposure per maturity bucket</a:t>
            </a:r>
          </a:p>
        </p:txBody>
      </p:sp>
      <p:sp>
        <p:nvSpPr>
          <p:cNvPr id="26" name="Rounded Rectangle 25"/>
          <p:cNvSpPr/>
          <p:nvPr/>
        </p:nvSpPr>
        <p:spPr>
          <a:xfrm>
            <a:off x="8436034" y="3024423"/>
            <a:ext cx="2978420" cy="1105833"/>
          </a:xfrm>
          <a:prstGeom prst="roundRect">
            <a:avLst>
              <a:gd name="adj" fmla="val 66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7  the model synthesises</a:t>
            </a:r>
          </a:p>
          <a:p>
            <a:pPr algn="ctr">
              <a:lnSpc>
                <a:spcPct val="105000"/>
              </a:lnSpc>
              <a:spcBef>
                <a:spcPts val="0"/>
              </a:spcBef>
              <a:spcAft>
                <a:spcPts val="0"/>
              </a:spcAft>
            </a:pPr>
            <a:r>
              <a:rPr sz="1350" b="0" i="0">
                <a:solidFill>
                  <a:srgbClr val="FFFFFF"/>
                </a:solidFill>
                <a:latin typeface="Calibri"/>
              </a:rPr>
              <a:t>an exposure summary citing each call</a:t>
            </a:r>
          </a:p>
        </p:txBody>
      </p:sp>
      <p:cxnSp>
        <p:nvCxnSpPr>
          <p:cNvPr id="27" name="Connector 26"/>
          <p:cNvCxnSpPr/>
          <p:nvPr/>
        </p:nvCxnSpPr>
        <p:spPr>
          <a:xfrm>
            <a:off x="3694433" y="2579658"/>
            <a:ext cx="4696457" cy="75200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694978" y="3353998"/>
            <a:ext cx="4695366" cy="16831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694989" y="4302059"/>
            <a:ext cx="972319" cy="2807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693927" y="4674114"/>
            <a:ext cx="974443" cy="21573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695008" y="5254521"/>
            <a:ext cx="97228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417109" y="3890462"/>
            <a:ext cx="974129" cy="198839"/>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877703" y="4148721"/>
            <a:ext cx="1753270" cy="774016"/>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MULTI-AGENT COORDINATION</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Several agents share one server, each with its own identity and rights</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52</a:t>
            </a:r>
          </a:p>
        </p:txBody>
      </p:sp>
      <p:cxnSp>
        <p:nvCxnSpPr>
          <p:cNvPr id="17" name="Connector 16"/>
          <p:cNvCxnSpPr/>
          <p:nvPr/>
        </p:nvCxnSpPr>
        <p:spPr>
          <a:xfrm>
            <a:off x="2372822" y="2089297"/>
            <a:ext cx="0" cy="61970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2436830" y="2316855"/>
            <a:ext cx="269748" cy="155448"/>
          </a:xfrm>
          <a:prstGeom prst="rect">
            <a:avLst/>
          </a:prstGeom>
          <a:noFill/>
        </p:spPr>
        <p:txBody>
          <a:bodyPr wrap="square" lIns="0" rIns="0" tIns="0" bIns="0" anchor="t">
            <a:spAutoFit/>
          </a:bodyPr>
          <a:lstStyle/>
          <a:p>
            <a:pPr algn="l">
              <a:lnSpc>
                <a:spcPct val="120000"/>
              </a:lnSpc>
              <a:spcBef>
                <a:spcPts val="0"/>
              </a:spcBef>
              <a:spcAft>
                <a:spcPts val="0"/>
              </a:spcAft>
            </a:pPr>
            <a:r>
              <a:rPr sz="750" b="0" i="1">
                <a:solidFill>
                  <a:srgbClr val="6B7480"/>
                </a:solidFill>
                <a:latin typeface="Calibri"/>
              </a:rPr>
              <a:t>MCP</a:t>
            </a:r>
          </a:p>
        </p:txBody>
      </p:sp>
      <p:cxnSp>
        <p:nvCxnSpPr>
          <p:cNvPr id="19" name="Connector 18"/>
          <p:cNvCxnSpPr/>
          <p:nvPr/>
        </p:nvCxnSpPr>
        <p:spPr>
          <a:xfrm>
            <a:off x="6095847" y="2089297"/>
            <a:ext cx="0" cy="61970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59855" y="2316855"/>
            <a:ext cx="269748" cy="155448"/>
          </a:xfrm>
          <a:prstGeom prst="rect">
            <a:avLst/>
          </a:prstGeom>
          <a:noFill/>
        </p:spPr>
        <p:txBody>
          <a:bodyPr wrap="square" lIns="0" rIns="0" tIns="0" bIns="0" anchor="t">
            <a:spAutoFit/>
          </a:bodyPr>
          <a:lstStyle/>
          <a:p>
            <a:pPr algn="l">
              <a:lnSpc>
                <a:spcPct val="120000"/>
              </a:lnSpc>
              <a:spcBef>
                <a:spcPts val="0"/>
              </a:spcBef>
              <a:spcAft>
                <a:spcPts val="0"/>
              </a:spcAft>
            </a:pPr>
            <a:r>
              <a:rPr sz="750" b="0" i="1">
                <a:solidFill>
                  <a:srgbClr val="6B7480"/>
                </a:solidFill>
                <a:latin typeface="Calibri"/>
              </a:rPr>
              <a:t>MCP</a:t>
            </a:r>
          </a:p>
        </p:txBody>
      </p:sp>
      <p:cxnSp>
        <p:nvCxnSpPr>
          <p:cNvPr id="21" name="Connector 20"/>
          <p:cNvCxnSpPr/>
          <p:nvPr/>
        </p:nvCxnSpPr>
        <p:spPr>
          <a:xfrm>
            <a:off x="9818872" y="2089297"/>
            <a:ext cx="0" cy="61970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882880" y="2316855"/>
            <a:ext cx="269748" cy="155448"/>
          </a:xfrm>
          <a:prstGeom prst="rect">
            <a:avLst/>
          </a:prstGeom>
          <a:noFill/>
        </p:spPr>
        <p:txBody>
          <a:bodyPr wrap="square" lIns="0" rIns="0" tIns="0" bIns="0" anchor="t">
            <a:spAutoFit/>
          </a:bodyPr>
          <a:lstStyle/>
          <a:p>
            <a:pPr algn="l">
              <a:lnSpc>
                <a:spcPct val="120000"/>
              </a:lnSpc>
              <a:spcBef>
                <a:spcPts val="0"/>
              </a:spcBef>
              <a:spcAft>
                <a:spcPts val="0"/>
              </a:spcAft>
            </a:pPr>
            <a:r>
              <a:rPr sz="750" b="0" i="1">
                <a:solidFill>
                  <a:srgbClr val="6B7480"/>
                </a:solidFill>
                <a:latin typeface="Calibri"/>
              </a:rPr>
              <a:t>MCP</a:t>
            </a:r>
          </a:p>
        </p:txBody>
      </p:sp>
      <p:sp>
        <p:nvSpPr>
          <p:cNvPr id="23" name="Rounded Rectangle 22"/>
          <p:cNvSpPr/>
          <p:nvPr/>
        </p:nvSpPr>
        <p:spPr>
          <a:xfrm>
            <a:off x="777240" y="1290574"/>
            <a:ext cx="3191164" cy="762147"/>
          </a:xfrm>
          <a:prstGeom prst="roundRect">
            <a:avLst>
              <a:gd name="adj" fmla="val 9598"/>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Research agent</a:t>
            </a:r>
          </a:p>
          <a:p>
            <a:pPr algn="ctr">
              <a:lnSpc>
                <a:spcPct val="105000"/>
              </a:lnSpc>
              <a:spcBef>
                <a:spcPts val="0"/>
              </a:spcBef>
              <a:spcAft>
                <a:spcPts val="0"/>
              </a:spcAft>
            </a:pPr>
            <a:r>
              <a:rPr sz="1250" b="0" i="0">
                <a:solidFill>
                  <a:srgbClr val="1A1A1A"/>
                </a:solidFill>
                <a:latin typeface="Calibri"/>
              </a:rPr>
              <a:t>API key: tavily_*, edgar_*, fed_*</a:t>
            </a:r>
          </a:p>
        </p:txBody>
      </p:sp>
      <p:sp>
        <p:nvSpPr>
          <p:cNvPr id="24" name="Rounded Rectangle 23"/>
          <p:cNvSpPr/>
          <p:nvPr/>
        </p:nvSpPr>
        <p:spPr>
          <a:xfrm>
            <a:off x="4500265" y="1290574"/>
            <a:ext cx="3191164" cy="762147"/>
          </a:xfrm>
          <a:prstGeom prst="roundRect">
            <a:avLst>
              <a:gd name="adj" fmla="val 9598"/>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Analytics agent</a:t>
            </a:r>
          </a:p>
          <a:p>
            <a:pPr algn="ctr">
              <a:lnSpc>
                <a:spcPct val="105000"/>
              </a:lnSpc>
              <a:spcBef>
                <a:spcPts val="0"/>
              </a:spcBef>
              <a:spcAft>
                <a:spcPts val="0"/>
              </a:spcAft>
            </a:pPr>
            <a:r>
              <a:rPr sz="1250" b="0" i="0">
                <a:solidFill>
                  <a:srgbClr val="1A1A1A"/>
                </a:solidFill>
                <a:latin typeface="Calibri"/>
              </a:rPr>
              <a:t>API key: duckdb_*, olap_*, calc_*</a:t>
            </a:r>
          </a:p>
        </p:txBody>
      </p:sp>
      <p:sp>
        <p:nvSpPr>
          <p:cNvPr id="25" name="Rounded Rectangle 24"/>
          <p:cNvSpPr/>
          <p:nvPr/>
        </p:nvSpPr>
        <p:spPr>
          <a:xfrm>
            <a:off x="8223290" y="1290574"/>
            <a:ext cx="3191164" cy="762147"/>
          </a:xfrm>
          <a:prstGeom prst="roundRect">
            <a:avLst>
              <a:gd name="adj" fmla="val 9598"/>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Reporting agent</a:t>
            </a:r>
          </a:p>
          <a:p>
            <a:pPr algn="ctr">
              <a:lnSpc>
                <a:spcPct val="105000"/>
              </a:lnSpc>
              <a:spcBef>
                <a:spcPts val="0"/>
              </a:spcBef>
              <a:spcAft>
                <a:spcPts val="0"/>
              </a:spcAft>
            </a:pPr>
            <a:r>
              <a:rPr sz="1250" b="0" i="0">
                <a:solidFill>
                  <a:srgbClr val="1A1A1A"/>
                </a:solidFill>
                <a:latin typeface="Calibri"/>
              </a:rPr>
              <a:t>role: user, prompts, Ask SAJHA</a:t>
            </a:r>
          </a:p>
        </p:txBody>
      </p:sp>
      <p:sp>
        <p:nvSpPr>
          <p:cNvPr id="26" name="Rounded Rectangle 25"/>
          <p:cNvSpPr/>
          <p:nvPr/>
        </p:nvSpPr>
        <p:spPr>
          <a:xfrm>
            <a:off x="777240" y="2745582"/>
            <a:ext cx="10637215" cy="692861"/>
          </a:xfrm>
          <a:prstGeom prst="roundRect">
            <a:avLst>
              <a:gd name="adj" fmla="val 1055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SAJHA MCP server</a:t>
            </a:r>
          </a:p>
          <a:p>
            <a:pPr algn="ctr">
              <a:lnSpc>
                <a:spcPct val="105000"/>
              </a:lnSpc>
              <a:spcBef>
                <a:spcPts val="0"/>
              </a:spcBef>
              <a:spcAft>
                <a:spcPts val="0"/>
              </a:spcAft>
            </a:pPr>
            <a:r>
              <a:rPr sz="1250" b="0" i="0">
                <a:solidFill>
                  <a:srgbClr val="FFFFFF"/>
                </a:solidFill>
                <a:latin typeface="Calibri"/>
              </a:rPr>
              <a:t>one catalog · one policy · one audit</a:t>
            </a:r>
          </a:p>
        </p:txBody>
      </p:sp>
      <p:sp>
        <p:nvSpPr>
          <p:cNvPr id="27" name="TextBox 26"/>
          <p:cNvSpPr txBox="1"/>
          <p:nvPr/>
        </p:nvSpPr>
        <p:spPr>
          <a:xfrm>
            <a:off x="777240" y="4919472"/>
            <a:ext cx="10637215" cy="1325880"/>
          </a:xfrm>
          <a:prstGeom prst="rect">
            <a:avLst/>
          </a:prstGeom>
          <a:noFill/>
        </p:spPr>
        <p:txBody>
          <a:bodyPr wrap="square" lIns="0" rIns="0" tIns="0" bIns="0" anchor="t">
            <a:spAutoFit/>
          </a:bodyPr>
          <a:lstStyle/>
          <a:p>
            <a:pPr algn="l">
              <a:lnSpc>
                <a:spcPct val="120000"/>
              </a:lnSpc>
              <a:spcBef>
                <a:spcPts val="0"/>
              </a:spcBef>
              <a:spcAft>
                <a:spcPts val="0"/>
              </a:spcAft>
            </a:pPr>
            <a:r>
              <a:rPr sz="1600" b="1">
                <a:solidFill>
                  <a:srgbClr val="A51C30"/>
                </a:solidFill>
                <a:latin typeface="Calibri"/>
              </a:rPr>
              <a:t>▪  </a:t>
            </a:r>
            <a:r>
              <a:rPr sz="1600" b="0">
                <a:solidFill>
                  <a:srgbClr val="1A1A1A"/>
                </a:solidFill>
                <a:latin typeface="Calibri"/>
              </a:rPr>
              <a:t>Each agent gets its own credentials (an API key in allowlist mode, or a role), so least privilege is enforced per agent and the audit names which agent called what.</a:t>
            </a:r>
          </a:p>
          <a:p>
            <a:pPr>
              <a:lnSpc>
                <a:spcPct val="120000"/>
              </a:lnSpc>
              <a:spcBef>
                <a:spcPts val="600"/>
              </a:spcBef>
              <a:spcAft>
                <a:spcPts val="0"/>
              </a:spcAft>
            </a:pPr>
            <a:r>
              <a:rPr sz="1600" b="1">
                <a:solidFill>
                  <a:srgbClr val="A51C30"/>
                </a:solidFill>
                <a:latin typeface="Calibri"/>
              </a:rPr>
              <a:t>▪  </a:t>
            </a:r>
            <a:r>
              <a:rPr sz="1600" b="0">
                <a:solidFill>
                  <a:srgbClr val="1A1A1A"/>
                </a:solidFill>
                <a:latin typeface="Calibri"/>
              </a:rPr>
              <a:t>Agents hand work to each other over A2A (/.well-known/agent.json, POST /a2a); MCP carries tool access. Several workers with a shared state store serve more agents without changing the server.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COMPOSITE TOOLS</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 composite chains tools, and the whole chain is one governed call</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53</a:t>
            </a:r>
          </a:p>
        </p:txBody>
      </p:sp>
      <p:sp>
        <p:nvSpPr>
          <p:cNvPr id="17" name="Rectangle 16"/>
          <p:cNvSpPr/>
          <p:nvPr/>
        </p:nvSpPr>
        <p:spPr>
          <a:xfrm>
            <a:off x="1947333" y="1306639"/>
            <a:ext cx="7658794" cy="3448240"/>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7061" y="1370647"/>
            <a:ext cx="7439338"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ONE GOVERNED CALL: THE COMPOSITE IS A REGISTRY TOOL</a:t>
            </a:r>
          </a:p>
        </p:txBody>
      </p:sp>
      <p:sp>
        <p:nvSpPr>
          <p:cNvPr id="19" name="Rectangle 18"/>
          <p:cNvSpPr/>
          <p:nvPr/>
        </p:nvSpPr>
        <p:spPr>
          <a:xfrm>
            <a:off x="4340707" y="3375583"/>
            <a:ext cx="2499745" cy="1241366"/>
          </a:xfrm>
          <a:prstGeom prst="rect">
            <a:avLst/>
          </a:prstGeom>
          <a:noFill/>
          <a:ln w="15875">
            <a:solidFill>
              <a:srgbClr val="6B74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50435" y="3439591"/>
            <a:ext cx="2280289" cy="237744"/>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6B7480"/>
                </a:solidFill>
                <a:latin typeface="Calibri"/>
              </a:rPr>
              <a:t>FOR EACH RECORD</a:t>
            </a:r>
          </a:p>
        </p:txBody>
      </p:sp>
      <p:sp>
        <p:nvSpPr>
          <p:cNvPr id="21" name="Oval 20"/>
          <p:cNvSpPr/>
          <p:nvPr/>
        </p:nvSpPr>
        <p:spPr>
          <a:xfrm>
            <a:off x="777240" y="2616970"/>
            <a:ext cx="904163" cy="827577"/>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Caller</a:t>
            </a:r>
          </a:p>
          <a:p>
            <a:pPr algn="ctr">
              <a:lnSpc>
                <a:spcPct val="105000"/>
              </a:lnSpc>
              <a:spcBef>
                <a:spcPts val="0"/>
              </a:spcBef>
              <a:spcAft>
                <a:spcPts val="0"/>
              </a:spcAft>
            </a:pPr>
            <a:r>
              <a:rPr sz="950" b="0" i="0">
                <a:solidFill>
                  <a:srgbClr val="1A1A1A"/>
                </a:solidFill>
                <a:latin typeface="Calibri"/>
              </a:rPr>
              <a:t>any client</a:t>
            </a:r>
          </a:p>
        </p:txBody>
      </p:sp>
      <p:sp>
        <p:nvSpPr>
          <p:cNvPr id="22" name="Rounded Rectangle 21"/>
          <p:cNvSpPr/>
          <p:nvPr/>
        </p:nvSpPr>
        <p:spPr>
          <a:xfrm>
            <a:off x="2160077" y="1996287"/>
            <a:ext cx="1808326" cy="689648"/>
          </a:xfrm>
          <a:prstGeom prst="roundRect">
            <a:avLst>
              <a:gd name="adj" fmla="val 1060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master</a:t>
            </a:r>
          </a:p>
          <a:p>
            <a:pPr algn="ctr">
              <a:lnSpc>
                <a:spcPct val="105000"/>
              </a:lnSpc>
              <a:spcBef>
                <a:spcPts val="0"/>
              </a:spcBef>
              <a:spcAft>
                <a:spcPts val="0"/>
              </a:spcAft>
            </a:pPr>
            <a:r>
              <a:rPr sz="1050" b="0" i="0">
                <a:solidFill>
                  <a:srgbClr val="FFFFFF"/>
                </a:solidFill>
                <a:latin typeface="Calibri"/>
              </a:rPr>
              <a:t>fred_10yr_treasury</a:t>
            </a:r>
          </a:p>
        </p:txBody>
      </p:sp>
      <p:sp>
        <p:nvSpPr>
          <p:cNvPr id="23" name="Rounded Rectangle 22"/>
          <p:cNvSpPr/>
          <p:nvPr/>
        </p:nvSpPr>
        <p:spPr>
          <a:xfrm>
            <a:off x="4500265" y="1841116"/>
            <a:ext cx="2127443" cy="293100"/>
          </a:xfrm>
          <a:prstGeom prst="roundRect">
            <a:avLst>
              <a:gd name="adj" fmla="val 2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fmp_company_profile</a:t>
            </a:r>
          </a:p>
        </p:txBody>
      </p:sp>
      <p:sp>
        <p:nvSpPr>
          <p:cNvPr id="24" name="Rounded Rectangle 23"/>
          <p:cNvSpPr/>
          <p:nvPr/>
        </p:nvSpPr>
        <p:spPr>
          <a:xfrm>
            <a:off x="4500265" y="2203182"/>
            <a:ext cx="2127443" cy="293100"/>
          </a:xfrm>
          <a:prstGeom prst="roundRect">
            <a:avLst>
              <a:gd name="adj" fmla="val 2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tavily_news_search</a:t>
            </a:r>
          </a:p>
        </p:txBody>
      </p:sp>
      <p:sp>
        <p:nvSpPr>
          <p:cNvPr id="25" name="Rounded Rectangle 24"/>
          <p:cNvSpPr/>
          <p:nvPr/>
        </p:nvSpPr>
        <p:spPr>
          <a:xfrm>
            <a:off x="4500265" y="2565247"/>
            <a:ext cx="2127443" cy="293100"/>
          </a:xfrm>
          <a:prstGeom prst="roundRect">
            <a:avLst>
              <a:gd name="adj" fmla="val 2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calc_percentage_change</a:t>
            </a:r>
          </a:p>
        </p:txBody>
      </p:sp>
      <p:sp>
        <p:nvSpPr>
          <p:cNvPr id="26" name="Rounded Rectangle 25"/>
          <p:cNvSpPr/>
          <p:nvPr/>
        </p:nvSpPr>
        <p:spPr>
          <a:xfrm>
            <a:off x="7265941" y="1996287"/>
            <a:ext cx="2021070" cy="689648"/>
          </a:xfrm>
          <a:prstGeom prst="roundRect">
            <a:avLst>
              <a:gd name="adj" fmla="val 1060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Weakest link</a:t>
            </a:r>
          </a:p>
          <a:p>
            <a:pPr algn="ctr">
              <a:lnSpc>
                <a:spcPct val="105000"/>
              </a:lnSpc>
              <a:spcBef>
                <a:spcPts val="0"/>
              </a:spcBef>
              <a:spcAft>
                <a:spcPts val="0"/>
              </a:spcAft>
            </a:pPr>
            <a:r>
              <a:rPr sz="1050" b="0" i="0">
                <a:solidFill>
                  <a:srgbClr val="1A1A1A"/>
                </a:solidFill>
                <a:latin typeface="Calibri"/>
              </a:rPr>
              <a:t>master × min(steps)</a:t>
            </a:r>
          </a:p>
        </p:txBody>
      </p:sp>
      <p:sp>
        <p:nvSpPr>
          <p:cNvPr id="27" name="Rounded Rectangle 26"/>
          <p:cNvSpPr/>
          <p:nvPr/>
        </p:nvSpPr>
        <p:spPr>
          <a:xfrm>
            <a:off x="2160077" y="3651443"/>
            <a:ext cx="1808326" cy="689648"/>
          </a:xfrm>
          <a:prstGeom prst="roundRect">
            <a:avLst>
              <a:gd name="adj" fmla="val 1060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master</a:t>
            </a:r>
          </a:p>
          <a:p>
            <a:pPr algn="ctr">
              <a:lnSpc>
                <a:spcPct val="105000"/>
              </a:lnSpc>
              <a:spcBef>
                <a:spcPts val="0"/>
              </a:spcBef>
              <a:spcAft>
                <a:spcPts val="0"/>
              </a:spcAft>
            </a:pPr>
            <a:r>
              <a:rPr sz="1050" b="0" i="0">
                <a:solidFill>
                  <a:srgbClr val="FFFFFF"/>
                </a:solidFill>
                <a:latin typeface="Calibri"/>
              </a:rPr>
              <a:t>returns records</a:t>
            </a:r>
          </a:p>
        </p:txBody>
      </p:sp>
      <p:sp>
        <p:nvSpPr>
          <p:cNvPr id="28" name="Rounded Rectangle 27"/>
          <p:cNvSpPr/>
          <p:nvPr/>
        </p:nvSpPr>
        <p:spPr>
          <a:xfrm>
            <a:off x="4500265" y="3685925"/>
            <a:ext cx="2127443" cy="310341"/>
          </a:xfrm>
          <a:prstGeom prst="roundRect">
            <a:avLst>
              <a:gd name="adj" fmla="val 235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fmp_company_profile</a:t>
            </a:r>
          </a:p>
        </p:txBody>
      </p:sp>
      <p:sp>
        <p:nvSpPr>
          <p:cNvPr id="29" name="Rounded Rectangle 28"/>
          <p:cNvSpPr/>
          <p:nvPr/>
        </p:nvSpPr>
        <p:spPr>
          <a:xfrm>
            <a:off x="4500265" y="4168679"/>
            <a:ext cx="2127443" cy="310341"/>
          </a:xfrm>
          <a:prstGeom prst="roundRect">
            <a:avLst>
              <a:gd name="adj" fmla="val 235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calc_percentage_change</a:t>
            </a:r>
          </a:p>
        </p:txBody>
      </p:sp>
      <p:sp>
        <p:nvSpPr>
          <p:cNvPr id="30" name="Rounded Rectangle 29"/>
          <p:cNvSpPr/>
          <p:nvPr/>
        </p:nvSpPr>
        <p:spPr>
          <a:xfrm>
            <a:off x="7265941" y="3651443"/>
            <a:ext cx="2021070" cy="689648"/>
          </a:xfrm>
          <a:prstGeom prst="roundRect">
            <a:avLst>
              <a:gd name="adj" fmla="val 1060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Chained</a:t>
            </a:r>
          </a:p>
          <a:p>
            <a:pPr algn="ctr">
              <a:lnSpc>
                <a:spcPct val="105000"/>
              </a:lnSpc>
              <a:spcBef>
                <a:spcPts val="0"/>
              </a:spcBef>
              <a:spcAft>
                <a:spcPts val="0"/>
              </a:spcAft>
            </a:pPr>
            <a:r>
              <a:rPr sz="1050" b="0" i="0">
                <a:solidFill>
                  <a:srgbClr val="1A1A1A"/>
                </a:solidFill>
                <a:latin typeface="Calibri"/>
              </a:rPr>
              <a:t>master × min(children)</a:t>
            </a:r>
          </a:p>
        </p:txBody>
      </p:sp>
      <p:sp>
        <p:nvSpPr>
          <p:cNvPr id="31" name="Rounded Rectangle 30"/>
          <p:cNvSpPr/>
          <p:nvPr/>
        </p:nvSpPr>
        <p:spPr>
          <a:xfrm>
            <a:off x="9978431" y="2479041"/>
            <a:ext cx="1436024" cy="1103436"/>
          </a:xfrm>
          <a:prstGeom prst="roundRect">
            <a:avLst>
              <a:gd name="adj" fmla="val 662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Result</a:t>
            </a:r>
          </a:p>
          <a:p>
            <a:pPr algn="ctr">
              <a:lnSpc>
                <a:spcPct val="105000"/>
              </a:lnSpc>
              <a:spcBef>
                <a:spcPts val="0"/>
              </a:spcBef>
              <a:spcAft>
                <a:spcPts val="0"/>
              </a:spcAft>
            </a:pPr>
            <a:r>
              <a:rPr sz="1050" b="0" i="0">
                <a:solidFill>
                  <a:srgbClr val="FFFFFF"/>
                </a:solidFill>
                <a:latin typeface="Calibri"/>
              </a:rPr>
              <a:t>+ _composition: confidence, entropy, trace</a:t>
            </a:r>
          </a:p>
        </p:txBody>
      </p:sp>
      <p:sp>
        <p:nvSpPr>
          <p:cNvPr id="32" name="TextBox 31"/>
          <p:cNvSpPr txBox="1"/>
          <p:nvPr/>
        </p:nvSpPr>
        <p:spPr>
          <a:xfrm>
            <a:off x="2160077" y="1651463"/>
            <a:ext cx="2127443" cy="241376"/>
          </a:xfrm>
          <a:prstGeom prst="rect">
            <a:avLst/>
          </a:prstGeom>
          <a:noFill/>
        </p:spPr>
        <p:txBody>
          <a:bodyPr wrap="square" lIns="0" rIns="0" tIns="0" bIns="0" anchor="t">
            <a:spAutoFit/>
          </a:bodyPr>
          <a:lstStyle/>
          <a:p>
            <a:pPr algn="l">
              <a:lnSpc>
                <a:spcPct val="110000"/>
              </a:lnSpc>
              <a:spcBef>
                <a:spcPts val="0"/>
              </a:spcBef>
              <a:spcAft>
                <a:spcPts val="100"/>
              </a:spcAft>
            </a:pPr>
            <a:r>
              <a:rPr sz="1050" b="1" i="0">
                <a:solidFill>
                  <a:srgbClr val="6E1120"/>
                </a:solidFill>
                <a:latin typeface="Calibri"/>
              </a:rPr>
              <a:t>SIBLING: steps side by side</a:t>
            </a:r>
          </a:p>
        </p:txBody>
      </p:sp>
      <p:sp>
        <p:nvSpPr>
          <p:cNvPr id="33" name="TextBox 32"/>
          <p:cNvSpPr txBox="1"/>
          <p:nvPr/>
        </p:nvSpPr>
        <p:spPr>
          <a:xfrm>
            <a:off x="2160077" y="3168689"/>
            <a:ext cx="2127443" cy="241376"/>
          </a:xfrm>
          <a:prstGeom prst="rect">
            <a:avLst/>
          </a:prstGeom>
          <a:noFill/>
        </p:spPr>
        <p:txBody>
          <a:bodyPr wrap="square" lIns="0" rIns="0" tIns="0" bIns="0" anchor="t">
            <a:spAutoFit/>
          </a:bodyPr>
          <a:lstStyle/>
          <a:p>
            <a:pPr algn="l">
              <a:lnSpc>
                <a:spcPct val="110000"/>
              </a:lnSpc>
              <a:spcBef>
                <a:spcPts val="0"/>
              </a:spcBef>
              <a:spcAft>
                <a:spcPts val="100"/>
              </a:spcAft>
            </a:pPr>
            <a:r>
              <a:rPr sz="1050" b="1" i="0">
                <a:solidFill>
                  <a:srgbClr val="6E1120"/>
                </a:solidFill>
                <a:latin typeface="Calibri"/>
              </a:rPr>
              <a:t>PARENT-CHILD: per record</a:t>
            </a:r>
          </a:p>
        </p:txBody>
      </p:sp>
      <p:cxnSp>
        <p:nvCxnSpPr>
          <p:cNvPr id="34" name="Connector 33"/>
          <p:cNvCxnSpPr/>
          <p:nvPr/>
        </p:nvCxnSpPr>
        <p:spPr>
          <a:xfrm flipV="1">
            <a:off x="1690315" y="2697023"/>
            <a:ext cx="426965" cy="16047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661715" y="3258278"/>
            <a:ext cx="706737" cy="37187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013674" y="2140618"/>
            <a:ext cx="468563" cy="6625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014124" y="2344387"/>
            <a:ext cx="440421" cy="151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013630" y="2481895"/>
            <a:ext cx="516859" cy="7664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673045" y="2132180"/>
            <a:ext cx="547559" cy="7134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6673428" y="2344468"/>
            <a:ext cx="546793" cy="173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673007" y="2485400"/>
            <a:ext cx="547635" cy="7483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4014124" y="3996267"/>
            <a:ext cx="280863"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886172" y="3996267"/>
            <a:ext cx="33404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9330981" y="2641627"/>
            <a:ext cx="603480" cy="171981"/>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183215" y="3334171"/>
            <a:ext cx="752751" cy="300329"/>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77240" y="4919472"/>
            <a:ext cx="10637215" cy="1325880"/>
          </a:xfrm>
          <a:prstGeom prst="rect">
            <a:avLst/>
          </a:prstGeom>
          <a:noFill/>
        </p:spPr>
        <p:txBody>
          <a:bodyPr wrap="square" lIns="0" rIns="0" tIns="0" bIns="0" anchor="t">
            <a:spAutoFit/>
          </a:bodyPr>
          <a:lstStyle/>
          <a:p>
            <a:pPr algn="l">
              <a:lnSpc>
                <a:spcPct val="120000"/>
              </a:lnSpc>
              <a:spcBef>
                <a:spcPts val="0"/>
              </a:spcBef>
              <a:spcAft>
                <a:spcPts val="100"/>
              </a:spcAft>
            </a:pPr>
            <a:r>
              <a:rPr sz="1200" b="1">
                <a:solidFill>
                  <a:srgbClr val="A51C30"/>
                </a:solidFill>
                <a:latin typeface="Calibri"/>
              </a:rPr>
              <a:t>▪  </a:t>
            </a:r>
            <a:r>
              <a:rPr sz="1200" b="1">
                <a:solidFill>
                  <a:srgbClr val="1A1A1A"/>
                </a:solidFill>
                <a:latin typeface="Calibri"/>
              </a:rPr>
              <a:t>Defined, not coded</a:t>
            </a:r>
          </a:p>
          <a:p>
            <a:pPr lvl="1">
              <a:lnSpc>
                <a:spcPct val="120000"/>
              </a:lnSpc>
              <a:spcBef>
                <a:spcPts val="0"/>
              </a:spcBef>
              <a:spcAft>
                <a:spcPts val="0"/>
              </a:spcAft>
            </a:pPr>
            <a:r>
              <a:rPr sz="1050" b="0">
                <a:solidFill>
                  <a:srgbClr val="6B7480"/>
                </a:solidFill>
                <a:latin typeface="Calibri"/>
              </a:rPr>
              <a:t>Saved in the database and registered as an ordinary MCP tool, callable in both eras.</a:t>
            </a:r>
          </a:p>
          <a:p>
            <a:pPr>
              <a:lnSpc>
                <a:spcPct val="120000"/>
              </a:lnSpc>
              <a:spcBef>
                <a:spcPts val="500"/>
              </a:spcBef>
              <a:spcAft>
                <a:spcPts val="100"/>
              </a:spcAft>
            </a:pPr>
            <a:r>
              <a:rPr sz="1200" b="1">
                <a:solidFill>
                  <a:srgbClr val="A51C30"/>
                </a:solidFill>
                <a:latin typeface="Calibri"/>
              </a:rPr>
              <a:t>▪  </a:t>
            </a:r>
            <a:r>
              <a:rPr sz="1200" b="1">
                <a:solidFill>
                  <a:srgbClr val="1A1A1A"/>
                </a:solidFill>
                <a:latin typeface="Calibri"/>
              </a:rPr>
              <a:t>Mapped, not leaked</a:t>
            </a:r>
          </a:p>
          <a:p>
            <a:pPr lvl="1">
              <a:lnSpc>
                <a:spcPct val="120000"/>
              </a:lnSpc>
              <a:spcBef>
                <a:spcPts val="0"/>
              </a:spcBef>
              <a:spcAft>
                <a:spcPts val="0"/>
              </a:spcAft>
            </a:pPr>
            <a:r>
              <a:rPr sz="1050" b="0">
                <a:solidFill>
                  <a:srgbClr val="6B7480"/>
                </a:solidFill>
                <a:latin typeface="Calibri"/>
              </a:rPr>
              <a:t>$input.x reads the composite's input and $.field the master's record; a step sees only the fields mapped to it.</a:t>
            </a:r>
          </a:p>
          <a:p>
            <a:pPr>
              <a:lnSpc>
                <a:spcPct val="120000"/>
              </a:lnSpc>
              <a:spcBef>
                <a:spcPts val="500"/>
              </a:spcBef>
              <a:spcAft>
                <a:spcPts val="100"/>
              </a:spcAft>
            </a:pPr>
            <a:r>
              <a:rPr sz="1200" b="1">
                <a:solidFill>
                  <a:srgbClr val="A51C30"/>
                </a:solidFill>
                <a:latin typeface="Calibri"/>
              </a:rPr>
              <a:t>▪  </a:t>
            </a:r>
            <a:r>
              <a:rPr sz="1200" b="1">
                <a:solidFill>
                  <a:srgbClr val="1A1A1A"/>
                </a:solidFill>
                <a:latin typeface="Calibri"/>
              </a:rPr>
              <a:t>Governed inside too</a:t>
            </a:r>
          </a:p>
          <a:p>
            <a:pPr lvl="1">
              <a:lnSpc>
                <a:spcPct val="120000"/>
              </a:lnSpc>
              <a:spcBef>
                <a:spcPts val="0"/>
              </a:spcBef>
              <a:spcAft>
                <a:spcPts val="0"/>
              </a:spcAft>
            </a:pPr>
            <a:r>
              <a:rPr sz="1050" b="0">
                <a:solidFill>
                  <a:srgbClr val="6B7480"/>
                </a:solidFill>
                <a:latin typeface="Calibri"/>
              </a:rPr>
              <a:t>Every step runs as the caller, so a step the caller may not run is refused; nesting is bounded by tools.max_call_depth.</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COMPOSITION FRAMEWORK</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Confidence through a chain: multiplied in sequence, weakest link in parallel</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54</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same four tools, arranged two ways, computed by sajha.core.composition while this deck was built. A calculator adds no doubt (1.00); a web search adds the most.</a:t>
            </a:r>
          </a:p>
        </p:txBody>
      </p:sp>
      <p:sp>
        <p:nvSpPr>
          <p:cNvPr id="19" name="Rounded Rectangle 18"/>
          <p:cNvSpPr/>
          <p:nvPr/>
        </p:nvSpPr>
        <p:spPr>
          <a:xfrm>
            <a:off x="777240" y="1611884"/>
            <a:ext cx="2499745" cy="975969"/>
          </a:xfrm>
          <a:prstGeom prst="roundRect">
            <a:avLst>
              <a:gd name="adj" fmla="val 7495"/>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StepResult envelope</a:t>
            </a:r>
          </a:p>
          <a:p>
            <a:pPr algn="ctr">
              <a:lnSpc>
                <a:spcPct val="105000"/>
              </a:lnSpc>
              <a:spcBef>
                <a:spcPts val="0"/>
              </a:spcBef>
              <a:spcAft>
                <a:spcPts val="0"/>
              </a:spcAft>
            </a:pPr>
            <a:r>
              <a:rPr sz="1150" b="0" i="0">
                <a:solidFill>
                  <a:srgbClr val="1A1A1A"/>
                </a:solidFill>
                <a:latin typeface="Calibri"/>
              </a:rPr>
              <a:t>an error short-circuits; confidence and trace accumulate</a:t>
            </a:r>
          </a:p>
        </p:txBody>
      </p:sp>
      <p:sp>
        <p:nvSpPr>
          <p:cNvPr id="20" name="Rounded Rectangle 19"/>
          <p:cNvSpPr/>
          <p:nvPr/>
        </p:nvSpPr>
        <p:spPr>
          <a:xfrm>
            <a:off x="3489729" y="1611884"/>
            <a:ext cx="2499745" cy="975969"/>
          </a:xfrm>
          <a:prstGeom prst="roundRect">
            <a:avLst>
              <a:gd name="adj" fmla="val 7495"/>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Lenses</a:t>
            </a:r>
          </a:p>
          <a:p>
            <a:pPr algn="ctr">
              <a:lnSpc>
                <a:spcPct val="105000"/>
              </a:lnSpc>
              <a:spcBef>
                <a:spcPts val="0"/>
              </a:spcBef>
              <a:spcAft>
                <a:spcPts val="0"/>
              </a:spcAft>
            </a:pPr>
            <a:r>
              <a:rPr sz="1150" b="0" i="0">
                <a:solidFill>
                  <a:srgbClr val="1A1A1A"/>
                </a:solidFill>
                <a:latin typeface="Calibri"/>
              </a:rPr>
              <a:t>a step sees only the parameters mapped to it</a:t>
            </a:r>
          </a:p>
        </p:txBody>
      </p:sp>
      <p:sp>
        <p:nvSpPr>
          <p:cNvPr id="21" name="Rounded Rectangle 20"/>
          <p:cNvSpPr/>
          <p:nvPr/>
        </p:nvSpPr>
        <p:spPr>
          <a:xfrm>
            <a:off x="6202219" y="1611884"/>
            <a:ext cx="2499745" cy="975969"/>
          </a:xfrm>
          <a:prstGeom prst="roundRect">
            <a:avLst>
              <a:gd name="adj" fmla="val 7495"/>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EntropyGuard</a:t>
            </a:r>
          </a:p>
          <a:p>
            <a:pPr algn="ctr">
              <a:lnSpc>
                <a:spcPct val="105000"/>
              </a:lnSpc>
              <a:spcBef>
                <a:spcPts val="0"/>
              </a:spcBef>
              <a:spcAft>
                <a:spcPts val="0"/>
              </a:spcAft>
            </a:pPr>
            <a:r>
              <a:rPr sz="1150" b="0" i="0">
                <a:solidFill>
                  <a:srgbClr val="1A1A1A"/>
                </a:solidFill>
                <a:latin typeface="Calibri"/>
              </a:rPr>
              <a:t>refuses a chain above 3.0 bits before it runs</a:t>
            </a:r>
          </a:p>
        </p:txBody>
      </p:sp>
      <p:sp>
        <p:nvSpPr>
          <p:cNvPr id="22" name="Rounded Rectangle 21"/>
          <p:cNvSpPr/>
          <p:nvPr/>
        </p:nvSpPr>
        <p:spPr>
          <a:xfrm>
            <a:off x="8914709" y="1611884"/>
            <a:ext cx="2499745" cy="975969"/>
          </a:xfrm>
          <a:prstGeom prst="roundRect">
            <a:avLst>
              <a:gd name="adj" fmla="val 7495"/>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Transport equivalence</a:t>
            </a:r>
          </a:p>
          <a:p>
            <a:pPr algn="ctr">
              <a:lnSpc>
                <a:spcPct val="105000"/>
              </a:lnSpc>
              <a:spcBef>
                <a:spcPts val="0"/>
              </a:spcBef>
              <a:spcAft>
                <a:spcPts val="0"/>
              </a:spcAft>
            </a:pPr>
            <a:r>
              <a:rPr sz="1150" b="0" i="0">
                <a:solidFill>
                  <a:srgbClr val="1A1A1A"/>
                </a:solidFill>
                <a:latin typeface="Calibri"/>
              </a:rPr>
              <a:t>the client SDK's transports behave alike</a:t>
            </a:r>
          </a:p>
        </p:txBody>
      </p:sp>
      <p:sp>
        <p:nvSpPr>
          <p:cNvPr id="23" name="Rounded Rectangle 22"/>
          <p:cNvSpPr/>
          <p:nvPr/>
        </p:nvSpPr>
        <p:spPr>
          <a:xfrm>
            <a:off x="2691938" y="2994507"/>
            <a:ext cx="1436024" cy="609980"/>
          </a:xfrm>
          <a:prstGeom prst="roundRect">
            <a:avLst>
              <a:gd name="adj" fmla="val 1199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1" i="0">
                <a:solidFill>
                  <a:srgbClr val="FFFFFF"/>
                </a:solidFill>
                <a:latin typeface="Calibri"/>
              </a:rPr>
              <a:t>fred_10yr_treasury</a:t>
            </a:r>
          </a:p>
          <a:p>
            <a:pPr algn="ctr">
              <a:lnSpc>
                <a:spcPct val="105000"/>
              </a:lnSpc>
              <a:spcBef>
                <a:spcPts val="0"/>
              </a:spcBef>
              <a:spcAft>
                <a:spcPts val="0"/>
              </a:spcAft>
            </a:pPr>
            <a:r>
              <a:rPr sz="750" b="0" i="0">
                <a:solidFill>
                  <a:srgbClr val="FFFFFF"/>
                </a:solidFill>
                <a:latin typeface="Calibri"/>
              </a:rPr>
              <a:t>0.95</a:t>
            </a:r>
          </a:p>
        </p:txBody>
      </p:sp>
      <p:sp>
        <p:nvSpPr>
          <p:cNvPr id="24" name="Rounded Rectangle 23"/>
          <p:cNvSpPr/>
          <p:nvPr/>
        </p:nvSpPr>
        <p:spPr>
          <a:xfrm>
            <a:off x="4447079" y="2994507"/>
            <a:ext cx="1436024" cy="609980"/>
          </a:xfrm>
          <a:prstGeom prst="roundRect">
            <a:avLst>
              <a:gd name="adj" fmla="val 1199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950" b="1" i="0">
                <a:solidFill>
                  <a:srgbClr val="1A1A1A"/>
                </a:solidFill>
                <a:latin typeface="Calibri"/>
              </a:rPr>
              <a:t>fmp_company_profile</a:t>
            </a:r>
          </a:p>
          <a:p>
            <a:pPr algn="ctr">
              <a:lnSpc>
                <a:spcPct val="105000"/>
              </a:lnSpc>
              <a:spcBef>
                <a:spcPts val="0"/>
              </a:spcBef>
              <a:spcAft>
                <a:spcPts val="0"/>
              </a:spcAft>
            </a:pPr>
            <a:r>
              <a:rPr sz="750" b="0" i="0">
                <a:solidFill>
                  <a:srgbClr val="1A1A1A"/>
                </a:solidFill>
                <a:latin typeface="Calibri"/>
              </a:rPr>
              <a:t>0.93</a:t>
            </a:r>
          </a:p>
        </p:txBody>
      </p:sp>
      <p:sp>
        <p:nvSpPr>
          <p:cNvPr id="25" name="Rounded Rectangle 24"/>
          <p:cNvSpPr/>
          <p:nvPr/>
        </p:nvSpPr>
        <p:spPr>
          <a:xfrm>
            <a:off x="6202219" y="2994507"/>
            <a:ext cx="1436024" cy="609980"/>
          </a:xfrm>
          <a:prstGeom prst="roundRect">
            <a:avLst>
              <a:gd name="adj" fmla="val 1199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1" i="0">
                <a:solidFill>
                  <a:srgbClr val="1A1A1A"/>
                </a:solidFill>
                <a:latin typeface="Calibri"/>
              </a:rPr>
              <a:t>tavily_news_search</a:t>
            </a:r>
          </a:p>
          <a:p>
            <a:pPr algn="ctr">
              <a:lnSpc>
                <a:spcPct val="105000"/>
              </a:lnSpc>
              <a:spcBef>
                <a:spcPts val="0"/>
              </a:spcBef>
              <a:spcAft>
                <a:spcPts val="0"/>
              </a:spcAft>
            </a:pPr>
            <a:r>
              <a:rPr sz="750" b="0" i="0">
                <a:solidFill>
                  <a:srgbClr val="1A1A1A"/>
                </a:solidFill>
                <a:latin typeface="Calibri"/>
              </a:rPr>
              <a:t>0.85</a:t>
            </a:r>
          </a:p>
        </p:txBody>
      </p:sp>
      <p:sp>
        <p:nvSpPr>
          <p:cNvPr id="26" name="Rounded Rectangle 25"/>
          <p:cNvSpPr/>
          <p:nvPr/>
        </p:nvSpPr>
        <p:spPr>
          <a:xfrm>
            <a:off x="7957360" y="2994507"/>
            <a:ext cx="1436024" cy="609980"/>
          </a:xfrm>
          <a:prstGeom prst="roundRect">
            <a:avLst>
              <a:gd name="adj" fmla="val 1199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900" b="1" i="0">
                <a:solidFill>
                  <a:srgbClr val="1A1A1A"/>
                </a:solidFill>
                <a:latin typeface="Calibri"/>
              </a:rPr>
              <a:t>calc_percentage_change</a:t>
            </a:r>
          </a:p>
          <a:p>
            <a:pPr algn="ctr">
              <a:lnSpc>
                <a:spcPct val="105000"/>
              </a:lnSpc>
              <a:spcBef>
                <a:spcPts val="0"/>
              </a:spcBef>
              <a:spcAft>
                <a:spcPts val="0"/>
              </a:spcAft>
            </a:pPr>
            <a:r>
              <a:rPr sz="750" b="0" i="0">
                <a:solidFill>
                  <a:srgbClr val="1A1A1A"/>
                </a:solidFill>
                <a:latin typeface="Calibri"/>
              </a:rPr>
              <a:t>1.00</a:t>
            </a:r>
          </a:p>
        </p:txBody>
      </p:sp>
      <p:sp>
        <p:nvSpPr>
          <p:cNvPr id="27" name="Rounded Rectangle 26"/>
          <p:cNvSpPr/>
          <p:nvPr/>
        </p:nvSpPr>
        <p:spPr>
          <a:xfrm>
            <a:off x="9818872" y="2913176"/>
            <a:ext cx="1595582" cy="772642"/>
          </a:xfrm>
          <a:prstGeom prst="roundRect">
            <a:avLst>
              <a:gd name="adj" fmla="val 946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0.751</a:t>
            </a:r>
          </a:p>
          <a:p>
            <a:pPr algn="ctr">
              <a:lnSpc>
                <a:spcPct val="105000"/>
              </a:lnSpc>
              <a:spcBef>
                <a:spcPts val="0"/>
              </a:spcBef>
              <a:spcAft>
                <a:spcPts val="0"/>
              </a:spcAft>
            </a:pPr>
            <a:r>
              <a:rPr sz="1550" b="0" i="0">
                <a:solidFill>
                  <a:srgbClr val="FFFFFF"/>
                </a:solidFill>
                <a:latin typeface="Calibri"/>
              </a:rPr>
              <a:t>0.81 bits</a:t>
            </a:r>
          </a:p>
        </p:txBody>
      </p:sp>
      <p:sp>
        <p:nvSpPr>
          <p:cNvPr id="28" name="Rounded Rectangle 27"/>
          <p:cNvSpPr/>
          <p:nvPr/>
        </p:nvSpPr>
        <p:spPr>
          <a:xfrm>
            <a:off x="2691938" y="4580458"/>
            <a:ext cx="1595582" cy="609980"/>
          </a:xfrm>
          <a:prstGeom prst="roundRect">
            <a:avLst>
              <a:gd name="adj" fmla="val 1199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fred_10yr_treasury</a:t>
            </a:r>
          </a:p>
          <a:p>
            <a:pPr algn="ctr">
              <a:lnSpc>
                <a:spcPct val="105000"/>
              </a:lnSpc>
              <a:spcBef>
                <a:spcPts val="0"/>
              </a:spcBef>
              <a:spcAft>
                <a:spcPts val="0"/>
              </a:spcAft>
            </a:pPr>
            <a:r>
              <a:rPr sz="850" b="0" i="0">
                <a:solidFill>
                  <a:srgbClr val="FFFFFF"/>
                </a:solidFill>
                <a:latin typeface="Calibri"/>
              </a:rPr>
              <a:t>0.95</a:t>
            </a:r>
          </a:p>
        </p:txBody>
      </p:sp>
      <p:sp>
        <p:nvSpPr>
          <p:cNvPr id="29" name="Rounded Rectangle 28"/>
          <p:cNvSpPr/>
          <p:nvPr/>
        </p:nvSpPr>
        <p:spPr>
          <a:xfrm>
            <a:off x="5563986" y="4051808"/>
            <a:ext cx="1914698" cy="467652"/>
          </a:xfrm>
          <a:prstGeom prst="roundRect">
            <a:avLst>
              <a:gd name="adj" fmla="val 1564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fmp_company_profile</a:t>
            </a:r>
          </a:p>
          <a:p>
            <a:pPr algn="ctr">
              <a:lnSpc>
                <a:spcPct val="105000"/>
              </a:lnSpc>
              <a:spcBef>
                <a:spcPts val="0"/>
              </a:spcBef>
              <a:spcAft>
                <a:spcPts val="0"/>
              </a:spcAft>
            </a:pPr>
            <a:r>
              <a:rPr sz="850" b="0" i="0">
                <a:solidFill>
                  <a:srgbClr val="1A1A1A"/>
                </a:solidFill>
                <a:latin typeface="Calibri"/>
              </a:rPr>
              <a:t>0.93</a:t>
            </a:r>
          </a:p>
        </p:txBody>
      </p:sp>
      <p:sp>
        <p:nvSpPr>
          <p:cNvPr id="30" name="Rounded Rectangle 29"/>
          <p:cNvSpPr/>
          <p:nvPr/>
        </p:nvSpPr>
        <p:spPr>
          <a:xfrm>
            <a:off x="5563986" y="4600790"/>
            <a:ext cx="1914698" cy="467652"/>
          </a:xfrm>
          <a:prstGeom prst="roundRect">
            <a:avLst>
              <a:gd name="adj" fmla="val 1564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tavily_news_search</a:t>
            </a:r>
          </a:p>
          <a:p>
            <a:pPr algn="ctr">
              <a:lnSpc>
                <a:spcPct val="105000"/>
              </a:lnSpc>
              <a:spcBef>
                <a:spcPts val="0"/>
              </a:spcBef>
              <a:spcAft>
                <a:spcPts val="0"/>
              </a:spcAft>
            </a:pPr>
            <a:r>
              <a:rPr sz="850" b="0" i="0">
                <a:solidFill>
                  <a:srgbClr val="1A1A1A"/>
                </a:solidFill>
                <a:latin typeface="Calibri"/>
              </a:rPr>
              <a:t>0.85</a:t>
            </a:r>
          </a:p>
        </p:txBody>
      </p:sp>
      <p:sp>
        <p:nvSpPr>
          <p:cNvPr id="31" name="Rounded Rectangle 30"/>
          <p:cNvSpPr/>
          <p:nvPr/>
        </p:nvSpPr>
        <p:spPr>
          <a:xfrm>
            <a:off x="5563986" y="5149773"/>
            <a:ext cx="1914698" cy="467652"/>
          </a:xfrm>
          <a:prstGeom prst="roundRect">
            <a:avLst>
              <a:gd name="adj" fmla="val 1564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calc_percentage_change</a:t>
            </a:r>
          </a:p>
          <a:p>
            <a:pPr algn="ctr">
              <a:lnSpc>
                <a:spcPct val="105000"/>
              </a:lnSpc>
              <a:spcBef>
                <a:spcPts val="0"/>
              </a:spcBef>
              <a:spcAft>
                <a:spcPts val="0"/>
              </a:spcAft>
            </a:pPr>
            <a:r>
              <a:rPr sz="850" b="0" i="0">
                <a:solidFill>
                  <a:srgbClr val="1A1A1A"/>
                </a:solidFill>
                <a:latin typeface="Calibri"/>
              </a:rPr>
              <a:t>1.00</a:t>
            </a:r>
          </a:p>
        </p:txBody>
      </p:sp>
      <p:sp>
        <p:nvSpPr>
          <p:cNvPr id="32" name="Rounded Rectangle 31"/>
          <p:cNvSpPr/>
          <p:nvPr/>
        </p:nvSpPr>
        <p:spPr>
          <a:xfrm>
            <a:off x="9818872" y="4519460"/>
            <a:ext cx="1595582" cy="772642"/>
          </a:xfrm>
          <a:prstGeom prst="roundRect">
            <a:avLst>
              <a:gd name="adj" fmla="val 946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0.807</a:t>
            </a:r>
          </a:p>
          <a:p>
            <a:pPr algn="ctr">
              <a:lnSpc>
                <a:spcPct val="105000"/>
              </a:lnSpc>
              <a:spcBef>
                <a:spcPts val="0"/>
              </a:spcBef>
              <a:spcAft>
                <a:spcPts val="0"/>
              </a:spcAft>
            </a:pPr>
            <a:r>
              <a:rPr sz="1550" b="0" i="0">
                <a:solidFill>
                  <a:srgbClr val="FFFFFF"/>
                </a:solidFill>
                <a:latin typeface="Calibri"/>
              </a:rPr>
              <a:t>0.71 bits</a:t>
            </a:r>
          </a:p>
        </p:txBody>
      </p:sp>
      <p:sp>
        <p:nvSpPr>
          <p:cNvPr id="33" name="TextBox 32"/>
          <p:cNvSpPr txBox="1"/>
          <p:nvPr/>
        </p:nvSpPr>
        <p:spPr>
          <a:xfrm>
            <a:off x="777240" y="2953842"/>
            <a:ext cx="1808326" cy="731977"/>
          </a:xfrm>
          <a:prstGeom prst="rect">
            <a:avLst/>
          </a:prstGeom>
          <a:noFill/>
        </p:spPr>
        <p:txBody>
          <a:bodyPr wrap="square" lIns="0" rIns="0" tIns="0" bIns="0" anchor="t">
            <a:spAutoFit/>
          </a:bodyPr>
          <a:lstStyle/>
          <a:p>
            <a:pPr algn="l">
              <a:lnSpc>
                <a:spcPct val="110000"/>
              </a:lnSpc>
              <a:spcBef>
                <a:spcPts val="0"/>
              </a:spcBef>
              <a:spcAft>
                <a:spcPts val="100"/>
              </a:spcAft>
            </a:pPr>
            <a:r>
              <a:rPr sz="1200" b="1" i="0">
                <a:solidFill>
                  <a:srgbClr val="6E1120"/>
                </a:solidFill>
                <a:latin typeface="Calibri"/>
              </a:rPr>
              <a:t>SEQUENTIAL</a:t>
            </a:r>
          </a:p>
          <a:p>
            <a:pPr algn="l">
              <a:lnSpc>
                <a:spcPct val="110000"/>
              </a:lnSpc>
              <a:spcBef>
                <a:spcPts val="0"/>
              </a:spcBef>
              <a:spcAft>
                <a:spcPts val="100"/>
              </a:spcAft>
            </a:pPr>
            <a:r>
              <a:rPr sz="1200" b="1" i="0">
                <a:solidFill>
                  <a:srgbClr val="6E1120"/>
                </a:solidFill>
                <a:latin typeface="Calibri"/>
              </a:rPr>
              <a:t>parent-child: multiply</a:t>
            </a:r>
          </a:p>
        </p:txBody>
      </p:sp>
      <p:sp>
        <p:nvSpPr>
          <p:cNvPr id="34" name="TextBox 33"/>
          <p:cNvSpPr txBox="1"/>
          <p:nvPr/>
        </p:nvSpPr>
        <p:spPr>
          <a:xfrm>
            <a:off x="777240" y="4539792"/>
            <a:ext cx="1808326" cy="731977"/>
          </a:xfrm>
          <a:prstGeom prst="rect">
            <a:avLst/>
          </a:prstGeom>
          <a:noFill/>
        </p:spPr>
        <p:txBody>
          <a:bodyPr wrap="square" lIns="0" rIns="0" tIns="0" bIns="0" anchor="t">
            <a:spAutoFit/>
          </a:bodyPr>
          <a:lstStyle/>
          <a:p>
            <a:pPr algn="l">
              <a:lnSpc>
                <a:spcPct val="110000"/>
              </a:lnSpc>
              <a:spcBef>
                <a:spcPts val="0"/>
              </a:spcBef>
              <a:spcAft>
                <a:spcPts val="100"/>
              </a:spcAft>
            </a:pPr>
            <a:r>
              <a:rPr sz="1200" b="1" i="0">
                <a:solidFill>
                  <a:srgbClr val="6E1120"/>
                </a:solidFill>
                <a:latin typeface="Calibri"/>
              </a:rPr>
              <a:t>PARALLEL</a:t>
            </a:r>
          </a:p>
          <a:p>
            <a:pPr algn="l">
              <a:lnSpc>
                <a:spcPct val="110000"/>
              </a:lnSpc>
              <a:spcBef>
                <a:spcPts val="0"/>
              </a:spcBef>
              <a:spcAft>
                <a:spcPts val="100"/>
              </a:spcAft>
            </a:pPr>
            <a:r>
              <a:rPr sz="1200" b="1" i="0">
                <a:solidFill>
                  <a:srgbClr val="6E1120"/>
                </a:solidFill>
                <a:latin typeface="Calibri"/>
              </a:rPr>
              <a:t>sibling: master × min</a:t>
            </a:r>
          </a:p>
        </p:txBody>
      </p:sp>
      <p:cxnSp>
        <p:nvCxnSpPr>
          <p:cNvPr id="35" name="Connector 34"/>
          <p:cNvCxnSpPr/>
          <p:nvPr/>
        </p:nvCxnSpPr>
        <p:spPr>
          <a:xfrm>
            <a:off x="4173682" y="3299498"/>
            <a:ext cx="22767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928823" y="3299498"/>
            <a:ext cx="227676"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683963" y="3299498"/>
            <a:ext cx="22767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439104" y="3299498"/>
            <a:ext cx="334048"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332371" y="4483923"/>
            <a:ext cx="1186765" cy="23480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333234" y="4851435"/>
            <a:ext cx="1185039" cy="1987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332636" y="5023954"/>
            <a:ext cx="1186235" cy="19492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523890" y="4437448"/>
            <a:ext cx="2249778" cy="34068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524398" y="4852047"/>
            <a:ext cx="2248761" cy="39076"/>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524097" y="5004161"/>
            <a:ext cx="2249363" cy="262442"/>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WORKFLOWS</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A workflow is a DAG of steps, started by a trigger and run as its owner</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55</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Joins: all_success, any_success and all_done. The graph is the Workflows guide's own example (rates_watch), parsed and ordered by the engine when this deck was built.</a:t>
            </a:r>
          </a:p>
        </p:txBody>
      </p:sp>
      <p:sp>
        <p:nvSpPr>
          <p:cNvPr id="19" name="Rounded Rectangle 18"/>
          <p:cNvSpPr/>
          <p:nvPr/>
        </p:nvSpPr>
        <p:spPr>
          <a:xfrm>
            <a:off x="777240" y="1378331"/>
            <a:ext cx="1382837" cy="438784"/>
          </a:xfrm>
          <a:prstGeom prst="roundRect">
            <a:avLst>
              <a:gd name="adj" fmla="val 166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cron schedule</a:t>
            </a:r>
          </a:p>
        </p:txBody>
      </p:sp>
      <p:sp>
        <p:nvSpPr>
          <p:cNvPr id="20" name="Rounded Rectangle 19"/>
          <p:cNvSpPr/>
          <p:nvPr/>
        </p:nvSpPr>
        <p:spPr>
          <a:xfrm>
            <a:off x="777240" y="2124265"/>
            <a:ext cx="1382837" cy="438784"/>
          </a:xfrm>
          <a:prstGeom prst="roundRect">
            <a:avLst>
              <a:gd name="adj" fmla="val 166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signed webhook</a:t>
            </a:r>
          </a:p>
        </p:txBody>
      </p:sp>
      <p:sp>
        <p:nvSpPr>
          <p:cNvPr id="21" name="Rounded Rectangle 20"/>
          <p:cNvSpPr/>
          <p:nvPr/>
        </p:nvSpPr>
        <p:spPr>
          <a:xfrm>
            <a:off x="777240" y="2870200"/>
            <a:ext cx="1382837" cy="438784"/>
          </a:xfrm>
          <a:prstGeom prst="roundRect">
            <a:avLst>
              <a:gd name="adj" fmla="val 166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file arrives</a:t>
            </a:r>
          </a:p>
        </p:txBody>
      </p:sp>
      <p:sp>
        <p:nvSpPr>
          <p:cNvPr id="22" name="Rounded Rectangle 21"/>
          <p:cNvSpPr/>
          <p:nvPr/>
        </p:nvSpPr>
        <p:spPr>
          <a:xfrm>
            <a:off x="777240" y="3616134"/>
            <a:ext cx="1382837" cy="438784"/>
          </a:xfrm>
          <a:prstGeom prst="roundRect">
            <a:avLst>
              <a:gd name="adj" fmla="val 166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change-bus event</a:t>
            </a:r>
          </a:p>
        </p:txBody>
      </p:sp>
      <p:sp>
        <p:nvSpPr>
          <p:cNvPr id="23" name="Rounded Rectangle 22"/>
          <p:cNvSpPr/>
          <p:nvPr/>
        </p:nvSpPr>
        <p:spPr>
          <a:xfrm>
            <a:off x="777240" y="4362069"/>
            <a:ext cx="1382837" cy="438784"/>
          </a:xfrm>
          <a:prstGeom prst="roundRect">
            <a:avLst>
              <a:gd name="adj" fmla="val 166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by hand: page, CLI, API</a:t>
            </a:r>
          </a:p>
        </p:txBody>
      </p:sp>
      <p:sp>
        <p:nvSpPr>
          <p:cNvPr id="24" name="Hexagon 23"/>
          <p:cNvSpPr/>
          <p:nvPr/>
        </p:nvSpPr>
        <p:spPr>
          <a:xfrm>
            <a:off x="2479194" y="2650807"/>
            <a:ext cx="1223279" cy="877569"/>
          </a:xfrm>
          <a:prstGeom prst="hexagon">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Run</a:t>
            </a:r>
          </a:p>
          <a:p>
            <a:pPr algn="ctr">
              <a:lnSpc>
                <a:spcPct val="105000"/>
              </a:lnSpc>
              <a:spcBef>
                <a:spcPts val="0"/>
              </a:spcBef>
              <a:spcAft>
                <a:spcPts val="0"/>
              </a:spcAft>
            </a:pPr>
            <a:r>
              <a:rPr sz="1150" b="0" i="0">
                <a:solidFill>
                  <a:srgbClr val="FFFFFF"/>
                </a:solidFill>
                <a:latin typeface="Calibri"/>
              </a:rPr>
              <a:t>one per slot</a:t>
            </a:r>
          </a:p>
        </p:txBody>
      </p:sp>
      <p:sp>
        <p:nvSpPr>
          <p:cNvPr id="25" name="Rounded Rectangle 24"/>
          <p:cNvSpPr/>
          <p:nvPr/>
        </p:nvSpPr>
        <p:spPr>
          <a:xfrm>
            <a:off x="4074776" y="2716625"/>
            <a:ext cx="1063721" cy="745934"/>
          </a:xfrm>
          <a:prstGeom prst="roundRect">
            <a:avLst>
              <a:gd name="adj" fmla="val 980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yield</a:t>
            </a:r>
          </a:p>
          <a:p>
            <a:pPr algn="ctr">
              <a:lnSpc>
                <a:spcPct val="105000"/>
              </a:lnSpc>
              <a:spcBef>
                <a:spcPts val="0"/>
              </a:spcBef>
              <a:spcAft>
                <a:spcPts val="0"/>
              </a:spcAft>
            </a:pPr>
            <a:r>
              <a:rPr sz="950" b="0" i="0">
                <a:solidFill>
                  <a:srgbClr val="1A1A1A"/>
                </a:solidFill>
                <a:latin typeface="Calibri"/>
              </a:rPr>
              <a:t>tool</a:t>
            </a:r>
          </a:p>
        </p:txBody>
      </p:sp>
      <p:sp>
        <p:nvSpPr>
          <p:cNvPr id="26" name="Diamond 25"/>
          <p:cNvSpPr/>
          <p:nvPr/>
        </p:nvSpPr>
        <p:spPr>
          <a:xfrm>
            <a:off x="5422157" y="2606929"/>
            <a:ext cx="1276465" cy="965327"/>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moved</a:t>
            </a:r>
          </a:p>
          <a:p>
            <a:pPr algn="ctr">
              <a:lnSpc>
                <a:spcPct val="105000"/>
              </a:lnSpc>
              <a:spcBef>
                <a:spcPts val="0"/>
              </a:spcBef>
              <a:spcAft>
                <a:spcPts val="0"/>
              </a:spcAft>
            </a:pPr>
            <a:r>
              <a:rPr sz="950" b="0" i="0">
                <a:solidFill>
                  <a:srgbClr val="1A1A1A"/>
                </a:solidFill>
                <a:latin typeface="Calibri"/>
              </a:rPr>
              <a:t>condition</a:t>
            </a:r>
          </a:p>
        </p:txBody>
      </p:sp>
      <p:sp>
        <p:nvSpPr>
          <p:cNvPr id="27" name="Rounded Rectangle 26"/>
          <p:cNvSpPr/>
          <p:nvPr/>
        </p:nvSpPr>
        <p:spPr>
          <a:xfrm>
            <a:off x="6982282" y="2021882"/>
            <a:ext cx="1063721" cy="745934"/>
          </a:xfrm>
          <a:prstGeom prst="roundRect">
            <a:avLst>
              <a:gd name="adj" fmla="val 980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explain</a:t>
            </a:r>
          </a:p>
          <a:p>
            <a:pPr algn="ctr">
              <a:lnSpc>
                <a:spcPct val="105000"/>
              </a:lnSpc>
              <a:spcBef>
                <a:spcPts val="0"/>
              </a:spcBef>
              <a:spcAft>
                <a:spcPts val="0"/>
              </a:spcAft>
            </a:pPr>
            <a:r>
              <a:rPr sz="950" b="0" i="0">
                <a:solidFill>
                  <a:srgbClr val="1A1A1A"/>
                </a:solidFill>
                <a:latin typeface="Calibri"/>
              </a:rPr>
              <a:t>ask</a:t>
            </a:r>
          </a:p>
        </p:txBody>
      </p:sp>
      <p:sp>
        <p:nvSpPr>
          <p:cNvPr id="28" name="Oval 27"/>
          <p:cNvSpPr/>
          <p:nvPr/>
        </p:nvSpPr>
        <p:spPr>
          <a:xfrm>
            <a:off x="6982282" y="3411368"/>
            <a:ext cx="1063721" cy="745934"/>
          </a:xfrm>
          <a:prstGeom prst="ellipse">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quiet</a:t>
            </a:r>
          </a:p>
          <a:p>
            <a:pPr algn="ctr">
              <a:lnSpc>
                <a:spcPct val="105000"/>
              </a:lnSpc>
              <a:spcBef>
                <a:spcPts val="0"/>
              </a:spcBef>
              <a:spcAft>
                <a:spcPts val="0"/>
              </a:spcAft>
            </a:pPr>
            <a:r>
              <a:rPr sz="950" b="0" i="0">
                <a:solidFill>
                  <a:srgbClr val="1A1A1A"/>
                </a:solidFill>
                <a:latin typeface="Calibri"/>
              </a:rPr>
              <a:t>wait</a:t>
            </a:r>
          </a:p>
        </p:txBody>
      </p:sp>
      <p:sp>
        <p:nvSpPr>
          <p:cNvPr id="29" name="Rounded Rectangle 28"/>
          <p:cNvSpPr/>
          <p:nvPr/>
        </p:nvSpPr>
        <p:spPr>
          <a:xfrm>
            <a:off x="8436034" y="2716625"/>
            <a:ext cx="1063721" cy="745934"/>
          </a:xfrm>
          <a:prstGeom prst="roundRect">
            <a:avLst>
              <a:gd name="adj" fmla="val 980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done</a:t>
            </a:r>
          </a:p>
          <a:p>
            <a:pPr algn="ctr">
              <a:lnSpc>
                <a:spcPct val="105000"/>
              </a:lnSpc>
              <a:spcBef>
                <a:spcPts val="0"/>
              </a:spcBef>
              <a:spcAft>
                <a:spcPts val="0"/>
              </a:spcAft>
            </a:pPr>
            <a:r>
              <a:rPr sz="950" b="0" i="0">
                <a:solidFill>
                  <a:srgbClr val="1A1A1A"/>
                </a:solidFill>
                <a:latin typeface="Calibri"/>
              </a:rPr>
              <a:t>tool · any_success</a:t>
            </a:r>
          </a:p>
        </p:txBody>
      </p:sp>
      <p:sp>
        <p:nvSpPr>
          <p:cNvPr id="30" name="Pentagon 29"/>
          <p:cNvSpPr/>
          <p:nvPr/>
        </p:nvSpPr>
        <p:spPr>
          <a:xfrm>
            <a:off x="9978431" y="2606929"/>
            <a:ext cx="1436024" cy="965326"/>
          </a:xfrm>
          <a:prstGeom prst="homePlat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Published tool</a:t>
            </a:r>
          </a:p>
          <a:p>
            <a:pPr algn="ctr">
              <a:lnSpc>
                <a:spcPct val="105000"/>
              </a:lnSpc>
              <a:spcBef>
                <a:spcPts val="0"/>
              </a:spcBef>
              <a:spcAft>
                <a:spcPts val="0"/>
              </a:spcAft>
            </a:pPr>
            <a:r>
              <a:rPr sz="950" b="0" i="0">
                <a:solidFill>
                  <a:srgbClr val="FFFFFF"/>
                </a:solidFill>
                <a:latin typeface="Calibri"/>
              </a:rPr>
              <a:t>rates_watch: a call starts a run</a:t>
            </a:r>
          </a:p>
        </p:txBody>
      </p:sp>
      <p:sp>
        <p:nvSpPr>
          <p:cNvPr id="31" name="Rounded Rectangle 30"/>
          <p:cNvSpPr/>
          <p:nvPr/>
        </p:nvSpPr>
        <p:spPr>
          <a:xfrm>
            <a:off x="777240" y="5151882"/>
            <a:ext cx="329184" cy="201168"/>
          </a:xfrm>
          <a:prstGeom prst="roundRect">
            <a:avLst>
              <a:gd name="adj" fmla="val 45454"/>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79576" y="5161025"/>
            <a:ext cx="1080690"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tool</a:t>
            </a:r>
          </a:p>
        </p:txBody>
      </p:sp>
      <p:sp>
        <p:nvSpPr>
          <p:cNvPr id="33" name="Rounded Rectangle 32"/>
          <p:cNvSpPr/>
          <p:nvPr/>
        </p:nvSpPr>
        <p:spPr>
          <a:xfrm>
            <a:off x="2296842" y="5151882"/>
            <a:ext cx="329184" cy="201168"/>
          </a:xfrm>
          <a:prstGeom prst="roundRect">
            <a:avLst>
              <a:gd name="adj" fmla="val 45454"/>
            </a:avLst>
          </a:prstGeom>
          <a:solidFill>
            <a:srgbClr val="FFFFFF"/>
          </a:solidFill>
          <a:ln w="1270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699178" y="5161025"/>
            <a:ext cx="1080690"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composite</a:t>
            </a:r>
          </a:p>
        </p:txBody>
      </p:sp>
      <p:sp>
        <p:nvSpPr>
          <p:cNvPr id="35" name="Rounded Rectangle 34"/>
          <p:cNvSpPr/>
          <p:nvPr/>
        </p:nvSpPr>
        <p:spPr>
          <a:xfrm>
            <a:off x="3816444" y="5151882"/>
            <a:ext cx="329184" cy="201168"/>
          </a:xfrm>
          <a:prstGeom prst="roundRect">
            <a:avLst>
              <a:gd name="adj" fmla="val 4545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218780" y="5161025"/>
            <a:ext cx="1080690"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ask</a:t>
            </a:r>
          </a:p>
        </p:txBody>
      </p:sp>
      <p:sp>
        <p:nvSpPr>
          <p:cNvPr id="37" name="Diamond 36"/>
          <p:cNvSpPr/>
          <p:nvPr/>
        </p:nvSpPr>
        <p:spPr>
          <a:xfrm>
            <a:off x="5336046" y="5151882"/>
            <a:ext cx="329184" cy="201168"/>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38382" y="5161025"/>
            <a:ext cx="1080690"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condition</a:t>
            </a:r>
          </a:p>
        </p:txBody>
      </p:sp>
      <p:sp>
        <p:nvSpPr>
          <p:cNvPr id="39" name="Hexagon 38"/>
          <p:cNvSpPr/>
          <p:nvPr/>
        </p:nvSpPr>
        <p:spPr>
          <a:xfrm>
            <a:off x="6855648" y="5151882"/>
            <a:ext cx="329184" cy="201168"/>
          </a:xfrm>
          <a:prstGeom prst="hexagon">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57984" y="5161025"/>
            <a:ext cx="1080690"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foreach</a:t>
            </a:r>
          </a:p>
        </p:txBody>
      </p:sp>
      <p:sp>
        <p:nvSpPr>
          <p:cNvPr id="41" name="Oval 40"/>
          <p:cNvSpPr/>
          <p:nvPr/>
        </p:nvSpPr>
        <p:spPr>
          <a:xfrm>
            <a:off x="8375250" y="5151882"/>
            <a:ext cx="329184" cy="201168"/>
          </a:xfrm>
          <a:prstGeom prst="ellipse">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777586" y="5161025"/>
            <a:ext cx="1080690"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wait</a:t>
            </a:r>
          </a:p>
        </p:txBody>
      </p:sp>
      <p:sp>
        <p:nvSpPr>
          <p:cNvPr id="43" name="Rounded Rectangle 42"/>
          <p:cNvSpPr/>
          <p:nvPr/>
        </p:nvSpPr>
        <p:spPr>
          <a:xfrm>
            <a:off x="9894853" y="5151882"/>
            <a:ext cx="329184" cy="201168"/>
          </a:xfrm>
          <a:prstGeom prst="roundRect">
            <a:avLst>
              <a:gd name="adj" fmla="val 45454"/>
            </a:avLst>
          </a:prstGeom>
          <a:solidFill>
            <a:srgbClr val="FFFFFF"/>
          </a:solidFill>
          <a:ln w="12700">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297189" y="5161025"/>
            <a:ext cx="1080690" cy="219456"/>
          </a:xfrm>
          <a:prstGeom prst="rect">
            <a:avLst/>
          </a:prstGeom>
          <a:noFill/>
        </p:spPr>
        <p:txBody>
          <a:bodyPr wrap="square" lIns="0" rIns="0" tIns="0" bIns="0" anchor="t">
            <a:spAutoFit/>
          </a:bodyPr>
          <a:lstStyle/>
          <a:p>
            <a:pPr algn="l">
              <a:lnSpc>
                <a:spcPct val="120000"/>
              </a:lnSpc>
              <a:spcBef>
                <a:spcPts val="0"/>
              </a:spcBef>
              <a:spcAft>
                <a:spcPts val="0"/>
              </a:spcAft>
            </a:pPr>
            <a:r>
              <a:rPr sz="1100" b="0" i="0">
                <a:solidFill>
                  <a:srgbClr val="6B7480"/>
                </a:solidFill>
                <a:latin typeface="Calibri"/>
              </a:rPr>
              <a:t>approval</a:t>
            </a:r>
          </a:p>
        </p:txBody>
      </p:sp>
      <p:cxnSp>
        <p:nvCxnSpPr>
          <p:cNvPr id="45" name="Connector 44"/>
          <p:cNvCxnSpPr/>
          <p:nvPr/>
        </p:nvCxnSpPr>
        <p:spPr>
          <a:xfrm>
            <a:off x="1740866" y="1848065"/>
            <a:ext cx="839205" cy="771793"/>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987308" y="2582151"/>
            <a:ext cx="450347" cy="207086"/>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2205797" y="3089592"/>
            <a:ext cx="227677" cy="0"/>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1987308" y="3389947"/>
            <a:ext cx="450347" cy="207086"/>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740866" y="3559326"/>
            <a:ext cx="839205" cy="771793"/>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3748194" y="3089592"/>
            <a:ext cx="280862"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5184218" y="3089592"/>
            <a:ext cx="19221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492732" y="2668737"/>
            <a:ext cx="448298" cy="21424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359249" y="2501537"/>
            <a:ext cx="495807"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6E1120"/>
                </a:solidFill>
                <a:latin typeface="Calibri"/>
              </a:rPr>
              <a:t>then</a:t>
            </a:r>
          </a:p>
        </p:txBody>
      </p:sp>
      <p:cxnSp>
        <p:nvCxnSpPr>
          <p:cNvPr id="54" name="Connector 53"/>
          <p:cNvCxnSpPr/>
          <p:nvPr/>
        </p:nvCxnSpPr>
        <p:spPr>
          <a:xfrm>
            <a:off x="6492732" y="3296207"/>
            <a:ext cx="540654" cy="258376"/>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40835" y="3498547"/>
            <a:ext cx="495807"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6E1120"/>
                </a:solidFill>
                <a:latin typeface="Calibri"/>
              </a:rPr>
              <a:t>else</a:t>
            </a:r>
          </a:p>
        </p:txBody>
      </p:sp>
      <p:cxnSp>
        <p:nvCxnSpPr>
          <p:cNvPr id="56" name="Connector 55"/>
          <p:cNvCxnSpPr/>
          <p:nvPr/>
        </p:nvCxnSpPr>
        <p:spPr>
          <a:xfrm>
            <a:off x="8087255" y="2668737"/>
            <a:ext cx="307528" cy="14696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994898" y="3363480"/>
            <a:ext cx="399885" cy="19110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545476" y="3089592"/>
            <a:ext cx="387235" cy="0"/>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434293" y="2851848"/>
            <a:ext cx="60960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output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 WORKFLOW RUN</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A run is stored step by step, so it survives a worker that dies</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56</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Each step's status, attempts, input, output and timing are written as they change; the executing worker's heartbeat tells the others whether it is alive.</a:t>
            </a:r>
          </a:p>
        </p:txBody>
      </p:sp>
      <p:sp>
        <p:nvSpPr>
          <p:cNvPr id="19" name="TextBox 18"/>
          <p:cNvSpPr txBox="1"/>
          <p:nvPr/>
        </p:nvSpPr>
        <p:spPr>
          <a:xfrm>
            <a:off x="7797802" y="1322705"/>
            <a:ext cx="3616653" cy="4355719"/>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A1A1A"/>
                </a:solidFill>
                <a:latin typeface="Calibri"/>
              </a:rPr>
              <a:t>Retries</a:t>
            </a:r>
          </a:p>
          <a:p>
            <a:pPr lvl="1">
              <a:lnSpc>
                <a:spcPct val="120000"/>
              </a:lnSpc>
              <a:spcBef>
                <a:spcPts val="0"/>
              </a:spcBef>
              <a:spcAft>
                <a:spcPts val="0"/>
              </a:spcAft>
            </a:pPr>
            <a:r>
              <a:rPr sz="1350" b="0">
                <a:solidFill>
                  <a:srgbClr val="6B7480"/>
                </a:solidFill>
                <a:latin typeface="Calibri"/>
              </a:rPr>
              <a:t>Backoff between attempts; a policy denial is never retried.</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Timeouts</a:t>
            </a:r>
          </a:p>
          <a:p>
            <a:pPr lvl="1">
              <a:lnSpc>
                <a:spcPct val="120000"/>
              </a:lnSpc>
              <a:spcBef>
                <a:spcPts val="0"/>
              </a:spcBef>
              <a:spcAft>
                <a:spcPts val="0"/>
              </a:spcAft>
            </a:pPr>
            <a:r>
              <a:rPr sz="1350" b="0">
                <a:solidFill>
                  <a:srgbClr val="6B7480"/>
                </a:solidFill>
                <a:latin typeface="Calibri"/>
              </a:rPr>
              <a:t>Per step and per run; a late result is ignored.</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Resume</a:t>
            </a:r>
          </a:p>
          <a:p>
            <a:pPr lvl="1">
              <a:lnSpc>
                <a:spcPct val="120000"/>
              </a:lnSpc>
              <a:spcBef>
                <a:spcPts val="0"/>
              </a:spcBef>
              <a:spcAft>
                <a:spcPts val="0"/>
              </a:spcAft>
            </a:pPr>
            <a:r>
              <a:rPr sz="1350" b="0">
                <a:solidFill>
                  <a:srgbClr val="6B7480"/>
                </a:solidFill>
                <a:latin typeface="Calibri"/>
              </a:rPr>
              <a:t>Finished steps are reused; an interrupted step runs again only if it is idempotent.</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Re-run</a:t>
            </a:r>
          </a:p>
          <a:p>
            <a:pPr lvl="1">
              <a:lnSpc>
                <a:spcPct val="120000"/>
              </a:lnSpc>
              <a:spcBef>
                <a:spcPts val="0"/>
              </a:spcBef>
              <a:spcAft>
                <a:spcPts val="0"/>
              </a:spcAft>
            </a:pPr>
            <a:r>
              <a:rPr sz="1350" b="0">
                <a:solidFill>
                  <a:srgbClr val="6B7480"/>
                </a:solidFill>
                <a:latin typeface="Calibri"/>
              </a:rPr>
              <a:t>From the step that failed, with the same input.</a:t>
            </a:r>
          </a:p>
        </p:txBody>
      </p:sp>
      <p:sp>
        <p:nvSpPr>
          <p:cNvPr id="20" name="Oval 19"/>
          <p:cNvSpPr/>
          <p:nvPr/>
        </p:nvSpPr>
        <p:spPr>
          <a:xfrm>
            <a:off x="777240" y="3064992"/>
            <a:ext cx="1139088" cy="784029"/>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queued</a:t>
            </a:r>
          </a:p>
        </p:txBody>
      </p:sp>
      <p:sp>
        <p:nvSpPr>
          <p:cNvPr id="21" name="Oval 20"/>
          <p:cNvSpPr/>
          <p:nvPr/>
        </p:nvSpPr>
        <p:spPr>
          <a:xfrm>
            <a:off x="2787396" y="3021435"/>
            <a:ext cx="1340104" cy="871143"/>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running</a:t>
            </a:r>
          </a:p>
        </p:txBody>
      </p:sp>
      <p:sp>
        <p:nvSpPr>
          <p:cNvPr id="22" name="Oval 21"/>
          <p:cNvSpPr/>
          <p:nvPr/>
        </p:nvSpPr>
        <p:spPr>
          <a:xfrm>
            <a:off x="2787396" y="1409819"/>
            <a:ext cx="1340104" cy="871143"/>
          </a:xfrm>
          <a:prstGeom prst="ellipse">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waiting</a:t>
            </a:r>
          </a:p>
          <a:p>
            <a:pPr algn="ctr">
              <a:lnSpc>
                <a:spcPct val="105000"/>
              </a:lnSpc>
              <a:spcBef>
                <a:spcPts val="0"/>
              </a:spcBef>
              <a:spcAft>
                <a:spcPts val="0"/>
              </a:spcAft>
            </a:pPr>
            <a:r>
              <a:rPr sz="1150" b="0" i="0">
                <a:solidFill>
                  <a:srgbClr val="1A1A1A"/>
                </a:solidFill>
                <a:latin typeface="Calibri"/>
              </a:rPr>
              <a:t>worker freed</a:t>
            </a:r>
          </a:p>
        </p:txBody>
      </p:sp>
      <p:sp>
        <p:nvSpPr>
          <p:cNvPr id="23" name="Oval 22"/>
          <p:cNvSpPr/>
          <p:nvPr/>
        </p:nvSpPr>
        <p:spPr>
          <a:xfrm>
            <a:off x="2787396" y="4676608"/>
            <a:ext cx="1340104" cy="871143"/>
          </a:xfrm>
          <a:prstGeom prst="ellipse">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6E1120"/>
                </a:solidFill>
                <a:latin typeface="Calibri"/>
              </a:rPr>
              <a:t>another worker</a:t>
            </a:r>
          </a:p>
          <a:p>
            <a:pPr algn="ctr">
              <a:lnSpc>
                <a:spcPct val="105000"/>
              </a:lnSpc>
              <a:spcBef>
                <a:spcPts val="0"/>
              </a:spcBef>
              <a:spcAft>
                <a:spcPts val="0"/>
              </a:spcAft>
            </a:pPr>
            <a:r>
              <a:rPr sz="1050" b="0" i="0">
                <a:solidFill>
                  <a:srgbClr val="6E1120"/>
                </a:solidFill>
                <a:latin typeface="Calibri"/>
              </a:rPr>
              <a:t>claims a stale run</a:t>
            </a:r>
          </a:p>
        </p:txBody>
      </p:sp>
      <p:sp>
        <p:nvSpPr>
          <p:cNvPr id="24" name="Rounded Rectangle 23"/>
          <p:cNvSpPr/>
          <p:nvPr/>
        </p:nvSpPr>
        <p:spPr>
          <a:xfrm>
            <a:off x="5802631" y="1584048"/>
            <a:ext cx="1675130" cy="740472"/>
          </a:xfrm>
          <a:prstGeom prst="roundRect">
            <a:avLst>
              <a:gd name="adj" fmla="val 9879"/>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succeeded</a:t>
            </a:r>
          </a:p>
        </p:txBody>
      </p:sp>
      <p:sp>
        <p:nvSpPr>
          <p:cNvPr id="25" name="Rounded Rectangle 24"/>
          <p:cNvSpPr/>
          <p:nvPr/>
        </p:nvSpPr>
        <p:spPr>
          <a:xfrm>
            <a:off x="5802631" y="3086771"/>
            <a:ext cx="1675130" cy="740472"/>
          </a:xfrm>
          <a:prstGeom prst="roundRect">
            <a:avLst>
              <a:gd name="adj" fmla="val 9879"/>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failed</a:t>
            </a:r>
          </a:p>
        </p:txBody>
      </p:sp>
      <p:sp>
        <p:nvSpPr>
          <p:cNvPr id="26" name="Rounded Rectangle 25"/>
          <p:cNvSpPr/>
          <p:nvPr/>
        </p:nvSpPr>
        <p:spPr>
          <a:xfrm>
            <a:off x="5802631" y="4589494"/>
            <a:ext cx="1675130" cy="740472"/>
          </a:xfrm>
          <a:prstGeom prst="roundRect">
            <a:avLst>
              <a:gd name="adj" fmla="val 9879"/>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cancelled</a:t>
            </a:r>
          </a:p>
        </p:txBody>
      </p:sp>
      <p:cxnSp>
        <p:nvCxnSpPr>
          <p:cNvPr id="27" name="Connector 26"/>
          <p:cNvCxnSpPr/>
          <p:nvPr/>
        </p:nvCxnSpPr>
        <p:spPr>
          <a:xfrm>
            <a:off x="1962048" y="3457007"/>
            <a:ext cx="77962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727022" y="3219263"/>
            <a:ext cx="124968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under the limit</a:t>
            </a:r>
          </a:p>
        </p:txBody>
      </p:sp>
      <p:cxnSp>
        <p:nvCxnSpPr>
          <p:cNvPr id="29" name="Connector 28"/>
          <p:cNvCxnSpPr/>
          <p:nvPr/>
        </p:nvCxnSpPr>
        <p:spPr>
          <a:xfrm flipV="1">
            <a:off x="3256433" y="2326683"/>
            <a:ext cx="0" cy="64903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994561" y="2559759"/>
            <a:ext cx="117856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wait, approval</a:t>
            </a:r>
          </a:p>
        </p:txBody>
      </p:sp>
      <p:cxnSp>
        <p:nvCxnSpPr>
          <p:cNvPr id="31" name="Connector 30"/>
          <p:cNvCxnSpPr/>
          <p:nvPr/>
        </p:nvCxnSpPr>
        <p:spPr>
          <a:xfrm>
            <a:off x="3658464" y="2326683"/>
            <a:ext cx="0" cy="64903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3722472" y="2559759"/>
            <a:ext cx="53848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woken</a:t>
            </a:r>
          </a:p>
        </p:txBody>
      </p:sp>
      <p:cxnSp>
        <p:nvCxnSpPr>
          <p:cNvPr id="33" name="Connector 32"/>
          <p:cNvCxnSpPr/>
          <p:nvPr/>
        </p:nvCxnSpPr>
        <p:spPr>
          <a:xfrm>
            <a:off x="3256433" y="3938299"/>
            <a:ext cx="0" cy="69258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131721" y="4193153"/>
            <a:ext cx="96520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worker dies</a:t>
            </a:r>
          </a:p>
        </p:txBody>
      </p:sp>
      <p:cxnSp>
        <p:nvCxnSpPr>
          <p:cNvPr id="35" name="Connector 34"/>
          <p:cNvCxnSpPr/>
          <p:nvPr/>
        </p:nvCxnSpPr>
        <p:spPr>
          <a:xfrm flipV="1">
            <a:off x="3658464" y="3938299"/>
            <a:ext cx="0" cy="69258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722472" y="4193153"/>
            <a:ext cx="68072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resumes</a:t>
            </a:r>
          </a:p>
        </p:txBody>
      </p:sp>
      <p:cxnSp>
        <p:nvCxnSpPr>
          <p:cNvPr id="37" name="Connector 36"/>
          <p:cNvCxnSpPr/>
          <p:nvPr/>
        </p:nvCxnSpPr>
        <p:spPr>
          <a:xfrm flipV="1">
            <a:off x="4040934" y="2344040"/>
            <a:ext cx="1773764" cy="837476"/>
          </a:xfrm>
          <a:prstGeom prst="line">
            <a:avLst/>
          </a:prstGeom>
          <a:ln w="20320">
            <a:solidFill>
              <a:srgbClr val="1E6B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73221" y="3457007"/>
            <a:ext cx="1583690" cy="0"/>
          </a:xfrm>
          <a:prstGeom prst="line">
            <a:avLst/>
          </a:prstGeom>
          <a:ln w="20320">
            <a:solidFill>
              <a:srgbClr val="8A16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040934" y="3732497"/>
            <a:ext cx="1773764" cy="83747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HOW THEY FIT</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Four levels of building, and one governed path to every tool, local or remote</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57</a:t>
            </a:r>
          </a:p>
        </p:txBody>
      </p:sp>
      <p:sp>
        <p:nvSpPr>
          <p:cNvPr id="17" name="Pentagon 16"/>
          <p:cNvSpPr/>
          <p:nvPr/>
        </p:nvSpPr>
        <p:spPr>
          <a:xfrm>
            <a:off x="777240" y="2167900"/>
            <a:ext cx="2499745" cy="926693"/>
          </a:xfrm>
          <a:prstGeom prst="homePlat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Tool</a:t>
            </a:r>
          </a:p>
          <a:p>
            <a:pPr algn="ctr">
              <a:lnSpc>
                <a:spcPct val="105000"/>
              </a:lnSpc>
              <a:spcBef>
                <a:spcPts val="0"/>
              </a:spcBef>
              <a:spcAft>
                <a:spcPts val="0"/>
              </a:spcAft>
            </a:pPr>
            <a:r>
              <a:rPr sz="1250" b="0" i="0">
                <a:solidFill>
                  <a:srgbClr val="FFFFFF"/>
                </a:solidFill>
                <a:latin typeface="Calibri"/>
              </a:rPr>
              <a:t>one entry in the registry</a:t>
            </a:r>
          </a:p>
        </p:txBody>
      </p:sp>
      <p:sp>
        <p:nvSpPr>
          <p:cNvPr id="18" name="Pentagon 17"/>
          <p:cNvSpPr/>
          <p:nvPr/>
        </p:nvSpPr>
        <p:spPr>
          <a:xfrm>
            <a:off x="3489729" y="2167900"/>
            <a:ext cx="2499745" cy="926693"/>
          </a:xfrm>
          <a:prstGeom prst="homePlate">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Composite</a:t>
            </a:r>
          </a:p>
          <a:p>
            <a:pPr algn="ctr">
              <a:lnSpc>
                <a:spcPct val="105000"/>
              </a:lnSpc>
              <a:spcBef>
                <a:spcPts val="0"/>
              </a:spcBef>
              <a:spcAft>
                <a:spcPts val="0"/>
              </a:spcAft>
            </a:pPr>
            <a:r>
              <a:rPr sz="1250" b="0" i="0">
                <a:solidFill>
                  <a:srgbClr val="FFFFFF"/>
                </a:solidFill>
                <a:latin typeface="Calibri"/>
              </a:rPr>
              <a:t>tools chained into one call</a:t>
            </a:r>
          </a:p>
        </p:txBody>
      </p:sp>
      <p:sp>
        <p:nvSpPr>
          <p:cNvPr id="19" name="Pentagon 18"/>
          <p:cNvSpPr/>
          <p:nvPr/>
        </p:nvSpPr>
        <p:spPr>
          <a:xfrm>
            <a:off x="6202219" y="2167900"/>
            <a:ext cx="2499745" cy="926693"/>
          </a:xfrm>
          <a:prstGeom prst="homePlat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Workflow</a:t>
            </a:r>
          </a:p>
          <a:p>
            <a:pPr algn="ctr">
              <a:lnSpc>
                <a:spcPct val="105000"/>
              </a:lnSpc>
              <a:spcBef>
                <a:spcPts val="0"/>
              </a:spcBef>
              <a:spcAft>
                <a:spcPts val="0"/>
              </a:spcAft>
            </a:pPr>
            <a:r>
              <a:rPr sz="1250" b="0" i="0">
                <a:solidFill>
                  <a:srgbClr val="FFFFFF"/>
                </a:solidFill>
                <a:latin typeface="Calibri"/>
              </a:rPr>
              <a:t>a DAG of tools, composites, questions</a:t>
            </a:r>
          </a:p>
        </p:txBody>
      </p:sp>
      <p:sp>
        <p:nvSpPr>
          <p:cNvPr id="20" name="Pentagon 19"/>
          <p:cNvSpPr/>
          <p:nvPr/>
        </p:nvSpPr>
        <p:spPr>
          <a:xfrm>
            <a:off x="8914709" y="2167900"/>
            <a:ext cx="2499745" cy="926693"/>
          </a:xfrm>
          <a:prstGeom prst="homePlate">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Published tool</a:t>
            </a:r>
          </a:p>
          <a:p>
            <a:pPr algn="ctr">
              <a:lnSpc>
                <a:spcPct val="105000"/>
              </a:lnSpc>
              <a:spcBef>
                <a:spcPts val="0"/>
              </a:spcBef>
              <a:spcAft>
                <a:spcPts val="0"/>
              </a:spcAft>
            </a:pPr>
            <a:r>
              <a:rPr sz="1250" b="0" i="0">
                <a:solidFill>
                  <a:srgbClr val="FFFFFF"/>
                </a:solidFill>
                <a:latin typeface="Calibri"/>
              </a:rPr>
              <a:t>the workflow, called like any tool</a:t>
            </a:r>
          </a:p>
        </p:txBody>
      </p:sp>
      <p:sp>
        <p:nvSpPr>
          <p:cNvPr id="21" name="Rounded Rectangle 20"/>
          <p:cNvSpPr/>
          <p:nvPr/>
        </p:nvSpPr>
        <p:spPr>
          <a:xfrm>
            <a:off x="777240" y="3604275"/>
            <a:ext cx="10637215" cy="648685"/>
          </a:xfrm>
          <a:prstGeom prst="roundRect">
            <a:avLst>
              <a:gd name="adj" fmla="val 11276"/>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Every call, at every level, goes through the same path</a:t>
            </a:r>
          </a:p>
          <a:p>
            <a:pPr algn="ctr">
              <a:lnSpc>
                <a:spcPct val="105000"/>
              </a:lnSpc>
              <a:spcBef>
                <a:spcPts val="0"/>
              </a:spcBef>
              <a:spcAft>
                <a:spcPts val="0"/>
              </a:spcAft>
            </a:pPr>
            <a:r>
              <a:rPr sz="1150" b="0" i="0">
                <a:solidFill>
                  <a:srgbClr val="1A1A1A"/>
                </a:solidFill>
                <a:latin typeface="Calibri"/>
              </a:rPr>
              <a:t>access · schema · policy and approvals · cache · circuit breaker · audit</a:t>
            </a:r>
          </a:p>
        </p:txBody>
      </p:sp>
      <p:sp>
        <p:nvSpPr>
          <p:cNvPr id="22" name="Rounded Rectangle 21"/>
          <p:cNvSpPr/>
          <p:nvPr/>
        </p:nvSpPr>
        <p:spPr>
          <a:xfrm>
            <a:off x="777240" y="4669972"/>
            <a:ext cx="2978420" cy="787689"/>
          </a:xfrm>
          <a:prstGeom prst="roundRect">
            <a:avLst>
              <a:gd name="adj" fmla="val 928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 local tool</a:t>
            </a:r>
          </a:p>
          <a:p>
            <a:pPr algn="ctr">
              <a:lnSpc>
                <a:spcPct val="105000"/>
              </a:lnSpc>
              <a:spcBef>
                <a:spcPts val="0"/>
              </a:spcBef>
              <a:spcAft>
                <a:spcPts val="0"/>
              </a:spcAft>
            </a:pPr>
            <a:r>
              <a:rPr sz="1150" b="0" i="0">
                <a:solidFill>
                  <a:srgbClr val="1A1A1A"/>
                </a:solidFill>
                <a:latin typeface="Calibri"/>
              </a:rPr>
              <a:t>this server's registry</a:t>
            </a:r>
          </a:p>
        </p:txBody>
      </p:sp>
      <p:sp>
        <p:nvSpPr>
          <p:cNvPr id="23" name="Rounded Rectangle 22"/>
          <p:cNvSpPr/>
          <p:nvPr/>
        </p:nvSpPr>
        <p:spPr>
          <a:xfrm>
            <a:off x="4606637" y="4669972"/>
            <a:ext cx="2978420" cy="787689"/>
          </a:xfrm>
          <a:prstGeom prst="roundRect">
            <a:avLst>
              <a:gd name="adj" fmla="val 928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 proxied MCP server</a:t>
            </a:r>
          </a:p>
          <a:p>
            <a:pPr algn="ctr">
              <a:lnSpc>
                <a:spcPct val="105000"/>
              </a:lnSpc>
              <a:spcBef>
                <a:spcPts val="0"/>
              </a:spcBef>
              <a:spcAft>
                <a:spcPts val="0"/>
              </a:spcAft>
            </a:pPr>
            <a:r>
              <a:rPr sz="1150" b="0" i="0">
                <a:solidFill>
                  <a:srgbClr val="1A1A1A"/>
                </a:solidFill>
                <a:latin typeface="Calibri"/>
              </a:rPr>
              <a:t>vendor__tool, through federation</a:t>
            </a:r>
          </a:p>
        </p:txBody>
      </p:sp>
      <p:sp>
        <p:nvSpPr>
          <p:cNvPr id="24" name="Rounded Rectangle 23"/>
          <p:cNvSpPr/>
          <p:nvPr/>
        </p:nvSpPr>
        <p:spPr>
          <a:xfrm>
            <a:off x="8436034" y="4669972"/>
            <a:ext cx="2978420" cy="787689"/>
          </a:xfrm>
          <a:prstGeom prst="roundRect">
            <a:avLst>
              <a:gd name="adj" fmla="val 928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 SAJHA Net member</a:t>
            </a:r>
          </a:p>
          <a:p>
            <a:pPr algn="ctr">
              <a:lnSpc>
                <a:spcPct val="105000"/>
              </a:lnSpc>
              <a:spcBef>
                <a:spcPts val="0"/>
              </a:spcBef>
              <a:spcAft>
                <a:spcPts val="0"/>
              </a:spcAft>
            </a:pPr>
            <a:r>
              <a:rPr sz="1150" b="0" i="0">
                <a:solidFill>
                  <a:srgbClr val="1A1A1A"/>
                </a:solidFill>
                <a:latin typeface="Calibri"/>
              </a:rPr>
              <a:t>net__instance__tool, signed; the host decides again</a:t>
            </a:r>
          </a:p>
        </p:txBody>
      </p:sp>
      <p:sp>
        <p:nvSpPr>
          <p:cNvPr id="25" name="Rounded Rectangle 24"/>
          <p:cNvSpPr/>
          <p:nvPr/>
        </p:nvSpPr>
        <p:spPr>
          <a:xfrm>
            <a:off x="4606637" y="5735670"/>
            <a:ext cx="2978420" cy="509681"/>
          </a:xfrm>
          <a:prstGeom prst="roundRect">
            <a:avLst>
              <a:gd name="adj" fmla="val 14352"/>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6E1120"/>
                </a:solidFill>
                <a:latin typeface="Calibri"/>
              </a:rPr>
              <a:t>which may proxy others: outer__inner__tool</a:t>
            </a:r>
          </a:p>
        </p:txBody>
      </p:sp>
      <p:cxnSp>
        <p:nvCxnSpPr>
          <p:cNvPr id="26" name="Connector 25"/>
          <p:cNvCxnSpPr/>
          <p:nvPr/>
        </p:nvCxnSpPr>
        <p:spPr>
          <a:xfrm flipV="1">
            <a:off x="10164582" y="1797222"/>
            <a:ext cx="0" cy="324958"/>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2027112" y="1797222"/>
            <a:ext cx="8137470" cy="0"/>
          </a:xfrm>
          <a:prstGeom prst="line">
            <a:avLst/>
          </a:prstGeom>
          <a:ln w="2032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027112" y="1797222"/>
            <a:ext cx="0" cy="324958"/>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724247" y="1559478"/>
            <a:ext cx="274320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a published workflow is a tool again</a:t>
            </a:r>
          </a:p>
        </p:txBody>
      </p:sp>
      <p:cxnSp>
        <p:nvCxnSpPr>
          <p:cNvPr id="30" name="Connector 29"/>
          <p:cNvCxnSpPr/>
          <p:nvPr/>
        </p:nvCxnSpPr>
        <p:spPr>
          <a:xfrm>
            <a:off x="2027112" y="3140313"/>
            <a:ext cx="0" cy="418242"/>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739602" y="3140313"/>
            <a:ext cx="0" cy="418242"/>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452092" y="3140313"/>
            <a:ext cx="0" cy="418242"/>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164582" y="3140313"/>
            <a:ext cx="0" cy="418242"/>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2266450" y="4298680"/>
            <a:ext cx="0" cy="32557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095847" y="4298680"/>
            <a:ext cx="0" cy="32557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925245" y="4298680"/>
            <a:ext cx="0" cy="32557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095847" y="5503382"/>
            <a:ext cx="0" cy="186568"/>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EXTENDING THE SERVER</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A1A1A"/>
                </a:solidFill>
                <a:latin typeface="Georgia"/>
              </a:rPr>
              <a:t>Two ways to add a tool, and agents cannot tell them apart</a:t>
            </a:r>
          </a:p>
        </p:txBody>
      </p:sp>
      <p:sp>
        <p:nvSpPr>
          <p:cNvPr id="6" name="Rectangle 5"/>
          <p:cNvSpPr/>
          <p:nvPr/>
        </p:nvSpPr>
        <p:spPr>
          <a:xfrm>
            <a:off x="777240" y="124288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58</a:t>
            </a:r>
          </a:p>
        </p:txBody>
      </p:sp>
      <p:sp>
        <p:nvSpPr>
          <p:cNvPr id="17" name="Rounded Rectangle 16"/>
          <p:cNvSpPr/>
          <p:nvPr/>
        </p:nvSpPr>
        <p:spPr>
          <a:xfrm>
            <a:off x="777240" y="1565879"/>
            <a:ext cx="2872048" cy="1072379"/>
          </a:xfrm>
          <a:prstGeom prst="roundRect">
            <a:avLst>
              <a:gd name="adj" fmla="val 6821"/>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No code: MCP Studio</a:t>
            </a:r>
          </a:p>
          <a:p>
            <a:pPr algn="ctr">
              <a:lnSpc>
                <a:spcPct val="105000"/>
              </a:lnSpc>
              <a:spcBef>
                <a:spcPts val="0"/>
              </a:spcBef>
              <a:spcAft>
                <a:spcPts val="0"/>
              </a:spcAft>
            </a:pPr>
            <a:r>
              <a:rPr sz="1250" b="0" i="0">
                <a:solidFill>
                  <a:srgbClr val="FFFFFF"/>
                </a:solidFill>
                <a:latin typeface="Calibri"/>
              </a:rPr>
              <a:t>a creator form, or describe the tool in a sentence</a:t>
            </a:r>
          </a:p>
        </p:txBody>
      </p:sp>
      <p:sp>
        <p:nvSpPr>
          <p:cNvPr id="18" name="Rounded Rectangle 17"/>
          <p:cNvSpPr/>
          <p:nvPr/>
        </p:nvSpPr>
        <p:spPr>
          <a:xfrm>
            <a:off x="777240" y="2930725"/>
            <a:ext cx="2872048" cy="731167"/>
          </a:xfrm>
          <a:prstGeom prst="roundRect">
            <a:avLst>
              <a:gd name="adj" fmla="val 1000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Import an API; connect a database</a:t>
            </a:r>
          </a:p>
        </p:txBody>
      </p:sp>
      <p:sp>
        <p:nvSpPr>
          <p:cNvPr id="19" name="Rounded Rectangle 18"/>
          <p:cNvSpPr/>
          <p:nvPr/>
        </p:nvSpPr>
        <p:spPr>
          <a:xfrm>
            <a:off x="777240" y="4198082"/>
            <a:ext cx="2872048" cy="1072379"/>
          </a:xfrm>
          <a:prstGeom prst="roundRect">
            <a:avLst>
              <a:gd name="adj" fmla="val 6821"/>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Full code: a Python tool</a:t>
            </a:r>
          </a:p>
          <a:p>
            <a:pPr algn="ctr">
              <a:lnSpc>
                <a:spcPct val="105000"/>
              </a:lnSpc>
              <a:spcBef>
                <a:spcPts val="0"/>
              </a:spcBef>
              <a:spcAft>
                <a:spcPts val="0"/>
              </a:spcAft>
            </a:pPr>
            <a:r>
              <a:rPr sz="1250" b="0" i="0">
                <a:solidFill>
                  <a:srgbClr val="FFFFFF"/>
                </a:solidFill>
                <a:latin typeface="Calibri"/>
              </a:rPr>
              <a:t>subclass BaseMCPTool, implement execute()</a:t>
            </a:r>
          </a:p>
        </p:txBody>
      </p:sp>
      <p:sp>
        <p:nvSpPr>
          <p:cNvPr id="20" name="Rounded Rectangle 19"/>
          <p:cNvSpPr/>
          <p:nvPr/>
        </p:nvSpPr>
        <p:spPr>
          <a:xfrm>
            <a:off x="777240" y="5562928"/>
            <a:ext cx="2872048" cy="633678"/>
          </a:xfrm>
          <a:prstGeom prst="roundRect">
            <a:avLst>
              <a:gd name="adj" fmla="val 1154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or a plugin: plugin.json and tools/</a:t>
            </a:r>
          </a:p>
        </p:txBody>
      </p:sp>
      <p:sp>
        <p:nvSpPr>
          <p:cNvPr id="21" name="Hexagon 20"/>
          <p:cNvSpPr/>
          <p:nvPr/>
        </p:nvSpPr>
        <p:spPr>
          <a:xfrm>
            <a:off x="4819381" y="3125703"/>
            <a:ext cx="2127443" cy="1267357"/>
          </a:xfrm>
          <a:prstGeom prst="hexagon">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Deploy</a:t>
            </a:r>
          </a:p>
          <a:p>
            <a:pPr algn="ctr">
              <a:lnSpc>
                <a:spcPct val="105000"/>
              </a:lnSpc>
              <a:spcBef>
                <a:spcPts val="0"/>
              </a:spcBef>
              <a:spcAft>
                <a:spcPts val="0"/>
              </a:spcAft>
            </a:pPr>
            <a:r>
              <a:rPr sz="1250" b="0" i="0">
                <a:solidFill>
                  <a:srgbClr val="1A1A1A"/>
                </a:solidFill>
                <a:latin typeface="Calibri"/>
              </a:rPr>
              <a:t>a JSON config in config/tools; no restart</a:t>
            </a:r>
          </a:p>
        </p:txBody>
      </p:sp>
      <p:sp>
        <p:nvSpPr>
          <p:cNvPr id="22" name="Rounded Rectangle 21"/>
          <p:cNvSpPr/>
          <p:nvPr/>
        </p:nvSpPr>
        <p:spPr>
          <a:xfrm>
            <a:off x="8010546" y="3028214"/>
            <a:ext cx="3403908" cy="1462335"/>
          </a:xfrm>
          <a:prstGeom prst="roundRect">
            <a:avLst>
              <a:gd name="adj" fmla="val 500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An ordinary MCP tool</a:t>
            </a:r>
          </a:p>
          <a:p>
            <a:pPr algn="ctr">
              <a:lnSpc>
                <a:spcPct val="105000"/>
              </a:lnSpc>
              <a:spcBef>
                <a:spcPts val="0"/>
              </a:spcBef>
              <a:spcAft>
                <a:spcPts val="0"/>
              </a:spcAft>
            </a:pPr>
            <a:r>
              <a:rPr sz="1350" b="0" i="0">
                <a:solidFill>
                  <a:srgbClr val="FFFFFF"/>
                </a:solidFill>
                <a:latin typeface="Calibri"/>
              </a:rPr>
              <a:t>with schemas, governed and audited the same way</a:t>
            </a:r>
          </a:p>
        </p:txBody>
      </p:sp>
      <p:cxnSp>
        <p:nvCxnSpPr>
          <p:cNvPr id="23" name="Connector 22"/>
          <p:cNvCxnSpPr/>
          <p:nvPr/>
        </p:nvCxnSpPr>
        <p:spPr>
          <a:xfrm>
            <a:off x="3442232" y="2657076"/>
            <a:ext cx="1335481" cy="60310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94648" y="3483235"/>
            <a:ext cx="1079373" cy="13619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693475" y="4053697"/>
            <a:ext cx="1081719" cy="28735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01218" y="4396859"/>
            <a:ext cx="1978576" cy="114319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992544" y="3759382"/>
            <a:ext cx="972282" cy="0"/>
          </a:xfrm>
          <a:prstGeom prst="line">
            <a:avLst/>
          </a:prstGeom>
          <a:ln w="2794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HOT RELOAD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Tools, rules and permissions change without a restart</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59</a:t>
            </a:r>
          </a:p>
        </p:txBody>
      </p:sp>
      <p:sp>
        <p:nvSpPr>
          <p:cNvPr id="17" name="Rounded Rectangle 16"/>
          <p:cNvSpPr/>
          <p:nvPr/>
        </p:nvSpPr>
        <p:spPr>
          <a:xfrm>
            <a:off x="777240" y="1386967"/>
            <a:ext cx="2340187" cy="777341"/>
          </a:xfrm>
          <a:prstGeom prst="roundRect">
            <a:avLst>
              <a:gd name="adj" fmla="val 941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Tool configs</a:t>
            </a:r>
          </a:p>
          <a:p>
            <a:pPr algn="ctr">
              <a:lnSpc>
                <a:spcPct val="105000"/>
              </a:lnSpc>
              <a:spcBef>
                <a:spcPts val="0"/>
              </a:spcBef>
              <a:spcAft>
                <a:spcPts val="0"/>
              </a:spcAft>
            </a:pPr>
            <a:r>
              <a:rPr sz="1050" b="0" i="0">
                <a:solidFill>
                  <a:srgbClr val="1A1A1A"/>
                </a:solidFill>
                <a:latin typeface="Calibri"/>
              </a:rPr>
              <a:t>config/tools, or an object store</a:t>
            </a:r>
          </a:p>
        </p:txBody>
      </p:sp>
      <p:sp>
        <p:nvSpPr>
          <p:cNvPr id="18" name="Rounded Rectangle 17"/>
          <p:cNvSpPr/>
          <p:nvPr/>
        </p:nvSpPr>
        <p:spPr>
          <a:xfrm>
            <a:off x="777240" y="2552979"/>
            <a:ext cx="2340187" cy="777341"/>
          </a:xfrm>
          <a:prstGeom prst="roundRect">
            <a:avLst>
              <a:gd name="adj" fmla="val 941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Studio, imports, connectors</a:t>
            </a:r>
          </a:p>
          <a:p>
            <a:pPr algn="ctr">
              <a:lnSpc>
                <a:spcPct val="105000"/>
              </a:lnSpc>
              <a:spcBef>
                <a:spcPts val="0"/>
              </a:spcBef>
              <a:spcAft>
                <a:spcPts val="0"/>
              </a:spcAft>
            </a:pPr>
            <a:r>
              <a:rPr sz="1050" b="0" i="0">
                <a:solidFill>
                  <a:srgbClr val="1A1A1A"/>
                </a:solidFill>
                <a:latin typeface="Calibri"/>
              </a:rPr>
              <a:t>deploy registers at once</a:t>
            </a:r>
          </a:p>
        </p:txBody>
      </p:sp>
      <p:sp>
        <p:nvSpPr>
          <p:cNvPr id="19" name="Rounded Rectangle 18"/>
          <p:cNvSpPr/>
          <p:nvPr/>
        </p:nvSpPr>
        <p:spPr>
          <a:xfrm>
            <a:off x="777240" y="3718991"/>
            <a:ext cx="2340187" cy="777341"/>
          </a:xfrm>
          <a:prstGeom prst="roundRect">
            <a:avLst>
              <a:gd name="adj" fmla="val 941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Policy files</a:t>
            </a:r>
          </a:p>
          <a:p>
            <a:pPr algn="ctr">
              <a:lnSpc>
                <a:spcPct val="105000"/>
              </a:lnSpc>
              <a:spcBef>
                <a:spcPts val="0"/>
              </a:spcBef>
              <a:spcAft>
                <a:spcPts val="0"/>
              </a:spcAft>
            </a:pPr>
            <a:r>
              <a:rPr sz="1050" b="0" i="0">
                <a:solidFill>
                  <a:srgbClr val="1A1A1A"/>
                </a:solidFill>
                <a:latin typeface="Calibri"/>
              </a:rPr>
              <a:t>reload when they change</a:t>
            </a:r>
          </a:p>
        </p:txBody>
      </p:sp>
      <p:sp>
        <p:nvSpPr>
          <p:cNvPr id="20" name="Rounded Rectangle 19"/>
          <p:cNvSpPr/>
          <p:nvPr/>
        </p:nvSpPr>
        <p:spPr>
          <a:xfrm>
            <a:off x="777240" y="4885004"/>
            <a:ext cx="2340187" cy="777341"/>
          </a:xfrm>
          <a:prstGeom prst="roundRect">
            <a:avLst>
              <a:gd name="adj" fmla="val 941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Users, roles and keys</a:t>
            </a:r>
          </a:p>
          <a:p>
            <a:pPr algn="ctr">
              <a:lnSpc>
                <a:spcPct val="105000"/>
              </a:lnSpc>
              <a:spcBef>
                <a:spcPts val="0"/>
              </a:spcBef>
              <a:spcAft>
                <a:spcPts val="0"/>
              </a:spcAft>
            </a:pPr>
            <a:r>
              <a:rPr sz="1050" b="0" i="0">
                <a:solidFill>
                  <a:srgbClr val="1A1A1A"/>
                </a:solidFill>
                <a:latin typeface="Calibri"/>
              </a:rPr>
              <a:t>changed in the console</a:t>
            </a:r>
          </a:p>
        </p:txBody>
      </p:sp>
      <p:sp>
        <p:nvSpPr>
          <p:cNvPr id="21" name="Rounded Rectangle 20"/>
          <p:cNvSpPr/>
          <p:nvPr/>
        </p:nvSpPr>
        <p:spPr>
          <a:xfrm>
            <a:off x="4606637" y="1678470"/>
            <a:ext cx="2552931" cy="1263180"/>
          </a:xfrm>
          <a:prstGeom prst="roundRect">
            <a:avLst>
              <a:gd name="adj" fmla="val 5791"/>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Tools registry</a:t>
            </a:r>
          </a:p>
          <a:p>
            <a:pPr algn="ctr">
              <a:lnSpc>
                <a:spcPct val="105000"/>
              </a:lnSpc>
              <a:spcBef>
                <a:spcPts val="0"/>
              </a:spcBef>
              <a:spcAft>
                <a:spcPts val="0"/>
              </a:spcAft>
            </a:pPr>
            <a:r>
              <a:rPr sz="1250" b="0" i="0">
                <a:solidFill>
                  <a:srgbClr val="FFFFFF"/>
                </a:solidFill>
                <a:latin typeface="Calibri"/>
              </a:rPr>
              <a:t>file monitor; object-store poller</a:t>
            </a:r>
          </a:p>
        </p:txBody>
      </p:sp>
      <p:sp>
        <p:nvSpPr>
          <p:cNvPr id="22" name="Rounded Rectangle 21"/>
          <p:cNvSpPr/>
          <p:nvPr/>
        </p:nvSpPr>
        <p:spPr>
          <a:xfrm>
            <a:off x="4606637" y="3670407"/>
            <a:ext cx="2552931" cy="874509"/>
          </a:xfrm>
          <a:prstGeom prst="roundRect">
            <a:avLst>
              <a:gd name="adj" fmla="val 836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Policy engine</a:t>
            </a:r>
          </a:p>
        </p:txBody>
      </p:sp>
      <p:sp>
        <p:nvSpPr>
          <p:cNvPr id="23" name="Rounded Rectangle 22"/>
          <p:cNvSpPr/>
          <p:nvPr/>
        </p:nvSpPr>
        <p:spPr>
          <a:xfrm>
            <a:off x="4606637" y="4836420"/>
            <a:ext cx="2552931" cy="874509"/>
          </a:xfrm>
          <a:prstGeom prst="roundRect">
            <a:avLst>
              <a:gd name="adj" fmla="val 836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The next request</a:t>
            </a:r>
          </a:p>
          <a:p>
            <a:pPr algn="ctr">
              <a:lnSpc>
                <a:spcPct val="105000"/>
              </a:lnSpc>
              <a:spcBef>
                <a:spcPts val="0"/>
              </a:spcBef>
              <a:spcAft>
                <a:spcPts val="0"/>
              </a:spcAft>
            </a:pPr>
            <a:r>
              <a:rPr sz="1150" b="0" i="0">
                <a:solidFill>
                  <a:srgbClr val="FFFFFF"/>
                </a:solidFill>
                <a:latin typeface="Calibri"/>
              </a:rPr>
              <a:t>the user is reloaded on every request</a:t>
            </a:r>
          </a:p>
        </p:txBody>
      </p:sp>
      <p:sp>
        <p:nvSpPr>
          <p:cNvPr id="24" name="Rounded Rectangle 23"/>
          <p:cNvSpPr/>
          <p:nvPr/>
        </p:nvSpPr>
        <p:spPr>
          <a:xfrm>
            <a:off x="8648779" y="1386967"/>
            <a:ext cx="2765675"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Clients told</a:t>
            </a:r>
          </a:p>
          <a:p>
            <a:pPr algn="ctr">
              <a:lnSpc>
                <a:spcPct val="105000"/>
              </a:lnSpc>
              <a:spcBef>
                <a:spcPts val="0"/>
              </a:spcBef>
              <a:spcAft>
                <a:spcPts val="0"/>
              </a:spcAft>
            </a:pPr>
            <a:r>
              <a:rPr sz="1050" b="0" i="0">
                <a:solidFill>
                  <a:srgbClr val="1A1A1A"/>
                </a:solidFill>
                <a:latin typeface="Calibri"/>
              </a:rPr>
              <a:t>list-changed on SSE, WebSocket and subscriptions/listen</a:t>
            </a:r>
          </a:p>
        </p:txBody>
      </p:sp>
      <p:sp>
        <p:nvSpPr>
          <p:cNvPr id="25" name="Rounded Rectangle 24"/>
          <p:cNvSpPr/>
          <p:nvPr/>
        </p:nvSpPr>
        <p:spPr>
          <a:xfrm>
            <a:off x="8648779" y="2747314"/>
            <a:ext cx="2765675"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Ask SAJHA's shortlist</a:t>
            </a:r>
          </a:p>
          <a:p>
            <a:pPr algn="ctr">
              <a:lnSpc>
                <a:spcPct val="105000"/>
              </a:lnSpc>
              <a:spcBef>
                <a:spcPts val="0"/>
              </a:spcBef>
              <a:spcAft>
                <a:spcPts val="0"/>
              </a:spcAft>
            </a:pPr>
            <a:r>
              <a:rPr sz="1050" b="0" i="0">
                <a:solidFill>
                  <a:srgbClr val="1A1A1A"/>
                </a:solidFill>
                <a:latin typeface="Calibri"/>
              </a:rPr>
              <a:t>sees a new tool without a reload</a:t>
            </a:r>
          </a:p>
        </p:txBody>
      </p:sp>
      <p:cxnSp>
        <p:nvCxnSpPr>
          <p:cNvPr id="26" name="Connector 25"/>
          <p:cNvCxnSpPr/>
          <p:nvPr/>
        </p:nvCxnSpPr>
        <p:spPr>
          <a:xfrm>
            <a:off x="3162731" y="1940671"/>
            <a:ext cx="1398602" cy="18991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162569" y="2522144"/>
            <a:ext cx="1398926" cy="22449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163147" y="4107662"/>
            <a:ext cx="139777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163147" y="5273675"/>
            <a:ext cx="139777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205037" y="2023349"/>
            <a:ext cx="1398274" cy="147378"/>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204197" y="2604019"/>
            <a:ext cx="1399953" cy="311506"/>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STEP BY STEP</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Tool creation: MCP Studio, zero code</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60</a:t>
            </a:r>
          </a:p>
        </p:txBody>
      </p:sp>
      <p:sp>
        <p:nvSpPr>
          <p:cNvPr id="17" name="Rectangle 16"/>
          <p:cNvSpPr/>
          <p:nvPr/>
        </p:nvSpPr>
        <p:spPr>
          <a:xfrm>
            <a:off x="777240" y="1386967"/>
            <a:ext cx="1063721"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50975"/>
            <a:ext cx="844265"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DEVELOPER OR ADMIN</a:t>
            </a:r>
          </a:p>
        </p:txBody>
      </p:sp>
      <p:sp>
        <p:nvSpPr>
          <p:cNvPr id="19" name="Rectangle 18"/>
          <p:cNvSpPr/>
          <p:nvPr/>
        </p:nvSpPr>
        <p:spPr>
          <a:xfrm>
            <a:off x="3968404" y="1386967"/>
            <a:ext cx="1063721"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078132" y="1450975"/>
            <a:ext cx="844265"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MCP STUDIO</a:t>
            </a:r>
          </a:p>
        </p:txBody>
      </p:sp>
      <p:sp>
        <p:nvSpPr>
          <p:cNvPr id="21" name="Rectangle 20"/>
          <p:cNvSpPr/>
          <p:nvPr/>
        </p:nvSpPr>
        <p:spPr>
          <a:xfrm>
            <a:off x="7159569" y="1386967"/>
            <a:ext cx="1063721"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69297" y="1450975"/>
            <a:ext cx="844265"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RUNNING SERVER</a:t>
            </a:r>
          </a:p>
        </p:txBody>
      </p:sp>
      <p:sp>
        <p:nvSpPr>
          <p:cNvPr id="23" name="Rectangle 22"/>
          <p:cNvSpPr/>
          <p:nvPr/>
        </p:nvSpPr>
        <p:spPr>
          <a:xfrm>
            <a:off x="10350733" y="1386967"/>
            <a:ext cx="1063721" cy="4858385"/>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460461" y="1450975"/>
            <a:ext cx="844265" cy="237744"/>
          </a:xfrm>
          <a:prstGeom prst="rect">
            <a:avLst/>
          </a:prstGeom>
          <a:noFill/>
        </p:spPr>
        <p:txBody>
          <a:bodyPr wrap="square" lIns="0" rIns="0" tIns="0" bIns="0" anchor="t">
            <a:spAutoFit/>
          </a:bodyPr>
          <a:lstStyle/>
          <a:p>
            <a:pPr algn="ctr">
              <a:lnSpc>
                <a:spcPct val="120000"/>
              </a:lnSpc>
              <a:spcBef>
                <a:spcPts val="0"/>
              </a:spcBef>
              <a:spcAft>
                <a:spcPts val="0"/>
              </a:spcAft>
            </a:pPr>
            <a:r>
              <a:rPr sz="1050" b="1" i="0">
                <a:solidFill>
                  <a:srgbClr val="6E1120"/>
                </a:solidFill>
                <a:latin typeface="Calibri"/>
              </a:rPr>
              <a:t>ANY MCP CLIENT</a:t>
            </a:r>
          </a:p>
        </p:txBody>
      </p:sp>
      <p:sp>
        <p:nvSpPr>
          <p:cNvPr id="25" name="Rounded Rectangle 24"/>
          <p:cNvSpPr/>
          <p:nvPr/>
        </p:nvSpPr>
        <p:spPr>
          <a:xfrm>
            <a:off x="2160077" y="2312003"/>
            <a:ext cx="4680374" cy="417173"/>
          </a:xfrm>
          <a:prstGeom prst="roundRect">
            <a:avLst>
              <a:gd name="adj" fmla="val 1753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Python, REST, DB query, script, OLAP, Power BI, SharePoint, LiveLink, Describe, Import an API</a:t>
            </a:r>
          </a:p>
        </p:txBody>
      </p:sp>
      <p:sp>
        <p:nvSpPr>
          <p:cNvPr id="26" name="Rounded Rectangle 25"/>
          <p:cNvSpPr/>
          <p:nvPr/>
        </p:nvSpPr>
        <p:spPr>
          <a:xfrm>
            <a:off x="5351242" y="4795178"/>
            <a:ext cx="4680374" cy="417173"/>
          </a:xfrm>
          <a:prstGeom prst="roundRect">
            <a:avLst>
              <a:gd name="adj" fmla="val 1753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registered at once; code and scripts will run sandboxed</a:t>
            </a:r>
          </a:p>
        </p:txBody>
      </p:sp>
      <p:cxnSp>
        <p:nvCxnSpPr>
          <p:cNvPr id="27" name="Connector 26"/>
          <p:cNvCxnSpPr/>
          <p:nvPr/>
        </p:nvCxnSpPr>
        <p:spPr>
          <a:xfrm>
            <a:off x="1877537" y="2023955"/>
            <a:ext cx="205429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036257" y="1786211"/>
            <a:ext cx="173685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1  choose a creator</a:t>
            </a:r>
          </a:p>
        </p:txBody>
      </p:sp>
      <p:cxnSp>
        <p:nvCxnSpPr>
          <p:cNvPr id="29" name="Connector 28"/>
          <p:cNvCxnSpPr/>
          <p:nvPr/>
        </p:nvCxnSpPr>
        <p:spPr>
          <a:xfrm>
            <a:off x="1877537" y="3017225"/>
            <a:ext cx="205429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709105" y="2779481"/>
            <a:ext cx="2391156"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2  name, parameters, source</a:t>
            </a:r>
          </a:p>
        </p:txBody>
      </p:sp>
      <p:cxnSp>
        <p:nvCxnSpPr>
          <p:cNvPr id="31" name="Connector 30"/>
          <p:cNvCxnSpPr/>
          <p:nvPr/>
        </p:nvCxnSpPr>
        <p:spPr>
          <a:xfrm flipH="1">
            <a:off x="1877537" y="3513859"/>
            <a:ext cx="205429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872681" y="3276115"/>
            <a:ext cx="2064004"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3  the generated schema</a:t>
            </a:r>
          </a:p>
        </p:txBody>
      </p:sp>
      <p:cxnSp>
        <p:nvCxnSpPr>
          <p:cNvPr id="33" name="Connector 32"/>
          <p:cNvCxnSpPr/>
          <p:nvPr/>
        </p:nvCxnSpPr>
        <p:spPr>
          <a:xfrm>
            <a:off x="1877537" y="4010494"/>
            <a:ext cx="205429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445197" y="3772750"/>
            <a:ext cx="91897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4  deploy</a:t>
            </a:r>
          </a:p>
        </p:txBody>
      </p:sp>
      <p:cxnSp>
        <p:nvCxnSpPr>
          <p:cNvPr id="35" name="Connector 34"/>
          <p:cNvCxnSpPr/>
          <p:nvPr/>
        </p:nvCxnSpPr>
        <p:spPr>
          <a:xfrm>
            <a:off x="5068702" y="4507129"/>
            <a:ext cx="205429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227421" y="4269385"/>
            <a:ext cx="173685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writes config/tools</a:t>
            </a:r>
          </a:p>
        </p:txBody>
      </p:sp>
      <p:cxnSp>
        <p:nvCxnSpPr>
          <p:cNvPr id="37" name="Connector 36"/>
          <p:cNvCxnSpPr/>
          <p:nvPr/>
        </p:nvCxnSpPr>
        <p:spPr>
          <a:xfrm flipH="1">
            <a:off x="8259866" y="5500399"/>
            <a:ext cx="205429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663950" y="5262655"/>
            <a:ext cx="1246124"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5  tools/list</a:t>
            </a:r>
          </a:p>
        </p:txBody>
      </p:sp>
      <p:cxnSp>
        <p:nvCxnSpPr>
          <p:cNvPr id="39" name="Connector 38"/>
          <p:cNvCxnSpPr/>
          <p:nvPr/>
        </p:nvCxnSpPr>
        <p:spPr>
          <a:xfrm>
            <a:off x="8259866" y="5997034"/>
            <a:ext cx="205429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418586" y="5759290"/>
            <a:ext cx="1736852" cy="201168"/>
          </a:xfrm>
          <a:prstGeom prst="rect">
            <a:avLst/>
          </a:prstGeom>
          <a:noFill/>
        </p:spPr>
        <p:txBody>
          <a:bodyPr wrap="square" lIns="0" rIns="0" tIns="0" bIns="0" anchor="t">
            <a:spAutoFit/>
          </a:bodyPr>
          <a:lstStyle/>
          <a:p>
            <a:pPr algn="ctr">
              <a:lnSpc>
                <a:spcPct val="120000"/>
              </a:lnSpc>
              <a:spcBef>
                <a:spcPts val="0"/>
              </a:spcBef>
              <a:spcAft>
                <a:spcPts val="0"/>
              </a:spcAft>
            </a:pPr>
            <a:r>
              <a:rPr sz="1150" b="0" i="0">
                <a:solidFill>
                  <a:srgbClr val="1A1A1A"/>
                </a:solidFill>
                <a:latin typeface="Calibri"/>
              </a:rPr>
              <a:t>fx_rate, if allowed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STEP BY STEP</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Tool creation: a Python tool, full code</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61</a:t>
            </a:r>
          </a:p>
        </p:txBody>
      </p:sp>
      <p:sp>
        <p:nvSpPr>
          <p:cNvPr id="17" name="Rounded Rectangle 16"/>
          <p:cNvSpPr/>
          <p:nvPr/>
        </p:nvSpPr>
        <p:spPr>
          <a:xfrm>
            <a:off x="777240" y="1629886"/>
            <a:ext cx="2340187" cy="1749018"/>
          </a:xfrm>
          <a:prstGeom prst="roundRect">
            <a:avLst>
              <a:gd name="adj" fmla="val 418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1  Write the class</a:t>
            </a:r>
          </a:p>
          <a:p>
            <a:pPr algn="ctr">
              <a:lnSpc>
                <a:spcPct val="105000"/>
              </a:lnSpc>
              <a:spcBef>
                <a:spcPts val="0"/>
              </a:spcBef>
              <a:spcAft>
                <a:spcPts val="0"/>
              </a:spcAft>
            </a:pPr>
            <a:r>
              <a:rPr sz="1350" b="0" i="0">
                <a:solidFill>
                  <a:srgbClr val="1A1A1A"/>
                </a:solidFill>
                <a:latin typeface="Calibri"/>
              </a:rPr>
              <a:t>class FxRateTool(BaseMCPTool): execute(); an input schema</a:t>
            </a:r>
          </a:p>
        </p:txBody>
      </p:sp>
      <p:sp>
        <p:nvSpPr>
          <p:cNvPr id="18" name="Rounded Rectangle 17"/>
          <p:cNvSpPr/>
          <p:nvPr/>
        </p:nvSpPr>
        <p:spPr>
          <a:xfrm>
            <a:off x="3542915" y="1629886"/>
            <a:ext cx="2340187" cy="1749018"/>
          </a:xfrm>
          <a:prstGeom prst="roundRect">
            <a:avLst>
              <a:gd name="adj" fmla="val 418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2  Describe it</a:t>
            </a:r>
          </a:p>
          <a:p>
            <a:pPr algn="ctr">
              <a:lnSpc>
                <a:spcPct val="105000"/>
              </a:lnSpc>
              <a:spcBef>
                <a:spcPts val="0"/>
              </a:spcBef>
              <a:spcAft>
                <a:spcPts val="0"/>
              </a:spcAft>
            </a:pPr>
            <a:r>
              <a:rPr sz="1350" b="0" i="0">
                <a:solidFill>
                  <a:srgbClr val="1A1A1A"/>
                </a:solidFill>
                <a:latin typeface="Calibri"/>
              </a:rPr>
              <a:t>a JSON config in config/tools: name, description, class, cache_ttl</a:t>
            </a:r>
          </a:p>
        </p:txBody>
      </p:sp>
      <p:sp>
        <p:nvSpPr>
          <p:cNvPr id="19" name="Rounded Rectangle 18"/>
          <p:cNvSpPr/>
          <p:nvPr/>
        </p:nvSpPr>
        <p:spPr>
          <a:xfrm>
            <a:off x="6308591" y="1629886"/>
            <a:ext cx="2340187" cy="1749018"/>
          </a:xfrm>
          <a:prstGeom prst="roundRect">
            <a:avLst>
              <a:gd name="adj" fmla="val 4182"/>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3  Test</a:t>
            </a:r>
          </a:p>
          <a:p>
            <a:pPr algn="ctr">
              <a:lnSpc>
                <a:spcPct val="105000"/>
              </a:lnSpc>
              <a:spcBef>
                <a:spcPts val="0"/>
              </a:spcBef>
              <a:spcAft>
                <a:spcPts val="0"/>
              </a:spcAft>
            </a:pPr>
            <a:r>
              <a:rPr sz="1350" b="0" i="0">
                <a:solidFill>
                  <a:srgbClr val="1A1A1A"/>
                </a:solidFill>
                <a:latin typeface="Calibri"/>
              </a:rPr>
              <a:t>tool tests with recorded HTTP cassettes; the schema linter</a:t>
            </a:r>
          </a:p>
        </p:txBody>
      </p:sp>
      <p:sp>
        <p:nvSpPr>
          <p:cNvPr id="20" name="Rounded Rectangle 19"/>
          <p:cNvSpPr/>
          <p:nvPr/>
        </p:nvSpPr>
        <p:spPr>
          <a:xfrm>
            <a:off x="9074267" y="1629886"/>
            <a:ext cx="2340187" cy="1749018"/>
          </a:xfrm>
          <a:prstGeom prst="roundRect">
            <a:avLst>
              <a:gd name="adj" fmla="val 418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4  Deploy</a:t>
            </a:r>
          </a:p>
          <a:p>
            <a:pPr algn="ctr">
              <a:lnSpc>
                <a:spcPct val="105000"/>
              </a:lnSpc>
              <a:spcBef>
                <a:spcPts val="0"/>
              </a:spcBef>
              <a:spcAft>
                <a:spcPts val="0"/>
              </a:spcAft>
            </a:pPr>
            <a:r>
              <a:rPr sz="1350" b="0" i="0">
                <a:solidFill>
                  <a:srgbClr val="FFFFFF"/>
                </a:solidFill>
                <a:latin typeface="Calibri"/>
              </a:rPr>
              <a:t>the registry loads the config; the tool appears in tools/list</a:t>
            </a:r>
          </a:p>
        </p:txBody>
      </p:sp>
      <p:sp>
        <p:nvSpPr>
          <p:cNvPr id="21" name="Rounded Rectangle 20"/>
          <p:cNvSpPr/>
          <p:nvPr/>
        </p:nvSpPr>
        <p:spPr>
          <a:xfrm>
            <a:off x="3542915" y="4399165"/>
            <a:ext cx="2340187" cy="1457515"/>
          </a:xfrm>
          <a:prstGeom prst="roundRect">
            <a:avLst>
              <a:gd name="adj" fmla="val 5018"/>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6E1120"/>
                </a:solidFill>
                <a:latin typeface="Calibri"/>
              </a:rPr>
              <a:t>or package several as a plugin</a:t>
            </a:r>
          </a:p>
          <a:p>
            <a:pPr algn="ctr">
              <a:lnSpc>
                <a:spcPct val="105000"/>
              </a:lnSpc>
              <a:spcBef>
                <a:spcPts val="0"/>
              </a:spcBef>
              <a:spcAft>
                <a:spcPts val="0"/>
              </a:spcAft>
            </a:pPr>
            <a:r>
              <a:rPr sz="1150" b="0" i="0">
                <a:solidFill>
                  <a:srgbClr val="6E1120"/>
                </a:solidFill>
                <a:latin typeface="Calibri"/>
              </a:rPr>
              <a:t>config/plugins/&lt;name&gt;/plugin.json with tools/ and a checksum</a:t>
            </a:r>
          </a:p>
        </p:txBody>
      </p:sp>
      <p:cxnSp>
        <p:nvCxnSpPr>
          <p:cNvPr id="22" name="Connector 21"/>
          <p:cNvCxnSpPr/>
          <p:nvPr/>
        </p:nvCxnSpPr>
        <p:spPr>
          <a:xfrm>
            <a:off x="3163147" y="2504395"/>
            <a:ext cx="334048"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928823" y="2504395"/>
            <a:ext cx="334048"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694499" y="2504395"/>
            <a:ext cx="334048"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02395" y="3410370"/>
            <a:ext cx="1009201" cy="957330"/>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237323" y="3651291"/>
            <a:ext cx="339344"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1">
                <a:solidFill>
                  <a:srgbClr val="6B7480"/>
                </a:solidFill>
                <a:latin typeface="Calibri"/>
              </a:rPr>
              <a:t>or</a:t>
            </a:r>
          </a:p>
        </p:txBody>
      </p:sp>
      <p:cxnSp>
        <p:nvCxnSpPr>
          <p:cNvPr id="27" name="Connector 26"/>
          <p:cNvCxnSpPr/>
          <p:nvPr/>
        </p:nvCxnSpPr>
        <p:spPr>
          <a:xfrm flipV="1">
            <a:off x="5514423" y="3410370"/>
            <a:ext cx="1009200" cy="957330"/>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05</a:t>
            </a:r>
          </a:p>
        </p:txBody>
      </p:sp>
      <p:sp>
        <p:nvSpPr>
          <p:cNvPr id="12" name="TextBox 11"/>
          <p:cNvSpPr txBox="1"/>
          <p:nvPr/>
        </p:nvSpPr>
        <p:spPr>
          <a:xfrm>
            <a:off x="1521845" y="2487168"/>
            <a:ext cx="9148005" cy="624078"/>
          </a:xfrm>
          <a:prstGeom prst="rect">
            <a:avLst/>
          </a:prstGeom>
          <a:noFill/>
        </p:spPr>
        <p:txBody>
          <a:bodyPr wrap="square" lIns="0" rIns="0" tIns="0" bIns="0" anchor="t">
            <a:spAutoFit/>
          </a:bodyPr>
          <a:lstStyle/>
          <a:p>
            <a:pPr algn="ctr">
              <a:lnSpc>
                <a:spcPct val="110000"/>
              </a:lnSpc>
              <a:spcBef>
                <a:spcPts val="0"/>
              </a:spcBef>
              <a:spcAft>
                <a:spcPts val="0"/>
              </a:spcAft>
            </a:pPr>
            <a:r>
              <a:rPr sz="3600" b="0" i="0">
                <a:solidFill>
                  <a:srgbClr val="FFFFFF"/>
                </a:solidFill>
                <a:latin typeface="Georgia"/>
              </a:rPr>
              <a:t>SAJHA Net and proxied MCP servers</a:t>
            </a:r>
          </a:p>
        </p:txBody>
      </p:sp>
      <p:sp>
        <p:nvSpPr>
          <p:cNvPr id="13" name="Rectangle 12"/>
          <p:cNvSpPr/>
          <p:nvPr/>
        </p:nvSpPr>
        <p:spPr>
          <a:xfrm>
            <a:off x="5364327" y="3266694"/>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495294"/>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Many SAJHA servers, and other MCP servers, joined into one net: each keeps its own data, credentials, policy, models and memory, and only a governed tool call crosses a boundary.</a:t>
            </a:r>
          </a:p>
        </p:txBody>
      </p:sp>
      <p:sp>
        <p:nvSpPr>
          <p:cNvPr id="15" name="TextBox 14"/>
          <p:cNvSpPr txBox="1"/>
          <p:nvPr/>
        </p:nvSpPr>
        <p:spPr>
          <a:xfrm>
            <a:off x="1143000" y="4626102"/>
            <a:ext cx="9905695" cy="1591817"/>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Why a net   ·   Membership   ·   Admission   ·   One name, one contract   ·   A call   ·   Routing   ·   Identity   ·   Proxied MCP servers   ·   Residency   ·   Planners   ·   Re-export   ·   Taking part   ·   Console</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WHY A NET</a:t>
            </a:r>
          </a:p>
        </p:txBody>
      </p:sp>
      <p:sp>
        <p:nvSpPr>
          <p:cNvPr id="5" name="TextBox 4"/>
          <p:cNvSpPr txBox="1"/>
          <p:nvPr/>
        </p:nvSpPr>
        <p:spPr>
          <a:xfrm>
            <a:off x="777240" y="749808"/>
            <a:ext cx="10637215" cy="406082"/>
          </a:xfrm>
          <a:prstGeom prst="rect">
            <a:avLst/>
          </a:prstGeom>
          <a:noFill/>
        </p:spPr>
        <p:txBody>
          <a:bodyPr wrap="square" lIns="0" rIns="0" tIns="0" bIns="0" anchor="t">
            <a:spAutoFit/>
          </a:bodyPr>
          <a:lstStyle/>
          <a:p>
            <a:pPr algn="l">
              <a:lnSpc>
                <a:spcPct val="115000"/>
              </a:lnSpc>
              <a:spcBef>
                <a:spcPts val="0"/>
              </a:spcBef>
              <a:spcAft>
                <a:spcPts val="0"/>
              </a:spcAft>
            </a:pPr>
            <a:r>
              <a:rPr sz="2300" b="0" i="0">
                <a:solidFill>
                  <a:srgbClr val="1A1A1A"/>
                </a:solidFill>
                <a:latin typeface="Georgia"/>
              </a:rPr>
              <a:t>Each boundary keeps its data; only a governed call crosses it</a:t>
            </a:r>
          </a:p>
        </p:txBody>
      </p:sp>
      <p:sp>
        <p:nvSpPr>
          <p:cNvPr id="6" name="Rectangle 5"/>
          <p:cNvSpPr/>
          <p:nvPr/>
        </p:nvSpPr>
        <p:spPr>
          <a:xfrm>
            <a:off x="777240" y="1210754"/>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63</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Off by default (sajhanet.enabled: false); turned off, every /sajhanet/ path answers 404 and a server behaves exactly as without it.</a:t>
            </a:r>
          </a:p>
        </p:txBody>
      </p:sp>
      <p:sp>
        <p:nvSpPr>
          <p:cNvPr id="19" name="Rectangle 18"/>
          <p:cNvSpPr/>
          <p:nvPr/>
        </p:nvSpPr>
        <p:spPr>
          <a:xfrm>
            <a:off x="777240" y="2033115"/>
            <a:ext cx="2978420" cy="3645308"/>
          </a:xfrm>
          <a:prstGeom prst="rect">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2097123"/>
            <a:ext cx="2758964"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EU RISK BOUNDARY</a:t>
            </a:r>
          </a:p>
        </p:txBody>
      </p:sp>
      <p:sp>
        <p:nvSpPr>
          <p:cNvPr id="21" name="Rectangle 20"/>
          <p:cNvSpPr/>
          <p:nvPr/>
        </p:nvSpPr>
        <p:spPr>
          <a:xfrm>
            <a:off x="4606637" y="2033115"/>
            <a:ext cx="2978420" cy="3645308"/>
          </a:xfrm>
          <a:prstGeom prst="rect">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16365" y="2097123"/>
            <a:ext cx="2758964"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US TREASURY BOUNDARY</a:t>
            </a:r>
          </a:p>
        </p:txBody>
      </p:sp>
      <p:sp>
        <p:nvSpPr>
          <p:cNvPr id="23" name="Rectangle 22"/>
          <p:cNvSpPr/>
          <p:nvPr/>
        </p:nvSpPr>
        <p:spPr>
          <a:xfrm>
            <a:off x="8436034" y="2033115"/>
            <a:ext cx="2978420" cy="3645308"/>
          </a:xfrm>
          <a:prstGeom prst="rect">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45762" y="2097123"/>
            <a:ext cx="2758964"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NA CUSTOMERS BOUNDARY</a:t>
            </a:r>
          </a:p>
        </p:txBody>
      </p:sp>
      <p:sp>
        <p:nvSpPr>
          <p:cNvPr id="25" name="Rounded Rectangle 24"/>
          <p:cNvSpPr/>
          <p:nvPr/>
        </p:nvSpPr>
        <p:spPr>
          <a:xfrm>
            <a:off x="1043170" y="2510476"/>
            <a:ext cx="2446559" cy="650948"/>
          </a:xfrm>
          <a:prstGeom prst="roundRect">
            <a:avLst>
              <a:gd name="adj" fmla="val 1123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 risk-eu</a:t>
            </a:r>
          </a:p>
        </p:txBody>
      </p:sp>
      <p:sp>
        <p:nvSpPr>
          <p:cNvPr id="26" name="Rounded Rectangle 25"/>
          <p:cNvSpPr/>
          <p:nvPr/>
        </p:nvSpPr>
        <p:spPr>
          <a:xfrm>
            <a:off x="936798" y="3595390"/>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data</a:t>
            </a:r>
          </a:p>
        </p:txBody>
      </p:sp>
      <p:sp>
        <p:nvSpPr>
          <p:cNvPr id="27" name="Rounded Rectangle 26"/>
          <p:cNvSpPr/>
          <p:nvPr/>
        </p:nvSpPr>
        <p:spPr>
          <a:xfrm>
            <a:off x="2319636" y="3595390"/>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credentials</a:t>
            </a:r>
          </a:p>
        </p:txBody>
      </p:sp>
      <p:sp>
        <p:nvSpPr>
          <p:cNvPr id="28" name="Rounded Rectangle 27"/>
          <p:cNvSpPr/>
          <p:nvPr/>
        </p:nvSpPr>
        <p:spPr>
          <a:xfrm>
            <a:off x="936798" y="4550114"/>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policy and audit</a:t>
            </a:r>
          </a:p>
        </p:txBody>
      </p:sp>
      <p:sp>
        <p:nvSpPr>
          <p:cNvPr id="29" name="Rounded Rectangle 28"/>
          <p:cNvSpPr/>
          <p:nvPr/>
        </p:nvSpPr>
        <p:spPr>
          <a:xfrm>
            <a:off x="2319636" y="4550114"/>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models and memory</a:t>
            </a:r>
          </a:p>
        </p:txBody>
      </p:sp>
      <p:sp>
        <p:nvSpPr>
          <p:cNvPr id="30" name="Rounded Rectangle 29"/>
          <p:cNvSpPr/>
          <p:nvPr/>
        </p:nvSpPr>
        <p:spPr>
          <a:xfrm>
            <a:off x="4872567" y="2510476"/>
            <a:ext cx="2446559" cy="650948"/>
          </a:xfrm>
          <a:prstGeom prst="roundRect">
            <a:avLst>
              <a:gd name="adj" fmla="val 1123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 treasury-na</a:t>
            </a:r>
          </a:p>
        </p:txBody>
      </p:sp>
      <p:sp>
        <p:nvSpPr>
          <p:cNvPr id="31" name="Rounded Rectangle 30"/>
          <p:cNvSpPr/>
          <p:nvPr/>
        </p:nvSpPr>
        <p:spPr>
          <a:xfrm>
            <a:off x="4766195" y="3595390"/>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data</a:t>
            </a:r>
          </a:p>
        </p:txBody>
      </p:sp>
      <p:sp>
        <p:nvSpPr>
          <p:cNvPr id="32" name="Rounded Rectangle 31"/>
          <p:cNvSpPr/>
          <p:nvPr/>
        </p:nvSpPr>
        <p:spPr>
          <a:xfrm>
            <a:off x="6149033" y="3595390"/>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credentials</a:t>
            </a:r>
          </a:p>
        </p:txBody>
      </p:sp>
      <p:sp>
        <p:nvSpPr>
          <p:cNvPr id="33" name="Rounded Rectangle 32"/>
          <p:cNvSpPr/>
          <p:nvPr/>
        </p:nvSpPr>
        <p:spPr>
          <a:xfrm>
            <a:off x="4766195" y="4550114"/>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policy and audit</a:t>
            </a:r>
          </a:p>
        </p:txBody>
      </p:sp>
      <p:sp>
        <p:nvSpPr>
          <p:cNvPr id="34" name="Rounded Rectangle 33"/>
          <p:cNvSpPr/>
          <p:nvPr/>
        </p:nvSpPr>
        <p:spPr>
          <a:xfrm>
            <a:off x="6149033" y="4550114"/>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models and memory</a:t>
            </a:r>
          </a:p>
        </p:txBody>
      </p:sp>
      <p:sp>
        <p:nvSpPr>
          <p:cNvPr id="35" name="Rounded Rectangle 34"/>
          <p:cNvSpPr/>
          <p:nvPr/>
        </p:nvSpPr>
        <p:spPr>
          <a:xfrm>
            <a:off x="8701965" y="2510476"/>
            <a:ext cx="2446559" cy="650948"/>
          </a:xfrm>
          <a:prstGeom prst="roundRect">
            <a:avLst>
              <a:gd name="adj" fmla="val 1123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 cust-na</a:t>
            </a:r>
          </a:p>
        </p:txBody>
      </p:sp>
      <p:sp>
        <p:nvSpPr>
          <p:cNvPr id="36" name="Rounded Rectangle 35"/>
          <p:cNvSpPr/>
          <p:nvPr/>
        </p:nvSpPr>
        <p:spPr>
          <a:xfrm>
            <a:off x="8595593" y="3595390"/>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data</a:t>
            </a:r>
          </a:p>
        </p:txBody>
      </p:sp>
      <p:sp>
        <p:nvSpPr>
          <p:cNvPr id="37" name="Rounded Rectangle 36"/>
          <p:cNvSpPr/>
          <p:nvPr/>
        </p:nvSpPr>
        <p:spPr>
          <a:xfrm>
            <a:off x="9978431" y="3595390"/>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credentials</a:t>
            </a:r>
          </a:p>
        </p:txBody>
      </p:sp>
      <p:sp>
        <p:nvSpPr>
          <p:cNvPr id="38" name="Rounded Rectangle 37"/>
          <p:cNvSpPr/>
          <p:nvPr/>
        </p:nvSpPr>
        <p:spPr>
          <a:xfrm>
            <a:off x="8595593" y="4550114"/>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policy and audit</a:t>
            </a:r>
          </a:p>
        </p:txBody>
      </p:sp>
      <p:sp>
        <p:nvSpPr>
          <p:cNvPr id="39" name="Rounded Rectangle 38"/>
          <p:cNvSpPr/>
          <p:nvPr/>
        </p:nvSpPr>
        <p:spPr>
          <a:xfrm>
            <a:off x="9978431" y="4550114"/>
            <a:ext cx="1276465" cy="737741"/>
          </a:xfrm>
          <a:prstGeom prst="roundRect">
            <a:avLst>
              <a:gd name="adj" fmla="val 991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models and memory</a:t>
            </a:r>
          </a:p>
        </p:txBody>
      </p:sp>
      <p:sp>
        <p:nvSpPr>
          <p:cNvPr id="40" name="Rounded Rectangle 39"/>
          <p:cNvSpPr/>
          <p:nvPr/>
        </p:nvSpPr>
        <p:spPr>
          <a:xfrm>
            <a:off x="777240" y="1338770"/>
            <a:ext cx="6807817" cy="433965"/>
          </a:xfrm>
          <a:prstGeom prst="roundRect">
            <a:avLst>
              <a:gd name="adj" fmla="val 16856"/>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0" i="0">
                <a:solidFill>
                  <a:srgbClr val="6E1120"/>
                </a:solidFill>
                <a:latin typeface="Calibri"/>
              </a:rPr>
              <a:t>“How exposed is the EU book to the rate move the US desk is forecasting?”</a:t>
            </a:r>
          </a:p>
        </p:txBody>
      </p:sp>
      <p:cxnSp>
        <p:nvCxnSpPr>
          <p:cNvPr id="41" name="Connector 40"/>
          <p:cNvCxnSpPr/>
          <p:nvPr/>
        </p:nvCxnSpPr>
        <p:spPr>
          <a:xfrm>
            <a:off x="3535449" y="2835950"/>
            <a:ext cx="1291398" cy="0"/>
          </a:xfrm>
          <a:prstGeom prst="line">
            <a:avLst/>
          </a:prstGeom>
          <a:ln w="20320">
            <a:solidFill>
              <a:srgbClr val="A51C3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641652" y="2598206"/>
            <a:ext cx="1078992"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call, result</a:t>
            </a:r>
          </a:p>
        </p:txBody>
      </p:sp>
      <p:cxnSp>
        <p:nvCxnSpPr>
          <p:cNvPr id="43" name="Connector 42"/>
          <p:cNvCxnSpPr/>
          <p:nvPr/>
        </p:nvCxnSpPr>
        <p:spPr>
          <a:xfrm>
            <a:off x="7364847" y="2835950"/>
            <a:ext cx="1291398" cy="0"/>
          </a:xfrm>
          <a:prstGeom prst="line">
            <a:avLst/>
          </a:prstGeom>
          <a:ln w="20320">
            <a:solidFill>
              <a:srgbClr val="A51C3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471050" y="2598206"/>
            <a:ext cx="1078992"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call, result</a:t>
            </a:r>
          </a:p>
        </p:txBody>
      </p:sp>
      <p:cxnSp>
        <p:nvCxnSpPr>
          <p:cNvPr id="45" name="Connector 44"/>
          <p:cNvCxnSpPr/>
          <p:nvPr/>
        </p:nvCxnSpPr>
        <p:spPr>
          <a:xfrm>
            <a:off x="2018041" y="1815786"/>
            <a:ext cx="233015" cy="651640"/>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MEMBERSHIP</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Members find each other by gossip, then pull each other's catalogs</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64</a:t>
            </a:r>
          </a:p>
        </p:txBody>
      </p:sp>
      <p:sp>
        <p:nvSpPr>
          <p:cNvPr id="17" name="TextBox 16"/>
          <p:cNvSpPr txBox="1"/>
          <p:nvPr/>
        </p:nvSpPr>
        <p:spPr>
          <a:xfrm>
            <a:off x="7585057" y="1306639"/>
            <a:ext cx="3829397" cy="4938712"/>
          </a:xfrm>
          <a:prstGeom prst="rect">
            <a:avLst/>
          </a:prstGeom>
          <a:noFill/>
        </p:spPr>
        <p:txBody>
          <a:bodyPr wrap="square" lIns="0" rIns="0" tIns="0" bIns="0" anchor="t">
            <a:spAutoFit/>
          </a:bodyPr>
          <a:lstStyle/>
          <a:p>
            <a:pPr algn="l">
              <a:lnSpc>
                <a:spcPct val="120000"/>
              </a:lnSpc>
              <a:spcBef>
                <a:spcPts val="0"/>
              </a:spcBef>
              <a:spcAft>
                <a:spcPts val="100"/>
              </a:spcAft>
            </a:pPr>
            <a:r>
              <a:rPr sz="1500" b="1">
                <a:solidFill>
                  <a:srgbClr val="A51C30"/>
                </a:solidFill>
                <a:latin typeface="Calibri"/>
              </a:rPr>
              <a:t>▪  </a:t>
            </a:r>
            <a:r>
              <a:rPr sz="1500" b="1">
                <a:solidFill>
                  <a:srgbClr val="1A1A1A"/>
                </a:solidFill>
                <a:latin typeface="Calibri"/>
              </a:rPr>
              <a:t>Gossip</a:t>
            </a:r>
          </a:p>
          <a:p>
            <a:pPr lvl="1">
              <a:lnSpc>
                <a:spcPct val="120000"/>
              </a:lnSpc>
              <a:spcBef>
                <a:spcPts val="0"/>
              </a:spcBef>
              <a:spcAft>
                <a:spcPts val="0"/>
              </a:spcAft>
            </a:pPr>
            <a:r>
              <a:rPr sz="1350" b="0">
                <a:solidFill>
                  <a:srgbClr val="6B7480"/>
                </a:solidFill>
                <a:latin typeface="Calibri"/>
              </a:rPr>
              <a:t>SWIM from one or two seeds: pings, indirect probes, suspect, dead; only digests travel.</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Catalogs</a:t>
            </a:r>
          </a:p>
          <a:p>
            <a:pPr lvl="1">
              <a:lnSpc>
                <a:spcPct val="120000"/>
              </a:lnSpc>
              <a:spcBef>
                <a:spcPts val="0"/>
              </a:spcBef>
              <a:spcAft>
                <a:spcPts val="0"/>
              </a:spcAft>
            </a:pPr>
            <a:r>
              <a:rPr sz="1350" b="0">
                <a:solidFill>
                  <a:srgbClr val="6B7480"/>
                </a:solidFill>
                <a:latin typeface="Calibri"/>
              </a:rPr>
              <a:t>A changed digest makes a peer pull that catalog; every allowed tool becomes a proxy tool.</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Leaving</a:t>
            </a:r>
          </a:p>
          <a:p>
            <a:pPr lvl="1">
              <a:lnSpc>
                <a:spcPct val="120000"/>
              </a:lnSpc>
              <a:spcBef>
                <a:spcPts val="0"/>
              </a:spcBef>
              <a:spcAft>
                <a:spcPts val="0"/>
              </a:spcAft>
            </a:pPr>
            <a:r>
              <a:rPr sz="1350" b="0">
                <a:solidFill>
                  <a:srgbClr val="6B7480"/>
                </a:solidFill>
                <a:latin typeface="Calibri"/>
              </a:rPr>
              <a:t>A member that leaves or dies takes its tools off every peer at once.</a:t>
            </a:r>
          </a:p>
          <a:p>
            <a:pPr>
              <a:lnSpc>
                <a:spcPct val="120000"/>
              </a:lnSpc>
              <a:spcBef>
                <a:spcPts val="500"/>
              </a:spcBef>
              <a:spcAft>
                <a:spcPts val="100"/>
              </a:spcAft>
            </a:pPr>
            <a:r>
              <a:rPr sz="1500" b="1">
                <a:solidFill>
                  <a:srgbClr val="A51C30"/>
                </a:solidFill>
                <a:latin typeface="Calibri"/>
              </a:rPr>
              <a:t>▪  </a:t>
            </a:r>
            <a:r>
              <a:rPr sz="1500" b="1">
                <a:solidFill>
                  <a:srgbClr val="1A1A1A"/>
                </a:solidFill>
                <a:latin typeface="Calibri"/>
              </a:rPr>
              <a:t>Workers</a:t>
            </a:r>
          </a:p>
          <a:p>
            <a:pPr lvl="1">
              <a:lnSpc>
                <a:spcPct val="120000"/>
              </a:lnSpc>
              <a:spcBef>
                <a:spcPts val="0"/>
              </a:spcBef>
              <a:spcAft>
                <a:spcPts val="0"/>
              </a:spcAft>
            </a:pPr>
            <a:r>
              <a:rPr sz="1350" b="0">
                <a:solidFill>
                  <a:srgbClr val="6B7480"/>
                </a:solidFill>
                <a:latin typeface="Calibri"/>
              </a:rPr>
              <a:t>One gossip agent per net holds a lease; the list lives in the state store.</a:t>
            </a:r>
          </a:p>
        </p:txBody>
      </p:sp>
      <p:sp>
        <p:nvSpPr>
          <p:cNvPr id="18" name="Oval 17"/>
          <p:cNvSpPr/>
          <p:nvPr/>
        </p:nvSpPr>
        <p:spPr>
          <a:xfrm>
            <a:off x="2853328" y="1430107"/>
            <a:ext cx="1297555" cy="740806"/>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risk-eu</a:t>
            </a:r>
          </a:p>
          <a:p>
            <a:pPr algn="ctr">
              <a:lnSpc>
                <a:spcPct val="105000"/>
              </a:lnSpc>
              <a:spcBef>
                <a:spcPts val="0"/>
              </a:spcBef>
              <a:spcAft>
                <a:spcPts val="0"/>
              </a:spcAft>
            </a:pPr>
            <a:r>
              <a:rPr sz="1050" b="0" i="0">
                <a:solidFill>
                  <a:srgbClr val="FFFFFF"/>
                </a:solidFill>
                <a:latin typeface="Calibri"/>
              </a:rPr>
              <a:t>SAJHA</a:t>
            </a:r>
          </a:p>
        </p:txBody>
      </p:sp>
      <p:sp>
        <p:nvSpPr>
          <p:cNvPr id="19" name="Oval 18"/>
          <p:cNvSpPr/>
          <p:nvPr/>
        </p:nvSpPr>
        <p:spPr>
          <a:xfrm>
            <a:off x="4538902" y="2244994"/>
            <a:ext cx="1297555" cy="740806"/>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treasury-na</a:t>
            </a:r>
          </a:p>
          <a:p>
            <a:pPr algn="ctr">
              <a:lnSpc>
                <a:spcPct val="105000"/>
              </a:lnSpc>
              <a:spcBef>
                <a:spcPts val="0"/>
              </a:spcBef>
              <a:spcAft>
                <a:spcPts val="0"/>
              </a:spcAft>
            </a:pPr>
            <a:r>
              <a:rPr sz="1050" b="0" i="0">
                <a:solidFill>
                  <a:srgbClr val="FFFFFF"/>
                </a:solidFill>
                <a:latin typeface="Calibri"/>
              </a:rPr>
              <a:t>SAJHA</a:t>
            </a:r>
          </a:p>
        </p:txBody>
      </p:sp>
      <p:sp>
        <p:nvSpPr>
          <p:cNvPr id="20" name="Oval 19"/>
          <p:cNvSpPr/>
          <p:nvPr/>
        </p:nvSpPr>
        <p:spPr>
          <a:xfrm>
            <a:off x="4538902" y="3874770"/>
            <a:ext cx="1297555" cy="740806"/>
          </a:xfrm>
          <a:prstGeom prst="ellipse">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50" b="1" i="0">
                <a:solidFill>
                  <a:srgbClr val="FFFFFF"/>
                </a:solidFill>
                <a:latin typeface="Calibri"/>
              </a:rPr>
              <a:t>vendor-search</a:t>
            </a:r>
          </a:p>
          <a:p>
            <a:pPr algn="ctr">
              <a:lnSpc>
                <a:spcPct val="105000"/>
              </a:lnSpc>
              <a:spcBef>
                <a:spcPts val="0"/>
              </a:spcBef>
              <a:spcAft>
                <a:spcPts val="0"/>
              </a:spcAft>
            </a:pPr>
            <a:r>
              <a:rPr sz="1000" b="0" i="0">
                <a:solidFill>
                  <a:srgbClr val="FFFFFF"/>
                </a:solidFill>
                <a:latin typeface="Calibri"/>
              </a:rPr>
              <a:t>agent</a:t>
            </a:r>
          </a:p>
        </p:txBody>
      </p:sp>
      <p:sp>
        <p:nvSpPr>
          <p:cNvPr id="21" name="Oval 20"/>
          <p:cNvSpPr/>
          <p:nvPr/>
        </p:nvSpPr>
        <p:spPr>
          <a:xfrm>
            <a:off x="2853328" y="4689657"/>
            <a:ext cx="1297555" cy="740806"/>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cust-na</a:t>
            </a:r>
          </a:p>
          <a:p>
            <a:pPr algn="ctr">
              <a:lnSpc>
                <a:spcPct val="105000"/>
              </a:lnSpc>
              <a:spcBef>
                <a:spcPts val="0"/>
              </a:spcBef>
              <a:spcAft>
                <a:spcPts val="0"/>
              </a:spcAft>
            </a:pPr>
            <a:r>
              <a:rPr sz="1050" b="0" i="0">
                <a:solidFill>
                  <a:srgbClr val="FFFFFF"/>
                </a:solidFill>
                <a:latin typeface="Calibri"/>
              </a:rPr>
              <a:t>SAJHA</a:t>
            </a:r>
          </a:p>
        </p:txBody>
      </p:sp>
      <p:sp>
        <p:nvSpPr>
          <p:cNvPr id="22" name="Oval 21"/>
          <p:cNvSpPr/>
          <p:nvPr/>
        </p:nvSpPr>
        <p:spPr>
          <a:xfrm>
            <a:off x="1167754" y="3874770"/>
            <a:ext cx="1297555" cy="740806"/>
          </a:xfrm>
          <a:prstGeom prst="ellipse">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6E1120"/>
                </a:solidFill>
                <a:latin typeface="Calibri"/>
              </a:rPr>
              <a:t>saas-crm</a:t>
            </a:r>
          </a:p>
          <a:p>
            <a:pPr algn="ctr">
              <a:lnSpc>
                <a:spcPct val="105000"/>
              </a:lnSpc>
              <a:spcBef>
                <a:spcPts val="0"/>
              </a:spcBef>
              <a:spcAft>
                <a:spcPts val="0"/>
              </a:spcAft>
            </a:pPr>
            <a:r>
              <a:rPr sz="1050" b="0" i="0">
                <a:solidFill>
                  <a:srgbClr val="6E1120"/>
                </a:solidFill>
                <a:latin typeface="Calibri"/>
              </a:rPr>
              <a:t>sponsored by cust-na</a:t>
            </a:r>
          </a:p>
        </p:txBody>
      </p:sp>
      <p:sp>
        <p:nvSpPr>
          <p:cNvPr id="23" name="Oval 22"/>
          <p:cNvSpPr/>
          <p:nvPr/>
        </p:nvSpPr>
        <p:spPr>
          <a:xfrm>
            <a:off x="1167754" y="2244994"/>
            <a:ext cx="1297555" cy="740806"/>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risk-apac</a:t>
            </a:r>
          </a:p>
          <a:p>
            <a:pPr algn="ctr">
              <a:lnSpc>
                <a:spcPct val="105000"/>
              </a:lnSpc>
              <a:spcBef>
                <a:spcPts val="0"/>
              </a:spcBef>
              <a:spcAft>
                <a:spcPts val="0"/>
              </a:spcAft>
            </a:pPr>
            <a:r>
              <a:rPr sz="1050" b="0" i="0">
                <a:solidFill>
                  <a:srgbClr val="FFFFFF"/>
                </a:solidFill>
                <a:latin typeface="Calibri"/>
              </a:rPr>
              <a:t>SAJHA</a:t>
            </a:r>
          </a:p>
        </p:txBody>
      </p:sp>
      <p:sp>
        <p:nvSpPr>
          <p:cNvPr id="24" name="Oval 23"/>
          <p:cNvSpPr/>
          <p:nvPr/>
        </p:nvSpPr>
        <p:spPr>
          <a:xfrm>
            <a:off x="777240" y="5751480"/>
            <a:ext cx="329184" cy="201168"/>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9576" y="5760624"/>
            <a:ext cx="1183032" cy="219456"/>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6B7480"/>
                </a:solidFill>
                <a:latin typeface="Calibri"/>
              </a:rPr>
              <a:t>SAJHA instance</a:t>
            </a:r>
          </a:p>
        </p:txBody>
      </p:sp>
      <p:sp>
        <p:nvSpPr>
          <p:cNvPr id="26" name="Oval 25"/>
          <p:cNvSpPr/>
          <p:nvPr/>
        </p:nvSpPr>
        <p:spPr>
          <a:xfrm>
            <a:off x="2399184" y="5751480"/>
            <a:ext cx="329184" cy="201168"/>
          </a:xfrm>
          <a:prstGeom prst="ellipse">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01520" y="5760624"/>
            <a:ext cx="1183032" cy="219456"/>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6B7480"/>
                </a:solidFill>
                <a:latin typeface="Calibri"/>
              </a:rPr>
              <a:t>agent-fronted</a:t>
            </a:r>
          </a:p>
        </p:txBody>
      </p:sp>
      <p:sp>
        <p:nvSpPr>
          <p:cNvPr id="28" name="Oval 27"/>
          <p:cNvSpPr/>
          <p:nvPr/>
        </p:nvSpPr>
        <p:spPr>
          <a:xfrm>
            <a:off x="4021128" y="5751480"/>
            <a:ext cx="329184" cy="201168"/>
          </a:xfrm>
          <a:prstGeom prst="ellipse">
            <a:avLst/>
          </a:prstGeom>
          <a:solidFill>
            <a:srgbClr val="FFFFFF"/>
          </a:solidFill>
          <a:ln w="12700">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23464" y="5760624"/>
            <a:ext cx="1183032" cy="219456"/>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6B7480"/>
                </a:solidFill>
                <a:latin typeface="Calibri"/>
              </a:rPr>
              <a:t>sponsored</a:t>
            </a:r>
          </a:p>
        </p:txBody>
      </p:sp>
      <p:cxnSp>
        <p:nvCxnSpPr>
          <p:cNvPr id="30" name="Connector 29"/>
          <p:cNvCxnSpPr/>
          <p:nvPr/>
        </p:nvCxnSpPr>
        <p:spPr>
          <a:xfrm>
            <a:off x="5643073" y="5852064"/>
            <a:ext cx="329184" cy="0"/>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45409" y="5760624"/>
            <a:ext cx="1183032" cy="219456"/>
          </a:xfrm>
          <a:prstGeom prst="rect">
            <a:avLst/>
          </a:prstGeom>
          <a:noFill/>
        </p:spPr>
        <p:txBody>
          <a:bodyPr wrap="square" lIns="0" rIns="0" tIns="0" bIns="0" anchor="t">
            <a:spAutoFit/>
          </a:bodyPr>
          <a:lstStyle/>
          <a:p>
            <a:pPr algn="l">
              <a:lnSpc>
                <a:spcPct val="120000"/>
              </a:lnSpc>
              <a:spcBef>
                <a:spcPts val="0"/>
              </a:spcBef>
              <a:spcAft>
                <a:spcPts val="0"/>
              </a:spcAft>
            </a:pPr>
            <a:r>
              <a:rPr sz="1050" b="0" i="0">
                <a:solidFill>
                  <a:srgbClr val="6B7480"/>
                </a:solidFill>
                <a:latin typeface="Calibri"/>
              </a:rPr>
              <a:t>gossip</a:t>
            </a:r>
          </a:p>
        </p:txBody>
      </p:sp>
      <p:cxnSp>
        <p:nvCxnSpPr>
          <p:cNvPr id="32" name="Connector 31"/>
          <p:cNvCxnSpPr/>
          <p:nvPr/>
        </p:nvCxnSpPr>
        <p:spPr>
          <a:xfrm>
            <a:off x="4038383" y="2059772"/>
            <a:ext cx="613020" cy="296364"/>
          </a:xfrm>
          <a:prstGeom prst="line">
            <a:avLst/>
          </a:prstGeom>
          <a:ln w="1651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187680" y="3031521"/>
            <a:ext cx="0" cy="797529"/>
          </a:xfrm>
          <a:prstGeom prst="line">
            <a:avLst/>
          </a:prstGeom>
          <a:ln w="1651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4038383" y="4504435"/>
            <a:ext cx="613020" cy="296363"/>
          </a:xfrm>
          <a:prstGeom prst="line">
            <a:avLst/>
          </a:prstGeom>
          <a:ln w="1651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352809" y="4504435"/>
            <a:ext cx="613020" cy="296363"/>
          </a:xfrm>
          <a:prstGeom prst="line">
            <a:avLst/>
          </a:prstGeom>
          <a:ln w="1651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816532" y="3031521"/>
            <a:ext cx="0" cy="797529"/>
          </a:xfrm>
          <a:prstGeom prst="line">
            <a:avLst/>
          </a:prstGeom>
          <a:ln w="1651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352809" y="2059772"/>
            <a:ext cx="613020" cy="296364"/>
          </a:xfrm>
          <a:prstGeom prst="line">
            <a:avLst/>
          </a:prstGeom>
          <a:ln w="1651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3502106" y="2216634"/>
            <a:ext cx="0" cy="2427303"/>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3566114" y="3338845"/>
            <a:ext cx="1975104" cy="201168"/>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6B7480"/>
                </a:solidFill>
                <a:latin typeface="Calibri"/>
              </a:rPr>
              <a:t>catalog pull, then calls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ADMISSION</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Who may join: open is shipped, builtin_ca is the code's default</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65</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Open mode trusts whoever first claims a name: use it only where every machine that can reach a member is yours. Switch to builtin_ca before a net spans machines you do not control.</a:t>
            </a:r>
          </a:p>
        </p:txBody>
      </p:sp>
      <p:sp>
        <p:nvSpPr>
          <p:cNvPr id="19" name="Rounded Rectangle 18"/>
          <p:cNvSpPr/>
          <p:nvPr/>
        </p:nvSpPr>
        <p:spPr>
          <a:xfrm>
            <a:off x="777240" y="1496933"/>
            <a:ext cx="1382837" cy="1045372"/>
          </a:xfrm>
          <a:prstGeom prst="roundRect">
            <a:avLst>
              <a:gd name="adj" fmla="val 6997"/>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open</a:t>
            </a:r>
          </a:p>
          <a:p>
            <a:pPr algn="ctr">
              <a:lnSpc>
                <a:spcPct val="105000"/>
              </a:lnSpc>
              <a:spcBef>
                <a:spcPts val="0"/>
              </a:spcBef>
              <a:spcAft>
                <a:spcPts val="0"/>
              </a:spcAft>
            </a:pPr>
            <a:r>
              <a:rPr sz="1250" b="0" i="0">
                <a:solidFill>
                  <a:srgbClr val="FFFFFF"/>
                </a:solidFill>
                <a:latin typeface="Calibri"/>
              </a:rPr>
              <a:t>shipped</a:t>
            </a:r>
          </a:p>
        </p:txBody>
      </p:sp>
      <p:sp>
        <p:nvSpPr>
          <p:cNvPr id="20" name="Rounded Rectangle 19"/>
          <p:cNvSpPr/>
          <p:nvPr/>
        </p:nvSpPr>
        <p:spPr>
          <a:xfrm>
            <a:off x="2585566" y="1584048"/>
            <a:ext cx="2127443" cy="871143"/>
          </a:xfrm>
          <a:prstGeom prst="roundRect">
            <a:avLst>
              <a:gd name="adj" fmla="val 839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Any server that can reach a member and knows the net's name</a:t>
            </a:r>
          </a:p>
        </p:txBody>
      </p:sp>
      <p:sp>
        <p:nvSpPr>
          <p:cNvPr id="21" name="Hexagon 20"/>
          <p:cNvSpPr/>
          <p:nvPr/>
        </p:nvSpPr>
        <p:spPr>
          <a:xfrm>
            <a:off x="5138498" y="1540490"/>
            <a:ext cx="2872048" cy="958258"/>
          </a:xfrm>
          <a:prstGeom prst="hexagon">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The first key seen for a name is remembered</a:t>
            </a:r>
          </a:p>
        </p:txBody>
      </p:sp>
      <p:sp>
        <p:nvSpPr>
          <p:cNvPr id="22" name="Oval 21"/>
          <p:cNvSpPr/>
          <p:nvPr/>
        </p:nvSpPr>
        <p:spPr>
          <a:xfrm>
            <a:off x="8436034" y="1671162"/>
            <a:ext cx="1063721" cy="696915"/>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member</a:t>
            </a:r>
          </a:p>
        </p:txBody>
      </p:sp>
      <p:sp>
        <p:nvSpPr>
          <p:cNvPr id="23" name="Rounded Rectangle 22"/>
          <p:cNvSpPr/>
          <p:nvPr/>
        </p:nvSpPr>
        <p:spPr>
          <a:xfrm>
            <a:off x="9818872" y="1584048"/>
            <a:ext cx="1595582" cy="871143"/>
          </a:xfrm>
          <a:prstGeom prst="roundRect">
            <a:avLst>
              <a:gd name="adj" fmla="val 8397"/>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No revocation: an administrator forgets a key</a:t>
            </a:r>
          </a:p>
        </p:txBody>
      </p:sp>
      <p:sp>
        <p:nvSpPr>
          <p:cNvPr id="24" name="Rounded Rectangle 23"/>
          <p:cNvSpPr/>
          <p:nvPr/>
        </p:nvSpPr>
        <p:spPr>
          <a:xfrm>
            <a:off x="777240" y="2934321"/>
            <a:ext cx="1382837" cy="1045372"/>
          </a:xfrm>
          <a:prstGeom prst="roundRect">
            <a:avLst>
              <a:gd name="adj" fmla="val 699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builtin_ca</a:t>
            </a:r>
          </a:p>
          <a:p>
            <a:pPr algn="ctr">
              <a:lnSpc>
                <a:spcPct val="105000"/>
              </a:lnSpc>
              <a:spcBef>
                <a:spcPts val="0"/>
              </a:spcBef>
              <a:spcAft>
                <a:spcPts val="0"/>
              </a:spcAft>
            </a:pPr>
            <a:r>
              <a:rPr sz="1250" b="0" i="0">
                <a:solidFill>
                  <a:srgbClr val="FFFFFF"/>
                </a:solidFill>
                <a:latin typeface="Calibri"/>
              </a:rPr>
              <a:t>code default</a:t>
            </a:r>
          </a:p>
        </p:txBody>
      </p:sp>
      <p:sp>
        <p:nvSpPr>
          <p:cNvPr id="25" name="Rounded Rectangle 24"/>
          <p:cNvSpPr/>
          <p:nvPr/>
        </p:nvSpPr>
        <p:spPr>
          <a:xfrm>
            <a:off x="2585566" y="3021435"/>
            <a:ext cx="2127443" cy="871143"/>
          </a:xfrm>
          <a:prstGeom prst="roundRect">
            <a:avLst>
              <a:gd name="adj" fmla="val 839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 server an administrator enrolled</a:t>
            </a:r>
          </a:p>
        </p:txBody>
      </p:sp>
      <p:sp>
        <p:nvSpPr>
          <p:cNvPr id="26" name="Hexagon 25"/>
          <p:cNvSpPr/>
          <p:nvPr/>
        </p:nvSpPr>
        <p:spPr>
          <a:xfrm>
            <a:off x="5138498" y="2977878"/>
            <a:ext cx="2872048" cy="958258"/>
          </a:xfrm>
          <a:prstGeom prst="hexagon">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 single-use enrollment token; the net's own CA issues a certificate</a:t>
            </a:r>
          </a:p>
        </p:txBody>
      </p:sp>
      <p:sp>
        <p:nvSpPr>
          <p:cNvPr id="27" name="Oval 26"/>
          <p:cNvSpPr/>
          <p:nvPr/>
        </p:nvSpPr>
        <p:spPr>
          <a:xfrm>
            <a:off x="8436034" y="3108549"/>
            <a:ext cx="1063721" cy="696915"/>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member</a:t>
            </a:r>
          </a:p>
        </p:txBody>
      </p:sp>
      <p:sp>
        <p:nvSpPr>
          <p:cNvPr id="28" name="Rounded Rectangle 27"/>
          <p:cNvSpPr/>
          <p:nvPr/>
        </p:nvSpPr>
        <p:spPr>
          <a:xfrm>
            <a:off x="9818872" y="3021435"/>
            <a:ext cx="1595582" cy="871143"/>
          </a:xfrm>
          <a:prstGeom prst="roundRect">
            <a:avLst>
              <a:gd name="adj" fmla="val 8397"/>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Signed revocation list, by gossip</a:t>
            </a:r>
          </a:p>
        </p:txBody>
      </p:sp>
      <p:sp>
        <p:nvSpPr>
          <p:cNvPr id="29" name="Rounded Rectangle 28"/>
          <p:cNvSpPr/>
          <p:nvPr/>
        </p:nvSpPr>
        <p:spPr>
          <a:xfrm>
            <a:off x="777240" y="4371708"/>
            <a:ext cx="1382837" cy="1045372"/>
          </a:xfrm>
          <a:prstGeom prst="roundRect">
            <a:avLst>
              <a:gd name="adj" fmla="val 6997"/>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manual</a:t>
            </a:r>
          </a:p>
        </p:txBody>
      </p:sp>
      <p:sp>
        <p:nvSpPr>
          <p:cNvPr id="30" name="Rounded Rectangle 29"/>
          <p:cNvSpPr/>
          <p:nvPr/>
        </p:nvSpPr>
        <p:spPr>
          <a:xfrm>
            <a:off x="2585566" y="4458822"/>
            <a:ext cx="2127443" cy="871143"/>
          </a:xfrm>
          <a:prstGeom prst="roundRect">
            <a:avLst>
              <a:gd name="adj" fmla="val 839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 peer whose thumbprint each side pinned</a:t>
            </a:r>
          </a:p>
        </p:txBody>
      </p:sp>
      <p:sp>
        <p:nvSpPr>
          <p:cNvPr id="31" name="Hexagon 30"/>
          <p:cNvSpPr/>
          <p:nvPr/>
        </p:nvSpPr>
        <p:spPr>
          <a:xfrm>
            <a:off x="5138498" y="4415265"/>
            <a:ext cx="2872048" cy="958258"/>
          </a:xfrm>
          <a:prstGeom prst="hexagon">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Self-signed certificates, pinned thumbprints</a:t>
            </a:r>
          </a:p>
        </p:txBody>
      </p:sp>
      <p:sp>
        <p:nvSpPr>
          <p:cNvPr id="32" name="Oval 31"/>
          <p:cNvSpPr/>
          <p:nvPr/>
        </p:nvSpPr>
        <p:spPr>
          <a:xfrm>
            <a:off x="8436034" y="4545937"/>
            <a:ext cx="1063721" cy="696915"/>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member</a:t>
            </a:r>
          </a:p>
        </p:txBody>
      </p:sp>
      <p:sp>
        <p:nvSpPr>
          <p:cNvPr id="33" name="Rounded Rectangle 32"/>
          <p:cNvSpPr/>
          <p:nvPr/>
        </p:nvSpPr>
        <p:spPr>
          <a:xfrm>
            <a:off x="9818872" y="4458822"/>
            <a:ext cx="1595582" cy="871143"/>
          </a:xfrm>
          <a:prstGeom prst="roundRect">
            <a:avLst>
              <a:gd name="adj" fmla="val 8397"/>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Remove the pin</a:t>
            </a:r>
          </a:p>
        </p:txBody>
      </p:sp>
      <p:cxnSp>
        <p:nvCxnSpPr>
          <p:cNvPr id="34" name="Connector 33"/>
          <p:cNvCxnSpPr/>
          <p:nvPr/>
        </p:nvCxnSpPr>
        <p:spPr>
          <a:xfrm>
            <a:off x="4758729" y="2019620"/>
            <a:ext cx="33404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56266" y="2019620"/>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545476" y="2019620"/>
            <a:ext cx="227676"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758729" y="3457007"/>
            <a:ext cx="33404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8056266" y="3457007"/>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545476" y="3457007"/>
            <a:ext cx="227676"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758729" y="4894394"/>
            <a:ext cx="33404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056266" y="4894394"/>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545476" y="4894394"/>
            <a:ext cx="227676"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ONE NAME, ONE CONTRACT</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Within a net a tool name means one contract; vendors keep unrelated tools apart</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66</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quarantine names the differing host and the first place it differs (a JSON Pointer into a schema, or an annotation); a description or title difference is only a warning.</a:t>
            </a:r>
          </a:p>
        </p:txBody>
      </p:sp>
      <p:sp>
        <p:nvSpPr>
          <p:cNvPr id="19" name="Rectangle 18"/>
          <p:cNvSpPr/>
          <p:nvPr/>
        </p:nvSpPr>
        <p:spPr>
          <a:xfrm>
            <a:off x="777240" y="1611884"/>
            <a:ext cx="4999491" cy="4066539"/>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1675892"/>
            <a:ext cx="4780035"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SAME NAME, DIFFERENT CONTRACT</a:t>
            </a:r>
          </a:p>
        </p:txBody>
      </p:sp>
      <p:sp>
        <p:nvSpPr>
          <p:cNvPr id="21" name="Rectangle 20"/>
          <p:cNvSpPr/>
          <p:nvPr/>
        </p:nvSpPr>
        <p:spPr>
          <a:xfrm>
            <a:off x="6202219" y="1611884"/>
            <a:ext cx="5212235" cy="4066539"/>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1947" y="1675892"/>
            <a:ext cx="499277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UNRELATED VENDORS, ONE NAME</a:t>
            </a:r>
          </a:p>
        </p:txBody>
      </p:sp>
      <p:sp>
        <p:nvSpPr>
          <p:cNvPr id="23" name="Rounded Rectangle 22"/>
          <p:cNvSpPr/>
          <p:nvPr/>
        </p:nvSpPr>
        <p:spPr>
          <a:xfrm>
            <a:off x="989984" y="2099868"/>
            <a:ext cx="2021070" cy="691311"/>
          </a:xfrm>
          <a:prstGeom prst="roundRect">
            <a:avLst>
              <a:gd name="adj" fmla="val 10581"/>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risk-eu offers var_calc</a:t>
            </a:r>
          </a:p>
          <a:p>
            <a:pPr algn="ctr">
              <a:lnSpc>
                <a:spcPct val="105000"/>
              </a:lnSpc>
              <a:spcBef>
                <a:spcPts val="0"/>
              </a:spcBef>
              <a:spcAft>
                <a:spcPts val="0"/>
              </a:spcAft>
            </a:pPr>
            <a:r>
              <a:rPr sz="950" b="0" i="0">
                <a:solidFill>
                  <a:srgbClr val="1A1A1A"/>
                </a:solidFill>
                <a:latin typeface="Calibri"/>
              </a:rPr>
              <a:t>contract hash A</a:t>
            </a:r>
          </a:p>
        </p:txBody>
      </p:sp>
      <p:sp>
        <p:nvSpPr>
          <p:cNvPr id="24" name="Rounded Rectangle 23"/>
          <p:cNvSpPr/>
          <p:nvPr/>
        </p:nvSpPr>
        <p:spPr>
          <a:xfrm>
            <a:off x="989984" y="2974174"/>
            <a:ext cx="2021070" cy="691311"/>
          </a:xfrm>
          <a:prstGeom prst="roundRect">
            <a:avLst>
              <a:gd name="adj" fmla="val 10581"/>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treasury-na offers var_calc</a:t>
            </a:r>
          </a:p>
          <a:p>
            <a:pPr algn="ctr">
              <a:lnSpc>
                <a:spcPct val="105000"/>
              </a:lnSpc>
              <a:spcBef>
                <a:spcPts val="0"/>
              </a:spcBef>
              <a:spcAft>
                <a:spcPts val="0"/>
              </a:spcAft>
            </a:pPr>
            <a:r>
              <a:rPr sz="950" b="0" i="0">
                <a:solidFill>
                  <a:srgbClr val="1A1A1A"/>
                </a:solidFill>
                <a:latin typeface="Calibri"/>
              </a:rPr>
              <a:t>contract hash A</a:t>
            </a:r>
          </a:p>
        </p:txBody>
      </p:sp>
      <p:sp>
        <p:nvSpPr>
          <p:cNvPr id="25" name="Rounded Rectangle 24"/>
          <p:cNvSpPr/>
          <p:nvPr/>
        </p:nvSpPr>
        <p:spPr>
          <a:xfrm>
            <a:off x="989984" y="3848481"/>
            <a:ext cx="2021070" cy="691311"/>
          </a:xfrm>
          <a:prstGeom prst="roundRect">
            <a:avLst>
              <a:gd name="adj" fmla="val 10581"/>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risk-apac offers var_calc</a:t>
            </a:r>
          </a:p>
          <a:p>
            <a:pPr algn="ctr">
              <a:lnSpc>
                <a:spcPct val="105000"/>
              </a:lnSpc>
              <a:spcBef>
                <a:spcPts val="0"/>
              </a:spcBef>
              <a:spcAft>
                <a:spcPts val="0"/>
              </a:spcAft>
            </a:pPr>
            <a:r>
              <a:rPr sz="950" b="0" i="0">
                <a:solidFill>
                  <a:srgbClr val="1A1A1A"/>
                </a:solidFill>
                <a:latin typeface="Calibri"/>
              </a:rPr>
              <a:t>contract hash A</a:t>
            </a:r>
          </a:p>
        </p:txBody>
      </p:sp>
      <p:sp>
        <p:nvSpPr>
          <p:cNvPr id="26" name="Rounded Rectangle 25"/>
          <p:cNvSpPr/>
          <p:nvPr/>
        </p:nvSpPr>
        <p:spPr>
          <a:xfrm>
            <a:off x="989984" y="4722787"/>
            <a:ext cx="2021070" cy="691311"/>
          </a:xfrm>
          <a:prstGeom prst="roundRect">
            <a:avLst>
              <a:gd name="adj" fmla="val 10581"/>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cust-na offers var_calc</a:t>
            </a:r>
          </a:p>
          <a:p>
            <a:pPr algn="ctr">
              <a:lnSpc>
                <a:spcPct val="105000"/>
              </a:lnSpc>
              <a:spcBef>
                <a:spcPts val="0"/>
              </a:spcBef>
              <a:spcAft>
                <a:spcPts val="0"/>
              </a:spcAft>
            </a:pPr>
            <a:r>
              <a:rPr sz="950" b="0" i="0">
                <a:solidFill>
                  <a:srgbClr val="FFFFFF"/>
                </a:solidFill>
                <a:latin typeface="Calibri"/>
              </a:rPr>
              <a:t>contract hash B</a:t>
            </a:r>
          </a:p>
        </p:txBody>
      </p:sp>
      <p:sp>
        <p:nvSpPr>
          <p:cNvPr id="27" name="Rounded Rectangle 26"/>
          <p:cNvSpPr/>
          <p:nvPr/>
        </p:nvSpPr>
        <p:spPr>
          <a:xfrm>
            <a:off x="3542915" y="3075838"/>
            <a:ext cx="2021070" cy="1219961"/>
          </a:xfrm>
          <a:prstGeom prst="roundRect">
            <a:avLst>
              <a:gd name="adj" fmla="val 5996"/>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var_calc quarantined</a:t>
            </a:r>
          </a:p>
          <a:p>
            <a:pPr algn="ctr">
              <a:lnSpc>
                <a:spcPct val="105000"/>
              </a:lnSpc>
              <a:spcBef>
                <a:spcPts val="0"/>
              </a:spcBef>
              <a:spcAft>
                <a:spcPts val="0"/>
              </a:spcAft>
            </a:pPr>
            <a:r>
              <a:rPr sz="1150" b="0" i="0">
                <a:solidFill>
                  <a:srgbClr val="FFFFFF"/>
                </a:solidFill>
                <a:latin typeface="Calibri"/>
              </a:rPr>
              <a:t>on every member, hosts included, until the hosts agree</a:t>
            </a:r>
          </a:p>
        </p:txBody>
      </p:sp>
      <p:sp>
        <p:nvSpPr>
          <p:cNvPr id="28" name="Rounded Rectangle 27"/>
          <p:cNvSpPr/>
          <p:nvPr/>
        </p:nvSpPr>
        <p:spPr>
          <a:xfrm>
            <a:off x="6414964" y="2181199"/>
            <a:ext cx="1595582" cy="691311"/>
          </a:xfrm>
          <a:prstGeom prst="roundRect">
            <a:avLst>
              <a:gd name="adj" fmla="val 10581"/>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6E1120"/>
                </a:solidFill>
                <a:latin typeface="Calibri"/>
              </a:rPr>
              <a:t>acme MCP server</a:t>
            </a:r>
          </a:p>
          <a:p>
            <a:pPr algn="ctr">
              <a:lnSpc>
                <a:spcPct val="105000"/>
              </a:lnSpc>
              <a:spcBef>
                <a:spcPts val="0"/>
              </a:spcBef>
              <a:spcAft>
                <a:spcPts val="0"/>
              </a:spcAft>
            </a:pPr>
            <a:r>
              <a:rPr sz="950" b="0" i="0">
                <a:solidFill>
                  <a:srgbClr val="6E1120"/>
                </a:solidFill>
                <a:latin typeface="Calibri"/>
              </a:rPr>
              <a:t>offers search</a:t>
            </a:r>
          </a:p>
        </p:txBody>
      </p:sp>
      <p:sp>
        <p:nvSpPr>
          <p:cNvPr id="29" name="Rounded Rectangle 28"/>
          <p:cNvSpPr/>
          <p:nvPr/>
        </p:nvSpPr>
        <p:spPr>
          <a:xfrm>
            <a:off x="6414964" y="4336465"/>
            <a:ext cx="1595582" cy="691311"/>
          </a:xfrm>
          <a:prstGeom prst="roundRect">
            <a:avLst>
              <a:gd name="adj" fmla="val 10581"/>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6E1120"/>
                </a:solidFill>
                <a:latin typeface="Calibri"/>
              </a:rPr>
              <a:t>globex MCP server</a:t>
            </a:r>
          </a:p>
          <a:p>
            <a:pPr algn="ctr">
              <a:lnSpc>
                <a:spcPct val="105000"/>
              </a:lnSpc>
              <a:spcBef>
                <a:spcPts val="0"/>
              </a:spcBef>
              <a:spcAft>
                <a:spcPts val="0"/>
              </a:spcAft>
            </a:pPr>
            <a:r>
              <a:rPr sz="950" b="0" i="0">
                <a:solidFill>
                  <a:srgbClr val="6E1120"/>
                </a:solidFill>
                <a:latin typeface="Calibri"/>
              </a:rPr>
              <a:t>offers search</a:t>
            </a:r>
          </a:p>
        </p:txBody>
      </p:sp>
      <p:sp>
        <p:nvSpPr>
          <p:cNvPr id="30" name="Rounded Rectangle 29"/>
          <p:cNvSpPr/>
          <p:nvPr/>
        </p:nvSpPr>
        <p:spPr>
          <a:xfrm>
            <a:off x="8329662" y="3116503"/>
            <a:ext cx="1382837" cy="1138631"/>
          </a:xfrm>
          <a:prstGeom prst="roundRect">
            <a:avLst>
              <a:gd name="adj" fmla="val 642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risk-eu</a:t>
            </a:r>
          </a:p>
          <a:p>
            <a:pPr algn="ctr">
              <a:lnSpc>
                <a:spcPct val="105000"/>
              </a:lnSpc>
              <a:spcBef>
                <a:spcPts val="0"/>
              </a:spcBef>
              <a:spcAft>
                <a:spcPts val="0"/>
              </a:spcAft>
            </a:pPr>
            <a:r>
              <a:rPr sz="1050" b="0" i="0">
                <a:solidFill>
                  <a:srgbClr val="FFFFFF"/>
                </a:solidFill>
                <a:latin typeface="Calibri"/>
              </a:rPr>
              <a:t>proxies both as external servers</a:t>
            </a:r>
          </a:p>
        </p:txBody>
      </p:sp>
      <p:sp>
        <p:nvSpPr>
          <p:cNvPr id="31" name="Rounded Rectangle 30"/>
          <p:cNvSpPr/>
          <p:nvPr/>
        </p:nvSpPr>
        <p:spPr>
          <a:xfrm>
            <a:off x="10084803" y="2425192"/>
            <a:ext cx="1329651" cy="609980"/>
          </a:xfrm>
          <a:prstGeom prst="roundRect">
            <a:avLst>
              <a:gd name="adj" fmla="val 1199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acme__search</a:t>
            </a:r>
          </a:p>
        </p:txBody>
      </p:sp>
      <p:sp>
        <p:nvSpPr>
          <p:cNvPr id="32" name="Rounded Rectangle 31"/>
          <p:cNvSpPr/>
          <p:nvPr/>
        </p:nvSpPr>
        <p:spPr>
          <a:xfrm>
            <a:off x="10084803" y="4295800"/>
            <a:ext cx="1329651" cy="609980"/>
          </a:xfrm>
          <a:prstGeom prst="roundRect">
            <a:avLst>
              <a:gd name="adj" fmla="val 1199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globex__search</a:t>
            </a:r>
          </a:p>
        </p:txBody>
      </p:sp>
      <p:cxnSp>
        <p:nvCxnSpPr>
          <p:cNvPr id="33" name="Connector 32"/>
          <p:cNvCxnSpPr/>
          <p:nvPr/>
        </p:nvCxnSpPr>
        <p:spPr>
          <a:xfrm>
            <a:off x="2753116" y="2811159"/>
            <a:ext cx="748676" cy="36373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056312" y="3471189"/>
            <a:ext cx="441346" cy="6327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055894" y="3895956"/>
            <a:ext cx="442182" cy="8804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678955" y="4254880"/>
            <a:ext cx="823758" cy="446134"/>
          </a:xfrm>
          <a:prstGeom prst="line">
            <a:avLst/>
          </a:prstGeom>
          <a:ln w="20320">
            <a:solidFill>
              <a:srgbClr val="8A16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7790573" y="2897181"/>
            <a:ext cx="500596" cy="320834"/>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880178" y="4088821"/>
            <a:ext cx="409440" cy="22558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9752513" y="3057293"/>
            <a:ext cx="405439" cy="22415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752908" y="4073197"/>
            <a:ext cx="380130" cy="201214"/>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WHAT HAPPENS ON A CALL</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On every remote call the home and the host both decide; neither trusts the other</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67</a:t>
            </a:r>
          </a:p>
        </p:txBody>
      </p:sp>
      <p:sp>
        <p:nvSpPr>
          <p:cNvPr id="17" name="Oval 16"/>
          <p:cNvSpPr/>
          <p:nvPr/>
        </p:nvSpPr>
        <p:spPr>
          <a:xfrm>
            <a:off x="777240" y="1982561"/>
            <a:ext cx="1063721" cy="463346"/>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caller</a:t>
            </a:r>
          </a:p>
        </p:txBody>
      </p:sp>
      <p:sp>
        <p:nvSpPr>
          <p:cNvPr id="18" name="Rounded Rectangle 17"/>
          <p:cNvSpPr/>
          <p:nvPr/>
        </p:nvSpPr>
        <p:spPr>
          <a:xfrm>
            <a:off x="2053705" y="1982561"/>
            <a:ext cx="2872048" cy="393844"/>
          </a:xfrm>
          <a:prstGeom prst="roundRect">
            <a:avLst>
              <a:gd name="adj" fmla="val 185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resolve the name</a:t>
            </a:r>
          </a:p>
        </p:txBody>
      </p:sp>
      <p:sp>
        <p:nvSpPr>
          <p:cNvPr id="19" name="Rounded Rectangle 18"/>
          <p:cNvSpPr/>
          <p:nvPr/>
        </p:nvSpPr>
        <p:spPr>
          <a:xfrm>
            <a:off x="2053705" y="2469075"/>
            <a:ext cx="2872048" cy="393844"/>
          </a:xfrm>
          <a:prstGeom prst="roundRect">
            <a:avLst>
              <a:gd name="adj" fmla="val 185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access, schema, policy</a:t>
            </a:r>
          </a:p>
        </p:txBody>
      </p:sp>
      <p:sp>
        <p:nvSpPr>
          <p:cNvPr id="20" name="Rounded Rectangle 19"/>
          <p:cNvSpPr/>
          <p:nvPr/>
        </p:nvSpPr>
        <p:spPr>
          <a:xfrm>
            <a:off x="2053705" y="2955589"/>
            <a:ext cx="2872048" cy="393844"/>
          </a:xfrm>
          <a:prstGeom prst="roundRect">
            <a:avLst>
              <a:gd name="adj" fmla="val 185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import rules</a:t>
            </a:r>
          </a:p>
        </p:txBody>
      </p:sp>
      <p:sp>
        <p:nvSpPr>
          <p:cNvPr id="21" name="Rounded Rectangle 20"/>
          <p:cNvSpPr/>
          <p:nvPr/>
        </p:nvSpPr>
        <p:spPr>
          <a:xfrm>
            <a:off x="2053705" y="3442103"/>
            <a:ext cx="2872048" cy="393844"/>
          </a:xfrm>
          <a:prstGeom prst="roundRect">
            <a:avLst>
              <a:gd name="adj" fmla="val 185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residency on the arguments</a:t>
            </a:r>
          </a:p>
        </p:txBody>
      </p:sp>
      <p:sp>
        <p:nvSpPr>
          <p:cNvPr id="22" name="Rounded Rectangle 21"/>
          <p:cNvSpPr/>
          <p:nvPr/>
        </p:nvSpPr>
        <p:spPr>
          <a:xfrm>
            <a:off x="2053705" y="3928618"/>
            <a:ext cx="2872048" cy="393844"/>
          </a:xfrm>
          <a:prstGeom prst="roundRect">
            <a:avLst>
              <a:gd name="adj" fmla="val 185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breaker, rate limit, hops, chain</a:t>
            </a:r>
          </a:p>
        </p:txBody>
      </p:sp>
      <p:sp>
        <p:nvSpPr>
          <p:cNvPr id="23" name="Rounded Rectangle 22"/>
          <p:cNvSpPr/>
          <p:nvPr/>
        </p:nvSpPr>
        <p:spPr>
          <a:xfrm>
            <a:off x="2053705" y="4415132"/>
            <a:ext cx="2872048" cy="393844"/>
          </a:xfrm>
          <a:prstGeom prst="roundRect">
            <a:avLst>
              <a:gd name="adj" fmla="val 185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identity: key, assertion or token</a:t>
            </a:r>
          </a:p>
        </p:txBody>
      </p:sp>
      <p:sp>
        <p:nvSpPr>
          <p:cNvPr id="24" name="Rounded Rectangle 23"/>
          <p:cNvSpPr/>
          <p:nvPr/>
        </p:nvSpPr>
        <p:spPr>
          <a:xfrm>
            <a:off x="2053705" y="5643001"/>
            <a:ext cx="2872048" cy="509681"/>
          </a:xfrm>
          <a:prstGeom prst="roundRect">
            <a:avLst>
              <a:gd name="adj" fmla="val 1435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verify the answer; residency on arrival; audit</a:t>
            </a:r>
          </a:p>
        </p:txBody>
      </p:sp>
      <p:sp>
        <p:nvSpPr>
          <p:cNvPr id="25" name="Rounded Rectangle 24"/>
          <p:cNvSpPr/>
          <p:nvPr/>
        </p:nvSpPr>
        <p:spPr>
          <a:xfrm>
            <a:off x="8116918" y="1982561"/>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verify the signature</a:t>
            </a:r>
          </a:p>
        </p:txBody>
      </p:sp>
      <p:sp>
        <p:nvSpPr>
          <p:cNvPr id="26" name="Rounded Rectangle 25"/>
          <p:cNvSpPr/>
          <p:nvPr/>
        </p:nvSpPr>
        <p:spPr>
          <a:xfrm>
            <a:off x="8116918" y="2445908"/>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blocks on the sender</a:t>
            </a:r>
          </a:p>
        </p:txBody>
      </p:sp>
      <p:sp>
        <p:nvSpPr>
          <p:cNvPr id="27" name="Rounded Rectangle 26"/>
          <p:cNvSpPr/>
          <p:nvPr/>
        </p:nvSpPr>
        <p:spPr>
          <a:xfrm>
            <a:off x="8116918" y="2909255"/>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hops and loops</a:t>
            </a:r>
          </a:p>
        </p:txBody>
      </p:sp>
      <p:sp>
        <p:nvSpPr>
          <p:cNvPr id="28" name="Rounded Rectangle 27"/>
          <p:cNvSpPr/>
          <p:nvPr/>
        </p:nvSpPr>
        <p:spPr>
          <a:xfrm>
            <a:off x="8116918" y="3372601"/>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verify the user</a:t>
            </a:r>
          </a:p>
        </p:txBody>
      </p:sp>
      <p:sp>
        <p:nvSpPr>
          <p:cNvPr id="29" name="Rounded Rectangle 28"/>
          <p:cNvSpPr/>
          <p:nvPr/>
        </p:nvSpPr>
        <p:spPr>
          <a:xfrm>
            <a:off x="8116918" y="3835948"/>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map the user; blocks</a:t>
            </a:r>
          </a:p>
        </p:txBody>
      </p:sp>
      <p:sp>
        <p:nvSpPr>
          <p:cNvPr id="30" name="Rounded Rectangle 29"/>
          <p:cNvSpPr/>
          <p:nvPr/>
        </p:nvSpPr>
        <p:spPr>
          <a:xfrm>
            <a:off x="8116918" y="4299295"/>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export rules</a:t>
            </a:r>
          </a:p>
        </p:txBody>
      </p:sp>
      <p:sp>
        <p:nvSpPr>
          <p:cNvPr id="31" name="Rounded Rectangle 30"/>
          <p:cNvSpPr/>
          <p:nvPr/>
        </p:nvSpPr>
        <p:spPr>
          <a:xfrm>
            <a:off x="8116918" y="4762642"/>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its own access, policy, approvals</a:t>
            </a:r>
          </a:p>
        </p:txBody>
      </p:sp>
      <p:sp>
        <p:nvSpPr>
          <p:cNvPr id="32" name="Rounded Rectangle 31"/>
          <p:cNvSpPr/>
          <p:nvPr/>
        </p:nvSpPr>
        <p:spPr>
          <a:xfrm>
            <a:off x="8116918" y="5225989"/>
            <a:ext cx="3297536" cy="370677"/>
          </a:xfrm>
          <a:prstGeom prst="roundRect">
            <a:avLst>
              <a:gd name="adj" fmla="val 1973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execute; audit</a:t>
            </a:r>
          </a:p>
        </p:txBody>
      </p:sp>
      <p:sp>
        <p:nvSpPr>
          <p:cNvPr id="33" name="Rounded Rectangle 32"/>
          <p:cNvSpPr/>
          <p:nvPr/>
        </p:nvSpPr>
        <p:spPr>
          <a:xfrm>
            <a:off x="8116918" y="5689335"/>
            <a:ext cx="3297536" cy="370677"/>
          </a:xfrm>
          <a:prstGeom prst="roundRect">
            <a:avLst>
              <a:gd name="adj" fmla="val 1973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residency on the result</a:t>
            </a:r>
          </a:p>
        </p:txBody>
      </p:sp>
      <p:sp>
        <p:nvSpPr>
          <p:cNvPr id="34" name="TextBox 33"/>
          <p:cNvSpPr txBox="1"/>
          <p:nvPr/>
        </p:nvSpPr>
        <p:spPr>
          <a:xfrm>
            <a:off x="2053705" y="1611884"/>
            <a:ext cx="2872048" cy="324342"/>
          </a:xfrm>
          <a:prstGeom prst="rect">
            <a:avLst/>
          </a:prstGeom>
          <a:noFill/>
        </p:spPr>
        <p:txBody>
          <a:bodyPr wrap="square" lIns="0" rIns="0" tIns="0" bIns="0" anchor="t">
            <a:spAutoFit/>
          </a:bodyPr>
          <a:lstStyle/>
          <a:p>
            <a:pPr algn="l">
              <a:lnSpc>
                <a:spcPct val="110000"/>
              </a:lnSpc>
              <a:spcBef>
                <a:spcPts val="0"/>
              </a:spcBef>
              <a:spcAft>
                <a:spcPts val="100"/>
              </a:spcAft>
            </a:pPr>
            <a:r>
              <a:rPr sz="1200" b="1" i="0">
                <a:solidFill>
                  <a:srgbClr val="6E1120"/>
                </a:solidFill>
                <a:latin typeface="Calibri"/>
              </a:rPr>
              <a:t>HOME: where the caller is</a:t>
            </a:r>
          </a:p>
        </p:txBody>
      </p:sp>
      <p:sp>
        <p:nvSpPr>
          <p:cNvPr id="35" name="TextBox 34"/>
          <p:cNvSpPr txBox="1"/>
          <p:nvPr/>
        </p:nvSpPr>
        <p:spPr>
          <a:xfrm>
            <a:off x="8116918" y="1611884"/>
            <a:ext cx="3297536" cy="324342"/>
          </a:xfrm>
          <a:prstGeom prst="rect">
            <a:avLst/>
          </a:prstGeom>
          <a:noFill/>
        </p:spPr>
        <p:txBody>
          <a:bodyPr wrap="square" lIns="0" rIns="0" tIns="0" bIns="0" anchor="t">
            <a:spAutoFit/>
          </a:bodyPr>
          <a:lstStyle/>
          <a:p>
            <a:pPr algn="l">
              <a:lnSpc>
                <a:spcPct val="110000"/>
              </a:lnSpc>
              <a:spcBef>
                <a:spcPts val="0"/>
              </a:spcBef>
              <a:spcAft>
                <a:spcPts val="100"/>
              </a:spcAft>
            </a:pPr>
            <a:r>
              <a:rPr sz="1200" b="1" i="0">
                <a:solidFill>
                  <a:srgbClr val="6E1120"/>
                </a:solidFill>
                <a:latin typeface="Calibri"/>
              </a:rPr>
              <a:t>HOST: where the tool runs</a:t>
            </a:r>
          </a:p>
        </p:txBody>
      </p:sp>
      <p:cxnSp>
        <p:nvCxnSpPr>
          <p:cNvPr id="36" name="Connector 35"/>
          <p:cNvCxnSpPr/>
          <p:nvPr/>
        </p:nvCxnSpPr>
        <p:spPr>
          <a:xfrm flipV="1">
            <a:off x="1886320" y="2203097"/>
            <a:ext cx="121671" cy="193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962050" y="2195700"/>
            <a:ext cx="3118571" cy="2388554"/>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981332" y="3426553"/>
            <a:ext cx="2451608"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6E1120"/>
                </a:solidFill>
                <a:latin typeface="Calibri"/>
              </a:rPr>
              <a:t>signed request, trace id, hop</a:t>
            </a:r>
          </a:p>
        </p:txBody>
      </p:sp>
      <p:cxnSp>
        <p:nvCxnSpPr>
          <p:cNvPr id="39" name="Connector 38"/>
          <p:cNvCxnSpPr/>
          <p:nvPr/>
        </p:nvCxnSpPr>
        <p:spPr>
          <a:xfrm flipH="1">
            <a:off x="4971473" y="5880929"/>
            <a:ext cx="3099725" cy="11443"/>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921388" y="5648906"/>
            <a:ext cx="1199896"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1" i="0">
                <a:solidFill>
                  <a:srgbClr val="6E1120"/>
                </a:solidFill>
                <a:latin typeface="Calibri"/>
              </a:rPr>
              <a:t>signed answer</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ROUTING AND FALLBACK</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 plain name resolves in order, and falls back only when nothing ran</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68</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At most 3 fallbacks after the first attempt (sajhanet.max_fallbacks, shipped), within one deadline; every attempt is audited under one trace id. A qualified name goes exactly where it says and never falls back.</a:t>
            </a:r>
          </a:p>
        </p:txBody>
      </p:sp>
      <p:sp>
        <p:nvSpPr>
          <p:cNvPr id="19" name="Rounded Rectangle 18"/>
          <p:cNvSpPr/>
          <p:nvPr/>
        </p:nvSpPr>
        <p:spPr>
          <a:xfrm>
            <a:off x="777240" y="1525228"/>
            <a:ext cx="3191164" cy="743203"/>
          </a:xfrm>
          <a:prstGeom prst="roundRect">
            <a:avLst>
              <a:gd name="adj" fmla="val 984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1  The local tool</a:t>
            </a:r>
          </a:p>
          <a:p>
            <a:pPr algn="ctr">
              <a:lnSpc>
                <a:spcPct val="105000"/>
              </a:lnSpc>
              <a:spcBef>
                <a:spcPts val="0"/>
              </a:spcBef>
              <a:spcAft>
                <a:spcPts val="0"/>
              </a:spcAft>
            </a:pPr>
            <a:r>
              <a:rPr sz="1150" b="0" i="0">
                <a:solidFill>
                  <a:srgbClr val="FFFFFF"/>
                </a:solidFill>
                <a:latin typeface="Calibri"/>
              </a:rPr>
              <a:t>if this server has one by that name</a:t>
            </a:r>
          </a:p>
        </p:txBody>
      </p:sp>
      <p:sp>
        <p:nvSpPr>
          <p:cNvPr id="20" name="Rounded Rectangle 19"/>
          <p:cNvSpPr/>
          <p:nvPr/>
        </p:nvSpPr>
        <p:spPr>
          <a:xfrm>
            <a:off x="777240" y="2749328"/>
            <a:ext cx="3191164" cy="743203"/>
          </a:xfrm>
          <a:prstGeom prst="roundRect">
            <a:avLst>
              <a:gd name="adj" fmla="val 984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2  The tool's preference list</a:t>
            </a:r>
          </a:p>
          <a:p>
            <a:pPr algn="ctr">
              <a:lnSpc>
                <a:spcPct val="105000"/>
              </a:lnSpc>
              <a:spcBef>
                <a:spcPts val="0"/>
              </a:spcBef>
              <a:spcAft>
                <a:spcPts val="0"/>
              </a:spcAft>
            </a:pPr>
            <a:r>
              <a:rPr sz="1150" b="0" i="0">
                <a:solidFill>
                  <a:srgbClr val="FFFFFF"/>
                </a:solidFill>
                <a:latin typeface="Calibri"/>
              </a:rPr>
              <a:t>a named host, or a net's hosts</a:t>
            </a:r>
          </a:p>
        </p:txBody>
      </p:sp>
      <p:sp>
        <p:nvSpPr>
          <p:cNvPr id="21" name="Rounded Rectangle 20"/>
          <p:cNvSpPr/>
          <p:nvPr/>
        </p:nvSpPr>
        <p:spPr>
          <a:xfrm>
            <a:off x="777240" y="3973428"/>
            <a:ext cx="3191164" cy="743203"/>
          </a:xfrm>
          <a:prstGeom prst="roundRect">
            <a:avLst>
              <a:gd name="adj" fmla="val 984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3  The nets in configured order</a:t>
            </a:r>
          </a:p>
          <a:p>
            <a:pPr algn="ctr">
              <a:lnSpc>
                <a:spcPct val="105000"/>
              </a:lnSpc>
              <a:spcBef>
                <a:spcPts val="0"/>
              </a:spcBef>
              <a:spcAft>
                <a:spcPts val="0"/>
              </a:spcAft>
            </a:pPr>
            <a:r>
              <a:rPr sz="1150" b="0" i="0">
                <a:solidFill>
                  <a:srgbClr val="FFFFFF"/>
                </a:solidFill>
                <a:latin typeface="Calibri"/>
              </a:rPr>
              <a:t>hosts ordered by local_first, lowest_latency or pinned</a:t>
            </a:r>
          </a:p>
        </p:txBody>
      </p:sp>
      <p:sp>
        <p:nvSpPr>
          <p:cNvPr id="22" name="Oval 21"/>
          <p:cNvSpPr/>
          <p:nvPr/>
        </p:nvSpPr>
        <p:spPr>
          <a:xfrm>
            <a:off x="5138498" y="2880481"/>
            <a:ext cx="1276465" cy="874356"/>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home</a:t>
            </a:r>
          </a:p>
          <a:p>
            <a:pPr algn="ctr">
              <a:lnSpc>
                <a:spcPct val="105000"/>
              </a:lnSpc>
              <a:spcBef>
                <a:spcPts val="0"/>
              </a:spcBef>
              <a:spcAft>
                <a:spcPts val="0"/>
              </a:spcAft>
            </a:pPr>
            <a:r>
              <a:rPr sz="1050" b="0" i="0">
                <a:solidFill>
                  <a:srgbClr val="FFFFFF"/>
                </a:solidFill>
                <a:latin typeface="Calibri"/>
              </a:rPr>
              <a:t>plain name var_calc</a:t>
            </a:r>
          </a:p>
        </p:txBody>
      </p:sp>
      <p:sp>
        <p:nvSpPr>
          <p:cNvPr id="23" name="Rounded Rectangle 22"/>
          <p:cNvSpPr/>
          <p:nvPr/>
        </p:nvSpPr>
        <p:spPr>
          <a:xfrm>
            <a:off x="7585057" y="1394075"/>
            <a:ext cx="2127443" cy="743203"/>
          </a:xfrm>
          <a:prstGeom prst="roundRect">
            <a:avLst>
              <a:gd name="adj" fmla="val 984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host A</a:t>
            </a:r>
          </a:p>
          <a:p>
            <a:pPr algn="ctr">
              <a:lnSpc>
                <a:spcPct val="105000"/>
              </a:lnSpc>
              <a:spcBef>
                <a:spcPts val="0"/>
              </a:spcBef>
              <a:spcAft>
                <a:spcPts val="0"/>
              </a:spcAft>
            </a:pPr>
            <a:r>
              <a:rPr sz="1050" b="0" i="0">
                <a:solidFill>
                  <a:srgbClr val="1A1A1A"/>
                </a:solidFill>
                <a:latin typeface="Calibri"/>
              </a:rPr>
              <a:t>breaker open: never sent</a:t>
            </a:r>
          </a:p>
        </p:txBody>
      </p:sp>
      <p:sp>
        <p:nvSpPr>
          <p:cNvPr id="24" name="Rounded Rectangle 23"/>
          <p:cNvSpPr/>
          <p:nvPr/>
        </p:nvSpPr>
        <p:spPr>
          <a:xfrm>
            <a:off x="7585057" y="2924199"/>
            <a:ext cx="2127443" cy="743203"/>
          </a:xfrm>
          <a:prstGeom prst="roundRect">
            <a:avLst>
              <a:gd name="adj" fmla="val 984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host B</a:t>
            </a:r>
          </a:p>
          <a:p>
            <a:pPr algn="ctr">
              <a:lnSpc>
                <a:spcPct val="105000"/>
              </a:lnSpc>
              <a:spcBef>
                <a:spcPts val="0"/>
              </a:spcBef>
              <a:spcAft>
                <a:spcPts val="0"/>
              </a:spcAft>
            </a:pPr>
            <a:r>
              <a:rPr sz="1050" b="0" i="0">
                <a:solidFill>
                  <a:srgbClr val="1A1A1A"/>
                </a:solidFill>
                <a:latin typeface="Calibri"/>
              </a:rPr>
              <a:t>-32019 overloaded, executed: false</a:t>
            </a:r>
          </a:p>
        </p:txBody>
      </p:sp>
      <p:sp>
        <p:nvSpPr>
          <p:cNvPr id="25" name="Rounded Rectangle 24"/>
          <p:cNvSpPr/>
          <p:nvPr/>
        </p:nvSpPr>
        <p:spPr>
          <a:xfrm>
            <a:off x="7585057" y="4454324"/>
            <a:ext cx="2127443" cy="743203"/>
          </a:xfrm>
          <a:prstGeom prst="roundRect">
            <a:avLst>
              <a:gd name="adj" fmla="val 9842"/>
            </a:avLst>
          </a:prstGeom>
          <a:solidFill>
            <a:srgbClr val="FFFFFF"/>
          </a:solidFill>
          <a:ln w="15875">
            <a:solidFill>
              <a:srgbClr val="1E6B3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host C</a:t>
            </a:r>
          </a:p>
          <a:p>
            <a:pPr algn="ctr">
              <a:lnSpc>
                <a:spcPct val="105000"/>
              </a:lnSpc>
              <a:spcBef>
                <a:spcPts val="0"/>
              </a:spcBef>
              <a:spcAft>
                <a:spcPts val="0"/>
              </a:spcAft>
            </a:pPr>
            <a:r>
              <a:rPr sz="1050" b="0" i="0">
                <a:solidFill>
                  <a:srgbClr val="1A1A1A"/>
                </a:solidFill>
                <a:latin typeface="Calibri"/>
              </a:rPr>
              <a:t>runs it; the result returns</a:t>
            </a:r>
          </a:p>
        </p:txBody>
      </p:sp>
      <p:sp>
        <p:nvSpPr>
          <p:cNvPr id="26" name="Rounded Rectangle 25"/>
          <p:cNvSpPr/>
          <p:nvPr/>
        </p:nvSpPr>
        <p:spPr>
          <a:xfrm>
            <a:off x="10031617" y="2618174"/>
            <a:ext cx="1382837" cy="1398971"/>
          </a:xfrm>
          <a:prstGeom prst="roundRect">
            <a:avLst>
              <a:gd name="adj" fmla="val 5289"/>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 refusal is a decision</a:t>
            </a:r>
          </a:p>
          <a:p>
            <a:pPr algn="ctr">
              <a:lnSpc>
                <a:spcPct val="105000"/>
              </a:lnSpc>
              <a:spcBef>
                <a:spcPts val="0"/>
              </a:spcBef>
              <a:spcAft>
                <a:spcPts val="0"/>
              </a:spcAft>
            </a:pPr>
            <a:r>
              <a:rPr sz="950" b="0" i="0">
                <a:solidFill>
                  <a:srgbClr val="1A1A1A"/>
                </a:solidFill>
                <a:latin typeface="Calibri"/>
              </a:rPr>
              <a:t>access, policy, identity, a block: returned, no fallback</a:t>
            </a:r>
          </a:p>
        </p:txBody>
      </p:sp>
      <p:cxnSp>
        <p:nvCxnSpPr>
          <p:cNvPr id="27" name="Connector 26"/>
          <p:cNvCxnSpPr/>
          <p:nvPr/>
        </p:nvCxnSpPr>
        <p:spPr>
          <a:xfrm>
            <a:off x="2372822" y="2314152"/>
            <a:ext cx="0" cy="38945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436830" y="2417440"/>
            <a:ext cx="82296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none here</a:t>
            </a:r>
          </a:p>
        </p:txBody>
      </p:sp>
      <p:cxnSp>
        <p:nvCxnSpPr>
          <p:cNvPr id="29" name="Connector 28"/>
          <p:cNvCxnSpPr/>
          <p:nvPr/>
        </p:nvCxnSpPr>
        <p:spPr>
          <a:xfrm>
            <a:off x="2372822" y="3538251"/>
            <a:ext cx="0" cy="389457"/>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436830" y="3641539"/>
            <a:ext cx="96520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none listed</a:t>
            </a:r>
          </a:p>
        </p:txBody>
      </p:sp>
      <p:cxnSp>
        <p:nvCxnSpPr>
          <p:cNvPr id="31" name="Connector 30"/>
          <p:cNvCxnSpPr/>
          <p:nvPr/>
        </p:nvCxnSpPr>
        <p:spPr>
          <a:xfrm flipV="1">
            <a:off x="6318034" y="2159014"/>
            <a:ext cx="1602848" cy="86613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916004" y="2354339"/>
            <a:ext cx="406908"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1st</a:t>
            </a:r>
          </a:p>
        </p:txBody>
      </p:sp>
      <p:cxnSp>
        <p:nvCxnSpPr>
          <p:cNvPr id="33" name="Connector 32"/>
          <p:cNvCxnSpPr/>
          <p:nvPr/>
        </p:nvCxnSpPr>
        <p:spPr>
          <a:xfrm flipV="1">
            <a:off x="6460643" y="3304245"/>
            <a:ext cx="1078696" cy="821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796537" y="3070606"/>
            <a:ext cx="406908"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2nd</a:t>
            </a:r>
          </a:p>
        </p:txBody>
      </p:sp>
      <p:cxnSp>
        <p:nvCxnSpPr>
          <p:cNvPr id="35" name="Connector 34"/>
          <p:cNvCxnSpPr/>
          <p:nvPr/>
        </p:nvCxnSpPr>
        <p:spPr>
          <a:xfrm>
            <a:off x="6323714" y="3604910"/>
            <a:ext cx="1576981" cy="828157"/>
          </a:xfrm>
          <a:prstGeom prst="line">
            <a:avLst/>
          </a:prstGeom>
          <a:ln w="20320">
            <a:solidFill>
              <a:srgbClr val="1E6B3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908751" y="3781244"/>
            <a:ext cx="406908"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3rd</a:t>
            </a:r>
          </a:p>
        </p:txBody>
      </p:sp>
      <p:cxnSp>
        <p:nvCxnSpPr>
          <p:cNvPr id="37" name="Connector 36"/>
          <p:cNvCxnSpPr/>
          <p:nvPr/>
        </p:nvCxnSpPr>
        <p:spPr>
          <a:xfrm flipV="1">
            <a:off x="3647793" y="3507149"/>
            <a:ext cx="1501118" cy="453068"/>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IDENTITY ACROSS SERVERS</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The host verifies which user is calling, and applies its own rules to that user</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69</a:t>
            </a:r>
          </a:p>
        </p:txBody>
      </p:sp>
      <p:sp>
        <p:nvSpPr>
          <p:cNvPr id="17" name="Rounded Rectangle 16"/>
          <p:cNvSpPr/>
          <p:nvPr/>
        </p:nvSpPr>
        <p:spPr>
          <a:xfrm>
            <a:off x="777240" y="1611884"/>
            <a:ext cx="1595582" cy="787689"/>
          </a:xfrm>
          <a:prstGeom prst="roundRect">
            <a:avLst>
              <a:gd name="adj" fmla="val 928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api_key (shipped)</a:t>
            </a:r>
          </a:p>
        </p:txBody>
      </p:sp>
      <p:sp>
        <p:nvSpPr>
          <p:cNvPr id="18" name="Rounded Rectangle 17"/>
          <p:cNvSpPr/>
          <p:nvPr/>
        </p:nvSpPr>
        <p:spPr>
          <a:xfrm>
            <a:off x="2798310" y="1611884"/>
            <a:ext cx="2872048" cy="787689"/>
          </a:xfrm>
          <a:prstGeom prst="roundRect">
            <a:avLst>
              <a:gd name="adj" fmla="val 928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the API key, first hop only, over HTTPS</a:t>
            </a:r>
          </a:p>
        </p:txBody>
      </p:sp>
      <p:sp>
        <p:nvSpPr>
          <p:cNvPr id="19" name="Rounded Rectangle 18"/>
          <p:cNvSpPr/>
          <p:nvPr/>
        </p:nvSpPr>
        <p:spPr>
          <a:xfrm>
            <a:off x="6095847" y="1611884"/>
            <a:ext cx="2872048" cy="787689"/>
          </a:xfrm>
          <a:prstGeom prst="roundRect">
            <a:avLst>
              <a:gd name="adj" fmla="val 928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hash it; find it in the net key directory; accept it only from its own home</a:t>
            </a:r>
          </a:p>
        </p:txBody>
      </p:sp>
      <p:sp>
        <p:nvSpPr>
          <p:cNvPr id="20" name="Rounded Rectangle 19"/>
          <p:cNvSpPr/>
          <p:nvPr/>
        </p:nvSpPr>
        <p:spPr>
          <a:xfrm>
            <a:off x="777240" y="2677581"/>
            <a:ext cx="1595582" cy="787689"/>
          </a:xfrm>
          <a:prstGeom prst="roundRect">
            <a:avLst>
              <a:gd name="adj" fmla="val 928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assertion</a:t>
            </a:r>
          </a:p>
        </p:txBody>
      </p:sp>
      <p:sp>
        <p:nvSpPr>
          <p:cNvPr id="21" name="Rounded Rectangle 20"/>
          <p:cNvSpPr/>
          <p:nvPr/>
        </p:nvSpPr>
        <p:spPr>
          <a:xfrm>
            <a:off x="2798310" y="2677581"/>
            <a:ext cx="2872048" cy="787689"/>
          </a:xfrm>
          <a:prstGeom prst="roundRect">
            <a:avLst>
              <a:gd name="adj" fmla="val 928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 signed user assertion: only the key id crosses</a:t>
            </a:r>
          </a:p>
        </p:txBody>
      </p:sp>
      <p:sp>
        <p:nvSpPr>
          <p:cNvPr id="22" name="Rounded Rectangle 21"/>
          <p:cNvSpPr/>
          <p:nvPr/>
        </p:nvSpPr>
        <p:spPr>
          <a:xfrm>
            <a:off x="6095847" y="2677581"/>
            <a:ext cx="2872048" cy="787689"/>
          </a:xfrm>
          <a:prstGeom prst="roundRect">
            <a:avLst>
              <a:gd name="adj" fmla="val 928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check signature, audience, time (at most 60 s) and one use of its id</a:t>
            </a:r>
          </a:p>
        </p:txBody>
      </p:sp>
      <p:sp>
        <p:nvSpPr>
          <p:cNvPr id="23" name="Rounded Rectangle 22"/>
          <p:cNvSpPr/>
          <p:nvPr/>
        </p:nvSpPr>
        <p:spPr>
          <a:xfrm>
            <a:off x="777240" y="3743279"/>
            <a:ext cx="1595582" cy="787689"/>
          </a:xfrm>
          <a:prstGeom prst="roundRect">
            <a:avLst>
              <a:gd name="adj" fmla="val 928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token_exchange</a:t>
            </a:r>
          </a:p>
        </p:txBody>
      </p:sp>
      <p:sp>
        <p:nvSpPr>
          <p:cNvPr id="24" name="Rounded Rectangle 23"/>
          <p:cNvSpPr/>
          <p:nvPr/>
        </p:nvSpPr>
        <p:spPr>
          <a:xfrm>
            <a:off x="2798310" y="3743279"/>
            <a:ext cx="2872048" cy="787689"/>
          </a:xfrm>
          <a:prstGeom prst="roundRect">
            <a:avLst>
              <a:gd name="adj" fmla="val 928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 host-scoped token, exchanged once for an assertion</a:t>
            </a:r>
          </a:p>
        </p:txBody>
      </p:sp>
      <p:sp>
        <p:nvSpPr>
          <p:cNvPr id="25" name="Rounded Rectangle 24"/>
          <p:cNvSpPr/>
          <p:nvPr/>
        </p:nvSpPr>
        <p:spPr>
          <a:xfrm>
            <a:off x="6095847" y="3743279"/>
            <a:ext cx="2872048" cy="787689"/>
          </a:xfrm>
          <a:prstGeom prst="roundRect">
            <a:avLst>
              <a:gd name="adj" fmla="val 928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keep it hashed; re-check the key, blocks and mapping on every call</a:t>
            </a:r>
          </a:p>
        </p:txBody>
      </p:sp>
      <p:sp>
        <p:nvSpPr>
          <p:cNvPr id="26" name="Rounded Rectangle 25"/>
          <p:cNvSpPr/>
          <p:nvPr/>
        </p:nvSpPr>
        <p:spPr>
          <a:xfrm>
            <a:off x="9393384" y="1611884"/>
            <a:ext cx="2021070" cy="2919084"/>
          </a:xfrm>
          <a:prstGeom prst="roundRect">
            <a:avLst>
              <a:gd name="adj" fmla="val 361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The host maps the user</a:t>
            </a:r>
          </a:p>
          <a:p>
            <a:pPr algn="ctr">
              <a:lnSpc>
                <a:spcPct val="105000"/>
              </a:lnSpc>
              <a:spcBef>
                <a:spcPts val="0"/>
              </a:spcBef>
              <a:spcAft>
                <a:spcPts val="0"/>
              </a:spcAft>
            </a:pPr>
            <a:r>
              <a:rPr sz="1150" b="0" i="0">
                <a:solidFill>
                  <a:srgbClr val="FFFFFF"/>
                </a:solidFill>
                <a:latin typeface="Calibri"/>
              </a:rPr>
              <a:t>an explicit link, else the same login name, else refuse (shipped)</a:t>
            </a:r>
          </a:p>
        </p:txBody>
      </p:sp>
      <p:sp>
        <p:nvSpPr>
          <p:cNvPr id="27" name="Rounded Rectangle 26"/>
          <p:cNvSpPr/>
          <p:nvPr/>
        </p:nvSpPr>
        <p:spPr>
          <a:xfrm>
            <a:off x="777240" y="5040650"/>
            <a:ext cx="10637215" cy="1112032"/>
          </a:xfrm>
          <a:prstGeom prst="roundRect">
            <a:avLst>
              <a:gd name="adj" fmla="val 6578"/>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Test admin key: ships on, for development and testing</a:t>
            </a:r>
          </a:p>
          <a:p>
            <a:pPr algn="ctr">
              <a:lnSpc>
                <a:spcPct val="105000"/>
              </a:lnSpc>
              <a:spcBef>
                <a:spcPts val="0"/>
              </a:spcBef>
              <a:spcAft>
                <a:spcPts val="0"/>
              </a:spcAft>
            </a:pPr>
            <a:r>
              <a:rPr sz="1150" b="0" i="0">
                <a:solidFill>
                  <a:srgbClr val="1A1A1A"/>
                </a:solidFill>
                <a:latin typeface="Calibri"/>
              </a:rPr>
              <a:t>While on, every forwarded call carries it, and a host that holds the same record runs the call as an administrator. Turn it off before production.</a:t>
            </a:r>
          </a:p>
        </p:txBody>
      </p:sp>
      <p:cxnSp>
        <p:nvCxnSpPr>
          <p:cNvPr id="28" name="Connector 27"/>
          <p:cNvCxnSpPr/>
          <p:nvPr/>
        </p:nvCxnSpPr>
        <p:spPr>
          <a:xfrm>
            <a:off x="2418542" y="2005728"/>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5716078" y="2005728"/>
            <a:ext cx="33404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418542" y="3071426"/>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716078" y="3071426"/>
            <a:ext cx="33404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418542" y="4137124"/>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16078" y="4137124"/>
            <a:ext cx="33404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36144" y="2415478"/>
            <a:ext cx="714376" cy="265075"/>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013615" y="3071426"/>
            <a:ext cx="334049" cy="0"/>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8636144" y="3462299"/>
            <a:ext cx="714376" cy="265075"/>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PROXIED MCP SERVERS</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A member proxies other MCP servers; external ones enter the net under their vendor</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70</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__ is reserved for namespaced tools: the registry refuses any other tool that uses it. Proxies nest: outer__inner__tool, each level applying its own governance, bounded by 128 characters and one call-chain budget.</a:t>
            </a:r>
          </a:p>
        </p:txBody>
      </p:sp>
      <p:sp>
        <p:nvSpPr>
          <p:cNvPr id="19" name="Rectangle 18"/>
          <p:cNvSpPr/>
          <p:nvPr/>
        </p:nvSpPr>
        <p:spPr>
          <a:xfrm>
            <a:off x="3542915" y="1611884"/>
            <a:ext cx="7871539" cy="4066539"/>
          </a:xfrm>
          <a:prstGeom prst="rect">
            <a:avLst/>
          </a:prstGeom>
          <a:no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2643" y="1675892"/>
            <a:ext cx="7652083"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NET acme-net</a:t>
            </a:r>
          </a:p>
        </p:txBody>
      </p:sp>
      <p:sp>
        <p:nvSpPr>
          <p:cNvPr id="21" name="Rounded Rectangle 20"/>
          <p:cNvSpPr/>
          <p:nvPr/>
        </p:nvSpPr>
        <p:spPr>
          <a:xfrm>
            <a:off x="777240" y="1855876"/>
            <a:ext cx="1808326" cy="772642"/>
          </a:xfrm>
          <a:prstGeom prst="roundRect">
            <a:avLst>
              <a:gd name="adj" fmla="val 9467"/>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6E1120"/>
                </a:solidFill>
                <a:latin typeface="Calibri"/>
              </a:rPr>
              <a:t>acme MCP server</a:t>
            </a:r>
          </a:p>
          <a:p>
            <a:pPr algn="ctr">
              <a:lnSpc>
                <a:spcPct val="105000"/>
              </a:lnSpc>
              <a:spcBef>
                <a:spcPts val="0"/>
              </a:spcBef>
              <a:spcAft>
                <a:spcPts val="0"/>
              </a:spcAft>
            </a:pPr>
            <a:r>
              <a:rPr sz="1050" b="0" i="0">
                <a:solidFill>
                  <a:srgbClr val="6E1120"/>
                </a:solidFill>
                <a:latin typeface="Calibri"/>
              </a:rPr>
              <a:t>external: never a member</a:t>
            </a:r>
          </a:p>
        </p:txBody>
      </p:sp>
      <p:sp>
        <p:nvSpPr>
          <p:cNvPr id="22" name="Rounded Rectangle 21"/>
          <p:cNvSpPr/>
          <p:nvPr/>
        </p:nvSpPr>
        <p:spPr>
          <a:xfrm>
            <a:off x="777240" y="4133138"/>
            <a:ext cx="1808326" cy="772642"/>
          </a:xfrm>
          <a:prstGeom prst="roundRect">
            <a:avLst>
              <a:gd name="adj" fmla="val 946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pricing MCP server</a:t>
            </a:r>
          </a:p>
          <a:p>
            <a:pPr algn="ctr">
              <a:lnSpc>
                <a:spcPct val="105000"/>
              </a:lnSpc>
              <a:spcBef>
                <a:spcPts val="0"/>
              </a:spcBef>
              <a:spcAft>
                <a:spcPts val="0"/>
              </a:spcAft>
            </a:pPr>
            <a:r>
              <a:rPr sz="1050" b="0" i="0">
                <a:solidFill>
                  <a:srgbClr val="1A1A1A"/>
                </a:solidFill>
                <a:latin typeface="Calibri"/>
              </a:rPr>
              <a:t>internal: "external": false</a:t>
            </a:r>
          </a:p>
        </p:txBody>
      </p:sp>
      <p:sp>
        <p:nvSpPr>
          <p:cNvPr id="23" name="Rounded Rectangle 22"/>
          <p:cNvSpPr/>
          <p:nvPr/>
        </p:nvSpPr>
        <p:spPr>
          <a:xfrm>
            <a:off x="4074776" y="2953842"/>
            <a:ext cx="1701954" cy="894638"/>
          </a:xfrm>
          <a:prstGeom prst="roundRect">
            <a:avLst>
              <a:gd name="adj" fmla="val 817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risk-eu</a:t>
            </a:r>
          </a:p>
          <a:p>
            <a:pPr algn="ctr">
              <a:lnSpc>
                <a:spcPct val="105000"/>
              </a:lnSpc>
              <a:spcBef>
                <a:spcPts val="0"/>
              </a:spcBef>
              <a:spcAft>
                <a:spcPts val="0"/>
              </a:spcAft>
            </a:pPr>
            <a:r>
              <a:rPr sz="1250" b="0" i="0">
                <a:solidFill>
                  <a:srgbClr val="FFFFFF"/>
                </a:solidFill>
                <a:latin typeface="Calibri"/>
              </a:rPr>
              <a:t>proxies both through federation</a:t>
            </a:r>
          </a:p>
        </p:txBody>
      </p:sp>
      <p:sp>
        <p:nvSpPr>
          <p:cNvPr id="24" name="Rounded Rectangle 23"/>
          <p:cNvSpPr/>
          <p:nvPr/>
        </p:nvSpPr>
        <p:spPr>
          <a:xfrm>
            <a:off x="9287012" y="2953842"/>
            <a:ext cx="1701954" cy="894638"/>
          </a:xfrm>
          <a:prstGeom prst="roundRect">
            <a:avLst>
              <a:gd name="adj" fmla="val 817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treasury-na</a:t>
            </a:r>
          </a:p>
          <a:p>
            <a:pPr algn="ctr">
              <a:lnSpc>
                <a:spcPct val="105000"/>
              </a:lnSpc>
              <a:spcBef>
                <a:spcPts val="0"/>
              </a:spcBef>
              <a:spcAft>
                <a:spcPts val="0"/>
              </a:spcAft>
            </a:pPr>
            <a:r>
              <a:rPr sz="1250" b="0" i="0">
                <a:solidFill>
                  <a:srgbClr val="FFFFFF"/>
                </a:solidFill>
                <a:latin typeface="Calibri"/>
              </a:rPr>
              <a:t>a member</a:t>
            </a:r>
          </a:p>
        </p:txBody>
      </p:sp>
      <p:sp>
        <p:nvSpPr>
          <p:cNvPr id="25" name="Rounded Rectangle 24"/>
          <p:cNvSpPr/>
          <p:nvPr/>
        </p:nvSpPr>
        <p:spPr>
          <a:xfrm>
            <a:off x="6734080" y="2018538"/>
            <a:ext cx="1914698" cy="691311"/>
          </a:xfrm>
          <a:prstGeom prst="roundRect">
            <a:avLst>
              <a:gd name="adj" fmla="val 1058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acme__search</a:t>
            </a:r>
          </a:p>
          <a:p>
            <a:pPr algn="ctr">
              <a:lnSpc>
                <a:spcPct val="105000"/>
              </a:lnSpc>
              <a:spcBef>
                <a:spcPts val="0"/>
              </a:spcBef>
              <a:spcAft>
                <a:spcPts val="0"/>
              </a:spcAft>
            </a:pPr>
            <a:r>
              <a:rPr sz="1050" b="0" i="0">
                <a:solidFill>
                  <a:srgbClr val="1A1A1A"/>
                </a:solidFill>
                <a:latin typeface="Calibri"/>
              </a:rPr>
              <a:t>vendor__tool, offered into the net</a:t>
            </a:r>
          </a:p>
        </p:txBody>
      </p:sp>
      <p:sp>
        <p:nvSpPr>
          <p:cNvPr id="26" name="Rounded Rectangle 25"/>
          <p:cNvSpPr/>
          <p:nvPr/>
        </p:nvSpPr>
        <p:spPr>
          <a:xfrm>
            <a:off x="9287012" y="4295800"/>
            <a:ext cx="1701954" cy="691311"/>
          </a:xfrm>
          <a:prstGeom prst="roundRect">
            <a:avLst>
              <a:gd name="adj" fmla="val 10581"/>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lists acme__search</a:t>
            </a:r>
          </a:p>
          <a:p>
            <a:pPr algn="ctr">
              <a:lnSpc>
                <a:spcPct val="105000"/>
              </a:lnSpc>
              <a:spcBef>
                <a:spcPts val="0"/>
              </a:spcBef>
              <a:spcAft>
                <a:spcPts val="0"/>
              </a:spcAft>
            </a:pPr>
            <a:r>
              <a:rPr sz="950" b="0" i="0">
                <a:solidFill>
                  <a:srgbClr val="1A1A1A"/>
                </a:solidFill>
                <a:latin typeface="Calibri"/>
              </a:rPr>
              <a:t>external, via risk-eu</a:t>
            </a:r>
          </a:p>
        </p:txBody>
      </p:sp>
      <p:sp>
        <p:nvSpPr>
          <p:cNvPr id="27" name="Rounded Rectangle 26"/>
          <p:cNvSpPr/>
          <p:nvPr/>
        </p:nvSpPr>
        <p:spPr>
          <a:xfrm>
            <a:off x="4074776" y="4458461"/>
            <a:ext cx="1701954" cy="691311"/>
          </a:xfrm>
          <a:prstGeom prst="roundRect">
            <a:avLst>
              <a:gd name="adj" fmla="val 10581"/>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50" b="1" i="0">
                <a:solidFill>
                  <a:srgbClr val="1A1A1A"/>
                </a:solidFill>
                <a:latin typeface="Calibri"/>
              </a:rPr>
              <a:t>pricing__quote</a:t>
            </a:r>
          </a:p>
          <a:p>
            <a:pPr algn="ctr">
              <a:lnSpc>
                <a:spcPct val="105000"/>
              </a:lnSpc>
              <a:spcBef>
                <a:spcPts val="0"/>
              </a:spcBef>
              <a:spcAft>
                <a:spcPts val="0"/>
              </a:spcAft>
            </a:pPr>
            <a:r>
              <a:rPr sz="900" b="0" i="0">
                <a:solidFill>
                  <a:srgbClr val="1A1A1A"/>
                </a:solidFill>
                <a:latin typeface="Calibri"/>
              </a:rPr>
              <a:t>internal: keeps its name, offered like risk-eu's own tools</a:t>
            </a:r>
          </a:p>
        </p:txBody>
      </p:sp>
      <p:cxnSp>
        <p:nvCxnSpPr>
          <p:cNvPr id="28" name="Connector 27"/>
          <p:cNvCxnSpPr/>
          <p:nvPr/>
        </p:nvCxnSpPr>
        <p:spPr>
          <a:xfrm>
            <a:off x="2628621" y="2580568"/>
            <a:ext cx="1403100" cy="50122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628790" y="3709384"/>
            <a:ext cx="1402762" cy="48352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819540" y="2725900"/>
            <a:ext cx="907188" cy="34014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549044" y="2727691"/>
            <a:ext cx="695873" cy="294944"/>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822451" y="3401161"/>
            <a:ext cx="3418841" cy="0"/>
          </a:xfrm>
          <a:prstGeom prst="line">
            <a:avLst/>
          </a:prstGeom>
          <a:ln w="20320">
            <a:solidFill>
              <a:srgbClr val="6B748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013711" y="3163417"/>
            <a:ext cx="103632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signed calls</a:t>
            </a:r>
          </a:p>
        </p:txBody>
      </p:sp>
      <p:cxnSp>
        <p:nvCxnSpPr>
          <p:cNvPr id="34" name="Connector 33"/>
          <p:cNvCxnSpPr/>
          <p:nvPr/>
        </p:nvCxnSpPr>
        <p:spPr>
          <a:xfrm>
            <a:off x="10137989" y="3894200"/>
            <a:ext cx="0" cy="35588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925753" y="3894200"/>
            <a:ext cx="0" cy="518541"/>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RESIDENCY AND REDACTION</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Data classes decide where data may flow, in arguments and in results</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71</a:t>
            </a:r>
          </a:p>
        </p:txBody>
      </p:sp>
      <p:sp>
        <p:nvSpPr>
          <p:cNvPr id="17" name="Rectangle 16"/>
          <p:cNvSpPr/>
          <p:nvPr/>
        </p:nvSpPr>
        <p:spPr>
          <a:xfrm>
            <a:off x="777240" y="4664964"/>
            <a:ext cx="5105863" cy="1580388"/>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664964"/>
            <a:ext cx="41148" cy="158038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811268"/>
            <a:ext cx="4721815" cy="1306068"/>
          </a:xfrm>
          <a:prstGeom prst="rect">
            <a:avLst/>
          </a:prstGeom>
          <a:noFill/>
        </p:spPr>
        <p:txBody>
          <a:bodyPr wrap="square" lIns="0" rIns="0" tIns="0" bIns="0" anchor="t">
            <a:spAutoFit/>
          </a:bodyPr>
          <a:lstStyle/>
          <a:p>
            <a:pPr algn="l">
              <a:lnSpc>
                <a:spcPct val="110000"/>
              </a:lnSpc>
              <a:spcBef>
                <a:spcPts val="0"/>
              </a:spcBef>
              <a:spcAft>
                <a:spcPts val="200"/>
              </a:spcAft>
            </a:pPr>
            <a:r>
              <a:rPr sz="1300" b="0" i="0">
                <a:solidFill>
                  <a:srgbClr val="6B7480"/>
                </a:solidFill>
                <a:latin typeface="Consolas"/>
              </a:rPr>
              <a:t># inputSchema marks a field's class</a:t>
            </a:r>
          </a:p>
          <a:p>
            <a:pPr>
              <a:lnSpc>
                <a:spcPct val="110000"/>
              </a:lnSpc>
              <a:spcBef>
                <a:spcPts val="0"/>
              </a:spcBef>
              <a:spcAft>
                <a:spcPts val="200"/>
              </a:spcAft>
            </a:pPr>
            <a:r>
              <a:rPr sz="1300" b="0" i="0">
                <a:solidFill>
                  <a:srgbClr val="1A1A1A"/>
                </a:solidFill>
                <a:latin typeface="Consolas"/>
              </a:rPr>
              <a:t>"portfolio": {"type": "string",</a:t>
            </a:r>
          </a:p>
          <a:p>
            <a:pPr>
              <a:lnSpc>
                <a:spcPct val="110000"/>
              </a:lnSpc>
              <a:spcBef>
                <a:spcPts val="0"/>
              </a:spcBef>
              <a:spcAft>
                <a:spcPts val="200"/>
              </a:spcAft>
            </a:pPr>
            <a:r>
              <a:rPr sz="1300" b="0" i="0">
                <a:solidFill>
                  <a:srgbClr val="1A1A1A"/>
                </a:solidFill>
                <a:latin typeface="Consolas"/>
              </a:rPr>
              <a:t>  "x-sajha-data-class": "confidential"}</a:t>
            </a:r>
          </a:p>
        </p:txBody>
      </p:sp>
      <p:sp>
        <p:nvSpPr>
          <p:cNvPr id="20" name="Rectangle 19"/>
          <p:cNvSpPr/>
          <p:nvPr/>
        </p:nvSpPr>
        <p:spPr>
          <a:xfrm>
            <a:off x="6308591" y="4664964"/>
            <a:ext cx="5105863" cy="1580388"/>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8591" y="4664964"/>
            <a:ext cx="41148" cy="158038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191" y="4811268"/>
            <a:ext cx="4721815" cy="1306068"/>
          </a:xfrm>
          <a:prstGeom prst="rect">
            <a:avLst/>
          </a:prstGeom>
          <a:noFill/>
        </p:spPr>
        <p:txBody>
          <a:bodyPr wrap="square" lIns="0" rIns="0" tIns="0" bIns="0" anchor="t">
            <a:spAutoFit/>
          </a:bodyPr>
          <a:lstStyle/>
          <a:p>
            <a:pPr algn="l">
              <a:lnSpc>
                <a:spcPct val="110000"/>
              </a:lnSpc>
              <a:spcBef>
                <a:spcPts val="0"/>
              </a:spcBef>
              <a:spcAft>
                <a:spcPts val="200"/>
              </a:spcAft>
            </a:pPr>
            <a:r>
              <a:rPr sz="1300" b="0" i="0">
                <a:solidFill>
                  <a:srgbClr val="6B7480"/>
                </a:solidFill>
                <a:latin typeface="Consolas"/>
              </a:rPr>
              <a:t># a redact rule sends the call anyway</a:t>
            </a:r>
          </a:p>
          <a:p>
            <a:pPr>
              <a:lnSpc>
                <a:spcPct val="110000"/>
              </a:lnSpc>
              <a:spcBef>
                <a:spcPts val="0"/>
              </a:spcBef>
              <a:spcAft>
                <a:spcPts val="200"/>
              </a:spcAft>
            </a:pPr>
            <a:r>
              <a:rPr sz="1300" b="0" i="0">
                <a:solidFill>
                  <a:srgbClr val="1A1A1A"/>
                </a:solidFill>
                <a:latin typeface="Consolas"/>
              </a:rPr>
              <a:t>{"portfolio": "[REDACTED:confidential]",</a:t>
            </a:r>
          </a:p>
          <a:p>
            <a:pPr>
              <a:lnSpc>
                <a:spcPct val="110000"/>
              </a:lnSpc>
              <a:spcBef>
                <a:spcPts val="0"/>
              </a:spcBef>
              <a:spcAft>
                <a:spcPts val="200"/>
              </a:spcAft>
            </a:pPr>
            <a:r>
              <a:rPr sz="1300" b="0" i="0">
                <a:solidFill>
                  <a:srgbClr val="1A1A1A"/>
                </a:solidFill>
                <a:latin typeface="Consolas"/>
              </a:rPr>
              <a:t> "horizon": 10}</a:t>
            </a:r>
          </a:p>
        </p:txBody>
      </p:sp>
      <p:sp>
        <p:nvSpPr>
          <p:cNvPr id="23" name="Rounded Rectangle 22"/>
          <p:cNvSpPr/>
          <p:nvPr/>
        </p:nvSpPr>
        <p:spPr>
          <a:xfrm>
            <a:off x="777240" y="1602962"/>
            <a:ext cx="1595582" cy="1086516"/>
          </a:xfrm>
          <a:prstGeom prst="roundRect">
            <a:avLst>
              <a:gd name="adj" fmla="val 673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home: risk-eu</a:t>
            </a:r>
          </a:p>
          <a:p>
            <a:pPr algn="ctr">
              <a:lnSpc>
                <a:spcPct val="105000"/>
              </a:lnSpc>
              <a:spcBef>
                <a:spcPts val="0"/>
              </a:spcBef>
              <a:spcAft>
                <a:spcPts val="0"/>
              </a:spcAft>
            </a:pPr>
            <a:r>
              <a:rPr sz="1150" b="0" i="0">
                <a:solidFill>
                  <a:srgbClr val="FFFFFF"/>
                </a:solidFill>
                <a:latin typeface="Calibri"/>
              </a:rPr>
              <a:t>region eu-west</a:t>
            </a:r>
          </a:p>
        </p:txBody>
      </p:sp>
      <p:sp>
        <p:nvSpPr>
          <p:cNvPr id="24" name="Hexagon 23"/>
          <p:cNvSpPr/>
          <p:nvPr/>
        </p:nvSpPr>
        <p:spPr>
          <a:xfrm>
            <a:off x="2904683" y="1504188"/>
            <a:ext cx="2127443" cy="1284065"/>
          </a:xfrm>
          <a:prstGeom prst="hexagon">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arguments</a:t>
            </a:r>
          </a:p>
          <a:p>
            <a:pPr algn="ctr">
              <a:lnSpc>
                <a:spcPct val="105000"/>
              </a:lnSpc>
              <a:spcBef>
                <a:spcPts val="0"/>
              </a:spcBef>
              <a:spcAft>
                <a:spcPts val="0"/>
              </a:spcAft>
            </a:pPr>
            <a:r>
              <a:rPr sz="1050" b="0" i="0">
                <a:solidFill>
                  <a:srgbClr val="1A1A1A"/>
                </a:solidFill>
                <a:latin typeface="Calibri"/>
              </a:rPr>
              <a:t>classes of the fields sent vs the host's region and labels</a:t>
            </a:r>
          </a:p>
        </p:txBody>
      </p:sp>
      <p:sp>
        <p:nvSpPr>
          <p:cNvPr id="25" name="Rounded Rectangle 24"/>
          <p:cNvSpPr/>
          <p:nvPr/>
        </p:nvSpPr>
        <p:spPr>
          <a:xfrm>
            <a:off x="5563986" y="1602962"/>
            <a:ext cx="1595582" cy="1086516"/>
          </a:xfrm>
          <a:prstGeom prst="roundRect">
            <a:avLst>
              <a:gd name="adj" fmla="val 673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host: cust-na</a:t>
            </a:r>
          </a:p>
          <a:p>
            <a:pPr algn="ctr">
              <a:lnSpc>
                <a:spcPct val="105000"/>
              </a:lnSpc>
              <a:spcBef>
                <a:spcPts val="0"/>
              </a:spcBef>
              <a:spcAft>
                <a:spcPts val="0"/>
              </a:spcAft>
            </a:pPr>
            <a:r>
              <a:rPr sz="1150" b="0" i="0">
                <a:solidFill>
                  <a:srgbClr val="FFFFFF"/>
                </a:solidFill>
                <a:latin typeface="Calibri"/>
              </a:rPr>
              <a:t>region na-east</a:t>
            </a:r>
          </a:p>
        </p:txBody>
      </p:sp>
      <p:sp>
        <p:nvSpPr>
          <p:cNvPr id="26" name="Hexagon 25"/>
          <p:cNvSpPr/>
          <p:nvPr/>
        </p:nvSpPr>
        <p:spPr>
          <a:xfrm>
            <a:off x="7691429" y="1504188"/>
            <a:ext cx="2127443" cy="1284065"/>
          </a:xfrm>
          <a:prstGeom prst="hexagon">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results</a:t>
            </a:r>
          </a:p>
          <a:p>
            <a:pPr algn="ctr">
              <a:lnSpc>
                <a:spcPct val="105000"/>
              </a:lnSpc>
              <a:spcBef>
                <a:spcPts val="0"/>
              </a:spcBef>
              <a:spcAft>
                <a:spcPts val="0"/>
              </a:spcAft>
            </a:pPr>
            <a:r>
              <a:rPr sz="1050" b="0" i="0">
                <a:solidFill>
                  <a:srgbClr val="1A1A1A"/>
                </a:solidFill>
                <a:latin typeface="Calibri"/>
              </a:rPr>
              <a:t>classes of the fields returned vs the home's region</a:t>
            </a:r>
          </a:p>
        </p:txBody>
      </p:sp>
      <p:sp>
        <p:nvSpPr>
          <p:cNvPr id="27" name="Rounded Rectangle 26"/>
          <p:cNvSpPr/>
          <p:nvPr/>
        </p:nvSpPr>
        <p:spPr>
          <a:xfrm>
            <a:off x="10137989" y="1602962"/>
            <a:ext cx="1276465" cy="1086516"/>
          </a:xfrm>
          <a:prstGeom prst="roundRect">
            <a:avLst>
              <a:gd name="adj" fmla="val 6732"/>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on arrival</a:t>
            </a:r>
          </a:p>
          <a:p>
            <a:pPr algn="ctr">
              <a:lnSpc>
                <a:spcPct val="105000"/>
              </a:lnSpc>
              <a:spcBef>
                <a:spcPts val="0"/>
              </a:spcBef>
              <a:spcAft>
                <a:spcPts val="0"/>
              </a:spcAft>
            </a:pPr>
            <a:r>
              <a:rPr sz="1050" b="0" i="0">
                <a:solidFill>
                  <a:srgbClr val="1A1A1A"/>
                </a:solidFill>
                <a:latin typeface="Calibri"/>
              </a:rPr>
              <a:t>the home's own rules</a:t>
            </a:r>
          </a:p>
        </p:txBody>
      </p:sp>
      <p:sp>
        <p:nvSpPr>
          <p:cNvPr id="28" name="Rounded Rectangle 27"/>
          <p:cNvSpPr/>
          <p:nvPr/>
        </p:nvSpPr>
        <p:spPr>
          <a:xfrm>
            <a:off x="2585566" y="3380898"/>
            <a:ext cx="2765675" cy="839581"/>
          </a:xfrm>
          <a:prstGeom prst="roundRect">
            <a:avLst>
              <a:gd name="adj" fmla="val 871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deny: -32012, not executed</a:t>
            </a:r>
          </a:p>
          <a:p>
            <a:pPr algn="ctr">
              <a:lnSpc>
                <a:spcPct val="105000"/>
              </a:lnSpc>
              <a:spcBef>
                <a:spcPts val="0"/>
              </a:spcBef>
              <a:spcAft>
                <a:spcPts val="0"/>
              </a:spcAft>
            </a:pPr>
            <a:r>
              <a:rPr sz="950" b="0" i="0">
                <a:solidFill>
                  <a:srgbClr val="1A1A1A"/>
                </a:solidFill>
                <a:latin typeface="Calibri"/>
              </a:rPr>
              <a:t>a plain name moves to a host that may receive it</a:t>
            </a:r>
          </a:p>
        </p:txBody>
      </p:sp>
      <p:sp>
        <p:nvSpPr>
          <p:cNvPr id="29" name="Rounded Rectangle 28"/>
          <p:cNvSpPr/>
          <p:nvPr/>
        </p:nvSpPr>
        <p:spPr>
          <a:xfrm>
            <a:off x="7372313" y="3380898"/>
            <a:ext cx="2765675" cy="839581"/>
          </a:xfrm>
          <a:prstGeom prst="roundRect">
            <a:avLst>
              <a:gd name="adj" fmla="val 871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deny: -32012, executed</a:t>
            </a:r>
          </a:p>
          <a:p>
            <a:pPr algn="ctr">
              <a:lnSpc>
                <a:spcPct val="105000"/>
              </a:lnSpc>
              <a:spcBef>
                <a:spcPts val="0"/>
              </a:spcBef>
              <a:spcAft>
                <a:spcPts val="0"/>
              </a:spcAft>
            </a:pPr>
            <a:r>
              <a:rPr sz="950" b="0" i="0">
                <a:solidFill>
                  <a:srgbClr val="1A1A1A"/>
                </a:solidFill>
                <a:latin typeface="Calibri"/>
              </a:rPr>
              <a:t>a class marked for the whole result cannot be redacted</a:t>
            </a:r>
          </a:p>
        </p:txBody>
      </p:sp>
      <p:cxnSp>
        <p:nvCxnSpPr>
          <p:cNvPr id="30" name="Connector 29"/>
          <p:cNvCxnSpPr/>
          <p:nvPr/>
        </p:nvCxnSpPr>
        <p:spPr>
          <a:xfrm>
            <a:off x="2418542" y="2146220"/>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5077846" y="2146220"/>
            <a:ext cx="440420"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205289" y="2146220"/>
            <a:ext cx="44042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864592" y="2146220"/>
            <a:ext cx="227677"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968404" y="2833973"/>
            <a:ext cx="0" cy="501205"/>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755151" y="2833973"/>
            <a:ext cx="0" cy="501205"/>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PLANNERS AND LLM TOOLS ACROSS THE NET</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Planners see where each tool runs; one budget bounds the whole call chain</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72</a:t>
            </a:r>
          </a:p>
        </p:txBody>
      </p:sp>
      <p:sp>
        <p:nvSpPr>
          <p:cNvPr id="17" name="Rounded Rectangle 16"/>
          <p:cNvSpPr/>
          <p:nvPr/>
        </p:nvSpPr>
        <p:spPr>
          <a:xfrm>
            <a:off x="777240" y="1889892"/>
            <a:ext cx="4254886" cy="556016"/>
          </a:xfrm>
          <a:prstGeom prst="roundRect">
            <a:avLst>
              <a:gd name="adj" fmla="val 1315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local tools</a:t>
            </a:r>
          </a:p>
        </p:txBody>
      </p:sp>
      <p:sp>
        <p:nvSpPr>
          <p:cNvPr id="18" name="Rounded Rectangle 17"/>
          <p:cNvSpPr/>
          <p:nvPr/>
        </p:nvSpPr>
        <p:spPr>
          <a:xfrm>
            <a:off x="777240" y="2584912"/>
            <a:ext cx="3829397" cy="556016"/>
          </a:xfrm>
          <a:prstGeom prst="roundRect">
            <a:avLst>
              <a:gd name="adj" fmla="val 1315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remote, in the tool's preferences</a:t>
            </a:r>
          </a:p>
        </p:txBody>
      </p:sp>
      <p:sp>
        <p:nvSpPr>
          <p:cNvPr id="19" name="Rounded Rectangle 18"/>
          <p:cNvSpPr/>
          <p:nvPr/>
        </p:nvSpPr>
        <p:spPr>
          <a:xfrm>
            <a:off x="777240" y="3279932"/>
            <a:ext cx="3403908" cy="556016"/>
          </a:xfrm>
          <a:prstGeom prst="roundRect">
            <a:avLst>
              <a:gd name="adj" fmla="val 1315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remote, same region, healthy</a:t>
            </a:r>
          </a:p>
        </p:txBody>
      </p:sp>
      <p:sp>
        <p:nvSpPr>
          <p:cNvPr id="20" name="Rounded Rectangle 19"/>
          <p:cNvSpPr/>
          <p:nvPr/>
        </p:nvSpPr>
        <p:spPr>
          <a:xfrm>
            <a:off x="777240" y="3974952"/>
            <a:ext cx="2978420" cy="556016"/>
          </a:xfrm>
          <a:prstGeom prst="roundRect">
            <a:avLst>
              <a:gd name="adj" fmla="val 1315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remote, lower latency</a:t>
            </a:r>
          </a:p>
        </p:txBody>
      </p:sp>
      <p:sp>
        <p:nvSpPr>
          <p:cNvPr id="21" name="Rounded Rectangle 20"/>
          <p:cNvSpPr/>
          <p:nvPr/>
        </p:nvSpPr>
        <p:spPr>
          <a:xfrm>
            <a:off x="6095847" y="1889892"/>
            <a:ext cx="1595582" cy="926693"/>
          </a:xfrm>
          <a:prstGeom prst="roundRect">
            <a:avLst>
              <a:gd name="adj" fmla="val 7893"/>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planner at home</a:t>
            </a:r>
          </a:p>
          <a:p>
            <a:pPr algn="ctr">
              <a:lnSpc>
                <a:spcPct val="105000"/>
              </a:lnSpc>
              <a:spcBef>
                <a:spcPts val="0"/>
              </a:spcBef>
              <a:spcAft>
                <a:spcPts val="0"/>
              </a:spcAft>
            </a:pPr>
            <a:r>
              <a:rPr sz="1050" b="0" i="0">
                <a:solidFill>
                  <a:srgbClr val="FFFFFF"/>
                </a:solidFill>
                <a:latin typeface="Calibri"/>
              </a:rPr>
              <a:t>risk-eu</a:t>
            </a:r>
          </a:p>
        </p:txBody>
      </p:sp>
      <p:sp>
        <p:nvSpPr>
          <p:cNvPr id="22" name="Rounded Rectangle 21"/>
          <p:cNvSpPr/>
          <p:nvPr/>
        </p:nvSpPr>
        <p:spPr>
          <a:xfrm>
            <a:off x="9074267" y="1889892"/>
            <a:ext cx="2340187" cy="926693"/>
          </a:xfrm>
          <a:prstGeom prst="roundRect">
            <a:avLst>
              <a:gd name="adj" fmla="val 7893"/>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remote LLM tool</a:t>
            </a:r>
          </a:p>
          <a:p>
            <a:pPr algn="ctr">
              <a:lnSpc>
                <a:spcPct val="105000"/>
              </a:lnSpc>
              <a:spcBef>
                <a:spcPts val="0"/>
              </a:spcBef>
              <a:spcAft>
                <a:spcPts val="0"/>
              </a:spcAft>
            </a:pPr>
            <a:r>
              <a:rPr sz="1050" b="0" i="0">
                <a:solidFill>
                  <a:srgbClr val="FFFFFF"/>
                </a:solidFill>
                <a:latin typeface="Calibri"/>
              </a:rPr>
              <a:t>runs on the host as the mapped user</a:t>
            </a:r>
          </a:p>
        </p:txBody>
      </p:sp>
      <p:sp>
        <p:nvSpPr>
          <p:cNvPr id="23" name="Rounded Rectangle 22"/>
          <p:cNvSpPr/>
          <p:nvPr/>
        </p:nvSpPr>
        <p:spPr>
          <a:xfrm>
            <a:off x="6095847" y="3557940"/>
            <a:ext cx="1595582" cy="1019362"/>
          </a:xfrm>
          <a:prstGeom prst="roundRect">
            <a:avLst>
              <a:gd name="adj" fmla="val 717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memory stays home</a:t>
            </a:r>
          </a:p>
          <a:p>
            <a:pPr algn="ctr">
              <a:lnSpc>
                <a:spcPct val="105000"/>
              </a:lnSpc>
              <a:spcBef>
                <a:spcPts val="0"/>
              </a:spcBef>
              <a:spcAft>
                <a:spcPts val="0"/>
              </a:spcAft>
            </a:pPr>
            <a:r>
              <a:rPr sz="950" b="0" i="0">
                <a:solidFill>
                  <a:srgbClr val="1A1A1A"/>
                </a:solidFill>
                <a:latin typeface="Calibri"/>
              </a:rPr>
              <a:t>the remote tool gets its arguments only</a:t>
            </a:r>
          </a:p>
        </p:txBody>
      </p:sp>
      <p:sp>
        <p:nvSpPr>
          <p:cNvPr id="24" name="Rounded Rectangle 23"/>
          <p:cNvSpPr/>
          <p:nvPr/>
        </p:nvSpPr>
        <p:spPr>
          <a:xfrm>
            <a:off x="9074267" y="3557940"/>
            <a:ext cx="2340187" cy="1019362"/>
          </a:xfrm>
          <a:prstGeom prst="roundRect">
            <a:avLst>
              <a:gd name="adj" fmla="val 7176"/>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host's models and budget</a:t>
            </a:r>
          </a:p>
          <a:p>
            <a:pPr algn="ctr">
              <a:lnSpc>
                <a:spcPct val="105000"/>
              </a:lnSpc>
              <a:spcBef>
                <a:spcPts val="0"/>
              </a:spcBef>
              <a:spcAft>
                <a:spcPts val="0"/>
              </a:spcAft>
            </a:pPr>
            <a:r>
              <a:rPr sz="950" b="0" i="0">
                <a:solidFill>
                  <a:srgbClr val="1A1A1A"/>
                </a:solidFill>
                <a:latin typeface="Calibri"/>
              </a:rPr>
              <a:t>spend reported back, never charged twice</a:t>
            </a:r>
          </a:p>
        </p:txBody>
      </p:sp>
      <p:sp>
        <p:nvSpPr>
          <p:cNvPr id="25" name="Rounded Rectangle 24"/>
          <p:cNvSpPr/>
          <p:nvPr/>
        </p:nvSpPr>
        <p:spPr>
          <a:xfrm>
            <a:off x="819788" y="5503997"/>
            <a:ext cx="1244554" cy="648685"/>
          </a:xfrm>
          <a:prstGeom prst="roundRect">
            <a:avLst>
              <a:gd name="adj" fmla="val 1127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hop</a:t>
            </a:r>
          </a:p>
        </p:txBody>
      </p:sp>
      <p:sp>
        <p:nvSpPr>
          <p:cNvPr id="26" name="Rounded Rectangle 25"/>
          <p:cNvSpPr/>
          <p:nvPr/>
        </p:nvSpPr>
        <p:spPr>
          <a:xfrm>
            <a:off x="2149440" y="5503997"/>
            <a:ext cx="1244554" cy="648685"/>
          </a:xfrm>
          <a:prstGeom prst="roundRect">
            <a:avLst>
              <a:gd name="adj" fmla="val 1127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composite</a:t>
            </a:r>
          </a:p>
        </p:txBody>
      </p:sp>
      <p:sp>
        <p:nvSpPr>
          <p:cNvPr id="27" name="Rounded Rectangle 26"/>
          <p:cNvSpPr/>
          <p:nvPr/>
        </p:nvSpPr>
        <p:spPr>
          <a:xfrm>
            <a:off x="3479092" y="5503997"/>
            <a:ext cx="1244554" cy="648685"/>
          </a:xfrm>
          <a:prstGeom prst="roundRect">
            <a:avLst>
              <a:gd name="adj" fmla="val 1127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LLM tool</a:t>
            </a:r>
          </a:p>
        </p:txBody>
      </p:sp>
      <p:sp>
        <p:nvSpPr>
          <p:cNvPr id="28" name="Rounded Rectangle 27"/>
          <p:cNvSpPr/>
          <p:nvPr/>
        </p:nvSpPr>
        <p:spPr>
          <a:xfrm>
            <a:off x="4808744" y="5503997"/>
            <a:ext cx="1244554" cy="648685"/>
          </a:xfrm>
          <a:prstGeom prst="roundRect">
            <a:avLst>
              <a:gd name="adj" fmla="val 1127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FFFFFF"/>
                </a:solidFill>
                <a:latin typeface="Calibri"/>
              </a:rPr>
              <a:t>hop</a:t>
            </a:r>
          </a:p>
        </p:txBody>
      </p:sp>
      <p:sp>
        <p:nvSpPr>
          <p:cNvPr id="29" name="Rounded Rectangle 28"/>
          <p:cNvSpPr/>
          <p:nvPr/>
        </p:nvSpPr>
        <p:spPr>
          <a:xfrm>
            <a:off x="6138396" y="5503997"/>
            <a:ext cx="1244554" cy="648685"/>
          </a:xfrm>
          <a:prstGeom prst="roundRect">
            <a:avLst>
              <a:gd name="adj" fmla="val 1127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free</a:t>
            </a:r>
          </a:p>
        </p:txBody>
      </p:sp>
      <p:sp>
        <p:nvSpPr>
          <p:cNvPr id="30" name="Rounded Rectangle 29"/>
          <p:cNvSpPr/>
          <p:nvPr/>
        </p:nvSpPr>
        <p:spPr>
          <a:xfrm>
            <a:off x="7468048" y="5503997"/>
            <a:ext cx="1244554" cy="648685"/>
          </a:xfrm>
          <a:prstGeom prst="roundRect">
            <a:avLst>
              <a:gd name="adj" fmla="val 1127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free</a:t>
            </a:r>
          </a:p>
        </p:txBody>
      </p:sp>
      <p:sp>
        <p:nvSpPr>
          <p:cNvPr id="31" name="Rounded Rectangle 30"/>
          <p:cNvSpPr/>
          <p:nvPr/>
        </p:nvSpPr>
        <p:spPr>
          <a:xfrm>
            <a:off x="8797700" y="5503997"/>
            <a:ext cx="1244554" cy="648685"/>
          </a:xfrm>
          <a:prstGeom prst="roundRect">
            <a:avLst>
              <a:gd name="adj" fmla="val 1127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free</a:t>
            </a:r>
          </a:p>
        </p:txBody>
      </p:sp>
      <p:sp>
        <p:nvSpPr>
          <p:cNvPr id="32" name="Rounded Rectangle 31"/>
          <p:cNvSpPr/>
          <p:nvPr/>
        </p:nvSpPr>
        <p:spPr>
          <a:xfrm>
            <a:off x="10127352" y="5503997"/>
            <a:ext cx="1244554" cy="648685"/>
          </a:xfrm>
          <a:prstGeom prst="roundRect">
            <a:avLst>
              <a:gd name="adj" fmla="val 1127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free</a:t>
            </a:r>
          </a:p>
        </p:txBody>
      </p:sp>
      <p:sp>
        <p:nvSpPr>
          <p:cNvPr id="33" name="TextBox 32"/>
          <p:cNvSpPr txBox="1"/>
          <p:nvPr/>
        </p:nvSpPr>
        <p:spPr>
          <a:xfrm>
            <a:off x="777240" y="1611884"/>
            <a:ext cx="4786746" cy="278008"/>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SHORTLIST ORDER (small nudges to the score)</a:t>
            </a:r>
          </a:p>
        </p:txBody>
      </p:sp>
      <p:sp>
        <p:nvSpPr>
          <p:cNvPr id="34" name="TextBox 33"/>
          <p:cNvSpPr txBox="1"/>
          <p:nvPr/>
        </p:nvSpPr>
        <p:spPr>
          <a:xfrm>
            <a:off x="777240" y="4994315"/>
            <a:ext cx="10637215" cy="370677"/>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CALL-CHAIN BUDGET: hops plus nesting on every instance passed, at most 8 (sajhanet.max_call_chain, shipped)</a:t>
            </a:r>
          </a:p>
        </p:txBody>
      </p:sp>
      <p:cxnSp>
        <p:nvCxnSpPr>
          <p:cNvPr id="35" name="Connector 34"/>
          <p:cNvCxnSpPr/>
          <p:nvPr/>
        </p:nvCxnSpPr>
        <p:spPr>
          <a:xfrm>
            <a:off x="7737149" y="2353238"/>
            <a:ext cx="1291398"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49168" y="2115494"/>
            <a:ext cx="467359"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call</a:t>
            </a:r>
          </a:p>
        </p:txBody>
      </p:sp>
      <p:cxnSp>
        <p:nvCxnSpPr>
          <p:cNvPr id="37" name="Connector 36"/>
          <p:cNvCxnSpPr/>
          <p:nvPr/>
        </p:nvCxnSpPr>
        <p:spPr>
          <a:xfrm>
            <a:off x="10244361" y="2862305"/>
            <a:ext cx="0" cy="649915"/>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893638" y="2862305"/>
            <a:ext cx="0" cy="649915"/>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RE-EXPORT AND BRIDGES</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A tool can travel one more hop, within a net or across a bridge, only when turned on</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73</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One hop by default: a server exports only its own tools. Every instance on a longer chain must accept the extra hop (max_hops 2 for one intermediary), and the call-chain budget still applies on every step.</a:t>
            </a:r>
          </a:p>
        </p:txBody>
      </p:sp>
      <p:sp>
        <p:nvSpPr>
          <p:cNvPr id="19" name="Rectangle 18"/>
          <p:cNvSpPr/>
          <p:nvPr/>
        </p:nvSpPr>
        <p:spPr>
          <a:xfrm>
            <a:off x="777240" y="1530553"/>
            <a:ext cx="10637215" cy="1707946"/>
          </a:xfrm>
          <a:prstGeom prst="rect">
            <a:avLst/>
          </a:prstGeom>
          <a:noFill/>
          <a:ln w="15875">
            <a:solidFill>
              <a:srgbClr val="6B748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1594561"/>
            <a:ext cx="1041775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B7480"/>
                </a:solidFill>
                <a:latin typeface="Calibri"/>
              </a:rPr>
              <a:t>RE-EXPORT WITHIN ONE NET</a:t>
            </a:r>
          </a:p>
        </p:txBody>
      </p:sp>
      <p:sp>
        <p:nvSpPr>
          <p:cNvPr id="21" name="Rectangle 20"/>
          <p:cNvSpPr/>
          <p:nvPr/>
        </p:nvSpPr>
        <p:spPr>
          <a:xfrm>
            <a:off x="777240" y="3726484"/>
            <a:ext cx="6382329" cy="187060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86968" y="3790492"/>
            <a:ext cx="6162873"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NET M</a:t>
            </a:r>
          </a:p>
        </p:txBody>
      </p:sp>
      <p:sp>
        <p:nvSpPr>
          <p:cNvPr id="23" name="Rectangle 22"/>
          <p:cNvSpPr/>
          <p:nvPr/>
        </p:nvSpPr>
        <p:spPr>
          <a:xfrm>
            <a:off x="5032126" y="3889146"/>
            <a:ext cx="6382329" cy="1545285"/>
          </a:xfrm>
          <a:prstGeom prst="rect">
            <a:avLst/>
          </a:prstGeom>
          <a:noFill/>
          <a:ln w="15875">
            <a:solidFill>
              <a:srgbClr val="2933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41854" y="3953154"/>
            <a:ext cx="6162873"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293352"/>
                </a:solidFill>
                <a:latin typeface="Calibri"/>
              </a:rPr>
              <a:t>NET N</a:t>
            </a:r>
          </a:p>
        </p:txBody>
      </p:sp>
      <p:sp>
        <p:nvSpPr>
          <p:cNvPr id="25" name="Rounded Rectangle 24"/>
          <p:cNvSpPr/>
          <p:nvPr/>
        </p:nvSpPr>
        <p:spPr>
          <a:xfrm>
            <a:off x="777240" y="2018538"/>
            <a:ext cx="1701954" cy="813308"/>
          </a:xfrm>
          <a:prstGeom prst="roundRect">
            <a:avLst>
              <a:gd name="adj" fmla="val 899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home A</a:t>
            </a:r>
          </a:p>
          <a:p>
            <a:pPr algn="ctr">
              <a:lnSpc>
                <a:spcPct val="105000"/>
              </a:lnSpc>
              <a:spcBef>
                <a:spcPts val="0"/>
              </a:spcBef>
              <a:spcAft>
                <a:spcPts val="0"/>
              </a:spcAft>
            </a:pPr>
            <a:r>
              <a:rPr sz="1050" b="0" i="0">
                <a:solidFill>
                  <a:srgbClr val="1A1A1A"/>
                </a:solidFill>
                <a:latin typeface="Calibri"/>
              </a:rPr>
              <a:t>the caller</a:t>
            </a:r>
          </a:p>
        </p:txBody>
      </p:sp>
      <p:sp>
        <p:nvSpPr>
          <p:cNvPr id="26" name="Rounded Rectangle 25"/>
          <p:cNvSpPr/>
          <p:nvPr/>
        </p:nvSpPr>
        <p:spPr>
          <a:xfrm>
            <a:off x="4819381" y="2018538"/>
            <a:ext cx="2127443" cy="813308"/>
          </a:xfrm>
          <a:prstGeom prst="roundRect">
            <a:avLst>
              <a:gd name="adj" fmla="val 899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intermediary B</a:t>
            </a:r>
          </a:p>
          <a:p>
            <a:pPr algn="ctr">
              <a:lnSpc>
                <a:spcPct val="105000"/>
              </a:lnSpc>
              <a:spcBef>
                <a:spcPts val="0"/>
              </a:spcBef>
              <a:spcAft>
                <a:spcPts val="0"/>
              </a:spcAft>
            </a:pPr>
            <a:r>
              <a:rPr sz="1050" b="0" i="0">
                <a:solidFill>
                  <a:srgbClr val="FFFFFF"/>
                </a:solidFill>
                <a:latin typeface="Calibri"/>
              </a:rPr>
              <a:t>re-exports C's tool</a:t>
            </a:r>
          </a:p>
        </p:txBody>
      </p:sp>
      <p:sp>
        <p:nvSpPr>
          <p:cNvPr id="27" name="Rounded Rectangle 26"/>
          <p:cNvSpPr/>
          <p:nvPr/>
        </p:nvSpPr>
        <p:spPr>
          <a:xfrm>
            <a:off x="9499756" y="2018538"/>
            <a:ext cx="1914698" cy="813308"/>
          </a:xfrm>
          <a:prstGeom prst="roundRect">
            <a:avLst>
              <a:gd name="adj" fmla="val 899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origin C</a:t>
            </a:r>
          </a:p>
          <a:p>
            <a:pPr algn="ctr">
              <a:lnSpc>
                <a:spcPct val="105000"/>
              </a:lnSpc>
              <a:spcBef>
                <a:spcPts val="0"/>
              </a:spcBef>
              <a:spcAft>
                <a:spcPts val="0"/>
              </a:spcAft>
            </a:pPr>
            <a:r>
              <a:rPr sz="1050" b="0" i="0">
                <a:solidFill>
                  <a:srgbClr val="FFFFFF"/>
                </a:solidFill>
                <a:latin typeface="Calibri"/>
              </a:rPr>
              <a:t>hosts the tool</a:t>
            </a:r>
          </a:p>
        </p:txBody>
      </p:sp>
      <p:sp>
        <p:nvSpPr>
          <p:cNvPr id="28" name="Rounded Rectangle 27"/>
          <p:cNvSpPr/>
          <p:nvPr/>
        </p:nvSpPr>
        <p:spPr>
          <a:xfrm>
            <a:off x="1096356" y="4295800"/>
            <a:ext cx="1914698" cy="691311"/>
          </a:xfrm>
          <a:prstGeom prst="roundRect">
            <a:avLst>
              <a:gd name="adj" fmla="val 1058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member of net M</a:t>
            </a:r>
          </a:p>
        </p:txBody>
      </p:sp>
      <p:sp>
        <p:nvSpPr>
          <p:cNvPr id="29" name="Hexagon 28"/>
          <p:cNvSpPr/>
          <p:nvPr/>
        </p:nvSpPr>
        <p:spPr>
          <a:xfrm>
            <a:off x="5138498" y="4133138"/>
            <a:ext cx="1914698" cy="1016634"/>
          </a:xfrm>
          <a:prstGeom prst="hexagon">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bridge</a:t>
            </a:r>
          </a:p>
          <a:p>
            <a:pPr algn="ctr">
              <a:lnSpc>
                <a:spcPct val="105000"/>
              </a:lnSpc>
              <a:spcBef>
                <a:spcPts val="0"/>
              </a:spcBef>
              <a:spcAft>
                <a:spcPts val="0"/>
              </a:spcAft>
            </a:pPr>
            <a:r>
              <a:rPr sz="1050" b="0" i="0">
                <a:solidFill>
                  <a:srgbClr val="FFFFFF"/>
                </a:solidFill>
                <a:latin typeface="Calibri"/>
              </a:rPr>
              <a:t>a server in both nets</a:t>
            </a:r>
          </a:p>
        </p:txBody>
      </p:sp>
      <p:sp>
        <p:nvSpPr>
          <p:cNvPr id="30" name="Rounded Rectangle 29"/>
          <p:cNvSpPr/>
          <p:nvPr/>
        </p:nvSpPr>
        <p:spPr>
          <a:xfrm>
            <a:off x="9180640" y="4295800"/>
            <a:ext cx="1914698" cy="691311"/>
          </a:xfrm>
          <a:prstGeom prst="roundRect">
            <a:avLst>
              <a:gd name="adj" fmla="val 1058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member of net N</a:t>
            </a:r>
          </a:p>
        </p:txBody>
      </p:sp>
      <p:cxnSp>
        <p:nvCxnSpPr>
          <p:cNvPr id="31" name="Connector 30"/>
          <p:cNvCxnSpPr/>
          <p:nvPr/>
        </p:nvCxnSpPr>
        <p:spPr>
          <a:xfrm>
            <a:off x="2524914" y="2425192"/>
            <a:ext cx="2248747"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699074" y="2187448"/>
            <a:ext cx="1900428"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assertion, audience = C</a:t>
            </a:r>
          </a:p>
        </p:txBody>
      </p:sp>
      <p:cxnSp>
        <p:nvCxnSpPr>
          <p:cNvPr id="33" name="Connector 32"/>
          <p:cNvCxnSpPr/>
          <p:nvPr/>
        </p:nvCxnSpPr>
        <p:spPr>
          <a:xfrm>
            <a:off x="6992544" y="2425192"/>
            <a:ext cx="2461492"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161062" y="2187448"/>
            <a:ext cx="2124456"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relayed unchanged, hop + 1</a:t>
            </a:r>
          </a:p>
        </p:txBody>
      </p:sp>
      <p:cxnSp>
        <p:nvCxnSpPr>
          <p:cNvPr id="35" name="Connector 34"/>
          <p:cNvCxnSpPr/>
          <p:nvPr/>
        </p:nvCxnSpPr>
        <p:spPr>
          <a:xfrm flipH="1">
            <a:off x="7098916" y="4641456"/>
            <a:ext cx="2036004"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830662" y="4403712"/>
            <a:ext cx="2572512"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runs as the mapped local account</a:t>
            </a:r>
          </a:p>
        </p:txBody>
      </p:sp>
      <p:cxnSp>
        <p:nvCxnSpPr>
          <p:cNvPr id="37" name="Connector 36"/>
          <p:cNvCxnSpPr/>
          <p:nvPr/>
        </p:nvCxnSpPr>
        <p:spPr>
          <a:xfrm flipH="1">
            <a:off x="3056775" y="4641456"/>
            <a:ext cx="2036003"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75210" y="4403712"/>
            <a:ext cx="2199132" cy="201168"/>
          </a:xfrm>
          <a:prstGeom prst="rect">
            <a:avLst/>
          </a:prstGeom>
          <a:noFill/>
        </p:spPr>
        <p:txBody>
          <a:bodyPr wrap="square" lIns="0" rIns="0" tIns="0" bIns="0" anchor="t">
            <a:spAutoFit/>
          </a:bodyPr>
          <a:lstStyle/>
          <a:p>
            <a:pPr algn="ctr">
              <a:lnSpc>
                <a:spcPct val="120000"/>
              </a:lnSpc>
              <a:spcBef>
                <a:spcPts val="0"/>
              </a:spcBef>
              <a:spcAft>
                <a:spcPts val="0"/>
              </a:spcAft>
            </a:pPr>
            <a:r>
              <a:rPr sz="1050" b="0" i="1">
                <a:solidFill>
                  <a:srgbClr val="6B7480"/>
                </a:solidFill>
                <a:latin typeface="Calibri"/>
              </a:rPr>
              <a:t>a new assertion signed in M</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THREE WAYS TO TAKE PART</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Any MCP server can join: natively, through the agent, or sponsored</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74</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Callers and planners cannot tell the kinds apart; only the member record (kind, and sponsor) says which is which.</a:t>
            </a:r>
          </a:p>
        </p:txBody>
      </p:sp>
      <p:sp>
        <p:nvSpPr>
          <p:cNvPr id="19" name="Rounded Rectangle 18"/>
          <p:cNvSpPr/>
          <p:nvPr/>
        </p:nvSpPr>
        <p:spPr>
          <a:xfrm>
            <a:off x="777240" y="1489557"/>
            <a:ext cx="2765675" cy="914590"/>
          </a:xfrm>
          <a:prstGeom prst="roundRect">
            <a:avLst>
              <a:gd name="adj" fmla="val 799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 instance</a:t>
            </a:r>
          </a:p>
          <a:p>
            <a:pPr algn="ctr">
              <a:lnSpc>
                <a:spcPct val="105000"/>
              </a:lnSpc>
              <a:spcBef>
                <a:spcPts val="0"/>
              </a:spcBef>
              <a:spcAft>
                <a:spcPts val="0"/>
              </a:spcAft>
            </a:pPr>
            <a:r>
              <a:rPr sz="1150" b="0" i="0">
                <a:solidFill>
                  <a:srgbClr val="FFFFFF"/>
                </a:solidFill>
                <a:latin typeface="Calibri"/>
              </a:rPr>
              <a:t>kind sajha: enforces its own rules</a:t>
            </a:r>
          </a:p>
        </p:txBody>
      </p:sp>
      <p:sp>
        <p:nvSpPr>
          <p:cNvPr id="20" name="Rounded Rectangle 19"/>
          <p:cNvSpPr/>
          <p:nvPr/>
        </p:nvSpPr>
        <p:spPr>
          <a:xfrm>
            <a:off x="777240" y="2861443"/>
            <a:ext cx="2765675" cy="914590"/>
          </a:xfrm>
          <a:prstGeom prst="roundRect">
            <a:avLst>
              <a:gd name="adj" fmla="val 7998"/>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 Net agent</a:t>
            </a:r>
          </a:p>
          <a:p>
            <a:pPr algn="ctr">
              <a:lnSpc>
                <a:spcPct val="105000"/>
              </a:lnSpc>
              <a:spcBef>
                <a:spcPts val="0"/>
              </a:spcBef>
              <a:spcAft>
                <a:spcPts val="0"/>
              </a:spcAft>
            </a:pPr>
            <a:r>
              <a:rPr sz="1150" b="0" i="0">
                <a:solidFill>
                  <a:srgbClr val="FFFFFF"/>
                </a:solidFill>
                <a:latin typeface="Calibri"/>
              </a:rPr>
              <a:t>kind agent: a sidecar beside any MCP server</a:t>
            </a:r>
          </a:p>
        </p:txBody>
      </p:sp>
      <p:sp>
        <p:nvSpPr>
          <p:cNvPr id="21" name="Rounded Rectangle 20"/>
          <p:cNvSpPr/>
          <p:nvPr/>
        </p:nvSpPr>
        <p:spPr>
          <a:xfrm>
            <a:off x="777240" y="4507706"/>
            <a:ext cx="2765675" cy="685942"/>
          </a:xfrm>
          <a:prstGeom prst="roundRect">
            <a:avLst>
              <a:gd name="adj" fmla="val 1066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any MCP server</a:t>
            </a:r>
          </a:p>
          <a:p>
            <a:pPr algn="ctr">
              <a:lnSpc>
                <a:spcPct val="105000"/>
              </a:lnSpc>
              <a:spcBef>
                <a:spcPts val="0"/>
              </a:spcBef>
              <a:spcAft>
                <a:spcPts val="0"/>
              </a:spcAft>
            </a:pPr>
            <a:r>
              <a:rPr sz="950" b="0" i="0">
                <a:solidFill>
                  <a:srgbClr val="1A1A1A"/>
                </a:solidFill>
                <a:latin typeface="Calibri"/>
              </a:rPr>
              <a:t>stdio or Streamable HTTP</a:t>
            </a:r>
          </a:p>
        </p:txBody>
      </p:sp>
      <p:sp>
        <p:nvSpPr>
          <p:cNvPr id="22" name="Rounded Rectangle 21"/>
          <p:cNvSpPr/>
          <p:nvPr/>
        </p:nvSpPr>
        <p:spPr>
          <a:xfrm>
            <a:off x="4287521" y="2861443"/>
            <a:ext cx="2765675" cy="914590"/>
          </a:xfrm>
          <a:prstGeom prst="roundRect">
            <a:avLst>
              <a:gd name="adj" fmla="val 799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sponsor: a SAJHA server</a:t>
            </a:r>
          </a:p>
          <a:p>
            <a:pPr algn="ctr">
              <a:lnSpc>
                <a:spcPct val="105000"/>
              </a:lnSpc>
              <a:spcBef>
                <a:spcPts val="0"/>
              </a:spcBef>
              <a:spcAft>
                <a:spcPts val="0"/>
              </a:spcAft>
            </a:pPr>
            <a:r>
              <a:rPr sz="1150" b="0" i="0">
                <a:solidFill>
                  <a:srgbClr val="FFFFFF"/>
                </a:solidFill>
                <a:latin typeface="Calibri"/>
              </a:rPr>
              <a:t>kind sponsored: runs a node for it</a:t>
            </a:r>
          </a:p>
        </p:txBody>
      </p:sp>
      <p:sp>
        <p:nvSpPr>
          <p:cNvPr id="23" name="Rounded Rectangle 22"/>
          <p:cNvSpPr/>
          <p:nvPr/>
        </p:nvSpPr>
        <p:spPr>
          <a:xfrm>
            <a:off x="4287521" y="4507706"/>
            <a:ext cx="2765675" cy="685942"/>
          </a:xfrm>
          <a:prstGeom prst="roundRect">
            <a:avLst>
              <a:gd name="adj" fmla="val 10664"/>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6E1120"/>
                </a:solidFill>
                <a:latin typeface="Calibri"/>
              </a:rPr>
              <a:t>vendor or SaaS MCP server</a:t>
            </a:r>
          </a:p>
          <a:p>
            <a:pPr algn="ctr">
              <a:lnSpc>
                <a:spcPct val="105000"/>
              </a:lnSpc>
              <a:spcBef>
                <a:spcPts val="0"/>
              </a:spcBef>
              <a:spcAft>
                <a:spcPts val="0"/>
              </a:spcAft>
            </a:pPr>
            <a:r>
              <a:rPr sz="950" b="0" i="0">
                <a:solidFill>
                  <a:srgbClr val="6E1120"/>
                </a:solidFill>
                <a:latin typeface="Calibri"/>
              </a:rPr>
              <a:t>knows nothing of SAJHA Net</a:t>
            </a:r>
          </a:p>
        </p:txBody>
      </p:sp>
      <p:sp>
        <p:nvSpPr>
          <p:cNvPr id="24" name="Rounded Rectangle 23"/>
          <p:cNvSpPr/>
          <p:nvPr/>
        </p:nvSpPr>
        <p:spPr>
          <a:xfrm>
            <a:off x="8436034" y="1489557"/>
            <a:ext cx="2978420" cy="914590"/>
          </a:xfrm>
          <a:prstGeom prst="roundRect">
            <a:avLst>
              <a:gd name="adj" fmla="val 7998"/>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conformance runner</a:t>
            </a:r>
          </a:p>
          <a:p>
            <a:pPr algn="ctr">
              <a:lnSpc>
                <a:spcPct val="105000"/>
              </a:lnSpc>
              <a:spcBef>
                <a:spcPts val="0"/>
              </a:spcBef>
              <a:spcAft>
                <a:spcPts val="0"/>
              </a:spcAft>
            </a:pPr>
            <a:r>
              <a:rPr sz="1150" b="0" i="0">
                <a:solidFill>
                  <a:srgbClr val="FFFFFF"/>
                </a:solidFill>
                <a:latin typeface="Calibri"/>
              </a:rPr>
              <a:t>python -m sajha.net.conformance</a:t>
            </a:r>
          </a:p>
        </p:txBody>
      </p:sp>
      <p:sp>
        <p:nvSpPr>
          <p:cNvPr id="25" name="Rounded Rectangle 24"/>
          <p:cNvSpPr/>
          <p:nvPr/>
        </p:nvSpPr>
        <p:spPr>
          <a:xfrm>
            <a:off x="8436034" y="2998631"/>
            <a:ext cx="904163" cy="914590"/>
          </a:xfrm>
          <a:prstGeom prst="roundRect">
            <a:avLst>
              <a:gd name="adj" fmla="val 80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S</a:t>
            </a:r>
          </a:p>
          <a:p>
            <a:pPr algn="ctr">
              <a:lnSpc>
                <a:spcPct val="105000"/>
              </a:lnSpc>
              <a:spcBef>
                <a:spcPts val="0"/>
              </a:spcBef>
              <a:spcAft>
                <a:spcPts val="0"/>
              </a:spcAft>
            </a:pPr>
            <a:r>
              <a:rPr sz="1350" b="0" i="0">
                <a:solidFill>
                  <a:srgbClr val="1A1A1A"/>
                </a:solidFill>
                <a:latin typeface="Calibri"/>
              </a:rPr>
              <a:t>a SAJHA instance</a:t>
            </a:r>
          </a:p>
        </p:txBody>
      </p:sp>
      <p:sp>
        <p:nvSpPr>
          <p:cNvPr id="26" name="Rounded Rectangle 25"/>
          <p:cNvSpPr/>
          <p:nvPr/>
        </p:nvSpPr>
        <p:spPr>
          <a:xfrm>
            <a:off x="9473163" y="2998631"/>
            <a:ext cx="904163" cy="914590"/>
          </a:xfrm>
          <a:prstGeom prst="roundRect">
            <a:avLst>
              <a:gd name="adj" fmla="val 80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A</a:t>
            </a:r>
          </a:p>
          <a:p>
            <a:pPr algn="ctr">
              <a:lnSpc>
                <a:spcPct val="105000"/>
              </a:lnSpc>
              <a:spcBef>
                <a:spcPts val="0"/>
              </a:spcBef>
              <a:spcAft>
                <a:spcPts val="0"/>
              </a:spcAft>
            </a:pPr>
            <a:r>
              <a:rPr sz="1350" b="0" i="0">
                <a:solidFill>
                  <a:srgbClr val="1A1A1A"/>
                </a:solidFill>
                <a:latin typeface="Calibri"/>
              </a:rPr>
              <a:t>the agent</a:t>
            </a:r>
          </a:p>
        </p:txBody>
      </p:sp>
      <p:sp>
        <p:nvSpPr>
          <p:cNvPr id="27" name="Rounded Rectangle 26"/>
          <p:cNvSpPr/>
          <p:nvPr/>
        </p:nvSpPr>
        <p:spPr>
          <a:xfrm>
            <a:off x="10510291" y="2998631"/>
            <a:ext cx="904163" cy="914590"/>
          </a:xfrm>
          <a:prstGeom prst="roundRect">
            <a:avLst>
              <a:gd name="adj" fmla="val 80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L</a:t>
            </a:r>
          </a:p>
          <a:p>
            <a:pPr algn="ctr">
              <a:lnSpc>
                <a:spcPct val="105000"/>
              </a:lnSpc>
              <a:spcBef>
                <a:spcPts val="0"/>
              </a:spcBef>
              <a:spcAft>
                <a:spcPts val="0"/>
              </a:spcAft>
            </a:pPr>
            <a:r>
              <a:rPr sz="1350" b="0" i="0">
                <a:solidFill>
                  <a:srgbClr val="1A1A1A"/>
                </a:solidFill>
                <a:latin typeface="Calibri"/>
              </a:rPr>
              <a:t>the library</a:t>
            </a:r>
          </a:p>
        </p:txBody>
      </p:sp>
      <p:sp>
        <p:nvSpPr>
          <p:cNvPr id="28" name="TextBox 27"/>
          <p:cNvSpPr txBox="1"/>
          <p:nvPr/>
        </p:nvSpPr>
        <p:spPr>
          <a:xfrm>
            <a:off x="8436034" y="4141870"/>
            <a:ext cx="2978420" cy="1646262"/>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Each case passes, fails or is skipped</a:t>
            </a:r>
          </a:p>
          <a:p>
            <a:pPr algn="l">
              <a:lnSpc>
                <a:spcPct val="110000"/>
              </a:lnSpc>
              <a:spcBef>
                <a:spcPts val="0"/>
              </a:spcBef>
              <a:spcAft>
                <a:spcPts val="100"/>
              </a:spcAft>
            </a:pPr>
            <a:r>
              <a:rPr sz="1200" b="0" i="0">
                <a:solidFill>
                  <a:srgbClr val="6B7480"/>
                </a:solidFill>
                <a:latin typeface="Calibri"/>
              </a:rPr>
              <a:t>from outside, as a participant that</a:t>
            </a:r>
          </a:p>
          <a:p>
            <a:pPr algn="l">
              <a:lnSpc>
                <a:spcPct val="110000"/>
              </a:lnSpc>
              <a:spcBef>
                <a:spcPts val="0"/>
              </a:spcBef>
              <a:spcAft>
                <a:spcPts val="100"/>
              </a:spcAft>
            </a:pPr>
            <a:r>
              <a:rPr sz="1200" b="0" i="0">
                <a:solidFill>
                  <a:srgbClr val="6B7480"/>
                </a:solidFill>
                <a:latin typeface="Calibri"/>
              </a:rPr>
              <a:t>never joins; a mixed net test runs</a:t>
            </a:r>
          </a:p>
          <a:p>
            <a:pPr algn="l">
              <a:lnSpc>
                <a:spcPct val="110000"/>
              </a:lnSpc>
              <a:spcBef>
                <a:spcPts val="0"/>
              </a:spcBef>
              <a:spcAft>
                <a:spcPts val="100"/>
              </a:spcAft>
            </a:pPr>
            <a:r>
              <a:rPr sz="1200" b="0" i="0">
                <a:solidFill>
                  <a:srgbClr val="6B7480"/>
                </a:solidFill>
                <a:latin typeface="Calibri"/>
              </a:rPr>
              <a:t>all three targets in one net.</a:t>
            </a:r>
          </a:p>
        </p:txBody>
      </p:sp>
      <p:cxnSp>
        <p:nvCxnSpPr>
          <p:cNvPr id="29" name="Connector 28"/>
          <p:cNvCxnSpPr/>
          <p:nvPr/>
        </p:nvCxnSpPr>
        <p:spPr>
          <a:xfrm>
            <a:off x="2160077" y="3821753"/>
            <a:ext cx="0" cy="640233"/>
          </a:xfrm>
          <a:prstGeom prst="line">
            <a:avLst/>
          </a:prstGeom>
          <a:ln w="20320">
            <a:solidFill>
              <a:srgbClr val="6B7480"/>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670358" y="3821753"/>
            <a:ext cx="0" cy="640233"/>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5734366" y="4050430"/>
            <a:ext cx="89408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federation</a:t>
            </a:r>
          </a:p>
        </p:txBody>
      </p:sp>
      <p:cxnSp>
        <p:nvCxnSpPr>
          <p:cNvPr id="32" name="Connector 31"/>
          <p:cNvCxnSpPr/>
          <p:nvPr/>
        </p:nvCxnSpPr>
        <p:spPr>
          <a:xfrm flipH="1">
            <a:off x="9228293" y="2441827"/>
            <a:ext cx="356775" cy="51912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925245" y="2449868"/>
            <a:ext cx="0" cy="50304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265422" y="2441827"/>
            <a:ext cx="356774" cy="51912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BLOCKS AND THE CONSOLE</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Each server blocks on its own terms, and the console draws the net</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75</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Blocks are local decisions and shared information: each server publishes its blocks, so any console can draw them, but only the server that set a block enforces it. Problems reach administrators as system notices.</a:t>
            </a:r>
          </a:p>
        </p:txBody>
      </p:sp>
      <p:sp>
        <p:nvSpPr>
          <p:cNvPr id="19" name="Oval 18"/>
          <p:cNvSpPr/>
          <p:nvPr/>
        </p:nvSpPr>
        <p:spPr>
          <a:xfrm>
            <a:off x="2691938" y="3361378"/>
            <a:ext cx="1489210" cy="699485"/>
          </a:xfrm>
          <a:prstGeom prst="ellipse">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this server</a:t>
            </a:r>
          </a:p>
        </p:txBody>
      </p:sp>
      <p:sp>
        <p:nvSpPr>
          <p:cNvPr id="20" name="Oval 19"/>
          <p:cNvSpPr/>
          <p:nvPr/>
        </p:nvSpPr>
        <p:spPr>
          <a:xfrm>
            <a:off x="2745124" y="1984266"/>
            <a:ext cx="1382837" cy="568331"/>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risk-eu</a:t>
            </a:r>
          </a:p>
        </p:txBody>
      </p:sp>
      <p:sp>
        <p:nvSpPr>
          <p:cNvPr id="21" name="Oval 20"/>
          <p:cNvSpPr/>
          <p:nvPr/>
        </p:nvSpPr>
        <p:spPr>
          <a:xfrm>
            <a:off x="4768443" y="2981139"/>
            <a:ext cx="1382837" cy="568331"/>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treasury-na</a:t>
            </a:r>
          </a:p>
        </p:txBody>
      </p:sp>
      <p:sp>
        <p:nvSpPr>
          <p:cNvPr id="22" name="Oval 21"/>
          <p:cNvSpPr/>
          <p:nvPr/>
        </p:nvSpPr>
        <p:spPr>
          <a:xfrm>
            <a:off x="3995604" y="4594114"/>
            <a:ext cx="1382837" cy="568331"/>
          </a:xfrm>
          <a:prstGeom prst="ellipse">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cust-na</a:t>
            </a:r>
          </a:p>
          <a:p>
            <a:pPr algn="ctr">
              <a:lnSpc>
                <a:spcPct val="105000"/>
              </a:lnSpc>
              <a:spcBef>
                <a:spcPts val="0"/>
              </a:spcBef>
              <a:spcAft>
                <a:spcPts val="0"/>
              </a:spcAft>
            </a:pPr>
            <a:r>
              <a:rPr sz="850" b="0" i="0">
                <a:solidFill>
                  <a:srgbClr val="1A1A1A"/>
                </a:solidFill>
                <a:latin typeface="Calibri"/>
              </a:rPr>
              <a:t>suspect</a:t>
            </a:r>
          </a:p>
        </p:txBody>
      </p:sp>
      <p:sp>
        <p:nvSpPr>
          <p:cNvPr id="23" name="Oval 22"/>
          <p:cNvSpPr/>
          <p:nvPr/>
        </p:nvSpPr>
        <p:spPr>
          <a:xfrm>
            <a:off x="1494645" y="4594114"/>
            <a:ext cx="1382837" cy="568331"/>
          </a:xfrm>
          <a:prstGeom prst="ellipse">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risk-apac</a:t>
            </a:r>
          </a:p>
        </p:txBody>
      </p:sp>
      <p:sp>
        <p:nvSpPr>
          <p:cNvPr id="24" name="Oval 23"/>
          <p:cNvSpPr/>
          <p:nvPr/>
        </p:nvSpPr>
        <p:spPr>
          <a:xfrm>
            <a:off x="721806" y="2981139"/>
            <a:ext cx="1382837" cy="568331"/>
          </a:xfrm>
          <a:prstGeom prst="ellipse">
            <a:avLst/>
          </a:prstGeom>
          <a:solidFill>
            <a:srgbClr val="29335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vendor-search</a:t>
            </a:r>
          </a:p>
        </p:txBody>
      </p:sp>
      <p:sp>
        <p:nvSpPr>
          <p:cNvPr id="25" name="Rounded Rectangle 24"/>
          <p:cNvSpPr/>
          <p:nvPr/>
        </p:nvSpPr>
        <p:spPr>
          <a:xfrm>
            <a:off x="6734080" y="1743817"/>
            <a:ext cx="1914698" cy="568331"/>
          </a:xfrm>
          <a:prstGeom prst="roundRect">
            <a:avLst>
              <a:gd name="adj" fmla="val 128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an instance, entirely</a:t>
            </a:r>
          </a:p>
        </p:txBody>
      </p:sp>
      <p:sp>
        <p:nvSpPr>
          <p:cNvPr id="26" name="Rounded Rectangle 25"/>
          <p:cNvSpPr/>
          <p:nvPr/>
        </p:nvSpPr>
        <p:spPr>
          <a:xfrm>
            <a:off x="6734080" y="2487021"/>
            <a:ext cx="1914698" cy="568331"/>
          </a:xfrm>
          <a:prstGeom prst="roundRect">
            <a:avLst>
              <a:gd name="adj" fmla="val 128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inbound calls only</a:t>
            </a:r>
          </a:p>
        </p:txBody>
      </p:sp>
      <p:sp>
        <p:nvSpPr>
          <p:cNvPr id="27" name="Rounded Rectangle 26"/>
          <p:cNvSpPr/>
          <p:nvPr/>
        </p:nvSpPr>
        <p:spPr>
          <a:xfrm>
            <a:off x="6734080" y="3230224"/>
            <a:ext cx="1914698" cy="568331"/>
          </a:xfrm>
          <a:prstGeom prst="roundRect">
            <a:avLst>
              <a:gd name="adj" fmla="val 128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outbound calls only</a:t>
            </a:r>
          </a:p>
        </p:txBody>
      </p:sp>
      <p:sp>
        <p:nvSpPr>
          <p:cNvPr id="28" name="Rounded Rectangle 27"/>
          <p:cNvSpPr/>
          <p:nvPr/>
        </p:nvSpPr>
        <p:spPr>
          <a:xfrm>
            <a:off x="6734080" y="3973428"/>
            <a:ext cx="1914698" cy="568331"/>
          </a:xfrm>
          <a:prstGeom prst="roundRect">
            <a:avLst>
              <a:gd name="adj" fmla="val 128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one tool</a:t>
            </a:r>
          </a:p>
        </p:txBody>
      </p:sp>
      <p:sp>
        <p:nvSpPr>
          <p:cNvPr id="29" name="Rounded Rectangle 28"/>
          <p:cNvSpPr/>
          <p:nvPr/>
        </p:nvSpPr>
        <p:spPr>
          <a:xfrm>
            <a:off x="6734080" y="4716631"/>
            <a:ext cx="1914698" cy="568331"/>
          </a:xfrm>
          <a:prstGeom prst="roundRect">
            <a:avLst>
              <a:gd name="adj" fmla="val 128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one remote user</a:t>
            </a:r>
          </a:p>
        </p:txBody>
      </p:sp>
      <p:sp>
        <p:nvSpPr>
          <p:cNvPr id="30" name="Rounded Rectangle 29"/>
          <p:cNvSpPr/>
          <p:nvPr/>
        </p:nvSpPr>
        <p:spPr>
          <a:xfrm>
            <a:off x="9287012" y="1743817"/>
            <a:ext cx="2127443" cy="568331"/>
          </a:xfrm>
          <a:prstGeom prst="roundRect">
            <a:avLst>
              <a:gd name="adj" fmla="val 1287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Instances</a:t>
            </a:r>
          </a:p>
        </p:txBody>
      </p:sp>
      <p:sp>
        <p:nvSpPr>
          <p:cNvPr id="31" name="Rounded Rectangle 30"/>
          <p:cNvSpPr/>
          <p:nvPr/>
        </p:nvSpPr>
        <p:spPr>
          <a:xfrm>
            <a:off x="9287012" y="2487021"/>
            <a:ext cx="2127443" cy="568331"/>
          </a:xfrm>
          <a:prstGeom prst="roundRect">
            <a:avLst>
              <a:gd name="adj" fmla="val 1287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Your net access</a:t>
            </a:r>
          </a:p>
        </p:txBody>
      </p:sp>
      <p:sp>
        <p:nvSpPr>
          <p:cNvPr id="32" name="Rounded Rectangle 31"/>
          <p:cNvSpPr/>
          <p:nvPr/>
        </p:nvSpPr>
        <p:spPr>
          <a:xfrm>
            <a:off x="9287012" y="3230224"/>
            <a:ext cx="2127443" cy="568331"/>
          </a:xfrm>
          <a:prstGeom prst="roundRect">
            <a:avLst>
              <a:gd name="adj" fmla="val 12871"/>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Net overview (topology)</a:t>
            </a:r>
          </a:p>
        </p:txBody>
      </p:sp>
      <p:sp>
        <p:nvSpPr>
          <p:cNvPr id="33" name="Rounded Rectangle 32"/>
          <p:cNvSpPr/>
          <p:nvPr/>
        </p:nvSpPr>
        <p:spPr>
          <a:xfrm>
            <a:off x="9287012" y="3973428"/>
            <a:ext cx="2127443" cy="568331"/>
          </a:xfrm>
          <a:prstGeom prst="roundRect">
            <a:avLst>
              <a:gd name="adj" fmla="val 12871"/>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Remote tools</a:t>
            </a:r>
          </a:p>
        </p:txBody>
      </p:sp>
      <p:sp>
        <p:nvSpPr>
          <p:cNvPr id="34" name="Rounded Rectangle 33"/>
          <p:cNvSpPr/>
          <p:nvPr/>
        </p:nvSpPr>
        <p:spPr>
          <a:xfrm>
            <a:off x="9287012" y="4716631"/>
            <a:ext cx="2127443" cy="568331"/>
          </a:xfrm>
          <a:prstGeom prst="roundRect">
            <a:avLst>
              <a:gd name="adj" fmla="val 12871"/>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SAJHA Net admin</a:t>
            </a:r>
          </a:p>
        </p:txBody>
      </p:sp>
      <p:sp>
        <p:nvSpPr>
          <p:cNvPr id="35" name="TextBox 34"/>
          <p:cNvSpPr txBox="1"/>
          <p:nvPr/>
        </p:nvSpPr>
        <p:spPr>
          <a:xfrm>
            <a:off x="777240" y="1306639"/>
            <a:ext cx="5318607" cy="306024"/>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TOPOLOGY: solid offers, dashed re-exports, thick calls</a:t>
            </a:r>
          </a:p>
        </p:txBody>
      </p:sp>
      <p:sp>
        <p:nvSpPr>
          <p:cNvPr id="36" name="TextBox 35"/>
          <p:cNvSpPr txBox="1"/>
          <p:nvPr/>
        </p:nvSpPr>
        <p:spPr>
          <a:xfrm>
            <a:off x="6734080" y="1306639"/>
            <a:ext cx="2127443" cy="306024"/>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BLOCK</a:t>
            </a:r>
          </a:p>
        </p:txBody>
      </p:sp>
      <p:sp>
        <p:nvSpPr>
          <p:cNvPr id="37" name="TextBox 36"/>
          <p:cNvSpPr txBox="1"/>
          <p:nvPr/>
        </p:nvSpPr>
        <p:spPr>
          <a:xfrm>
            <a:off x="9287012" y="1306639"/>
            <a:ext cx="2127443" cy="306024"/>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PAGES</a:t>
            </a:r>
          </a:p>
        </p:txBody>
      </p:sp>
      <p:cxnSp>
        <p:nvCxnSpPr>
          <p:cNvPr id="38" name="Connector 37"/>
          <p:cNvCxnSpPr/>
          <p:nvPr/>
        </p:nvCxnSpPr>
        <p:spPr>
          <a:xfrm flipV="1">
            <a:off x="3436543" y="2598318"/>
            <a:ext cx="0" cy="717340"/>
          </a:xfrm>
          <a:prstGeom prst="line">
            <a:avLst/>
          </a:prstGeom>
          <a:ln w="381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155310" y="3409411"/>
            <a:ext cx="650533" cy="143337"/>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804683" y="4054731"/>
            <a:ext cx="570281" cy="532283"/>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2498122" y="4054731"/>
            <a:ext cx="570281" cy="532283"/>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067243" y="3409411"/>
            <a:ext cx="650533" cy="143337"/>
          </a:xfrm>
          <a:prstGeom prst="line">
            <a:avLst/>
          </a:prstGeom>
          <a:ln w="1524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06</a:t>
            </a:r>
          </a:p>
        </p:txBody>
      </p:sp>
      <p:sp>
        <p:nvSpPr>
          <p:cNvPr id="12" name="TextBox 11"/>
          <p:cNvSpPr txBox="1"/>
          <p:nvPr/>
        </p:nvSpPr>
        <p:spPr>
          <a:xfrm>
            <a:off x="1521845" y="2487168"/>
            <a:ext cx="9148005" cy="688340"/>
          </a:xfrm>
          <a:prstGeom prst="rect">
            <a:avLst/>
          </a:prstGeom>
          <a:noFill/>
        </p:spPr>
        <p:txBody>
          <a:bodyPr wrap="square" lIns="0" rIns="0" tIns="0" bIns="0" anchor="t">
            <a:spAutoFit/>
          </a:bodyPr>
          <a:lstStyle/>
          <a:p>
            <a:pPr algn="ctr">
              <a:lnSpc>
                <a:spcPct val="110000"/>
              </a:lnSpc>
              <a:spcBef>
                <a:spcPts val="0"/>
              </a:spcBef>
              <a:spcAft>
                <a:spcPts val="0"/>
              </a:spcAft>
            </a:pPr>
            <a:r>
              <a:rPr sz="4000" b="0" i="0">
                <a:solidFill>
                  <a:srgbClr val="FFFFFF"/>
                </a:solidFill>
                <a:latin typeface="Georgia"/>
              </a:rPr>
              <a:t>Data and analytics integration</a:t>
            </a:r>
          </a:p>
        </p:txBody>
      </p:sp>
      <p:sp>
        <p:nvSpPr>
          <p:cNvPr id="13" name="Rectangle 12"/>
          <p:cNvSpPr/>
          <p:nvPr/>
        </p:nvSpPr>
        <p:spPr>
          <a:xfrm>
            <a:off x="5364327" y="3330956"/>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559556"/>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Search for what the world says, SQL and pivots for what your data says, calculators for the arithmetic, and guards so that none of it can write.</a:t>
            </a:r>
          </a:p>
        </p:txBody>
      </p:sp>
      <p:sp>
        <p:nvSpPr>
          <p:cNvPr id="15" name="TextBox 14"/>
          <p:cNvSpPr txBox="1"/>
          <p:nvPr/>
        </p:nvSpPr>
        <p:spPr>
          <a:xfrm>
            <a:off x="1143000" y="4410964"/>
            <a:ext cx="9905695" cy="1806955"/>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Search and the web   ·   DuckDB and OLAP   ·   Financial calculators   ·   The connector guard   ·   Search plus analytics</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SEARCH AND THE WEB</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12 search, extraction and crawling tools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77</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Results come back as structured text for a model, not raw HTML; Tavily calls need a Tavily key. For filings, 7 investor-relations tools (ir_*) find reports and presentations.</a:t>
            </a:r>
          </a:p>
        </p:txBody>
      </p:sp>
      <p:graphicFrame>
        <p:nvGraphicFramePr>
          <p:cNvPr id="19" name="Table 18"/>
          <p:cNvGraphicFramePr>
            <a:graphicFrameLocks noGrp="1"/>
          </p:cNvGraphicFramePr>
          <p:nvPr/>
        </p:nvGraphicFramePr>
        <p:xfrm>
          <a:off x="777240" y="1386967"/>
          <a:ext cx="10637214" cy="3804472"/>
        </p:xfrm>
        <a:graphic>
          <a:graphicData uri="http://schemas.openxmlformats.org/drawingml/2006/table">
            <a:tbl>
              <a:tblPr firstRow="1">
                <a:tableStyleId>{5C22544A-7EE6-4342-B048-85BDC9FD1C3A}</a:tableStyleId>
              </a:tblPr>
              <a:tblGrid>
                <a:gridCol w="2087048"/>
                <a:gridCol w="3231559"/>
                <a:gridCol w="2087048"/>
                <a:gridCol w="3231559"/>
              </a:tblGrid>
              <a:tr h="326612">
                <a:tc>
                  <a:txBody>
                    <a:bodyPr wrap="square"/>
                    <a:lstStyle/>
                    <a:p>
                      <a:r>
                        <a:rPr sz="1350" b="1">
                          <a:solidFill>
                            <a:srgbClr val="FFFFFF"/>
                          </a:solidFill>
                          <a:latin typeface="Calibri"/>
                        </a:rPr>
                        <a:t>Tool</a:t>
                      </a:r>
                    </a:p>
                  </a:txBody>
                  <a:tcPr marL="82296" marR="64008" marT="32004" marB="32004" anchor="ctr">
                    <a:solidFill>
                      <a:srgbClr val="A51C30"/>
                    </a:solidFill>
                  </a:tcPr>
                </a:tc>
                <a:tc>
                  <a:txBody>
                    <a:bodyPr wrap="square"/>
                    <a:lstStyle/>
                    <a:p>
                      <a:r>
                        <a:rPr sz="1350" b="1">
                          <a:solidFill>
                            <a:srgbClr val="FFFFFF"/>
                          </a:solidFill>
                          <a:latin typeface="Calibri"/>
                        </a:rPr>
                        <a:t>What it does</a:t>
                      </a:r>
                    </a:p>
                  </a:txBody>
                  <a:tcPr marL="82296" marR="64008" marT="32004" marB="32004" anchor="ctr">
                    <a:solidFill>
                      <a:srgbClr val="A51C30"/>
                    </a:solidFill>
                  </a:tcPr>
                </a:tc>
                <a:tc>
                  <a:txBody>
                    <a:bodyPr wrap="square"/>
                    <a:lstStyle/>
                    <a:p>
                      <a:r>
                        <a:rPr sz="1350" b="1">
                          <a:solidFill>
                            <a:srgbClr val="FFFFFF"/>
                          </a:solidFill>
                          <a:latin typeface="Calibri"/>
                        </a:rPr>
                        <a:t>Tool</a:t>
                      </a:r>
                    </a:p>
                  </a:txBody>
                  <a:tcPr marL="82296" marR="64008" marT="32004" marB="32004" anchor="ctr">
                    <a:solidFill>
                      <a:srgbClr val="A51C30"/>
                    </a:solidFill>
                  </a:tcPr>
                </a:tc>
                <a:tc>
                  <a:txBody>
                    <a:bodyPr wrap="square"/>
                    <a:lstStyle/>
                    <a:p>
                      <a:r>
                        <a:rPr sz="1350" b="1">
                          <a:solidFill>
                            <a:srgbClr val="FFFFFF"/>
                          </a:solidFill>
                          <a:latin typeface="Calibri"/>
                        </a:rPr>
                        <a:t>What it does</a:t>
                      </a:r>
                    </a:p>
                  </a:txBody>
                  <a:tcPr marL="82296" marR="64008" marT="32004" marB="32004" anchor="ctr">
                    <a:solidFill>
                      <a:srgbClr val="A51C30"/>
                    </a:solidFill>
                  </a:tcPr>
                </a:tc>
              </a:tr>
              <a:tr h="543496">
                <a:tc>
                  <a:txBody>
                    <a:bodyPr wrap="square"/>
                    <a:lstStyle/>
                    <a:p>
                      <a:r>
                        <a:rPr sz="1350" b="1">
                          <a:solidFill>
                            <a:srgbClr val="6E1120"/>
                          </a:solidFill>
                          <a:latin typeface="Calibri"/>
                        </a:rPr>
                        <a:t>crawl_sitemap</a:t>
                      </a:r>
                    </a:p>
                  </a:txBody>
                  <a:tcPr marL="82296" marR="64008" marT="32004" marB="32004" anchor="ctr">
                    <a:solidFill>
                      <a:srgbClr val="FFFFFF"/>
                    </a:solidFill>
                  </a:tcPr>
                </a:tc>
                <a:tc>
                  <a:txBody>
                    <a:bodyPr wrap="square"/>
                    <a:lstStyle/>
                    <a:p>
                      <a:r>
                        <a:rPr sz="1350" b="0">
                          <a:solidFill>
                            <a:srgbClr val="1A1A1A"/>
                          </a:solidFill>
                          <a:latin typeface="Calibri"/>
                        </a:rPr>
                        <a:t>The URLs listed in a website's XML sitemap</a:t>
                      </a:r>
                    </a:p>
                  </a:txBody>
                  <a:tcPr marL="82296" marR="64008" marT="32004" marB="32004" anchor="ctr">
                    <a:solidFill>
                      <a:srgbClr val="FFFFFF"/>
                    </a:solidFill>
                  </a:tcPr>
                </a:tc>
                <a:tc>
                  <a:txBody>
                    <a:bodyPr wrap="square"/>
                    <a:lstStyle/>
                    <a:p>
                      <a:r>
                        <a:rPr sz="1350" b="0">
                          <a:solidFill>
                            <a:srgbClr val="1A1A1A"/>
                          </a:solidFill>
                          <a:latin typeface="Calibri"/>
                        </a:rPr>
                        <a:t>tavily_news_search</a:t>
                      </a:r>
                    </a:p>
                  </a:txBody>
                  <a:tcPr marL="82296" marR="64008" marT="32004" marB="32004" anchor="ctr">
                    <a:solidFill>
                      <a:srgbClr val="FFFFFF"/>
                    </a:solidFill>
                  </a:tcPr>
                </a:tc>
                <a:tc>
                  <a:txBody>
                    <a:bodyPr wrap="square"/>
                    <a:lstStyle/>
                    <a:p>
                      <a:r>
                        <a:rPr sz="1350" b="0">
                          <a:solidFill>
                            <a:srgbClr val="1A1A1A"/>
                          </a:solidFill>
                          <a:latin typeface="Calibri"/>
                        </a:rPr>
                        <a:t>Recent news search through the Tavily search API (topic news…</a:t>
                      </a:r>
                    </a:p>
                  </a:txBody>
                  <a:tcPr marL="82296" marR="64008" marT="32004" marB="32004" anchor="ctr">
                    <a:solidFill>
                      <a:srgbClr val="FFFFFF"/>
                    </a:solidFill>
                  </a:tcPr>
                </a:tc>
              </a:tr>
              <a:tr h="760380">
                <a:tc>
                  <a:txBody>
                    <a:bodyPr wrap="square"/>
                    <a:lstStyle/>
                    <a:p>
                      <a:r>
                        <a:rPr sz="1350" b="1">
                          <a:solidFill>
                            <a:srgbClr val="6E1120"/>
                          </a:solidFill>
                          <a:latin typeface="Calibri"/>
                        </a:rPr>
                        <a:t>crawl_url</a:t>
                      </a:r>
                    </a:p>
                  </a:txBody>
                  <a:tcPr marL="82296" marR="64008" marT="32004" marB="32004" anchor="ctr">
                    <a:solidFill>
                      <a:srgbClr val="F7F5F2"/>
                    </a:solidFill>
                  </a:tcPr>
                </a:tc>
                <a:tc>
                  <a:txBody>
                    <a:bodyPr wrap="square"/>
                    <a:lstStyle/>
                    <a:p>
                      <a:r>
                        <a:rPr sz="1350" b="0">
                          <a:solidFill>
                            <a:srgbClr val="1A1A1A"/>
                          </a:solidFill>
                          <a:latin typeface="Calibri"/>
                        </a:rPr>
                        <a:t>Crawl a website breadth-first from a start URL, up to 3 link…</a:t>
                      </a:r>
                    </a:p>
                  </a:txBody>
                  <a:tcPr marL="82296" marR="64008" marT="32004" marB="32004" anchor="ctr">
                    <a:solidFill>
                      <a:srgbClr val="F7F5F2"/>
                    </a:solidFill>
                  </a:tcPr>
                </a:tc>
                <a:tc>
                  <a:txBody>
                    <a:bodyPr wrap="square"/>
                    <a:lstStyle/>
                    <a:p>
                      <a:r>
                        <a:rPr sz="1350" b="0">
                          <a:solidFill>
                            <a:srgbClr val="1A1A1A"/>
                          </a:solidFill>
                          <a:latin typeface="Calibri"/>
                        </a:rPr>
                        <a:t>tavily_research_search</a:t>
                      </a:r>
                    </a:p>
                  </a:txBody>
                  <a:tcPr marL="82296" marR="64008" marT="32004" marB="32004" anchor="ctr">
                    <a:solidFill>
                      <a:srgbClr val="F7F5F2"/>
                    </a:solidFill>
                  </a:tcPr>
                </a:tc>
                <a:tc>
                  <a:txBody>
                    <a:bodyPr wrap="square"/>
                    <a:lstStyle/>
                    <a:p>
                      <a:r>
                        <a:rPr sz="1350" b="0">
                          <a:solidFill>
                            <a:srgbClr val="1A1A1A"/>
                          </a:solidFill>
                          <a:latin typeface="Calibri"/>
                        </a:rPr>
                        <a:t>In-depth research search through the Tavily search API…</a:t>
                      </a:r>
                    </a:p>
                  </a:txBody>
                  <a:tcPr marL="82296" marR="64008" marT="32004" marB="32004" anchor="ctr">
                    <a:solidFill>
                      <a:srgbClr val="F7F5F2"/>
                    </a:solidFill>
                  </a:tcPr>
                </a:tc>
              </a:tr>
              <a:tr h="543496">
                <a:tc>
                  <a:txBody>
                    <a:bodyPr wrap="square"/>
                    <a:lstStyle/>
                    <a:p>
                      <a:r>
                        <a:rPr sz="1350" b="1">
                          <a:solidFill>
                            <a:srgbClr val="6E1120"/>
                          </a:solidFill>
                          <a:latin typeface="Calibri"/>
                        </a:rPr>
                        <a:t>extract_content</a:t>
                      </a:r>
                    </a:p>
                  </a:txBody>
                  <a:tcPr marL="82296" marR="64008" marT="32004" marB="32004" anchor="ctr">
                    <a:solidFill>
                      <a:srgbClr val="FFFFFF"/>
                    </a:solidFill>
                  </a:tcPr>
                </a:tc>
                <a:tc>
                  <a:txBody>
                    <a:bodyPr wrap="square"/>
                    <a:lstStyle/>
                    <a:p>
                      <a:r>
                        <a:rPr sz="1350" b="0">
                          <a:solidFill>
                            <a:srgbClr val="1A1A1A"/>
                          </a:solidFill>
                          <a:latin typeface="Calibri"/>
                        </a:rPr>
                        <a:t>Readable content of one web page: title, h1-h3 headings, plain…</a:t>
                      </a:r>
                    </a:p>
                  </a:txBody>
                  <a:tcPr marL="82296" marR="64008" marT="32004" marB="32004" anchor="ctr">
                    <a:solidFill>
                      <a:srgbClr val="FFFFFF"/>
                    </a:solidFill>
                  </a:tcPr>
                </a:tc>
                <a:tc>
                  <a:txBody>
                    <a:bodyPr wrap="square"/>
                    <a:lstStyle/>
                    <a:p>
                      <a:r>
                        <a:rPr sz="1350" b="0">
                          <a:solidFill>
                            <a:srgbClr val="1A1A1A"/>
                          </a:solidFill>
                          <a:latin typeface="Calibri"/>
                        </a:rPr>
                        <a:t>tavily_web_search</a:t>
                      </a:r>
                    </a:p>
                  </a:txBody>
                  <a:tcPr marL="82296" marR="64008" marT="32004" marB="32004" anchor="ctr">
                    <a:solidFill>
                      <a:srgbClr val="FFFFFF"/>
                    </a:solidFill>
                  </a:tcPr>
                </a:tc>
                <a:tc>
                  <a:txBody>
                    <a:bodyPr wrap="square"/>
                    <a:lstStyle/>
                    <a:p>
                      <a:r>
                        <a:rPr sz="1350" b="0">
                          <a:solidFill>
                            <a:srgbClr val="1A1A1A"/>
                          </a:solidFill>
                          <a:latin typeface="Calibri"/>
                        </a:rPr>
                        <a:t>General web search through the Tavily search API</a:t>
                      </a:r>
                    </a:p>
                  </a:txBody>
                  <a:tcPr marL="82296" marR="64008" marT="32004" marB="32004" anchor="ctr">
                    <a:solidFill>
                      <a:srgbClr val="FFFFFF"/>
                    </a:solidFill>
                  </a:tcPr>
                </a:tc>
              </a:tr>
              <a:tr h="543496">
                <a:tc>
                  <a:txBody>
                    <a:bodyPr wrap="square"/>
                    <a:lstStyle/>
                    <a:p>
                      <a:r>
                        <a:rPr sz="1350" b="1">
                          <a:solidFill>
                            <a:srgbClr val="6E1120"/>
                          </a:solidFill>
                          <a:latin typeface="Calibri"/>
                        </a:rPr>
                        <a:t>extract_links</a:t>
                      </a:r>
                    </a:p>
                  </a:txBody>
                  <a:tcPr marL="82296" marR="64008" marT="32004" marB="32004" anchor="ctr">
                    <a:solidFill>
                      <a:srgbClr val="F7F5F2"/>
                    </a:solidFill>
                  </a:tcPr>
                </a:tc>
                <a:tc>
                  <a:txBody>
                    <a:bodyPr wrap="square"/>
                    <a:lstStyle/>
                    <a:p>
                      <a:r>
                        <a:rPr sz="1350" b="0">
                          <a:solidFill>
                            <a:srgbClr val="1A1A1A"/>
                          </a:solidFill>
                          <a:latin typeface="Calibri"/>
                        </a:rPr>
                        <a:t>All hyperlinks (&lt;a href&gt;) on one web page, marked internal or…</a:t>
                      </a:r>
                    </a:p>
                  </a:txBody>
                  <a:tcPr marL="82296" marR="64008" marT="32004" marB="32004" anchor="ctr">
                    <a:solidFill>
                      <a:srgbClr val="F7F5F2"/>
                    </a:solidFill>
                  </a:tcPr>
                </a:tc>
                <a:tc>
                  <a:txBody>
                    <a:bodyPr wrap="square"/>
                    <a:lstStyle/>
                    <a:p>
                      <a:r>
                        <a:rPr sz="1350" b="0">
                          <a:solidFill>
                            <a:srgbClr val="1A1A1A"/>
                          </a:solidFill>
                          <a:latin typeface="Calibri"/>
                        </a:rPr>
                        <a:t>wiki_get_page</a:t>
                      </a:r>
                    </a:p>
                  </a:txBody>
                  <a:tcPr marL="82296" marR="64008" marT="32004" marB="32004" anchor="ctr">
                    <a:solidFill>
                      <a:srgbClr val="F7F5F2"/>
                    </a:solidFill>
                  </a:tcPr>
                </a:tc>
                <a:tc>
                  <a:txBody>
                    <a:bodyPr wrap="square"/>
                    <a:lstStyle/>
                    <a:p>
                      <a:r>
                        <a:rPr sz="1350" b="0">
                          <a:solidFill>
                            <a:srgbClr val="1A1A1A"/>
                          </a:solidFill>
                          <a:latin typeface="Calibri"/>
                        </a:rPr>
                        <a:t>The full plain-text content of one Wikipedia article, split…</a:t>
                      </a:r>
                    </a:p>
                  </a:txBody>
                  <a:tcPr marL="82296" marR="64008" marT="32004" marB="32004" anchor="ctr">
                    <a:solidFill>
                      <a:srgbClr val="F7F5F2"/>
                    </a:solidFill>
                  </a:tcPr>
                </a:tc>
              </a:tr>
              <a:tr h="543496">
                <a:tc>
                  <a:txBody>
                    <a:bodyPr wrap="square"/>
                    <a:lstStyle/>
                    <a:p>
                      <a:r>
                        <a:rPr sz="1350" b="1">
                          <a:solidFill>
                            <a:srgbClr val="6E1120"/>
                          </a:solidFill>
                          <a:latin typeface="Calibri"/>
                        </a:rPr>
                        <a:t>extract_metadata</a:t>
                      </a:r>
                    </a:p>
                  </a:txBody>
                  <a:tcPr marL="82296" marR="64008" marT="32004" marB="32004" anchor="ctr">
                    <a:solidFill>
                      <a:srgbClr val="FFFFFF"/>
                    </a:solidFill>
                  </a:tcPr>
                </a:tc>
                <a:tc>
                  <a:txBody>
                    <a:bodyPr wrap="square"/>
                    <a:lstStyle/>
                    <a:p>
                      <a:r>
                        <a:rPr sz="1350" b="0">
                          <a:solidFill>
                            <a:srgbClr val="1A1A1A"/>
                          </a:solidFill>
                          <a:latin typeface="Calibri"/>
                        </a:rPr>
                        <a:t>SEO and structural metadata of one web page: title, meta…</a:t>
                      </a:r>
                    </a:p>
                  </a:txBody>
                  <a:tcPr marL="82296" marR="64008" marT="32004" marB="32004" anchor="ctr">
                    <a:solidFill>
                      <a:srgbClr val="FFFFFF"/>
                    </a:solidFill>
                  </a:tcPr>
                </a:tc>
                <a:tc>
                  <a:txBody>
                    <a:bodyPr wrap="square"/>
                    <a:lstStyle/>
                    <a:p>
                      <a:r>
                        <a:rPr sz="1350" b="0">
                          <a:solidFill>
                            <a:srgbClr val="1A1A1A"/>
                          </a:solidFill>
                          <a:latin typeface="Calibri"/>
                        </a:rPr>
                        <a:t>wiki_get_summary</a:t>
                      </a:r>
                    </a:p>
                  </a:txBody>
                  <a:tcPr marL="82296" marR="64008" marT="32004" marB="32004" anchor="ctr">
                    <a:solidFill>
                      <a:srgbClr val="FFFFFF"/>
                    </a:solidFill>
                  </a:tcPr>
                </a:tc>
                <a:tc>
                  <a:txBody>
                    <a:bodyPr wrap="square"/>
                    <a:lstStyle/>
                    <a:p>
                      <a:r>
                        <a:rPr sz="1350" b="0">
                          <a:solidFill>
                            <a:srgbClr val="1A1A1A"/>
                          </a:solidFill>
                          <a:latin typeface="Calibri"/>
                        </a:rPr>
                        <a:t>The lead (introduction) of one Wikipedia article as plain text…</a:t>
                      </a:r>
                    </a:p>
                  </a:txBody>
                  <a:tcPr marL="82296" marR="64008" marT="32004" marB="32004" anchor="ctr">
                    <a:solidFill>
                      <a:srgbClr val="FFFFFF"/>
                    </a:solidFill>
                  </a:tcPr>
                </a:tc>
              </a:tr>
              <a:tr h="543496">
                <a:tc>
                  <a:txBody>
                    <a:bodyPr wrap="square"/>
                    <a:lstStyle/>
                    <a:p>
                      <a:r>
                        <a:rPr sz="1350" b="1">
                          <a:solidFill>
                            <a:srgbClr val="6E1120"/>
                          </a:solidFill>
                          <a:latin typeface="Calibri"/>
                        </a:rPr>
                        <a:t>tavily_domain_search</a:t>
                      </a:r>
                    </a:p>
                  </a:txBody>
                  <a:tcPr marL="82296" marR="64008" marT="32004" marB="32004" anchor="ctr">
                    <a:solidFill>
                      <a:srgbClr val="F7F5F2"/>
                    </a:solidFill>
                  </a:tcPr>
                </a:tc>
                <a:tc>
                  <a:txBody>
                    <a:bodyPr wrap="square"/>
                    <a:lstStyle/>
                    <a:p>
                      <a:r>
                        <a:rPr sz="1350" b="0">
                          <a:solidFill>
                            <a:srgbClr val="1A1A1A"/>
                          </a:solidFill>
                          <a:latin typeface="Calibri"/>
                        </a:rPr>
                        <a:t>Web search through the Tavily search API restricted to, or…</a:t>
                      </a:r>
                    </a:p>
                  </a:txBody>
                  <a:tcPr marL="82296" marR="64008" marT="32004" marB="32004" anchor="ctr">
                    <a:solidFill>
                      <a:srgbClr val="F7F5F2"/>
                    </a:solidFill>
                  </a:tcPr>
                </a:tc>
                <a:tc>
                  <a:txBody>
                    <a:bodyPr wrap="square"/>
                    <a:lstStyle/>
                    <a:p>
                      <a:r>
                        <a:rPr sz="1350" b="0">
                          <a:solidFill>
                            <a:srgbClr val="1A1A1A"/>
                          </a:solidFill>
                          <a:latin typeface="Calibri"/>
                        </a:rPr>
                        <a:t>wiki_search</a:t>
                      </a:r>
                    </a:p>
                  </a:txBody>
                  <a:tcPr marL="82296" marR="64008" marT="32004" marB="32004" anchor="ctr">
                    <a:solidFill>
                      <a:srgbClr val="F7F5F2"/>
                    </a:solidFill>
                  </a:tcPr>
                </a:tc>
                <a:tc>
                  <a:txBody>
                    <a:bodyPr wrap="square"/>
                    <a:lstStyle/>
                    <a:p>
                      <a:r>
                        <a:rPr sz="1350" b="0">
                          <a:solidFill>
                            <a:srgbClr val="1A1A1A"/>
                          </a:solidFill>
                          <a:latin typeface="Calibri"/>
                        </a:rPr>
                        <a:t>Search Wikipedia articles by keyword or phrase (MediaWiki…</a:t>
                      </a:r>
                    </a:p>
                  </a:txBody>
                  <a:tcPr marL="82296" marR="64008" marT="32004" marB="32004" anchor="ctr">
                    <a:solidFill>
                      <a:srgbClr val="F7F5F2"/>
                    </a:solidFill>
                  </a:tcPr>
                </a:tc>
              </a:tr>
            </a:tbl>
          </a:graphicData>
        </a:graphic>
      </p:graphicFrame>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DUCKDB AND OLAP</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SQL over your files, pivots and statistics, read-only by construction</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78</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duckdb_sql accepts one read-only statement and cannot read arbitrary files or URLs; the OLAP tools bind values instead of pasting them into SQL.</a:t>
            </a:r>
          </a:p>
        </p:txBody>
      </p:sp>
      <p:graphicFrame>
        <p:nvGraphicFramePr>
          <p:cNvPr id="19" name="Table 18"/>
          <p:cNvGraphicFramePr>
            <a:graphicFrameLocks noGrp="1"/>
          </p:cNvGraphicFramePr>
          <p:nvPr/>
        </p:nvGraphicFramePr>
        <p:xfrm>
          <a:off x="777240" y="1290574"/>
          <a:ext cx="10637214" cy="4313106"/>
        </p:xfrm>
        <a:graphic>
          <a:graphicData uri="http://schemas.openxmlformats.org/drawingml/2006/table">
            <a:tbl>
              <a:tblPr firstRow="1">
                <a:tableStyleId>{5C22544A-7EE6-4342-B048-85BDC9FD1C3A}</a:tableStyleId>
              </a:tblPr>
              <a:tblGrid>
                <a:gridCol w="2087048"/>
                <a:gridCol w="3231559"/>
                <a:gridCol w="2087048"/>
                <a:gridCol w="3231559"/>
              </a:tblGrid>
              <a:tr h="294481">
                <a:tc>
                  <a:txBody>
                    <a:bodyPr wrap="square"/>
                    <a:lstStyle/>
                    <a:p>
                      <a:r>
                        <a:rPr sz="1150" b="1">
                          <a:solidFill>
                            <a:srgbClr val="FFFFFF"/>
                          </a:solidFill>
                          <a:latin typeface="Calibri"/>
                        </a:rPr>
                        <a:t>Tool</a:t>
                      </a:r>
                    </a:p>
                  </a:txBody>
                  <a:tcPr marL="82296" marR="64008" marT="32004" marB="32004" anchor="ctr">
                    <a:solidFill>
                      <a:srgbClr val="A51C30"/>
                    </a:solidFill>
                  </a:tcPr>
                </a:tc>
                <a:tc>
                  <a:txBody>
                    <a:bodyPr wrap="square"/>
                    <a:lstStyle/>
                    <a:p>
                      <a:r>
                        <a:rPr sz="1150" b="1">
                          <a:solidFill>
                            <a:srgbClr val="FFFFFF"/>
                          </a:solidFill>
                          <a:latin typeface="Calibri"/>
                        </a:rPr>
                        <a:t>What it does</a:t>
                      </a:r>
                    </a:p>
                  </a:txBody>
                  <a:tcPr marL="82296" marR="64008" marT="32004" marB="32004" anchor="ctr">
                    <a:solidFill>
                      <a:srgbClr val="A51C30"/>
                    </a:solidFill>
                  </a:tcPr>
                </a:tc>
                <a:tc>
                  <a:txBody>
                    <a:bodyPr wrap="square"/>
                    <a:lstStyle/>
                    <a:p>
                      <a:r>
                        <a:rPr sz="1150" b="1">
                          <a:solidFill>
                            <a:srgbClr val="FFFFFF"/>
                          </a:solidFill>
                          <a:latin typeface="Calibri"/>
                        </a:rPr>
                        <a:t>Tool</a:t>
                      </a:r>
                    </a:p>
                  </a:txBody>
                  <a:tcPr marL="82296" marR="64008" marT="32004" marB="32004" anchor="ctr">
                    <a:solidFill>
                      <a:srgbClr val="A51C30"/>
                    </a:solidFill>
                  </a:tcPr>
                </a:tc>
                <a:tc>
                  <a:txBody>
                    <a:bodyPr wrap="square"/>
                    <a:lstStyle/>
                    <a:p>
                      <a:r>
                        <a:rPr sz="1150" b="1">
                          <a:solidFill>
                            <a:srgbClr val="FFFFFF"/>
                          </a:solidFill>
                          <a:latin typeface="Calibri"/>
                        </a:rPr>
                        <a:t>What it does</a:t>
                      </a:r>
                    </a:p>
                  </a:txBody>
                  <a:tcPr marL="82296" marR="64008" marT="32004" marB="32004" anchor="ctr">
                    <a:solidFill>
                      <a:srgbClr val="A51C30"/>
                    </a:solidFill>
                  </a:tcPr>
                </a:tc>
              </a:tr>
              <a:tr h="479234">
                <a:tc>
                  <a:txBody>
                    <a:bodyPr wrap="square"/>
                    <a:lstStyle/>
                    <a:p>
                      <a:r>
                        <a:rPr sz="1150" b="1">
                          <a:solidFill>
                            <a:srgbClr val="6E1120"/>
                          </a:solidFill>
                          <a:latin typeface="Calibri"/>
                        </a:rPr>
                        <a:t>duckdb_aggregate</a:t>
                      </a:r>
                    </a:p>
                  </a:txBody>
                  <a:tcPr marL="82296" marR="64008" marT="32004" marB="32004" anchor="ctr">
                    <a:solidFill>
                      <a:srgbClr val="FFFFFF"/>
                    </a:solidFill>
                  </a:tcPr>
                </a:tc>
                <a:tc>
                  <a:txBody>
                    <a:bodyPr wrap="square"/>
                    <a:lstStyle/>
                    <a:p>
                      <a:r>
                        <a:rPr sz="1150" b="0">
                          <a:solidFill>
                            <a:srgbClr val="1A1A1A"/>
                          </a:solidFill>
                          <a:latin typeface="Calibri"/>
                        </a:rPr>
                        <a:t>Grouped aggregation on one DuckDB table without writing SQL</a:t>
                      </a:r>
                    </a:p>
                  </a:txBody>
                  <a:tcPr marL="82296" marR="64008" marT="32004" marB="32004" anchor="ctr">
                    <a:solidFill>
                      <a:srgbClr val="FFFFFF"/>
                    </a:solidFill>
                  </a:tcPr>
                </a:tc>
                <a:tc>
                  <a:txBody>
                    <a:bodyPr wrap="square"/>
                    <a:lstStyle/>
                    <a:p>
                      <a:r>
                        <a:rPr sz="1150" b="0">
                          <a:solidFill>
                            <a:srgbClr val="1A1A1A"/>
                          </a:solidFill>
                          <a:latin typeface="Calibri"/>
                        </a:rPr>
                        <a:t>olap_pivot_table</a:t>
                      </a:r>
                    </a:p>
                  </a:txBody>
                  <a:tcPr marL="82296" marR="64008" marT="32004" marB="32004" anchor="ctr">
                    <a:solidFill>
                      <a:srgbClr val="FFFFFF"/>
                    </a:solidFill>
                  </a:tcPr>
                </a:tc>
                <a:tc>
                  <a:txBody>
                    <a:bodyPr wrap="square"/>
                    <a:lstStyle/>
                    <a:p>
                      <a:r>
                        <a:rPr sz="1150" b="0">
                          <a:solidFill>
                            <a:srgbClr val="1A1A1A"/>
                          </a:solidFill>
                          <a:latin typeface="Calibri"/>
                        </a:rPr>
                        <a:t>Pivot table over a semantic-layer OLAP dataset in DuckDB: row…</a:t>
                      </a:r>
                    </a:p>
                  </a:txBody>
                  <a:tcPr marL="82296" marR="64008" marT="32004" marB="32004" anchor="ctr">
                    <a:solidFill>
                      <a:srgbClr val="FFFFFF"/>
                    </a:solidFill>
                  </a:tcPr>
                </a:tc>
              </a:tr>
              <a:tr h="479234">
                <a:tc>
                  <a:txBody>
                    <a:bodyPr wrap="square"/>
                    <a:lstStyle/>
                    <a:p>
                      <a:r>
                        <a:rPr sz="1150" b="1">
                          <a:solidFill>
                            <a:srgbClr val="6E1120"/>
                          </a:solidFill>
                          <a:latin typeface="Calibri"/>
                        </a:rPr>
                        <a:t>duckdb_describe_table</a:t>
                      </a:r>
                    </a:p>
                  </a:txBody>
                  <a:tcPr marL="82296" marR="64008" marT="32004" marB="32004" anchor="ctr">
                    <a:solidFill>
                      <a:srgbClr val="F7F5F2"/>
                    </a:solidFill>
                  </a:tcPr>
                </a:tc>
                <a:tc>
                  <a:txBody>
                    <a:bodyPr wrap="square"/>
                    <a:lstStyle/>
                    <a:p>
                      <a:r>
                        <a:rPr sz="1150" b="0">
                          <a:solidFill>
                            <a:srgbClr val="1A1A1A"/>
                          </a:solidFill>
                          <a:latin typeface="Calibri"/>
                        </a:rPr>
                        <a:t>Column definitions and row count of one DuckDB table…</a:t>
                      </a:r>
                    </a:p>
                  </a:txBody>
                  <a:tcPr marL="82296" marR="64008" marT="32004" marB="32004" anchor="ctr">
                    <a:solidFill>
                      <a:srgbClr val="F7F5F2"/>
                    </a:solidFill>
                  </a:tcPr>
                </a:tc>
                <a:tc>
                  <a:txBody>
                    <a:bodyPr wrap="square"/>
                    <a:lstStyle/>
                    <a:p>
                      <a:r>
                        <a:rPr sz="1150" b="0">
                          <a:solidFill>
                            <a:srgbClr val="1A1A1A"/>
                          </a:solidFill>
                          <a:latin typeface="Calibri"/>
                        </a:rPr>
                        <a:t>olap_time_series</a:t>
                      </a:r>
                    </a:p>
                  </a:txBody>
                  <a:tcPr marL="82296" marR="64008" marT="32004" marB="32004" anchor="ctr">
                    <a:solidFill>
                      <a:srgbClr val="F7F5F2"/>
                    </a:solidFill>
                  </a:tcPr>
                </a:tc>
                <a:tc>
                  <a:txBody>
                    <a:bodyPr wrap="square"/>
                    <a:lstStyle/>
                    <a:p>
                      <a:r>
                        <a:rPr sz="1150" b="0">
                          <a:solidFill>
                            <a:srgbClr val="1A1A1A"/>
                          </a:solidFill>
                          <a:latin typeface="Calibri"/>
                        </a:rPr>
                        <a:t>Time series over a semantic-layer OLAP dataset in DuckDB…</a:t>
                      </a:r>
                    </a:p>
                  </a:txBody>
                  <a:tcPr marL="82296" marR="64008" marT="32004" marB="32004" anchor="ctr">
                    <a:solidFill>
                      <a:srgbClr val="F7F5F2"/>
                    </a:solidFill>
                  </a:tcPr>
                </a:tc>
              </a:tr>
              <a:tr h="479234">
                <a:tc>
                  <a:txBody>
                    <a:bodyPr wrap="square"/>
                    <a:lstStyle/>
                    <a:p>
                      <a:r>
                        <a:rPr sz="1150" b="1">
                          <a:solidFill>
                            <a:srgbClr val="6E1120"/>
                          </a:solidFill>
                          <a:latin typeface="Calibri"/>
                        </a:rPr>
                        <a:t>duckdb_get_stats</a:t>
                      </a:r>
                    </a:p>
                  </a:txBody>
                  <a:tcPr marL="82296" marR="64008" marT="32004" marB="32004" anchor="ctr">
                    <a:solidFill>
                      <a:srgbClr val="FFFFFF"/>
                    </a:solidFill>
                  </a:tcPr>
                </a:tc>
                <a:tc>
                  <a:txBody>
                    <a:bodyPr wrap="square"/>
                    <a:lstStyle/>
                    <a:p>
                      <a:r>
                        <a:rPr sz="1150" b="0">
                          <a:solidFill>
                            <a:srgbClr val="1A1A1A"/>
                          </a:solidFill>
                          <a:latin typeface="Calibri"/>
                        </a:rPr>
                        <a:t>Column statistics for one DuckDB table</a:t>
                      </a:r>
                    </a:p>
                  </a:txBody>
                  <a:tcPr marL="82296" marR="64008" marT="32004" marB="32004" anchor="ctr">
                    <a:solidFill>
                      <a:srgbClr val="FFFFFF"/>
                    </a:solidFill>
                  </a:tcPr>
                </a:tc>
                <a:tc>
                  <a:txBody>
                    <a:bodyPr wrap="square"/>
                    <a:lstStyle/>
                    <a:p>
                      <a:r>
                        <a:rPr sz="1150" b="0">
                          <a:solidFill>
                            <a:srgbClr val="1A1A1A"/>
                          </a:solidFill>
                          <a:latin typeface="Calibri"/>
                        </a:rPr>
                        <a:t>sqlselect_count_rows</a:t>
                      </a:r>
                    </a:p>
                  </a:txBody>
                  <a:tcPr marL="82296" marR="64008" marT="32004" marB="32004" anchor="ctr">
                    <a:solidFill>
                      <a:srgbClr val="FFFFFF"/>
                    </a:solidFill>
                  </a:tcPr>
                </a:tc>
                <a:tc>
                  <a:txBody>
                    <a:bodyPr wrap="square"/>
                    <a:lstStyle/>
                    <a:p>
                      <a:r>
                        <a:rPr sz="1150" b="0">
                          <a:solidFill>
                            <a:srgbClr val="1A1A1A"/>
                          </a:solidFill>
                          <a:latin typeface="Calibri"/>
                        </a:rPr>
                        <a:t>Counts the rows of one configured data source, optionally…</a:t>
                      </a:r>
                    </a:p>
                  </a:txBody>
                  <a:tcPr marL="82296" marR="64008" marT="32004" marB="32004" anchor="ctr">
                    <a:solidFill>
                      <a:srgbClr val="FFFFFF"/>
                    </a:solidFill>
                  </a:tcPr>
                </a:tc>
              </a:tr>
              <a:tr h="663987">
                <a:tc>
                  <a:txBody>
                    <a:bodyPr wrap="square"/>
                    <a:lstStyle/>
                    <a:p>
                      <a:r>
                        <a:rPr sz="1150" b="1">
                          <a:solidFill>
                            <a:srgbClr val="6E1120"/>
                          </a:solidFill>
                          <a:latin typeface="Calibri"/>
                        </a:rPr>
                        <a:t>duckdb_list_files</a:t>
                      </a:r>
                    </a:p>
                  </a:txBody>
                  <a:tcPr marL="82296" marR="64008" marT="32004" marB="32004" anchor="ctr">
                    <a:solidFill>
                      <a:srgbClr val="F7F5F2"/>
                    </a:solidFill>
                  </a:tcPr>
                </a:tc>
                <a:tc>
                  <a:txBody>
                    <a:bodyPr wrap="square"/>
                    <a:lstStyle/>
                    <a:p>
                      <a:r>
                        <a:rPr sz="1150" b="0">
                          <a:solidFill>
                            <a:srgbClr val="1A1A1A"/>
                          </a:solidFill>
                          <a:latin typeface="Calibri"/>
                        </a:rPr>
                        <a:t>Lists the data files in the DuckDB data folder…</a:t>
                      </a:r>
                    </a:p>
                  </a:txBody>
                  <a:tcPr marL="82296" marR="64008" marT="32004" marB="32004" anchor="ctr">
                    <a:solidFill>
                      <a:srgbClr val="F7F5F2"/>
                    </a:solidFill>
                  </a:tcPr>
                </a:tc>
                <a:tc>
                  <a:txBody>
                    <a:bodyPr wrap="square"/>
                    <a:lstStyle/>
                    <a:p>
                      <a:r>
                        <a:rPr sz="1150" b="0">
                          <a:solidFill>
                            <a:srgbClr val="1A1A1A"/>
                          </a:solidFill>
                          <a:latin typeface="Calibri"/>
                        </a:rPr>
                        <a:t>sqlselect_describe_source</a:t>
                      </a:r>
                    </a:p>
                  </a:txBody>
                  <a:tcPr marL="82296" marR="64008" marT="32004" marB="32004" anchor="ctr">
                    <a:solidFill>
                      <a:srgbClr val="F7F5F2"/>
                    </a:solidFill>
                  </a:tcPr>
                </a:tc>
                <a:tc>
                  <a:txBody>
                    <a:bodyPr wrap="square"/>
                    <a:lstStyle/>
                    <a:p>
                      <a:r>
                        <a:rPr sz="1150" b="0">
                          <a:solidFill>
                            <a:srgbClr val="1A1A1A"/>
                          </a:solidFill>
                          <a:latin typeface="Calibri"/>
                        </a:rPr>
                        <a:t>Columns and row count of one configured data source</a:t>
                      </a:r>
                    </a:p>
                  </a:txBody>
                  <a:tcPr marL="82296" marR="64008" marT="32004" marB="32004" anchor="ctr">
                    <a:solidFill>
                      <a:srgbClr val="F7F5F2"/>
                    </a:solidFill>
                  </a:tcPr>
                </a:tc>
              </a:tr>
              <a:tr h="479234">
                <a:tc>
                  <a:txBody>
                    <a:bodyPr wrap="square"/>
                    <a:lstStyle/>
                    <a:p>
                      <a:r>
                        <a:rPr sz="1150" b="1">
                          <a:solidFill>
                            <a:srgbClr val="6E1120"/>
                          </a:solidFill>
                          <a:latin typeface="Calibri"/>
                        </a:rPr>
                        <a:t>duckdb_list_tables</a:t>
                      </a:r>
                    </a:p>
                  </a:txBody>
                  <a:tcPr marL="82296" marR="64008" marT="32004" marB="32004" anchor="ctr">
                    <a:solidFill>
                      <a:srgbClr val="FFFFFF"/>
                    </a:solidFill>
                  </a:tcPr>
                </a:tc>
                <a:tc>
                  <a:txBody>
                    <a:bodyPr wrap="square"/>
                    <a:lstStyle/>
                    <a:p>
                      <a:r>
                        <a:rPr sz="1150" b="0">
                          <a:solidFill>
                            <a:srgbClr val="1A1A1A"/>
                          </a:solidFill>
                          <a:latin typeface="Calibri"/>
                        </a:rPr>
                        <a:t>Lists the tables in the DuckDB sandbox with row counts</a:t>
                      </a:r>
                    </a:p>
                  </a:txBody>
                  <a:tcPr marL="82296" marR="64008" marT="32004" marB="32004" anchor="ctr">
                    <a:solidFill>
                      <a:srgbClr val="FFFFFF"/>
                    </a:solidFill>
                  </a:tcPr>
                </a:tc>
                <a:tc>
                  <a:txBody>
                    <a:bodyPr wrap="square"/>
                    <a:lstStyle/>
                    <a:p>
                      <a:r>
                        <a:rPr sz="1150" b="0">
                          <a:solidFill>
                            <a:srgbClr val="1A1A1A"/>
                          </a:solidFill>
                          <a:latin typeface="Calibri"/>
                        </a:rPr>
                        <a:t>sqlselect_execute_query</a:t>
                      </a:r>
                    </a:p>
                  </a:txBody>
                  <a:tcPr marL="82296" marR="64008" marT="32004" marB="32004" anchor="ctr">
                    <a:solidFill>
                      <a:srgbClr val="FFFFFF"/>
                    </a:solidFill>
                  </a:tcPr>
                </a:tc>
                <a:tc>
                  <a:txBody>
                    <a:bodyPr wrap="square"/>
                    <a:lstStyle/>
                    <a:p>
                      <a:r>
                        <a:rPr sz="1150" b="0">
                          <a:solidFill>
                            <a:srgbClr val="1A1A1A"/>
                          </a:solidFill>
                          <a:latin typeface="Calibri"/>
                        </a:rPr>
                        <a:t>Runs a SQL SELECT over the configured data sources with DuckDB</a:t>
                      </a:r>
                    </a:p>
                  </a:txBody>
                  <a:tcPr marL="82296" marR="64008" marT="32004" marB="32004" anchor="ctr">
                    <a:solidFill>
                      <a:srgbClr val="FFFFFF"/>
                    </a:solidFill>
                  </a:tcPr>
                </a:tc>
              </a:tr>
              <a:tr h="479234">
                <a:tc>
                  <a:txBody>
                    <a:bodyPr wrap="square"/>
                    <a:lstStyle/>
                    <a:p>
                      <a:r>
                        <a:rPr sz="1150" b="1">
                          <a:solidFill>
                            <a:srgbClr val="6E1120"/>
                          </a:solidFill>
                          <a:latin typeface="Calibri"/>
                        </a:rPr>
                        <a:t>duckdb_query</a:t>
                      </a:r>
                    </a:p>
                  </a:txBody>
                  <a:tcPr marL="82296" marR="64008" marT="32004" marB="32004" anchor="ctr">
                    <a:solidFill>
                      <a:srgbClr val="F7F5F2"/>
                    </a:solidFill>
                  </a:tcPr>
                </a:tc>
                <a:tc>
                  <a:txBody>
                    <a:bodyPr wrap="square"/>
                    <a:lstStyle/>
                    <a:p>
                      <a:r>
                        <a:rPr sz="1150" b="0">
                          <a:solidFill>
                            <a:srgbClr val="1A1A1A"/>
                          </a:solidFill>
                          <a:latin typeface="Calibri"/>
                        </a:rPr>
                        <a:t>Runs one read-only SQL statement (SELECT, WITH, FROM, EXPLAIN…</a:t>
                      </a:r>
                    </a:p>
                  </a:txBody>
                  <a:tcPr marL="82296" marR="64008" marT="32004" marB="32004" anchor="ctr">
                    <a:solidFill>
                      <a:srgbClr val="F7F5F2"/>
                    </a:solidFill>
                  </a:tcPr>
                </a:tc>
                <a:tc>
                  <a:txBody>
                    <a:bodyPr wrap="square"/>
                    <a:lstStyle/>
                    <a:p>
                      <a:r>
                        <a:rPr sz="1150" b="0">
                          <a:solidFill>
                            <a:srgbClr val="1A1A1A"/>
                          </a:solidFill>
                          <a:latin typeface="Calibri"/>
                        </a:rPr>
                        <a:t>sqlselect_get_schema</a:t>
                      </a:r>
                    </a:p>
                  </a:txBody>
                  <a:tcPr marL="82296" marR="64008" marT="32004" marB="32004" anchor="ctr">
                    <a:solidFill>
                      <a:srgbClr val="F7F5F2"/>
                    </a:solidFill>
                  </a:tcPr>
                </a:tc>
                <a:tc>
                  <a:txBody>
                    <a:bodyPr wrap="square"/>
                    <a:lstStyle/>
                    <a:p>
                      <a:r>
                        <a:rPr sz="1150" b="0">
                          <a:solidFill>
                            <a:srgbClr val="1A1A1A"/>
                          </a:solidFill>
                          <a:latin typeface="Calibri"/>
                        </a:rPr>
                        <a:t>Column names and types of one configured data source, without a…</a:t>
                      </a:r>
                    </a:p>
                  </a:txBody>
                  <a:tcPr marL="82296" marR="64008" marT="32004" marB="32004" anchor="ctr">
                    <a:solidFill>
                      <a:srgbClr val="F7F5F2"/>
                    </a:solidFill>
                  </a:tcPr>
                </a:tc>
              </a:tr>
              <a:tr h="479234">
                <a:tc>
                  <a:txBody>
                    <a:bodyPr wrap="square"/>
                    <a:lstStyle/>
                    <a:p>
                      <a:r>
                        <a:rPr sz="1150" b="1">
                          <a:solidFill>
                            <a:srgbClr val="6E1120"/>
                          </a:solidFill>
                          <a:latin typeface="Calibri"/>
                        </a:rPr>
                        <a:t>duckdb_refresh_views</a:t>
                      </a:r>
                    </a:p>
                  </a:txBody>
                  <a:tcPr marL="82296" marR="64008" marT="32004" marB="32004" anchor="ctr">
                    <a:solidFill>
                      <a:srgbClr val="FFFFFF"/>
                    </a:solidFill>
                  </a:tcPr>
                </a:tc>
                <a:tc>
                  <a:txBody>
                    <a:bodyPr wrap="square"/>
                    <a:lstStyle/>
                    <a:p>
                      <a:r>
                        <a:rPr sz="1150" b="0">
                          <a:solidFill>
                            <a:srgbClr val="1A1A1A"/>
                          </a:solidFill>
                          <a:latin typeface="Calibri"/>
                        </a:rPr>
                        <a:t>Reloads the DuckDB sandbox from the data files and reports row…</a:t>
                      </a:r>
                    </a:p>
                  </a:txBody>
                  <a:tcPr marL="82296" marR="64008" marT="32004" marB="32004" anchor="ctr">
                    <a:solidFill>
                      <a:srgbClr val="FFFFFF"/>
                    </a:solidFill>
                  </a:tcPr>
                </a:tc>
                <a:tc>
                  <a:txBody>
                    <a:bodyPr wrap="square"/>
                    <a:lstStyle/>
                    <a:p>
                      <a:r>
                        <a:rPr sz="1150" b="0">
                          <a:solidFill>
                            <a:srgbClr val="1A1A1A"/>
                          </a:solidFill>
                          <a:latin typeface="Calibri"/>
                        </a:rPr>
                        <a:t>sqlselect_list_sources</a:t>
                      </a:r>
                    </a:p>
                  </a:txBody>
                  <a:tcPr marL="82296" marR="64008" marT="32004" marB="32004" anchor="ctr">
                    <a:solidFill>
                      <a:srgbClr val="FFFFFF"/>
                    </a:solidFill>
                  </a:tcPr>
                </a:tc>
                <a:tc>
                  <a:txBody>
                    <a:bodyPr wrap="square"/>
                    <a:lstStyle/>
                    <a:p>
                      <a:r>
                        <a:rPr sz="1150" b="0">
                          <a:solidFill>
                            <a:srgbClr val="1A1A1A"/>
                          </a:solidFill>
                          <a:latin typeface="Calibri"/>
                        </a:rPr>
                        <a:t>Lists the configured SQL Select data sources</a:t>
                      </a:r>
                    </a:p>
                  </a:txBody>
                  <a:tcPr marL="82296" marR="64008" marT="32004" marB="32004" anchor="ctr">
                    <a:solidFill>
                      <a:srgbClr val="FFFFFF"/>
                    </a:solidFill>
                  </a:tcPr>
                </a:tc>
              </a:tr>
              <a:tr h="479234">
                <a:tc>
                  <a:txBody>
                    <a:bodyPr wrap="square"/>
                    <a:lstStyle/>
                    <a:p>
                      <a:r>
                        <a:rPr sz="1150" b="1">
                          <a:solidFill>
                            <a:srgbClr val="6E1120"/>
                          </a:solidFill>
                          <a:latin typeface="Calibri"/>
                        </a:rPr>
                        <a:t>duckdb_sql</a:t>
                      </a:r>
                    </a:p>
                  </a:txBody>
                  <a:tcPr marL="82296" marR="64008" marT="32004" marB="32004" anchor="ctr">
                    <a:solidFill>
                      <a:srgbClr val="F7F5F2"/>
                    </a:solidFill>
                  </a:tcPr>
                </a:tc>
                <a:tc>
                  <a:txBody>
                    <a:bodyPr wrap="square"/>
                    <a:lstStyle/>
                    <a:p>
                      <a:r>
                        <a:rPr sz="1150" b="0">
                          <a:solidFill>
                            <a:srgbClr val="1A1A1A"/>
                          </a:solidFill>
                          <a:latin typeface="Calibri"/>
                        </a:rPr>
                        <a:t>Runs one read-only SQL statement with DuckDB over the…</a:t>
                      </a:r>
                    </a:p>
                  </a:txBody>
                  <a:tcPr marL="82296" marR="64008" marT="32004" marB="32004" anchor="ctr">
                    <a:solidFill>
                      <a:srgbClr val="F7F5F2"/>
                    </a:solidFill>
                  </a:tcPr>
                </a:tc>
                <a:tc>
                  <a:txBody>
                    <a:bodyPr wrap="square"/>
                    <a:lstStyle/>
                    <a:p>
                      <a:r>
                        <a:rPr sz="1150" b="0">
                          <a:solidFill>
                            <a:srgbClr val="1A1A1A"/>
                          </a:solidFill>
                          <a:latin typeface="Calibri"/>
                        </a:rPr>
                        <a:t>sqlselect_sample_data</a:t>
                      </a:r>
                    </a:p>
                  </a:txBody>
                  <a:tcPr marL="82296" marR="64008" marT="32004" marB="32004" anchor="ctr">
                    <a:solidFill>
                      <a:srgbClr val="F7F5F2"/>
                    </a:solidFill>
                  </a:tcPr>
                </a:tc>
                <a:tc>
                  <a:txBody>
                    <a:bodyPr wrap="square"/>
                    <a:lstStyle/>
                    <a:p>
                      <a:r>
                        <a:rPr sz="1150" b="0">
                          <a:solidFill>
                            <a:srgbClr val="1A1A1A"/>
                          </a:solidFill>
                          <a:latin typeface="Calibri"/>
                        </a:rPr>
                        <a:t>First rows of one configured data source, for a quick preview</a:t>
                      </a:r>
                    </a:p>
                  </a:txBody>
                  <a:tcPr marL="82296" marR="64008" marT="32004" marB="32004" anchor="ctr">
                    <a:solidFill>
                      <a:srgbClr val="F7F5F2"/>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FINANCIAL CALCULATORS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19 calculators: pure arithmetic, no network, confidence 1.0</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79</a:t>
            </a:r>
          </a:p>
        </p:txBody>
      </p:sp>
      <p:graphicFrame>
        <p:nvGraphicFramePr>
          <p:cNvPr id="17" name="Table 16"/>
          <p:cNvGraphicFramePr>
            <a:graphicFrameLocks noGrp="1"/>
          </p:cNvGraphicFramePr>
          <p:nvPr/>
        </p:nvGraphicFramePr>
        <p:xfrm>
          <a:off x="777240" y="1354836"/>
          <a:ext cx="10637214" cy="4749445"/>
        </p:xfrm>
        <a:graphic>
          <a:graphicData uri="http://schemas.openxmlformats.org/drawingml/2006/table">
            <a:tbl>
              <a:tblPr firstRow="1">
                <a:tableStyleId>{5C22544A-7EE6-4342-B048-85BDC9FD1C3A}</a:tableStyleId>
              </a:tblPr>
              <a:tblGrid>
                <a:gridCol w="2087048"/>
                <a:gridCol w="3231559"/>
                <a:gridCol w="2087048"/>
                <a:gridCol w="3231559"/>
              </a:tblGrid>
              <a:tr h="278415">
                <a:tc>
                  <a:txBody>
                    <a:bodyPr wrap="square"/>
                    <a:lstStyle/>
                    <a:p>
                      <a:r>
                        <a:rPr sz="1050" b="1">
                          <a:solidFill>
                            <a:srgbClr val="FFFFFF"/>
                          </a:solidFill>
                          <a:latin typeface="Calibri"/>
                        </a:rPr>
                        <a:t>Tool</a:t>
                      </a:r>
                    </a:p>
                  </a:txBody>
                  <a:tcPr marL="82296" marR="64008" marT="32004" marB="32004" anchor="ctr">
                    <a:solidFill>
                      <a:srgbClr val="A51C30"/>
                    </a:solidFill>
                  </a:tcPr>
                </a:tc>
                <a:tc>
                  <a:txBody>
                    <a:bodyPr wrap="square"/>
                    <a:lstStyle/>
                    <a:p>
                      <a:r>
                        <a:rPr sz="1050" b="1">
                          <a:solidFill>
                            <a:srgbClr val="FFFFFF"/>
                          </a:solidFill>
                          <a:latin typeface="Calibri"/>
                        </a:rPr>
                        <a:t>What it does</a:t>
                      </a:r>
                    </a:p>
                  </a:txBody>
                  <a:tcPr marL="82296" marR="64008" marT="32004" marB="32004" anchor="ctr">
                    <a:solidFill>
                      <a:srgbClr val="A51C30"/>
                    </a:solidFill>
                  </a:tcPr>
                </a:tc>
                <a:tc>
                  <a:txBody>
                    <a:bodyPr wrap="square"/>
                    <a:lstStyle/>
                    <a:p>
                      <a:r>
                        <a:rPr sz="1050" b="1">
                          <a:solidFill>
                            <a:srgbClr val="FFFFFF"/>
                          </a:solidFill>
                          <a:latin typeface="Calibri"/>
                        </a:rPr>
                        <a:t>Tool</a:t>
                      </a:r>
                    </a:p>
                  </a:txBody>
                  <a:tcPr marL="82296" marR="64008" marT="32004" marB="32004" anchor="ctr">
                    <a:solidFill>
                      <a:srgbClr val="A51C30"/>
                    </a:solidFill>
                  </a:tcPr>
                </a:tc>
                <a:tc>
                  <a:txBody>
                    <a:bodyPr wrap="square"/>
                    <a:lstStyle/>
                    <a:p>
                      <a:r>
                        <a:rPr sz="1050" b="1">
                          <a:solidFill>
                            <a:srgbClr val="FFFFFF"/>
                          </a:solidFill>
                          <a:latin typeface="Calibri"/>
                        </a:rPr>
                        <a:t>What it does</a:t>
                      </a:r>
                    </a:p>
                  </a:txBody>
                  <a:tcPr marL="82296" marR="64008" marT="32004" marB="32004" anchor="ctr">
                    <a:solidFill>
                      <a:srgbClr val="A51C30"/>
                    </a:solidFill>
                  </a:tcPr>
                </a:tc>
              </a:tr>
              <a:tr h="447103">
                <a:tc>
                  <a:txBody>
                    <a:bodyPr wrap="square"/>
                    <a:lstStyle/>
                    <a:p>
                      <a:r>
                        <a:rPr sz="1050" b="1">
                          <a:solidFill>
                            <a:srgbClr val="6E1120"/>
                          </a:solidFill>
                          <a:latin typeface="Calibri"/>
                        </a:rPr>
                        <a:t>calc_beta</a:t>
                      </a:r>
                    </a:p>
                  </a:txBody>
                  <a:tcPr marL="82296" marR="64008" marT="32004" marB="32004" anchor="ctr">
                    <a:solidFill>
                      <a:srgbClr val="FFFFFF"/>
                    </a:solidFill>
                  </a:tcPr>
                </a:tc>
                <a:tc>
                  <a:txBody>
                    <a:bodyPr wrap="square"/>
                    <a:lstStyle/>
                    <a:p>
                      <a:r>
                        <a:rPr sz="1050" b="0">
                          <a:solidFill>
                            <a:srgbClr val="1A1A1A"/>
                          </a:solidFill>
                          <a:latin typeface="Calibri"/>
                        </a:rPr>
                        <a:t>Beta of a stock against the market: covariance of the two…</a:t>
                      </a:r>
                    </a:p>
                  </a:txBody>
                  <a:tcPr marL="82296" marR="64008" marT="32004" marB="32004" anchor="ctr">
                    <a:solidFill>
                      <a:srgbClr val="FFFFFF"/>
                    </a:solidFill>
                  </a:tcPr>
                </a:tc>
                <a:tc>
                  <a:txBody>
                    <a:bodyPr wrap="square"/>
                    <a:lstStyle/>
                    <a:p>
                      <a:r>
                        <a:rPr sz="1050" b="0">
                          <a:solidFill>
                            <a:srgbClr val="1A1A1A"/>
                          </a:solidFill>
                          <a:latin typeface="Calibri"/>
                        </a:rPr>
                        <a:t>calc_loan_amortization</a:t>
                      </a:r>
                    </a:p>
                  </a:txBody>
                  <a:tcPr marL="82296" marR="64008" marT="32004" marB="32004" anchor="ctr">
                    <a:solidFill>
                      <a:srgbClr val="FFFFFF"/>
                    </a:solidFill>
                  </a:tcPr>
                </a:tc>
                <a:tc>
                  <a:txBody>
                    <a:bodyPr wrap="square"/>
                    <a:lstStyle/>
                    <a:p>
                      <a:r>
                        <a:rPr sz="1050" b="0">
                          <a:solidFill>
                            <a:srgbClr val="1A1A1A"/>
                          </a:solidFill>
                          <a:latin typeface="Calibri"/>
                        </a:rPr>
                        <a:t>Fixed-payment loan schedule: monthly payment from the annual…</a:t>
                      </a:r>
                    </a:p>
                  </a:txBody>
                  <a:tcPr marL="82296" marR="64008" marT="32004" marB="32004" anchor="ctr">
                    <a:solidFill>
                      <a:srgbClr val="FFFFFF"/>
                    </a:solidFill>
                  </a:tcPr>
                </a:tc>
              </a:tr>
              <a:tr h="447103">
                <a:tc>
                  <a:txBody>
                    <a:bodyPr wrap="square"/>
                    <a:lstStyle/>
                    <a:p>
                      <a:r>
                        <a:rPr sz="1050" b="1">
                          <a:solidFill>
                            <a:srgbClr val="6E1120"/>
                          </a:solidFill>
                          <a:latin typeface="Calibri"/>
                        </a:rPr>
                        <a:t>calc_black_scholes</a:t>
                      </a:r>
                    </a:p>
                  </a:txBody>
                  <a:tcPr marL="82296" marR="64008" marT="32004" marB="32004" anchor="ctr">
                    <a:solidFill>
                      <a:srgbClr val="F7F5F2"/>
                    </a:solidFill>
                  </a:tcPr>
                </a:tc>
                <a:tc>
                  <a:txBody>
                    <a:bodyPr wrap="square"/>
                    <a:lstStyle/>
                    <a:p>
                      <a:r>
                        <a:rPr sz="1050" b="0">
                          <a:solidFill>
                            <a:srgbClr val="1A1A1A"/>
                          </a:solidFill>
                          <a:latin typeface="Calibri"/>
                        </a:rPr>
                        <a:t>Black-Scholes prices of a European call and put on a…</a:t>
                      </a:r>
                    </a:p>
                  </a:txBody>
                  <a:tcPr marL="82296" marR="64008" marT="32004" marB="32004" anchor="ctr">
                    <a:solidFill>
                      <a:srgbClr val="F7F5F2"/>
                    </a:solidFill>
                  </a:tcPr>
                </a:tc>
                <a:tc>
                  <a:txBody>
                    <a:bodyPr wrap="square"/>
                    <a:lstStyle/>
                    <a:p>
                      <a:r>
                        <a:rPr sz="1050" b="0">
                          <a:solidFill>
                            <a:srgbClr val="1A1A1A"/>
                          </a:solidFill>
                          <a:latin typeface="Calibri"/>
                        </a:rPr>
                        <a:t>calc_max_drawdown</a:t>
                      </a:r>
                    </a:p>
                  </a:txBody>
                  <a:tcPr marL="82296" marR="64008" marT="32004" marB="32004" anchor="ctr">
                    <a:solidFill>
                      <a:srgbClr val="F7F5F2"/>
                    </a:solidFill>
                  </a:tcPr>
                </a:tc>
                <a:tc>
                  <a:txBody>
                    <a:bodyPr wrap="square"/>
                    <a:lstStyle/>
                    <a:p>
                      <a:r>
                        <a:rPr sz="1050" b="0">
                          <a:solidFill>
                            <a:srgbClr val="1A1A1A"/>
                          </a:solidFill>
                          <a:latin typeface="Calibri"/>
                        </a:rPr>
                        <a:t>Maximum drawdown of a value series: the largest fall from a…</a:t>
                      </a:r>
                    </a:p>
                  </a:txBody>
                  <a:tcPr marL="82296" marR="64008" marT="32004" marB="32004" anchor="ctr">
                    <a:solidFill>
                      <a:srgbClr val="F7F5F2"/>
                    </a:solidFill>
                  </a:tcPr>
                </a:tc>
              </a:tr>
              <a:tr h="447103">
                <a:tc>
                  <a:txBody>
                    <a:bodyPr wrap="square"/>
                    <a:lstStyle/>
                    <a:p>
                      <a:r>
                        <a:rPr sz="1050" b="1">
                          <a:solidFill>
                            <a:srgbClr val="6E1120"/>
                          </a:solidFill>
                          <a:latin typeface="Calibri"/>
                        </a:rPr>
                        <a:t>calc_bond_price</a:t>
                      </a:r>
                    </a:p>
                  </a:txBody>
                  <a:tcPr marL="82296" marR="64008" marT="32004" marB="32004" anchor="ctr">
                    <a:solidFill>
                      <a:srgbClr val="FFFFFF"/>
                    </a:solidFill>
                  </a:tcPr>
                </a:tc>
                <a:tc>
                  <a:txBody>
                    <a:bodyPr wrap="square"/>
                    <a:lstStyle/>
                    <a:p>
                      <a:r>
                        <a:rPr sz="1050" b="0">
                          <a:solidFill>
                            <a:srgbClr val="1A1A1A"/>
                          </a:solidFill>
                          <a:latin typeface="Calibri"/>
                        </a:rPr>
                        <a:t>Price of a fixed-coupon bond with semi-annual coupons…</a:t>
                      </a:r>
                    </a:p>
                  </a:txBody>
                  <a:tcPr marL="82296" marR="64008" marT="32004" marB="32004" anchor="ctr">
                    <a:solidFill>
                      <a:srgbClr val="FFFFFF"/>
                    </a:solidFill>
                  </a:tcPr>
                </a:tc>
                <a:tc>
                  <a:txBody>
                    <a:bodyPr wrap="square"/>
                    <a:lstStyle/>
                    <a:p>
                      <a:r>
                        <a:rPr sz="1050" b="0">
                          <a:solidFill>
                            <a:srgbClr val="1A1A1A"/>
                          </a:solidFill>
                          <a:latin typeface="Calibri"/>
                        </a:rPr>
                        <a:t>calc_npv</a:t>
                      </a:r>
                    </a:p>
                  </a:txBody>
                  <a:tcPr marL="82296" marR="64008" marT="32004" marB="32004" anchor="ctr">
                    <a:solidFill>
                      <a:srgbClr val="FFFFFF"/>
                    </a:solidFill>
                  </a:tcPr>
                </a:tc>
                <a:tc>
                  <a:txBody>
                    <a:bodyPr wrap="square"/>
                    <a:lstStyle/>
                    <a:p>
                      <a:r>
                        <a:rPr sz="1050" b="0">
                          <a:solidFill>
                            <a:srgbClr val="1A1A1A"/>
                          </a:solidFill>
                          <a:latin typeface="Calibri"/>
                        </a:rPr>
                        <a:t>Net present value of a cash flow series: NPV = sum of CF_i / (1…</a:t>
                      </a:r>
                    </a:p>
                  </a:txBody>
                  <a:tcPr marL="82296" marR="64008" marT="32004" marB="32004" anchor="ctr">
                    <a:solidFill>
                      <a:srgbClr val="FFFFFF"/>
                    </a:solidFill>
                  </a:tcPr>
                </a:tc>
              </a:tr>
              <a:tr h="447103">
                <a:tc>
                  <a:txBody>
                    <a:bodyPr wrap="square"/>
                    <a:lstStyle/>
                    <a:p>
                      <a:r>
                        <a:rPr sz="1050" b="1">
                          <a:solidFill>
                            <a:srgbClr val="6E1120"/>
                          </a:solidFill>
                          <a:latin typeface="Calibri"/>
                        </a:rPr>
                        <a:t>calc_capm</a:t>
                      </a:r>
                    </a:p>
                  </a:txBody>
                  <a:tcPr marL="82296" marR="64008" marT="32004" marB="32004" anchor="ctr">
                    <a:solidFill>
                      <a:srgbClr val="F7F5F2"/>
                    </a:solidFill>
                  </a:tcPr>
                </a:tc>
                <a:tc>
                  <a:txBody>
                    <a:bodyPr wrap="square"/>
                    <a:lstStyle/>
                    <a:p>
                      <a:r>
                        <a:rPr sz="1050" b="0">
                          <a:solidFill>
                            <a:srgbClr val="1A1A1A"/>
                          </a:solidFill>
                          <a:latin typeface="Calibri"/>
                        </a:rPr>
                        <a:t>Expected return under the Capital Asset Pricing Model: rf +…</a:t>
                      </a:r>
                    </a:p>
                  </a:txBody>
                  <a:tcPr marL="82296" marR="64008" marT="32004" marB="32004" anchor="ctr">
                    <a:solidFill>
                      <a:srgbClr val="F7F5F2"/>
                    </a:solidFill>
                  </a:tcPr>
                </a:tc>
                <a:tc>
                  <a:txBody>
                    <a:bodyPr wrap="square"/>
                    <a:lstStyle/>
                    <a:p>
                      <a:r>
                        <a:rPr sz="1050" b="0">
                          <a:solidFill>
                            <a:srgbClr val="1A1A1A"/>
                          </a:solidFill>
                          <a:latin typeface="Calibri"/>
                        </a:rPr>
                        <a:t>calc_percentage_change</a:t>
                      </a:r>
                    </a:p>
                  </a:txBody>
                  <a:tcPr marL="82296" marR="64008" marT="32004" marB="32004" anchor="ctr">
                    <a:solidFill>
                      <a:srgbClr val="F7F5F2"/>
                    </a:solidFill>
                  </a:tcPr>
                </a:tc>
                <a:tc>
                  <a:txBody>
                    <a:bodyPr wrap="square"/>
                    <a:lstStyle/>
                    <a:p>
                      <a:r>
                        <a:rPr sz="1050" b="0">
                          <a:solidFill>
                            <a:srgbClr val="1A1A1A"/>
                          </a:solidFill>
                          <a:latin typeface="Calibri"/>
                        </a:rPr>
                        <a:t>Percentage change from an old value to a new value: (new - old)…</a:t>
                      </a:r>
                    </a:p>
                  </a:txBody>
                  <a:tcPr marL="82296" marR="64008" marT="32004" marB="32004" anchor="ctr">
                    <a:solidFill>
                      <a:srgbClr val="F7F5F2"/>
                    </a:solidFill>
                  </a:tcPr>
                </a:tc>
              </a:tr>
              <a:tr h="447103">
                <a:tc>
                  <a:txBody>
                    <a:bodyPr wrap="square"/>
                    <a:lstStyle/>
                    <a:p>
                      <a:r>
                        <a:rPr sz="1050" b="1">
                          <a:solidFill>
                            <a:srgbClr val="6E1120"/>
                          </a:solidFill>
                          <a:latin typeface="Calibri"/>
                        </a:rPr>
                        <a:t>calc_compound_interest</a:t>
                      </a:r>
                    </a:p>
                  </a:txBody>
                  <a:tcPr marL="82296" marR="64008" marT="32004" marB="32004" anchor="ctr">
                    <a:solidFill>
                      <a:srgbClr val="FFFFFF"/>
                    </a:solidFill>
                  </a:tcPr>
                </a:tc>
                <a:tc>
                  <a:txBody>
                    <a:bodyPr wrap="square"/>
                    <a:lstStyle/>
                    <a:p>
                      <a:r>
                        <a:rPr sz="1050" b="0">
                          <a:solidFill>
                            <a:srgbClr val="1A1A1A"/>
                          </a:solidFill>
                          <a:latin typeface="Calibri"/>
                        </a:rPr>
                        <a:t>Future value of a lump sum with periodic compounding: FV = P(1…</a:t>
                      </a:r>
                    </a:p>
                  </a:txBody>
                  <a:tcPr marL="82296" marR="64008" marT="32004" marB="32004" anchor="ctr">
                    <a:solidFill>
                      <a:srgbClr val="FFFFFF"/>
                    </a:solidFill>
                  </a:tcPr>
                </a:tc>
                <a:tc>
                  <a:txBody>
                    <a:bodyPr wrap="square"/>
                    <a:lstStyle/>
                    <a:p>
                      <a:r>
                        <a:rPr sz="1050" b="0">
                          <a:solidFill>
                            <a:srgbClr val="1A1A1A"/>
                          </a:solidFill>
                          <a:latin typeface="Calibri"/>
                        </a:rPr>
                        <a:t>calc_present_value</a:t>
                      </a:r>
                    </a:p>
                  </a:txBody>
                  <a:tcPr marL="82296" marR="64008" marT="32004" marB="32004" anchor="ctr">
                    <a:solidFill>
                      <a:srgbClr val="FFFFFF"/>
                    </a:solidFill>
                  </a:tcPr>
                </a:tc>
                <a:tc>
                  <a:txBody>
                    <a:bodyPr wrap="square"/>
                    <a:lstStyle/>
                    <a:p>
                      <a:r>
                        <a:rPr sz="1050" b="0">
                          <a:solidFill>
                            <a:srgbClr val="1A1A1A"/>
                          </a:solidFill>
                          <a:latin typeface="Calibri"/>
                        </a:rPr>
                        <a:t>Present value of a single future amount with annual…</a:t>
                      </a:r>
                    </a:p>
                  </a:txBody>
                  <a:tcPr marL="82296" marR="64008" marT="32004" marB="32004" anchor="ctr">
                    <a:solidFill>
                      <a:srgbClr val="FFFFFF"/>
                    </a:solidFill>
                  </a:tcPr>
                </a:tc>
              </a:tr>
              <a:tr h="447103">
                <a:tc>
                  <a:txBody>
                    <a:bodyPr wrap="square"/>
                    <a:lstStyle/>
                    <a:p>
                      <a:r>
                        <a:rPr sz="1050" b="1">
                          <a:solidFill>
                            <a:srgbClr val="6E1120"/>
                          </a:solidFill>
                          <a:latin typeface="Calibri"/>
                        </a:rPr>
                        <a:t>calc_correlation</a:t>
                      </a:r>
                    </a:p>
                  </a:txBody>
                  <a:tcPr marL="82296" marR="64008" marT="32004" marB="32004" anchor="ctr">
                    <a:solidFill>
                      <a:srgbClr val="F7F5F2"/>
                    </a:solidFill>
                  </a:tcPr>
                </a:tc>
                <a:tc>
                  <a:txBody>
                    <a:bodyPr wrap="square"/>
                    <a:lstStyle/>
                    <a:p>
                      <a:r>
                        <a:rPr sz="1050" b="0">
                          <a:solidFill>
                            <a:srgbClr val="1A1A1A"/>
                          </a:solidFill>
                          <a:latin typeface="Calibri"/>
                        </a:rPr>
                        <a:t>Pearson correlation of two numeric series (population…</a:t>
                      </a:r>
                    </a:p>
                  </a:txBody>
                  <a:tcPr marL="82296" marR="64008" marT="32004" marB="32004" anchor="ctr">
                    <a:solidFill>
                      <a:srgbClr val="F7F5F2"/>
                    </a:solidFill>
                  </a:tcPr>
                </a:tc>
                <a:tc>
                  <a:txBody>
                    <a:bodyPr wrap="square"/>
                    <a:lstStyle/>
                    <a:p>
                      <a:r>
                        <a:rPr sz="1050" b="0">
                          <a:solidFill>
                            <a:srgbClr val="1A1A1A"/>
                          </a:solidFill>
                          <a:latin typeface="Calibri"/>
                        </a:rPr>
                        <a:t>calc_retirement</a:t>
                      </a:r>
                    </a:p>
                  </a:txBody>
                  <a:tcPr marL="82296" marR="64008" marT="32004" marB="32004" anchor="ctr">
                    <a:solidFill>
                      <a:srgbClr val="F7F5F2"/>
                    </a:solidFill>
                  </a:tcPr>
                </a:tc>
                <a:tc>
                  <a:txBody>
                    <a:bodyPr wrap="square"/>
                    <a:lstStyle/>
                    <a:p>
                      <a:r>
                        <a:rPr sz="1050" b="0">
                          <a:solidFill>
                            <a:srgbClr val="1A1A1A"/>
                          </a:solidFill>
                          <a:latin typeface="Calibri"/>
                        </a:rPr>
                        <a:t>Retirement savings projection: compounds the balance annually…</a:t>
                      </a:r>
                    </a:p>
                  </a:txBody>
                  <a:tcPr marL="82296" marR="64008" marT="32004" marB="32004" anchor="ctr">
                    <a:solidFill>
                      <a:srgbClr val="F7F5F2"/>
                    </a:solidFill>
                  </a:tcPr>
                </a:tc>
              </a:tr>
              <a:tr h="447103">
                <a:tc>
                  <a:txBody>
                    <a:bodyPr wrap="square"/>
                    <a:lstStyle/>
                    <a:p>
                      <a:r>
                        <a:rPr sz="1050" b="1">
                          <a:solidFill>
                            <a:srgbClr val="6E1120"/>
                          </a:solidFill>
                          <a:latin typeface="Calibri"/>
                        </a:rPr>
                        <a:t>calc_currency_converter</a:t>
                      </a:r>
                    </a:p>
                  </a:txBody>
                  <a:tcPr marL="82296" marR="64008" marT="32004" marB="32004" anchor="ctr">
                    <a:solidFill>
                      <a:srgbClr val="FFFFFF"/>
                    </a:solidFill>
                  </a:tcPr>
                </a:tc>
                <a:tc>
                  <a:txBody>
                    <a:bodyPr wrap="square"/>
                    <a:lstStyle/>
                    <a:p>
                      <a:r>
                        <a:rPr sz="1050" b="0">
                          <a:solidFill>
                            <a:srgbClr val="1A1A1A"/>
                          </a:solidFill>
                          <a:latin typeface="Calibri"/>
                        </a:rPr>
                        <a:t>Converts an amount between currencies at the latest rate from…</a:t>
                      </a:r>
                    </a:p>
                  </a:txBody>
                  <a:tcPr marL="82296" marR="64008" marT="32004" marB="32004" anchor="ctr">
                    <a:solidFill>
                      <a:srgbClr val="FFFFFF"/>
                    </a:solidFill>
                  </a:tcPr>
                </a:tc>
                <a:tc>
                  <a:txBody>
                    <a:bodyPr wrap="square"/>
                    <a:lstStyle/>
                    <a:p>
                      <a:r>
                        <a:rPr sz="1050" b="0">
                          <a:solidFill>
                            <a:srgbClr val="1A1A1A"/>
                          </a:solidFill>
                          <a:latin typeface="Calibri"/>
                        </a:rPr>
                        <a:t>calc_sharpe_ratio</a:t>
                      </a:r>
                    </a:p>
                  </a:txBody>
                  <a:tcPr marL="82296" marR="64008" marT="32004" marB="32004" anchor="ctr">
                    <a:solidFill>
                      <a:srgbClr val="FFFFFF"/>
                    </a:solidFill>
                  </a:tcPr>
                </a:tc>
                <a:tc>
                  <a:txBody>
                    <a:bodyPr wrap="square"/>
                    <a:lstStyle/>
                    <a:p>
                      <a:r>
                        <a:rPr sz="1050" b="0">
                          <a:solidFill>
                            <a:srgbClr val="1A1A1A"/>
                          </a:solidFill>
                          <a:latin typeface="Calibri"/>
                        </a:rPr>
                        <a:t>Sharpe ratio: (portfolio return - risk-free rate) / volatility</a:t>
                      </a:r>
                    </a:p>
                  </a:txBody>
                  <a:tcPr marL="82296" marR="64008" marT="32004" marB="32004" anchor="ctr">
                    <a:solidFill>
                      <a:srgbClr val="FFFFFF"/>
                    </a:solidFill>
                  </a:tcPr>
                </a:tc>
              </a:tr>
              <a:tr h="447103">
                <a:tc>
                  <a:txBody>
                    <a:bodyPr wrap="square"/>
                    <a:lstStyle/>
                    <a:p>
                      <a:r>
                        <a:rPr sz="1050" b="1">
                          <a:solidFill>
                            <a:srgbClr val="6E1120"/>
                          </a:solidFill>
                          <a:latin typeface="Calibri"/>
                        </a:rPr>
                        <a:t>calc_dcf_model</a:t>
                      </a:r>
                    </a:p>
                  </a:txBody>
                  <a:tcPr marL="82296" marR="64008" marT="32004" marB="32004" anchor="ctr">
                    <a:solidFill>
                      <a:srgbClr val="F7F5F2"/>
                    </a:solidFill>
                  </a:tcPr>
                </a:tc>
                <a:tc>
                  <a:txBody>
                    <a:bodyPr wrap="square"/>
                    <a:lstStyle/>
                    <a:p>
                      <a:r>
                        <a:rPr sz="1050" b="0">
                          <a:solidFill>
                            <a:srgbClr val="1A1A1A"/>
                          </a:solidFill>
                          <a:latin typeface="Calibri"/>
                        </a:rPr>
                        <a:t>Enterprise value by discounted cash flow: grows free cash flow…</a:t>
                      </a:r>
                    </a:p>
                  </a:txBody>
                  <a:tcPr marL="82296" marR="64008" marT="32004" marB="32004" anchor="ctr">
                    <a:solidFill>
                      <a:srgbClr val="F7F5F2"/>
                    </a:solidFill>
                  </a:tcPr>
                </a:tc>
                <a:tc>
                  <a:txBody>
                    <a:bodyPr wrap="square"/>
                    <a:lstStyle/>
                    <a:p>
                      <a:r>
                        <a:rPr sz="1050" b="0">
                          <a:solidFill>
                            <a:srgbClr val="1A1A1A"/>
                          </a:solidFill>
                          <a:latin typeface="Calibri"/>
                        </a:rPr>
                        <a:t>calc_sortino_ratio</a:t>
                      </a:r>
                    </a:p>
                  </a:txBody>
                  <a:tcPr marL="82296" marR="64008" marT="32004" marB="32004" anchor="ctr">
                    <a:solidFill>
                      <a:srgbClr val="F7F5F2"/>
                    </a:solidFill>
                  </a:tcPr>
                </a:tc>
                <a:tc>
                  <a:txBody>
                    <a:bodyPr wrap="square"/>
                    <a:lstStyle/>
                    <a:p>
                      <a:r>
                        <a:rPr sz="1050" b="0">
                          <a:solidFill>
                            <a:srgbClr val="1A1A1A"/>
                          </a:solidFill>
                          <a:latin typeface="Calibri"/>
                        </a:rPr>
                        <a:t>Sortino ratio: (portfolio return - risk-free rate) / downside…</a:t>
                      </a:r>
                    </a:p>
                  </a:txBody>
                  <a:tcPr marL="82296" marR="64008" marT="32004" marB="32004" anchor="ctr">
                    <a:solidFill>
                      <a:srgbClr val="F7F5F2"/>
                    </a:solidFill>
                  </a:tcPr>
                </a:tc>
              </a:tr>
              <a:tr h="447103">
                <a:tc>
                  <a:txBody>
                    <a:bodyPr wrap="square"/>
                    <a:lstStyle/>
                    <a:p>
                      <a:r>
                        <a:rPr sz="1050" b="1">
                          <a:solidFill>
                            <a:srgbClr val="6E1120"/>
                          </a:solidFill>
                          <a:latin typeface="Calibri"/>
                        </a:rPr>
                        <a:t>calc_future_value</a:t>
                      </a:r>
                    </a:p>
                  </a:txBody>
                  <a:tcPr marL="82296" marR="64008" marT="32004" marB="32004" anchor="ctr">
                    <a:solidFill>
                      <a:srgbClr val="FFFFFF"/>
                    </a:solidFill>
                  </a:tcPr>
                </a:tc>
                <a:tc>
                  <a:txBody>
                    <a:bodyPr wrap="square"/>
                    <a:lstStyle/>
                    <a:p>
                      <a:r>
                        <a:rPr sz="1050" b="0">
                          <a:solidFill>
                            <a:srgbClr val="1A1A1A"/>
                          </a:solidFill>
                          <a:latin typeface="Calibri"/>
                        </a:rPr>
                        <a:t>Future value of a single present amount with annual…</a:t>
                      </a:r>
                    </a:p>
                  </a:txBody>
                  <a:tcPr marL="82296" marR="64008" marT="32004" marB="32004" anchor="ctr">
                    <a:solidFill>
                      <a:srgbClr val="FFFFFF"/>
                    </a:solidFill>
                  </a:tcPr>
                </a:tc>
                <a:tc>
                  <a:txBody>
                    <a:bodyPr wrap="square"/>
                    <a:lstStyle/>
                    <a:p>
                      <a:r>
                        <a:rPr sz="1050" b="0">
                          <a:solidFill>
                            <a:srgbClr val="1A1A1A"/>
                          </a:solidFill>
                          <a:latin typeface="Calibri"/>
                        </a:rPr>
                        <a:t>calc_wacc</a:t>
                      </a:r>
                    </a:p>
                  </a:txBody>
                  <a:tcPr marL="82296" marR="64008" marT="32004" marB="32004" anchor="ctr">
                    <a:solidFill>
                      <a:srgbClr val="FFFFFF"/>
                    </a:solidFill>
                  </a:tcPr>
                </a:tc>
                <a:tc>
                  <a:txBody>
                    <a:bodyPr wrap="square"/>
                    <a:lstStyle/>
                    <a:p>
                      <a:r>
                        <a:rPr sz="1050" b="0">
                          <a:solidFill>
                            <a:srgbClr val="1A1A1A"/>
                          </a:solidFill>
                          <a:latin typeface="Calibri"/>
                        </a:rPr>
                        <a:t>Weighted average cost of capital: E/V * cost of equity + D/V *…</a:t>
                      </a:r>
                    </a:p>
                  </a:txBody>
                  <a:tcPr marL="82296" marR="64008" marT="32004" marB="32004" anchor="ctr">
                    <a:solidFill>
                      <a:srgbClr val="FFFFFF"/>
                    </a:solidFill>
                  </a:tcPr>
                </a:tc>
              </a:tr>
              <a:tr h="447103">
                <a:tc>
                  <a:txBody>
                    <a:bodyPr wrap="square"/>
                    <a:lstStyle/>
                    <a:p>
                      <a:r>
                        <a:rPr sz="1050" b="1">
                          <a:solidFill>
                            <a:srgbClr val="6E1120"/>
                          </a:solidFill>
                          <a:latin typeface="Calibri"/>
                        </a:rPr>
                        <a:t>calc_irr</a:t>
                      </a:r>
                    </a:p>
                  </a:txBody>
                  <a:tcPr marL="82296" marR="64008" marT="32004" marB="32004" anchor="ctr">
                    <a:solidFill>
                      <a:srgbClr val="F7F5F2"/>
                    </a:solidFill>
                  </a:tcPr>
                </a:tc>
                <a:tc>
                  <a:txBody>
                    <a:bodyPr wrap="square"/>
                    <a:lstStyle/>
                    <a:p>
                      <a:r>
                        <a:rPr sz="1050" b="0">
                          <a:solidFill>
                            <a:srgbClr val="1A1A1A"/>
                          </a:solidFill>
                          <a:latin typeface="Calibri"/>
                        </a:rPr>
                        <a:t>Internal rate of return of a cash flow series (the rate where…</a:t>
                      </a:r>
                    </a:p>
                  </a:txBody>
                  <a:tcPr marL="82296" marR="64008" marT="32004" marB="32004" anchor="ctr">
                    <a:solidFill>
                      <a:srgbClr val="F7F5F2"/>
                    </a:solidFill>
                  </a:tcPr>
                </a:tc>
                <a:tc>
                  <a:txBody>
                    <a:bodyPr wrap="square"/>
                    <a:lstStyle/>
                    <a:p>
                      <a:r>
                        <a:rPr sz="1050" b="0">
                          <a:solidFill>
                            <a:srgbClr val="1A1A1A"/>
                          </a:solidFill>
                          <a:latin typeface="Calibri"/>
                        </a:rPr>
                        <a:t/>
                      </a:r>
                    </a:p>
                  </a:txBody>
                  <a:tcPr marL="82296" marR="64008" marT="32004" marB="32004" anchor="ctr">
                    <a:solidFill>
                      <a:srgbClr val="F7F5F2"/>
                    </a:solidFill>
                  </a:tcPr>
                </a:tc>
                <a:tc>
                  <a:txBody>
                    <a:bodyPr wrap="square"/>
                    <a:lstStyle/>
                    <a:p>
                      <a:r>
                        <a:rPr sz="1050" b="0">
                          <a:solidFill>
                            <a:srgbClr val="1A1A1A"/>
                          </a:solidFill>
                          <a:latin typeface="Calibri"/>
                        </a:rPr>
                        <a:t/>
                      </a:r>
                    </a:p>
                  </a:txBody>
                  <a:tcPr marL="82296" marR="64008" marT="32004" marB="32004" anchor="ctr">
                    <a:solidFill>
                      <a:srgbClr val="F7F5F2"/>
                    </a:solidFill>
                  </a:tcPr>
                </a:tc>
              </a:tr>
            </a:tbl>
          </a:graphicData>
        </a:graphic>
      </p:graphicFrame>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CONNECTOR GUARD</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 query to your database passes three read-only checks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80</a:t>
            </a:r>
          </a:p>
        </p:txBody>
      </p:sp>
      <p:cxnSp>
        <p:nvCxnSpPr>
          <p:cNvPr id="17" name="Connector 16"/>
          <p:cNvCxnSpPr/>
          <p:nvPr/>
        </p:nvCxnSpPr>
        <p:spPr>
          <a:xfrm>
            <a:off x="2409398" y="2658233"/>
            <a:ext cx="511895"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909143" y="2658233"/>
            <a:ext cx="511895"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408889" y="2658233"/>
            <a:ext cx="511895"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908634" y="2658233"/>
            <a:ext cx="511895"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1623481"/>
            <a:ext cx="1595582" cy="2069503"/>
          </a:xfrm>
          <a:prstGeom prst="roundRect">
            <a:avLst>
              <a:gd name="adj" fmla="val 4584"/>
            </a:avLst>
          </a:prstGeom>
          <a:solidFill>
            <a:srgbClr val="FFFFFF"/>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Tool call</a:t>
            </a:r>
          </a:p>
          <a:p>
            <a:pPr algn="ctr">
              <a:lnSpc>
                <a:spcPct val="105000"/>
              </a:lnSpc>
              <a:spcBef>
                <a:spcPts val="0"/>
              </a:spcBef>
              <a:spcAft>
                <a:spcPts val="0"/>
              </a:spcAft>
            </a:pPr>
            <a:r>
              <a:rPr sz="1250" b="0" i="0">
                <a:solidFill>
                  <a:srgbClr val="1A1A1A"/>
                </a:solidFill>
                <a:latin typeface="Calibri"/>
              </a:rPr>
              <a:t>query or curated view</a:t>
            </a:r>
          </a:p>
        </p:txBody>
      </p:sp>
      <p:sp>
        <p:nvSpPr>
          <p:cNvPr id="22" name="Rounded Rectangle 21"/>
          <p:cNvSpPr/>
          <p:nvPr/>
        </p:nvSpPr>
        <p:spPr>
          <a:xfrm>
            <a:off x="2957869" y="1623481"/>
            <a:ext cx="1914698" cy="2069503"/>
          </a:xfrm>
          <a:prstGeom prst="roundRect">
            <a:avLst>
              <a:gd name="adj" fmla="val 382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1  Statement guard</a:t>
            </a:r>
          </a:p>
          <a:p>
            <a:pPr algn="ctr">
              <a:lnSpc>
                <a:spcPct val="105000"/>
              </a:lnSpc>
              <a:spcBef>
                <a:spcPts val="0"/>
              </a:spcBef>
              <a:spcAft>
                <a:spcPts val="0"/>
              </a:spcAft>
            </a:pPr>
            <a:r>
              <a:rPr sz="1250" b="0" i="0">
                <a:solidFill>
                  <a:srgbClr val="FFFFFF"/>
                </a:solidFill>
                <a:latin typeface="Calibri"/>
              </a:rPr>
              <a:t>one SELECT; table allowlist; no procedures</a:t>
            </a:r>
          </a:p>
        </p:txBody>
      </p:sp>
      <p:sp>
        <p:nvSpPr>
          <p:cNvPr id="23" name="Rounded Rectangle 22"/>
          <p:cNvSpPr/>
          <p:nvPr/>
        </p:nvSpPr>
        <p:spPr>
          <a:xfrm>
            <a:off x="5457614" y="1623481"/>
            <a:ext cx="1914698" cy="2069503"/>
          </a:xfrm>
          <a:prstGeom prst="roundRect">
            <a:avLst>
              <a:gd name="adj" fmla="val 382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2  Read-only session</a:t>
            </a:r>
          </a:p>
          <a:p>
            <a:pPr algn="ctr">
              <a:lnSpc>
                <a:spcPct val="105000"/>
              </a:lnSpc>
              <a:spcBef>
                <a:spcPts val="0"/>
              </a:spcBef>
              <a:spcAft>
                <a:spcPts val="0"/>
              </a:spcAft>
            </a:pPr>
            <a:r>
              <a:rPr sz="1250" b="0" i="0">
                <a:solidFill>
                  <a:srgbClr val="FFFFFF"/>
                </a:solidFill>
                <a:latin typeface="Calibri"/>
              </a:rPr>
              <a:t>the connection itself refuses writes</a:t>
            </a:r>
          </a:p>
        </p:txBody>
      </p:sp>
      <p:sp>
        <p:nvSpPr>
          <p:cNvPr id="24" name="Rounded Rectangle 23"/>
          <p:cNvSpPr/>
          <p:nvPr/>
        </p:nvSpPr>
        <p:spPr>
          <a:xfrm>
            <a:off x="7957360" y="1623481"/>
            <a:ext cx="1914698" cy="2069503"/>
          </a:xfrm>
          <a:prstGeom prst="roundRect">
            <a:avLst>
              <a:gd name="adj" fmla="val 382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3  The login's grants</a:t>
            </a:r>
          </a:p>
          <a:p>
            <a:pPr algn="ctr">
              <a:lnSpc>
                <a:spcPct val="105000"/>
              </a:lnSpc>
              <a:spcBef>
                <a:spcPts val="0"/>
              </a:spcBef>
              <a:spcAft>
                <a:spcPts val="0"/>
              </a:spcAft>
            </a:pPr>
            <a:r>
              <a:rPr sz="1250" b="0" i="0">
                <a:solidFill>
                  <a:srgbClr val="FFFFFF"/>
                </a:solidFill>
                <a:latin typeface="Calibri"/>
              </a:rPr>
              <a:t>the database's own control</a:t>
            </a:r>
          </a:p>
        </p:txBody>
      </p:sp>
      <p:sp>
        <p:nvSpPr>
          <p:cNvPr id="25" name="Rounded Rectangle 24"/>
          <p:cNvSpPr/>
          <p:nvPr/>
        </p:nvSpPr>
        <p:spPr>
          <a:xfrm>
            <a:off x="10457105" y="1623481"/>
            <a:ext cx="957349" cy="2069503"/>
          </a:xfrm>
          <a:prstGeom prst="roundRect">
            <a:avLst>
              <a:gd name="adj" fmla="val 7641"/>
            </a:avLst>
          </a:prstGeom>
          <a:solidFill>
            <a:srgbClr val="F7F5F2"/>
          </a:solidFill>
          <a:ln w="1270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Your database</a:t>
            </a:r>
          </a:p>
        </p:txBody>
      </p:sp>
      <p:sp>
        <p:nvSpPr>
          <p:cNvPr id="26" name="TextBox 25"/>
          <p:cNvSpPr txBox="1"/>
          <p:nvPr/>
        </p:nvSpPr>
        <p:spPr>
          <a:xfrm>
            <a:off x="777240" y="4507992"/>
            <a:ext cx="10637215" cy="1737360"/>
          </a:xfrm>
          <a:prstGeom prst="rect">
            <a:avLst/>
          </a:prstGeom>
          <a:noFill/>
        </p:spPr>
        <p:txBody>
          <a:bodyPr wrap="square" lIns="0" rIns="0" tIns="0" bIns="0" anchor="t">
            <a:spAutoFit/>
          </a:bodyPr>
          <a:lstStyle/>
          <a:p>
            <a:pPr algn="l">
              <a:lnSpc>
                <a:spcPct val="120000"/>
              </a:lnSpc>
              <a:spcBef>
                <a:spcPts val="0"/>
              </a:spcBef>
              <a:spcAft>
                <a:spcPts val="100"/>
              </a:spcAft>
            </a:pPr>
            <a:r>
              <a:rPr sz="1400" b="1">
                <a:solidFill>
                  <a:srgbClr val="A51C30"/>
                </a:solidFill>
                <a:latin typeface="Calibri"/>
              </a:rPr>
              <a:t>▪  </a:t>
            </a:r>
            <a:r>
              <a:rPr sz="1400" b="1">
                <a:solidFill>
                  <a:srgbClr val="1A1A1A"/>
                </a:solidFill>
                <a:latin typeface="Calibri"/>
              </a:rPr>
              <a:t>Limits</a:t>
            </a:r>
          </a:p>
          <a:p>
            <a:pPr lvl="1">
              <a:lnSpc>
                <a:spcPct val="120000"/>
              </a:lnSpc>
              <a:spcBef>
                <a:spcPts val="0"/>
              </a:spcBef>
              <a:spcAft>
                <a:spcPts val="0"/>
              </a:spcAft>
            </a:pPr>
            <a:r>
              <a:rPr sz="1250" b="0">
                <a:solidFill>
                  <a:srgbClr val="6B7480"/>
                </a:solidFill>
                <a:latin typeface="Calibri"/>
              </a:rPr>
              <a:t>Row, byte and time limits on every query; masking per column.</a:t>
            </a:r>
          </a:p>
          <a:p>
            <a:pPr>
              <a:lnSpc>
                <a:spcPct val="120000"/>
              </a:lnSpc>
              <a:spcBef>
                <a:spcPts val="500"/>
              </a:spcBef>
              <a:spcAft>
                <a:spcPts val="100"/>
              </a:spcAft>
            </a:pPr>
            <a:r>
              <a:rPr sz="1400" b="1">
                <a:solidFill>
                  <a:srgbClr val="A51C30"/>
                </a:solidFill>
                <a:latin typeface="Calibri"/>
              </a:rPr>
              <a:t>▪  </a:t>
            </a:r>
            <a:r>
              <a:rPr sz="1400" b="1">
                <a:solidFill>
                  <a:srgbClr val="1A1A1A"/>
                </a:solidFill>
                <a:latin typeface="Calibri"/>
              </a:rPr>
              <a:t>Per-user sign-in</a:t>
            </a:r>
          </a:p>
          <a:p>
            <a:pPr lvl="1">
              <a:lnSpc>
                <a:spcPct val="120000"/>
              </a:lnSpc>
              <a:spcBef>
                <a:spcPts val="0"/>
              </a:spcBef>
              <a:spcAft>
                <a:spcPts val="0"/>
              </a:spcAft>
            </a:pPr>
            <a:r>
              <a:rPr sz="1250" b="0">
                <a:solidFill>
                  <a:srgbClr val="6B7480"/>
                </a:solidFill>
                <a:latin typeface="Calibri"/>
              </a:rPr>
              <a:t>snowflake, bigquery and databricks can run as each user, so the database applies that user's own rights.</a:t>
            </a:r>
          </a:p>
          <a:p>
            <a:pPr>
              <a:lnSpc>
                <a:spcPct val="120000"/>
              </a:lnSpc>
              <a:spcBef>
                <a:spcPts val="500"/>
              </a:spcBef>
              <a:spcAft>
                <a:spcPts val="100"/>
              </a:spcAft>
            </a:pPr>
            <a:r>
              <a:rPr sz="1400" b="1">
                <a:solidFill>
                  <a:srgbClr val="A51C30"/>
                </a:solidFill>
                <a:latin typeface="Calibri"/>
              </a:rPr>
              <a:t>▪  </a:t>
            </a:r>
            <a:r>
              <a:rPr sz="1400" b="1">
                <a:solidFill>
                  <a:srgbClr val="1A1A1A"/>
                </a:solidFill>
                <a:latin typeface="Calibri"/>
              </a:rPr>
              <a:t>Honest limit</a:t>
            </a:r>
          </a:p>
          <a:p>
            <a:pPr lvl="1">
              <a:lnSpc>
                <a:spcPct val="120000"/>
              </a:lnSpc>
              <a:spcBef>
                <a:spcPts val="0"/>
              </a:spcBef>
              <a:spcAft>
                <a:spcPts val="0"/>
              </a:spcAft>
            </a:pPr>
            <a:r>
              <a:rPr sz="1250" b="0">
                <a:solidFill>
                  <a:srgbClr val="6B7480"/>
                </a:solidFill>
                <a:latin typeface="Calibri"/>
              </a:rPr>
              <a:t>SAJHA's guard works on query text it can analyse; database-native grants, views and masking are stronger and should back anything sensitive.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SEARCH PLUS ANALYTICS</a:t>
            </a:r>
          </a:p>
        </p:txBody>
      </p:sp>
      <p:sp>
        <p:nvSpPr>
          <p:cNvPr id="5" name="TextBox 4"/>
          <p:cNvSpPr txBox="1"/>
          <p:nvPr/>
        </p:nvSpPr>
        <p:spPr>
          <a:xfrm>
            <a:off x="777240" y="749808"/>
            <a:ext cx="10637215" cy="438213"/>
          </a:xfrm>
          <a:prstGeom prst="rect">
            <a:avLst/>
          </a:prstGeom>
          <a:noFill/>
        </p:spPr>
        <p:txBody>
          <a:bodyPr wrap="square" lIns="0" rIns="0" tIns="0" bIns="0" anchor="t">
            <a:spAutoFit/>
          </a:bodyPr>
          <a:lstStyle/>
          <a:p>
            <a:pPr algn="l">
              <a:lnSpc>
                <a:spcPct val="115000"/>
              </a:lnSpc>
              <a:spcBef>
                <a:spcPts val="0"/>
              </a:spcBef>
              <a:spcAft>
                <a:spcPts val="0"/>
              </a:spcAft>
            </a:pPr>
            <a:r>
              <a:rPr sz="2500" b="0" i="0">
                <a:solidFill>
                  <a:srgbClr val="1A1A1A"/>
                </a:solidFill>
                <a:latin typeface="Georgia"/>
              </a:rPr>
              <a:t>One session blends outside intelligence with inside data</a:t>
            </a:r>
          </a:p>
        </p:txBody>
      </p:sp>
      <p:sp>
        <p:nvSpPr>
          <p:cNvPr id="6" name="Rectangle 5"/>
          <p:cNvSpPr/>
          <p:nvPr/>
        </p:nvSpPr>
        <p:spPr>
          <a:xfrm>
            <a:off x="777240" y="1242885"/>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81</a:t>
            </a:r>
          </a:p>
        </p:txBody>
      </p:sp>
      <p:sp>
        <p:nvSpPr>
          <p:cNvPr id="17" name="TextBox 16"/>
          <p:cNvSpPr txBox="1"/>
          <p:nvPr/>
        </p:nvSpPr>
        <p:spPr>
          <a:xfrm>
            <a:off x="777240" y="1370901"/>
            <a:ext cx="10637215" cy="914400"/>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1A1A1A"/>
                </a:solidFill>
                <a:latin typeface="Calibri"/>
              </a:rPr>
              <a:t>Illustrative. “What is the market saying about credit spreads, and how are we positioned?”</a:t>
            </a:r>
          </a:p>
        </p:txBody>
      </p:sp>
      <p:sp>
        <p:nvSpPr>
          <p:cNvPr id="18" name="Rectangle 17"/>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Same server, same identity, same rules and the same audit for every step.</a:t>
            </a:r>
          </a:p>
        </p:txBody>
      </p:sp>
      <p:sp>
        <p:nvSpPr>
          <p:cNvPr id="20" name="Rectangle 19"/>
          <p:cNvSpPr/>
          <p:nvPr/>
        </p:nvSpPr>
        <p:spPr>
          <a:xfrm>
            <a:off x="777240" y="1779968"/>
            <a:ext cx="3616653" cy="1639849"/>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6968" y="1843976"/>
            <a:ext cx="3397197"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OUTSIDE: WHAT THE MARKET SAYS</a:t>
            </a:r>
          </a:p>
        </p:txBody>
      </p:sp>
      <p:sp>
        <p:nvSpPr>
          <p:cNvPr id="22" name="Rectangle 21"/>
          <p:cNvSpPr/>
          <p:nvPr/>
        </p:nvSpPr>
        <p:spPr>
          <a:xfrm>
            <a:off x="777240" y="3665795"/>
            <a:ext cx="7020562" cy="2213796"/>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3729803"/>
            <a:ext cx="6801106"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INSIDE: WHAT OUR DATA SAYS</a:t>
            </a:r>
          </a:p>
        </p:txBody>
      </p:sp>
      <p:sp>
        <p:nvSpPr>
          <p:cNvPr id="24" name="Rounded Rectangle 23"/>
          <p:cNvSpPr/>
          <p:nvPr/>
        </p:nvSpPr>
        <p:spPr>
          <a:xfrm>
            <a:off x="989984" y="2271923"/>
            <a:ext cx="3191164" cy="901917"/>
          </a:xfrm>
          <a:prstGeom prst="roundRect">
            <a:avLst>
              <a:gd name="adj" fmla="val 811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tavily_news_search</a:t>
            </a:r>
          </a:p>
          <a:p>
            <a:pPr algn="ctr">
              <a:lnSpc>
                <a:spcPct val="105000"/>
              </a:lnSpc>
              <a:spcBef>
                <a:spcPts val="0"/>
              </a:spcBef>
              <a:spcAft>
                <a:spcPts val="0"/>
              </a:spcAft>
            </a:pPr>
            <a:r>
              <a:rPr sz="1150" b="0" i="0">
                <a:solidFill>
                  <a:srgbClr val="1A1A1A"/>
                </a:solidFill>
                <a:latin typeface="Calibri"/>
              </a:rPr>
              <a:t>news on the credit-spread outlook, with links</a:t>
            </a:r>
          </a:p>
        </p:txBody>
      </p:sp>
      <p:sp>
        <p:nvSpPr>
          <p:cNvPr id="25" name="Rounded Rectangle 24"/>
          <p:cNvSpPr/>
          <p:nvPr/>
        </p:nvSpPr>
        <p:spPr>
          <a:xfrm>
            <a:off x="989984" y="4239742"/>
            <a:ext cx="2021070" cy="1311879"/>
          </a:xfrm>
          <a:prstGeom prst="roundRect">
            <a:avLst>
              <a:gd name="adj" fmla="val 5576"/>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duckdb_sql</a:t>
            </a:r>
          </a:p>
          <a:p>
            <a:pPr algn="ctr">
              <a:lnSpc>
                <a:spcPct val="105000"/>
              </a:lnSpc>
              <a:spcBef>
                <a:spcPts val="0"/>
              </a:spcBef>
              <a:spcAft>
                <a:spcPts val="0"/>
              </a:spcAft>
            </a:pPr>
            <a:r>
              <a:rPr sz="1050" b="0" i="0">
                <a:solidFill>
                  <a:srgbClr val="1A1A1A"/>
                </a:solidFill>
                <a:latin typeface="Calibri"/>
              </a:rPr>
              <a:t>SELECT sector, rating, spread, duration FROM portfolio</a:t>
            </a:r>
          </a:p>
        </p:txBody>
      </p:sp>
      <p:sp>
        <p:nvSpPr>
          <p:cNvPr id="26" name="Rounded Rectangle 25"/>
          <p:cNvSpPr/>
          <p:nvPr/>
        </p:nvSpPr>
        <p:spPr>
          <a:xfrm>
            <a:off x="3383357" y="4239742"/>
            <a:ext cx="2021070" cy="1311879"/>
          </a:xfrm>
          <a:prstGeom prst="roundRect">
            <a:avLst>
              <a:gd name="adj" fmla="val 557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olap_pivot_table</a:t>
            </a:r>
          </a:p>
          <a:p>
            <a:pPr algn="ctr">
              <a:lnSpc>
                <a:spcPct val="105000"/>
              </a:lnSpc>
              <a:spcBef>
                <a:spcPts val="0"/>
              </a:spcBef>
              <a:spcAft>
                <a:spcPts val="0"/>
              </a:spcAft>
            </a:pPr>
            <a:r>
              <a:rPr sz="1050" b="0" i="0">
                <a:solidFill>
                  <a:srgbClr val="1A1A1A"/>
                </a:solidFill>
                <a:latin typeface="Calibri"/>
              </a:rPr>
              <a:t>exposure by sector and rating</a:t>
            </a:r>
          </a:p>
        </p:txBody>
      </p:sp>
      <p:sp>
        <p:nvSpPr>
          <p:cNvPr id="27" name="Rounded Rectangle 26"/>
          <p:cNvSpPr/>
          <p:nvPr/>
        </p:nvSpPr>
        <p:spPr>
          <a:xfrm>
            <a:off x="5723545" y="4239742"/>
            <a:ext cx="1914698" cy="1311879"/>
          </a:xfrm>
          <a:prstGeom prst="roundRect">
            <a:avLst>
              <a:gd name="adj" fmla="val 557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calc_correlation</a:t>
            </a:r>
          </a:p>
          <a:p>
            <a:pPr algn="ctr">
              <a:lnSpc>
                <a:spcPct val="105000"/>
              </a:lnSpc>
              <a:spcBef>
                <a:spcPts val="0"/>
              </a:spcBef>
              <a:spcAft>
                <a:spcPts val="0"/>
              </a:spcAft>
            </a:pPr>
            <a:r>
              <a:rPr sz="1050" b="0" i="0">
                <a:solidFill>
                  <a:srgbClr val="1A1A1A"/>
                </a:solidFill>
                <a:latin typeface="Calibri"/>
              </a:rPr>
              <a:t>our spreads against the market's</a:t>
            </a:r>
          </a:p>
        </p:txBody>
      </p:sp>
      <p:sp>
        <p:nvSpPr>
          <p:cNvPr id="28" name="Rounded Rectangle 27"/>
          <p:cNvSpPr/>
          <p:nvPr/>
        </p:nvSpPr>
        <p:spPr>
          <a:xfrm>
            <a:off x="8861523" y="2804874"/>
            <a:ext cx="2552931" cy="1475864"/>
          </a:xfrm>
          <a:prstGeom prst="roundRect">
            <a:avLst>
              <a:gd name="adj" fmla="val 495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700" b="1" i="0">
                <a:solidFill>
                  <a:srgbClr val="FFFFFF"/>
                </a:solidFill>
                <a:latin typeface="Calibri"/>
              </a:rPr>
              <a:t>the model</a:t>
            </a:r>
          </a:p>
          <a:p>
            <a:pPr algn="ctr">
              <a:lnSpc>
                <a:spcPct val="105000"/>
              </a:lnSpc>
              <a:spcBef>
                <a:spcPts val="0"/>
              </a:spcBef>
              <a:spcAft>
                <a:spcPts val="0"/>
              </a:spcAft>
            </a:pPr>
            <a:r>
              <a:rPr sz="1450" b="0" i="0">
                <a:solidFill>
                  <a:srgbClr val="FFFFFF"/>
                </a:solidFill>
                <a:latin typeface="Calibri"/>
              </a:rPr>
              <a:t>a synthesis citing each call, with SAJHA's confidence</a:t>
            </a:r>
          </a:p>
        </p:txBody>
      </p:sp>
      <p:cxnSp>
        <p:nvCxnSpPr>
          <p:cNvPr id="29" name="Connector 28"/>
          <p:cNvCxnSpPr/>
          <p:nvPr/>
        </p:nvCxnSpPr>
        <p:spPr>
          <a:xfrm>
            <a:off x="3056775" y="4895682"/>
            <a:ext cx="28086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450148" y="4895682"/>
            <a:ext cx="22767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26601" y="2901040"/>
            <a:ext cx="4589469" cy="49825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680819" y="4058991"/>
            <a:ext cx="1138128" cy="445387"/>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07</a:t>
            </a:r>
          </a:p>
        </p:txBody>
      </p:sp>
      <p:sp>
        <p:nvSpPr>
          <p:cNvPr id="12" name="TextBox 11"/>
          <p:cNvSpPr txBox="1"/>
          <p:nvPr/>
        </p:nvSpPr>
        <p:spPr>
          <a:xfrm>
            <a:off x="1521845" y="2487168"/>
            <a:ext cx="9148005" cy="688340"/>
          </a:xfrm>
          <a:prstGeom prst="rect">
            <a:avLst/>
          </a:prstGeom>
          <a:noFill/>
        </p:spPr>
        <p:txBody>
          <a:bodyPr wrap="square" lIns="0" rIns="0" tIns="0" bIns="0" anchor="t">
            <a:spAutoFit/>
          </a:bodyPr>
          <a:lstStyle/>
          <a:p>
            <a:pPr algn="ctr">
              <a:lnSpc>
                <a:spcPct val="110000"/>
              </a:lnSpc>
              <a:spcBef>
                <a:spcPts val="0"/>
              </a:spcBef>
              <a:spcAft>
                <a:spcPts val="0"/>
              </a:spcAft>
            </a:pPr>
            <a:r>
              <a:rPr sz="4000" b="0" i="0">
                <a:solidFill>
                  <a:srgbClr val="FFFFFF"/>
                </a:solidFill>
                <a:latin typeface="Georgia"/>
              </a:rPr>
              <a:t>Intelligence and operations</a:t>
            </a:r>
          </a:p>
        </p:txBody>
      </p:sp>
      <p:sp>
        <p:nvSpPr>
          <p:cNvPr id="13" name="Rectangle 12"/>
          <p:cNvSpPr/>
          <p:nvPr/>
        </p:nvSpPr>
        <p:spPr>
          <a:xfrm>
            <a:off x="5364327" y="3330956"/>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559556"/>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SAJHA needs no language model to serve tools; it has one anyway, for Ask SAJHA, for describing tools and for workflows. Then the deep dives an operator asks for.</a:t>
            </a:r>
          </a:p>
        </p:txBody>
      </p:sp>
      <p:sp>
        <p:nvSpPr>
          <p:cNvPr id="15" name="TextBox 14"/>
          <p:cNvSpPr txBox="1"/>
          <p:nvPr/>
        </p:nvSpPr>
        <p:spPr>
          <a:xfrm>
            <a:off x="1143000" y="4690364"/>
            <a:ext cx="9905695" cy="1527555"/>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The intelligence layer   ·   LLM tools   ·   Ask SAJHA, captured   ·   Planners   ·   Memory and RAG   ·   Evals   ·   Tool quality   ·   Observability   ·   Sandbox and accounts   ·   Storage and state   ·   Clients   ·   Configuration   ·   Schema</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THE INTELLIGENCE LAYER</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19 real provider types behind one OpenAI-style interface, and none is required</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83</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Out of the box every alias points at the offline mock (highlighted): no keys and no network for the model. Swapping a provider never touches the code that uses a model.</a:t>
            </a:r>
          </a:p>
        </p:txBody>
      </p:sp>
      <p:sp>
        <p:nvSpPr>
          <p:cNvPr id="19" name="Rounded Rectangle 18"/>
          <p:cNvSpPr/>
          <p:nvPr/>
        </p:nvSpPr>
        <p:spPr>
          <a:xfrm>
            <a:off x="777240" y="1611884"/>
            <a:ext cx="1648768" cy="487984"/>
          </a:xfrm>
          <a:prstGeom prst="roundRect">
            <a:avLst>
              <a:gd name="adj" fmla="val 149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Ask SAJHA</a:t>
            </a:r>
          </a:p>
        </p:txBody>
      </p:sp>
      <p:sp>
        <p:nvSpPr>
          <p:cNvPr id="20" name="Rounded Rectangle 19"/>
          <p:cNvSpPr/>
          <p:nvPr/>
        </p:nvSpPr>
        <p:spPr>
          <a:xfrm>
            <a:off x="2574929" y="1611884"/>
            <a:ext cx="1648768" cy="487984"/>
          </a:xfrm>
          <a:prstGeom prst="roundRect">
            <a:avLst>
              <a:gd name="adj" fmla="val 149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sajha_ask</a:t>
            </a:r>
          </a:p>
        </p:txBody>
      </p:sp>
      <p:sp>
        <p:nvSpPr>
          <p:cNvPr id="21" name="Rounded Rectangle 20"/>
          <p:cNvSpPr/>
          <p:nvPr/>
        </p:nvSpPr>
        <p:spPr>
          <a:xfrm>
            <a:off x="4372618" y="1611884"/>
            <a:ext cx="1648768" cy="487984"/>
          </a:xfrm>
          <a:prstGeom prst="roundRect">
            <a:avLst>
              <a:gd name="adj" fmla="val 149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LLM tools</a:t>
            </a:r>
          </a:p>
        </p:txBody>
      </p:sp>
      <p:sp>
        <p:nvSpPr>
          <p:cNvPr id="22" name="Rounded Rectangle 21"/>
          <p:cNvSpPr/>
          <p:nvPr/>
        </p:nvSpPr>
        <p:spPr>
          <a:xfrm>
            <a:off x="6170308" y="1611884"/>
            <a:ext cx="1648768" cy="487984"/>
          </a:xfrm>
          <a:prstGeom prst="roundRect">
            <a:avLst>
              <a:gd name="adj" fmla="val 149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Describe a tool</a:t>
            </a:r>
          </a:p>
        </p:txBody>
      </p:sp>
      <p:sp>
        <p:nvSpPr>
          <p:cNvPr id="23" name="Rounded Rectangle 22"/>
          <p:cNvSpPr/>
          <p:nvPr/>
        </p:nvSpPr>
        <p:spPr>
          <a:xfrm>
            <a:off x="7967997" y="1611884"/>
            <a:ext cx="1648768" cy="487984"/>
          </a:xfrm>
          <a:prstGeom prst="roundRect">
            <a:avLst>
              <a:gd name="adj" fmla="val 149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Memory and RAG</a:t>
            </a:r>
          </a:p>
        </p:txBody>
      </p:sp>
      <p:sp>
        <p:nvSpPr>
          <p:cNvPr id="24" name="Rounded Rectangle 23"/>
          <p:cNvSpPr/>
          <p:nvPr/>
        </p:nvSpPr>
        <p:spPr>
          <a:xfrm>
            <a:off x="9765686" y="1611884"/>
            <a:ext cx="1648768" cy="487984"/>
          </a:xfrm>
          <a:prstGeom prst="roundRect">
            <a:avLst>
              <a:gd name="adj" fmla="val 1499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/v1 endpoint</a:t>
            </a:r>
          </a:p>
        </p:txBody>
      </p:sp>
      <p:sp>
        <p:nvSpPr>
          <p:cNvPr id="25" name="Rounded Rectangle 24"/>
          <p:cNvSpPr/>
          <p:nvPr/>
        </p:nvSpPr>
        <p:spPr>
          <a:xfrm>
            <a:off x="777240" y="2425192"/>
            <a:ext cx="10637215" cy="569315"/>
          </a:xfrm>
          <a:prstGeom prst="roundRect">
            <a:avLst>
              <a:gd name="adj" fmla="val 1284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sajha.ai.llm: llm_factory().model(alias)</a:t>
            </a:r>
          </a:p>
          <a:p>
            <a:pPr algn="ctr">
              <a:lnSpc>
                <a:spcPct val="105000"/>
              </a:lnSpc>
              <a:spcBef>
                <a:spcPts val="0"/>
              </a:spcBef>
              <a:spcAft>
                <a:spcPts val="0"/>
              </a:spcAft>
            </a:pPr>
            <a:r>
              <a:rPr sz="1150" b="0" i="0">
                <a:solidFill>
                  <a:srgbClr val="FFFFFF"/>
                </a:solidFill>
                <a:latin typeface="Calibri"/>
              </a:rPr>
              <a:t>OpenAI-style chat_completions_create and embeddings_create; nothing outside imports a vendor SDK</a:t>
            </a:r>
          </a:p>
        </p:txBody>
      </p:sp>
      <p:sp>
        <p:nvSpPr>
          <p:cNvPr id="26" name="Rounded Rectangle 25"/>
          <p:cNvSpPr/>
          <p:nvPr/>
        </p:nvSpPr>
        <p:spPr>
          <a:xfrm>
            <a:off x="777240" y="3279165"/>
            <a:ext cx="10637215" cy="609980"/>
          </a:xfrm>
          <a:prstGeom prst="roundRect">
            <a:avLst>
              <a:gd name="adj" fmla="val 1199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GovernedModel</a:t>
            </a:r>
          </a:p>
          <a:p>
            <a:pPr algn="ctr">
              <a:lnSpc>
                <a:spcPct val="105000"/>
              </a:lnSpc>
              <a:spcBef>
                <a:spcPts val="0"/>
              </a:spcBef>
              <a:spcAft>
                <a:spcPts val="0"/>
              </a:spcAft>
            </a:pPr>
            <a:r>
              <a:rPr sz="1050" b="0" i="0">
                <a:solidFill>
                  <a:srgbClr val="FFFFFF"/>
                </a:solidFill>
                <a:latin typeface="Calibri"/>
              </a:rPr>
              <a:t>aliases, role policy and token caps, daily budgets, retries and fallback, a breaker per provider, a response cache, audit, usage, one trace span</a:t>
            </a:r>
          </a:p>
        </p:txBody>
      </p:sp>
      <p:sp>
        <p:nvSpPr>
          <p:cNvPr id="27" name="Rounded Rectangle 26"/>
          <p:cNvSpPr/>
          <p:nvPr/>
        </p:nvSpPr>
        <p:spPr>
          <a:xfrm>
            <a:off x="777240" y="4214469"/>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anthropic</a:t>
            </a:r>
          </a:p>
        </p:txBody>
      </p:sp>
      <p:sp>
        <p:nvSpPr>
          <p:cNvPr id="28" name="Rounded Rectangle 27"/>
          <p:cNvSpPr/>
          <p:nvPr/>
        </p:nvSpPr>
        <p:spPr>
          <a:xfrm>
            <a:off x="2328500" y="4214469"/>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azure_openai</a:t>
            </a:r>
          </a:p>
        </p:txBody>
      </p:sp>
      <p:sp>
        <p:nvSpPr>
          <p:cNvPr id="29" name="Rounded Rectangle 28"/>
          <p:cNvSpPr/>
          <p:nvPr/>
        </p:nvSpPr>
        <p:spPr>
          <a:xfrm>
            <a:off x="3879761" y="4214469"/>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bedrock</a:t>
            </a:r>
          </a:p>
        </p:txBody>
      </p:sp>
      <p:sp>
        <p:nvSpPr>
          <p:cNvPr id="30" name="Rounded Rectangle 29"/>
          <p:cNvSpPr/>
          <p:nvPr/>
        </p:nvSpPr>
        <p:spPr>
          <a:xfrm>
            <a:off x="5431021" y="4214469"/>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cohere</a:t>
            </a:r>
          </a:p>
        </p:txBody>
      </p:sp>
      <p:sp>
        <p:nvSpPr>
          <p:cNvPr id="31" name="Rounded Rectangle 30"/>
          <p:cNvSpPr/>
          <p:nvPr/>
        </p:nvSpPr>
        <p:spPr>
          <a:xfrm>
            <a:off x="6982282" y="4214469"/>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deepseek</a:t>
            </a:r>
          </a:p>
        </p:txBody>
      </p:sp>
      <p:sp>
        <p:nvSpPr>
          <p:cNvPr id="32" name="Rounded Rectangle 31"/>
          <p:cNvSpPr/>
          <p:nvPr/>
        </p:nvSpPr>
        <p:spPr>
          <a:xfrm>
            <a:off x="8533542" y="4214469"/>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fireworks</a:t>
            </a:r>
          </a:p>
        </p:txBody>
      </p:sp>
      <p:sp>
        <p:nvSpPr>
          <p:cNvPr id="33" name="Rounded Rectangle 32"/>
          <p:cNvSpPr/>
          <p:nvPr/>
        </p:nvSpPr>
        <p:spPr>
          <a:xfrm>
            <a:off x="10084803" y="4214469"/>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gemini</a:t>
            </a:r>
          </a:p>
        </p:txBody>
      </p:sp>
      <p:sp>
        <p:nvSpPr>
          <p:cNvPr id="34" name="Rounded Rectangle 33"/>
          <p:cNvSpPr/>
          <p:nvPr/>
        </p:nvSpPr>
        <p:spPr>
          <a:xfrm>
            <a:off x="777240" y="4722787"/>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groq</a:t>
            </a:r>
          </a:p>
        </p:txBody>
      </p:sp>
      <p:sp>
        <p:nvSpPr>
          <p:cNvPr id="35" name="Rounded Rectangle 34"/>
          <p:cNvSpPr/>
          <p:nvPr/>
        </p:nvSpPr>
        <p:spPr>
          <a:xfrm>
            <a:off x="2328500" y="4722787"/>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huggingface</a:t>
            </a:r>
          </a:p>
        </p:txBody>
      </p:sp>
      <p:sp>
        <p:nvSpPr>
          <p:cNvPr id="36" name="Rounded Rectangle 35"/>
          <p:cNvSpPr/>
          <p:nvPr/>
        </p:nvSpPr>
        <p:spPr>
          <a:xfrm>
            <a:off x="3879761" y="4722787"/>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lmstudio</a:t>
            </a:r>
          </a:p>
        </p:txBody>
      </p:sp>
      <p:sp>
        <p:nvSpPr>
          <p:cNvPr id="37" name="Rounded Rectangle 36"/>
          <p:cNvSpPr/>
          <p:nvPr/>
        </p:nvSpPr>
        <p:spPr>
          <a:xfrm>
            <a:off x="5431021" y="4722787"/>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mistral</a:t>
            </a:r>
          </a:p>
        </p:txBody>
      </p:sp>
      <p:sp>
        <p:nvSpPr>
          <p:cNvPr id="38" name="Rounded Rectangle 37"/>
          <p:cNvSpPr/>
          <p:nvPr/>
        </p:nvSpPr>
        <p:spPr>
          <a:xfrm>
            <a:off x="6982282" y="4722787"/>
            <a:ext cx="1329651" cy="406654"/>
          </a:xfrm>
          <a:prstGeom prst="roundRect">
            <a:avLst>
              <a:gd name="adj" fmla="val 17988"/>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1A1A1A"/>
                </a:solidFill>
                <a:latin typeface="Calibri"/>
              </a:rPr>
              <a:t>mock</a:t>
            </a:r>
          </a:p>
        </p:txBody>
      </p:sp>
      <p:sp>
        <p:nvSpPr>
          <p:cNvPr id="39" name="Rounded Rectangle 38"/>
          <p:cNvSpPr/>
          <p:nvPr/>
        </p:nvSpPr>
        <p:spPr>
          <a:xfrm>
            <a:off x="8533542" y="4722787"/>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ollama</a:t>
            </a:r>
          </a:p>
        </p:txBody>
      </p:sp>
      <p:sp>
        <p:nvSpPr>
          <p:cNvPr id="40" name="Rounded Rectangle 39"/>
          <p:cNvSpPr/>
          <p:nvPr/>
        </p:nvSpPr>
        <p:spPr>
          <a:xfrm>
            <a:off x="10084803" y="4722787"/>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openai</a:t>
            </a:r>
          </a:p>
        </p:txBody>
      </p:sp>
      <p:sp>
        <p:nvSpPr>
          <p:cNvPr id="41" name="Rounded Rectangle 40"/>
          <p:cNvSpPr/>
          <p:nvPr/>
        </p:nvSpPr>
        <p:spPr>
          <a:xfrm>
            <a:off x="777240" y="5231104"/>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50" b="0" i="0">
                <a:solidFill>
                  <a:srgbClr val="1A1A1A"/>
                </a:solidFill>
                <a:latin typeface="Calibri"/>
              </a:rPr>
              <a:t>openai_compatible</a:t>
            </a:r>
          </a:p>
        </p:txBody>
      </p:sp>
      <p:sp>
        <p:nvSpPr>
          <p:cNvPr id="42" name="Rounded Rectangle 41"/>
          <p:cNvSpPr/>
          <p:nvPr/>
        </p:nvSpPr>
        <p:spPr>
          <a:xfrm>
            <a:off x="2328500" y="5231104"/>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openrouter</a:t>
            </a:r>
          </a:p>
        </p:txBody>
      </p:sp>
      <p:sp>
        <p:nvSpPr>
          <p:cNvPr id="43" name="Rounded Rectangle 42"/>
          <p:cNvSpPr/>
          <p:nvPr/>
        </p:nvSpPr>
        <p:spPr>
          <a:xfrm>
            <a:off x="3879761" y="5231104"/>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perplexity</a:t>
            </a:r>
          </a:p>
        </p:txBody>
      </p:sp>
      <p:sp>
        <p:nvSpPr>
          <p:cNvPr id="44" name="Rounded Rectangle 43"/>
          <p:cNvSpPr/>
          <p:nvPr/>
        </p:nvSpPr>
        <p:spPr>
          <a:xfrm>
            <a:off x="5431021" y="5231104"/>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together</a:t>
            </a:r>
          </a:p>
        </p:txBody>
      </p:sp>
      <p:sp>
        <p:nvSpPr>
          <p:cNvPr id="45" name="Rounded Rectangle 44"/>
          <p:cNvSpPr/>
          <p:nvPr/>
        </p:nvSpPr>
        <p:spPr>
          <a:xfrm>
            <a:off x="6982282" y="5231104"/>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vllm</a:t>
            </a:r>
          </a:p>
        </p:txBody>
      </p:sp>
      <p:sp>
        <p:nvSpPr>
          <p:cNvPr id="46" name="Rounded Rectangle 45"/>
          <p:cNvSpPr/>
          <p:nvPr/>
        </p:nvSpPr>
        <p:spPr>
          <a:xfrm>
            <a:off x="8533542" y="5231104"/>
            <a:ext cx="1329651" cy="406654"/>
          </a:xfrm>
          <a:prstGeom prst="roundRect">
            <a:avLst>
              <a:gd name="adj" fmla="val 1798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xai</a:t>
            </a:r>
          </a:p>
        </p:txBody>
      </p:sp>
      <p:cxnSp>
        <p:nvCxnSpPr>
          <p:cNvPr id="47" name="Connector 46"/>
          <p:cNvCxnSpPr/>
          <p:nvPr/>
        </p:nvCxnSpPr>
        <p:spPr>
          <a:xfrm>
            <a:off x="1601624" y="2145588"/>
            <a:ext cx="0" cy="233884"/>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3399313" y="2145588"/>
            <a:ext cx="0" cy="233884"/>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197002" y="2145588"/>
            <a:ext cx="0" cy="233884"/>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994692" y="2145588"/>
            <a:ext cx="0" cy="233884"/>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792381" y="2145588"/>
            <a:ext cx="0" cy="233884"/>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0590071" y="2145588"/>
            <a:ext cx="0" cy="233884"/>
          </a:xfrm>
          <a:prstGeom prst="line">
            <a:avLst/>
          </a:prstGeom>
          <a:ln w="1524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095847" y="3040227"/>
            <a:ext cx="0" cy="193218"/>
          </a:xfrm>
          <a:prstGeom prst="line">
            <a:avLst/>
          </a:prstGeom>
          <a:ln w="2540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LLM TOOLS AND THE OPENAI-COMPATIBLE ENDPOINT</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An LLM tool is an ordinary tool whose work a model does, in one of 7 modes</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84</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The OpenAI-compatible endpoint ships off (ai.openai_api.enabled); when on, a caller sees only the models and LLM tools its role allows.</a:t>
            </a:r>
          </a:p>
        </p:txBody>
      </p:sp>
      <p:sp>
        <p:nvSpPr>
          <p:cNvPr id="19" name="Rounded Rectangle 18"/>
          <p:cNvSpPr/>
          <p:nvPr/>
        </p:nvSpPr>
        <p:spPr>
          <a:xfrm>
            <a:off x="777240" y="3645153"/>
            <a:ext cx="1382837" cy="528650"/>
          </a:xfrm>
          <a:prstGeom prst="roundRect">
            <a:avLst>
              <a:gd name="adj" fmla="val 1383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answer</a:t>
            </a:r>
          </a:p>
        </p:txBody>
      </p:sp>
      <p:sp>
        <p:nvSpPr>
          <p:cNvPr id="20" name="Rounded Rectangle 19"/>
          <p:cNvSpPr/>
          <p:nvPr/>
        </p:nvSpPr>
        <p:spPr>
          <a:xfrm>
            <a:off x="2319636" y="3645153"/>
            <a:ext cx="1382837" cy="528650"/>
          </a:xfrm>
          <a:prstGeom prst="roundRect">
            <a:avLst>
              <a:gd name="adj" fmla="val 1383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complete</a:t>
            </a:r>
          </a:p>
        </p:txBody>
      </p:sp>
      <p:sp>
        <p:nvSpPr>
          <p:cNvPr id="21" name="Rounded Rectangle 20"/>
          <p:cNvSpPr/>
          <p:nvPr/>
        </p:nvSpPr>
        <p:spPr>
          <a:xfrm>
            <a:off x="3862032" y="3645153"/>
            <a:ext cx="1382837" cy="528650"/>
          </a:xfrm>
          <a:prstGeom prst="roundRect">
            <a:avLst>
              <a:gd name="adj" fmla="val 1383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extract</a:t>
            </a:r>
          </a:p>
        </p:txBody>
      </p:sp>
      <p:sp>
        <p:nvSpPr>
          <p:cNvPr id="22" name="Rounded Rectangle 21"/>
          <p:cNvSpPr/>
          <p:nvPr/>
        </p:nvSpPr>
        <p:spPr>
          <a:xfrm>
            <a:off x="5404428" y="3645153"/>
            <a:ext cx="1382837" cy="528650"/>
          </a:xfrm>
          <a:prstGeom prst="roundRect">
            <a:avLst>
              <a:gd name="adj" fmla="val 1383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classify</a:t>
            </a:r>
          </a:p>
        </p:txBody>
      </p:sp>
      <p:sp>
        <p:nvSpPr>
          <p:cNvPr id="23" name="Rounded Rectangle 22"/>
          <p:cNvSpPr/>
          <p:nvPr/>
        </p:nvSpPr>
        <p:spPr>
          <a:xfrm>
            <a:off x="6946824" y="3645153"/>
            <a:ext cx="1382837" cy="528650"/>
          </a:xfrm>
          <a:prstGeom prst="roundRect">
            <a:avLst>
              <a:gd name="adj" fmla="val 1383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grounded</a:t>
            </a:r>
          </a:p>
        </p:txBody>
      </p:sp>
      <p:sp>
        <p:nvSpPr>
          <p:cNvPr id="24" name="Rounded Rectangle 23"/>
          <p:cNvSpPr/>
          <p:nvPr/>
        </p:nvSpPr>
        <p:spPr>
          <a:xfrm>
            <a:off x="8489221" y="3645153"/>
            <a:ext cx="1382837" cy="528650"/>
          </a:xfrm>
          <a:prstGeom prst="roundRect">
            <a:avLst>
              <a:gd name="adj" fmla="val 1383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narrate</a:t>
            </a:r>
          </a:p>
        </p:txBody>
      </p:sp>
      <p:sp>
        <p:nvSpPr>
          <p:cNvPr id="25" name="Rounded Rectangle 24"/>
          <p:cNvSpPr/>
          <p:nvPr/>
        </p:nvSpPr>
        <p:spPr>
          <a:xfrm>
            <a:off x="10031617" y="3645153"/>
            <a:ext cx="1382837" cy="528650"/>
          </a:xfrm>
          <a:prstGeom prst="roundRect">
            <a:avLst>
              <a:gd name="adj" fmla="val 1383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judge</a:t>
            </a:r>
          </a:p>
        </p:txBody>
      </p:sp>
      <p:sp>
        <p:nvSpPr>
          <p:cNvPr id="26" name="Rounded Rectangle 25"/>
          <p:cNvSpPr/>
          <p:nvPr/>
        </p:nvSpPr>
        <p:spPr>
          <a:xfrm>
            <a:off x="777240" y="1611884"/>
            <a:ext cx="3191164" cy="894638"/>
          </a:xfrm>
          <a:prstGeom prst="roundRect">
            <a:avLst>
              <a:gd name="adj" fmla="val 817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An LLM tool</a:t>
            </a:r>
          </a:p>
          <a:p>
            <a:pPr algn="ctr">
              <a:lnSpc>
                <a:spcPct val="105000"/>
              </a:lnSpc>
              <a:spcBef>
                <a:spcPts val="0"/>
              </a:spcBef>
              <a:spcAft>
                <a:spcPts val="0"/>
              </a:spcAft>
            </a:pPr>
            <a:r>
              <a:rPr sz="1250" b="0" i="0">
                <a:solidFill>
                  <a:srgbClr val="FFFFFF"/>
                </a:solidFill>
                <a:latin typeface="Calibri"/>
              </a:rPr>
              <a:t>a config file in config/tools: name, schemas, a prompt, a mode</a:t>
            </a:r>
          </a:p>
        </p:txBody>
      </p:sp>
      <p:sp>
        <p:nvSpPr>
          <p:cNvPr id="27" name="Rounded Rectangle 26"/>
          <p:cNvSpPr/>
          <p:nvPr/>
        </p:nvSpPr>
        <p:spPr>
          <a:xfrm>
            <a:off x="4500265" y="1611884"/>
            <a:ext cx="3191164" cy="894638"/>
          </a:xfrm>
          <a:prstGeom prst="roundRect">
            <a:avLst>
              <a:gd name="adj" fmla="val 8176"/>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governed like every tool</a:t>
            </a:r>
          </a:p>
          <a:p>
            <a:pPr algn="ctr">
              <a:lnSpc>
                <a:spcPct val="105000"/>
              </a:lnSpc>
              <a:spcBef>
                <a:spcPts val="0"/>
              </a:spcBef>
              <a:spcAft>
                <a:spcPts val="0"/>
              </a:spcAft>
            </a:pPr>
            <a:r>
              <a:rPr sz="1150" b="0" i="0">
                <a:solidFill>
                  <a:srgbClr val="1A1A1A"/>
                </a:solidFill>
                <a:latin typeface="Calibri"/>
              </a:rPr>
              <a:t>access, policy, audit, budgets, tests, versions</a:t>
            </a:r>
          </a:p>
        </p:txBody>
      </p:sp>
      <p:sp>
        <p:nvSpPr>
          <p:cNvPr id="28" name="Rounded Rectangle 27"/>
          <p:cNvSpPr/>
          <p:nvPr/>
        </p:nvSpPr>
        <p:spPr>
          <a:xfrm>
            <a:off x="8223290" y="1611884"/>
            <a:ext cx="3191164" cy="894638"/>
          </a:xfrm>
          <a:prstGeom prst="roundRect">
            <a:avLst>
              <a:gd name="adj" fmla="val 8176"/>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shared across a net</a:t>
            </a:r>
          </a:p>
          <a:p>
            <a:pPr algn="ctr">
              <a:lnSpc>
                <a:spcPct val="105000"/>
              </a:lnSpc>
              <a:spcBef>
                <a:spcPts val="0"/>
              </a:spcBef>
              <a:spcAft>
                <a:spcPts val="0"/>
              </a:spcAft>
            </a:pPr>
            <a:r>
              <a:rPr sz="1150" b="0" i="0">
                <a:solidFill>
                  <a:srgbClr val="1A1A1A"/>
                </a:solidFill>
                <a:latin typeface="Calibri"/>
              </a:rPr>
              <a:t>runs on its host's models and budgets</a:t>
            </a:r>
          </a:p>
        </p:txBody>
      </p:sp>
      <p:sp>
        <p:nvSpPr>
          <p:cNvPr id="29" name="Rounded Rectangle 28"/>
          <p:cNvSpPr/>
          <p:nvPr/>
        </p:nvSpPr>
        <p:spPr>
          <a:xfrm>
            <a:off x="777240" y="4865116"/>
            <a:ext cx="2340187" cy="731977"/>
          </a:xfrm>
          <a:prstGeom prst="roundRect">
            <a:avLst>
              <a:gd name="adj" fmla="val 999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MCP clients</a:t>
            </a:r>
          </a:p>
          <a:p>
            <a:pPr algn="ctr">
              <a:lnSpc>
                <a:spcPct val="105000"/>
              </a:lnSpc>
              <a:spcBef>
                <a:spcPts val="0"/>
              </a:spcBef>
              <a:spcAft>
                <a:spcPts val="0"/>
              </a:spcAft>
            </a:pPr>
            <a:r>
              <a:rPr sz="1050" b="0" i="0">
                <a:solidFill>
                  <a:srgbClr val="1A1A1A"/>
                </a:solidFill>
                <a:latin typeface="Calibri"/>
              </a:rPr>
              <a:t>tools/call</a:t>
            </a:r>
          </a:p>
        </p:txBody>
      </p:sp>
      <p:sp>
        <p:nvSpPr>
          <p:cNvPr id="30" name="Rounded Rectangle 29"/>
          <p:cNvSpPr/>
          <p:nvPr/>
        </p:nvSpPr>
        <p:spPr>
          <a:xfrm>
            <a:off x="3542915" y="4865116"/>
            <a:ext cx="2340187" cy="731977"/>
          </a:xfrm>
          <a:prstGeom prst="roundRect">
            <a:avLst>
              <a:gd name="adj" fmla="val 999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workflows, composites, A2A</a:t>
            </a:r>
          </a:p>
          <a:p>
            <a:pPr algn="ctr">
              <a:lnSpc>
                <a:spcPct val="105000"/>
              </a:lnSpc>
              <a:spcBef>
                <a:spcPts val="0"/>
              </a:spcBef>
              <a:spcAft>
                <a:spcPts val="0"/>
              </a:spcAft>
            </a:pPr>
            <a:r>
              <a:rPr sz="1050" b="0" i="0">
                <a:solidFill>
                  <a:srgbClr val="1A1A1A"/>
                </a:solidFill>
                <a:latin typeface="Calibri"/>
              </a:rPr>
              <a:t>as a step</a:t>
            </a:r>
          </a:p>
        </p:txBody>
      </p:sp>
      <p:sp>
        <p:nvSpPr>
          <p:cNvPr id="31" name="Rounded Rectangle 30"/>
          <p:cNvSpPr/>
          <p:nvPr/>
        </p:nvSpPr>
        <p:spPr>
          <a:xfrm>
            <a:off x="6308591" y="4865116"/>
            <a:ext cx="2552931" cy="731977"/>
          </a:xfrm>
          <a:prstGeom prst="roundRect">
            <a:avLst>
              <a:gd name="adj" fmla="val 999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/v1/chat/completions</a:t>
            </a:r>
          </a:p>
          <a:p>
            <a:pPr algn="ctr">
              <a:lnSpc>
                <a:spcPct val="105000"/>
              </a:lnSpc>
              <a:spcBef>
                <a:spcPts val="0"/>
              </a:spcBef>
              <a:spcAft>
                <a:spcPts val="0"/>
              </a:spcAft>
            </a:pPr>
            <a:r>
              <a:rPr sz="1050" b="0" i="0">
                <a:solidFill>
                  <a:srgbClr val="1A1A1A"/>
                </a:solidFill>
                <a:latin typeface="Calibri"/>
              </a:rPr>
              <a:t>the tool listed as model sajha:&lt;tool&gt;</a:t>
            </a:r>
          </a:p>
        </p:txBody>
      </p:sp>
      <p:sp>
        <p:nvSpPr>
          <p:cNvPr id="32" name="Rounded Rectangle 31"/>
          <p:cNvSpPr/>
          <p:nvPr/>
        </p:nvSpPr>
        <p:spPr>
          <a:xfrm>
            <a:off x="9287012" y="4865116"/>
            <a:ext cx="2127443" cy="731977"/>
          </a:xfrm>
          <a:prstGeom prst="roundRect">
            <a:avLst>
              <a:gd name="adj" fmla="val 9993"/>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6E1120"/>
                </a:solidFill>
                <a:latin typeface="Calibri"/>
              </a:rPr>
              <a:t>any OpenAI SDK</a:t>
            </a:r>
          </a:p>
          <a:p>
            <a:pPr algn="ctr">
              <a:lnSpc>
                <a:spcPct val="105000"/>
              </a:lnSpc>
              <a:spcBef>
                <a:spcPts val="0"/>
              </a:spcBef>
              <a:spcAft>
                <a:spcPts val="0"/>
              </a:spcAft>
            </a:pPr>
            <a:r>
              <a:rPr sz="1050" b="0" i="0">
                <a:solidFill>
                  <a:srgbClr val="6E1120"/>
                </a:solidFill>
                <a:latin typeface="Calibri"/>
              </a:rPr>
              <a:t>base URL and a SAJHA key</a:t>
            </a:r>
          </a:p>
        </p:txBody>
      </p:sp>
      <p:sp>
        <p:nvSpPr>
          <p:cNvPr id="33" name="TextBox 32"/>
          <p:cNvSpPr txBox="1"/>
          <p:nvPr/>
        </p:nvSpPr>
        <p:spPr>
          <a:xfrm>
            <a:off x="777240" y="3075838"/>
            <a:ext cx="10637215" cy="406654"/>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MODES</a:t>
            </a:r>
          </a:p>
        </p:txBody>
      </p:sp>
      <p:sp>
        <p:nvSpPr>
          <p:cNvPr id="34" name="TextBox 33"/>
          <p:cNvSpPr txBox="1"/>
          <p:nvPr/>
        </p:nvSpPr>
        <p:spPr>
          <a:xfrm>
            <a:off x="777240" y="4377131"/>
            <a:ext cx="10637215" cy="406654"/>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CALLED FROM</a:t>
            </a:r>
          </a:p>
        </p:txBody>
      </p:sp>
      <p:cxnSp>
        <p:nvCxnSpPr>
          <p:cNvPr id="35" name="Connector 34"/>
          <p:cNvCxnSpPr/>
          <p:nvPr/>
        </p:nvCxnSpPr>
        <p:spPr>
          <a:xfrm>
            <a:off x="4014124" y="2059203"/>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7737149" y="2059203"/>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907243" y="5231104"/>
            <a:ext cx="334049"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SEMANTIC DISCOVERY AND ASK SAJHA</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Ask SAJHA answers in four moves, and the browser draws each one</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85</a:t>
            </a:r>
          </a:p>
        </p:txBody>
      </p:sp>
      <p:sp>
        <p:nvSpPr>
          <p:cNvPr id="17" name="Oval 16"/>
          <p:cNvSpPr/>
          <p:nvPr/>
        </p:nvSpPr>
        <p:spPr>
          <a:xfrm>
            <a:off x="777240" y="1618063"/>
            <a:ext cx="1170093" cy="1181435"/>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 question</a:t>
            </a:r>
          </a:p>
        </p:txBody>
      </p:sp>
      <p:sp>
        <p:nvSpPr>
          <p:cNvPr id="18" name="Rounded Rectangle 17"/>
          <p:cNvSpPr/>
          <p:nvPr/>
        </p:nvSpPr>
        <p:spPr>
          <a:xfrm>
            <a:off x="2479194" y="1421157"/>
            <a:ext cx="2021070" cy="1575247"/>
          </a:xfrm>
          <a:prstGeom prst="roundRect">
            <a:avLst>
              <a:gd name="adj" fmla="val 4643"/>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1  Shortlist</a:t>
            </a:r>
          </a:p>
          <a:p>
            <a:pPr algn="ctr">
              <a:lnSpc>
                <a:spcPct val="105000"/>
              </a:lnSpc>
              <a:spcBef>
                <a:spcPts val="0"/>
              </a:spcBef>
              <a:spcAft>
                <a:spcPts val="0"/>
              </a:spcAft>
            </a:pPr>
            <a:r>
              <a:rPr sz="1250" b="0" i="0">
                <a:solidFill>
                  <a:srgbClr val="1A1A1A"/>
                </a:solidFill>
                <a:latin typeface="Calibri"/>
              </a:rPr>
              <a:t>all 603 ranked against the question; tools the caller may not run dropped first</a:t>
            </a:r>
          </a:p>
        </p:txBody>
      </p:sp>
      <p:sp>
        <p:nvSpPr>
          <p:cNvPr id="19" name="Rounded Rectangle 18"/>
          <p:cNvSpPr/>
          <p:nvPr/>
        </p:nvSpPr>
        <p:spPr>
          <a:xfrm>
            <a:off x="5032126" y="1421157"/>
            <a:ext cx="1914698" cy="1575247"/>
          </a:xfrm>
          <a:prstGeom prst="roundRect">
            <a:avLst>
              <a:gd name="adj" fmla="val 464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2  Plan</a:t>
            </a:r>
          </a:p>
          <a:p>
            <a:pPr algn="ctr">
              <a:lnSpc>
                <a:spcPct val="105000"/>
              </a:lnSpc>
              <a:spcBef>
                <a:spcPts val="0"/>
              </a:spcBef>
              <a:spcAft>
                <a:spcPts val="0"/>
              </a:spcAft>
            </a:pPr>
            <a:r>
              <a:rPr sz="1250" b="0" i="0">
                <a:solidFill>
                  <a:srgbClr val="1A1A1A"/>
                </a:solidFill>
                <a:latin typeface="Calibri"/>
              </a:rPr>
              <a:t>the planner asks the model: answer, or call which tools</a:t>
            </a:r>
          </a:p>
        </p:txBody>
      </p:sp>
      <p:sp>
        <p:nvSpPr>
          <p:cNvPr id="20" name="Rounded Rectangle 19"/>
          <p:cNvSpPr/>
          <p:nvPr/>
        </p:nvSpPr>
        <p:spPr>
          <a:xfrm>
            <a:off x="7478685" y="1421157"/>
            <a:ext cx="1914698" cy="1575247"/>
          </a:xfrm>
          <a:prstGeom prst="roundRect">
            <a:avLst>
              <a:gd name="adj" fmla="val 4643"/>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3  Governed call</a:t>
            </a:r>
          </a:p>
          <a:p>
            <a:pPr algn="ctr">
              <a:lnSpc>
                <a:spcPct val="105000"/>
              </a:lnSpc>
              <a:spcBef>
                <a:spcPts val="0"/>
              </a:spcBef>
              <a:spcAft>
                <a:spcPts val="0"/>
              </a:spcAft>
            </a:pPr>
            <a:r>
              <a:rPr sz="1250" b="0" i="0">
                <a:solidFill>
                  <a:srgbClr val="FFFFFF"/>
                </a:solidFill>
                <a:latin typeface="Calibri"/>
              </a:rPr>
              <a:t>schema, access, policy, cache, audit: every client's path</a:t>
            </a:r>
          </a:p>
        </p:txBody>
      </p:sp>
      <p:sp>
        <p:nvSpPr>
          <p:cNvPr id="21" name="Rounded Rectangle 20"/>
          <p:cNvSpPr/>
          <p:nvPr/>
        </p:nvSpPr>
        <p:spPr>
          <a:xfrm>
            <a:off x="9925245" y="1421157"/>
            <a:ext cx="1489210" cy="1575247"/>
          </a:xfrm>
          <a:prstGeom prst="roundRect">
            <a:avLst>
              <a:gd name="adj" fmla="val 491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4  Answer</a:t>
            </a:r>
          </a:p>
          <a:p>
            <a:pPr algn="ctr">
              <a:lnSpc>
                <a:spcPct val="105000"/>
              </a:lnSpc>
              <a:spcBef>
                <a:spcPts val="0"/>
              </a:spcBef>
              <a:spcAft>
                <a:spcPts val="0"/>
              </a:spcAft>
            </a:pPr>
            <a:r>
              <a:rPr sz="1250" b="0" i="0">
                <a:solidFill>
                  <a:srgbClr val="FFFFFF"/>
                </a:solidFill>
                <a:latin typeface="Calibri"/>
              </a:rPr>
              <a:t>cites its calls; SAJHA sets the confidence</a:t>
            </a:r>
          </a:p>
        </p:txBody>
      </p:sp>
      <p:sp>
        <p:nvSpPr>
          <p:cNvPr id="22" name="Rounded Rectangle 21"/>
          <p:cNvSpPr/>
          <p:nvPr/>
        </p:nvSpPr>
        <p:spPr>
          <a:xfrm>
            <a:off x="777240" y="4473199"/>
            <a:ext cx="1276465" cy="639944"/>
          </a:xfrm>
          <a:prstGeom prst="roundRect">
            <a:avLst>
              <a:gd name="adj" fmla="val 11430"/>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shortlist</a:t>
            </a:r>
          </a:p>
        </p:txBody>
      </p:sp>
      <p:sp>
        <p:nvSpPr>
          <p:cNvPr id="23" name="Rounded Rectangle 22"/>
          <p:cNvSpPr/>
          <p:nvPr/>
        </p:nvSpPr>
        <p:spPr>
          <a:xfrm>
            <a:off x="2114489" y="4473199"/>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planner_chosen</a:t>
            </a:r>
          </a:p>
        </p:txBody>
      </p:sp>
      <p:sp>
        <p:nvSpPr>
          <p:cNvPr id="24" name="Rounded Rectangle 23"/>
          <p:cNvSpPr/>
          <p:nvPr/>
        </p:nvSpPr>
        <p:spPr>
          <a:xfrm>
            <a:off x="3451739" y="4473199"/>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stage_start</a:t>
            </a:r>
          </a:p>
        </p:txBody>
      </p:sp>
      <p:sp>
        <p:nvSpPr>
          <p:cNvPr id="25" name="Rounded Rectangle 24"/>
          <p:cNvSpPr/>
          <p:nvPr/>
        </p:nvSpPr>
        <p:spPr>
          <a:xfrm>
            <a:off x="4788989" y="4473199"/>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model</a:t>
            </a:r>
          </a:p>
        </p:txBody>
      </p:sp>
      <p:sp>
        <p:nvSpPr>
          <p:cNvPr id="26" name="Rounded Rectangle 25"/>
          <p:cNvSpPr/>
          <p:nvPr/>
        </p:nvSpPr>
        <p:spPr>
          <a:xfrm>
            <a:off x="6126239" y="4473199"/>
            <a:ext cx="1276465" cy="639944"/>
          </a:xfrm>
          <a:prstGeom prst="roundRect">
            <a:avLst>
              <a:gd name="adj" fmla="val 1143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FFFFFF"/>
                </a:solidFill>
                <a:latin typeface="Consolas"/>
              </a:rPr>
              <a:t>tool_call</a:t>
            </a:r>
          </a:p>
        </p:txBody>
      </p:sp>
      <p:sp>
        <p:nvSpPr>
          <p:cNvPr id="27" name="Rounded Rectangle 26"/>
          <p:cNvSpPr/>
          <p:nvPr/>
        </p:nvSpPr>
        <p:spPr>
          <a:xfrm>
            <a:off x="7463489" y="4473199"/>
            <a:ext cx="1276465" cy="639944"/>
          </a:xfrm>
          <a:prstGeom prst="roundRect">
            <a:avLst>
              <a:gd name="adj" fmla="val 11430"/>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FFFFFF"/>
                </a:solidFill>
                <a:latin typeface="Consolas"/>
              </a:rPr>
              <a:t>tool_result</a:t>
            </a:r>
          </a:p>
        </p:txBody>
      </p:sp>
      <p:sp>
        <p:nvSpPr>
          <p:cNvPr id="28" name="Rounded Rectangle 27"/>
          <p:cNvSpPr/>
          <p:nvPr/>
        </p:nvSpPr>
        <p:spPr>
          <a:xfrm>
            <a:off x="8800739" y="4473199"/>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stage_end</a:t>
            </a:r>
          </a:p>
        </p:txBody>
      </p:sp>
      <p:sp>
        <p:nvSpPr>
          <p:cNvPr id="29" name="Rounded Rectangle 28"/>
          <p:cNvSpPr/>
          <p:nvPr/>
        </p:nvSpPr>
        <p:spPr>
          <a:xfrm>
            <a:off x="10137989" y="4473199"/>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stage_start</a:t>
            </a:r>
          </a:p>
        </p:txBody>
      </p:sp>
      <p:sp>
        <p:nvSpPr>
          <p:cNvPr id="30" name="Rounded Rectangle 29"/>
          <p:cNvSpPr/>
          <p:nvPr/>
        </p:nvSpPr>
        <p:spPr>
          <a:xfrm>
            <a:off x="777240" y="5408502"/>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model</a:t>
            </a:r>
          </a:p>
        </p:txBody>
      </p:sp>
      <p:sp>
        <p:nvSpPr>
          <p:cNvPr id="31" name="Rounded Rectangle 30"/>
          <p:cNvSpPr/>
          <p:nvPr/>
        </p:nvSpPr>
        <p:spPr>
          <a:xfrm>
            <a:off x="2114489" y="5408502"/>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stage_end</a:t>
            </a:r>
          </a:p>
        </p:txBody>
      </p:sp>
      <p:sp>
        <p:nvSpPr>
          <p:cNvPr id="32" name="Rounded Rectangle 31"/>
          <p:cNvSpPr/>
          <p:nvPr/>
        </p:nvSpPr>
        <p:spPr>
          <a:xfrm>
            <a:off x="3451739" y="5408502"/>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stage_start</a:t>
            </a:r>
          </a:p>
        </p:txBody>
      </p:sp>
      <p:sp>
        <p:nvSpPr>
          <p:cNvPr id="33" name="Rounded Rectangle 32"/>
          <p:cNvSpPr/>
          <p:nvPr/>
        </p:nvSpPr>
        <p:spPr>
          <a:xfrm>
            <a:off x="4788989" y="5408502"/>
            <a:ext cx="1276465" cy="639944"/>
          </a:xfrm>
          <a:prstGeom prst="roundRect">
            <a:avLst>
              <a:gd name="adj" fmla="val 11430"/>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onsolas"/>
              </a:rPr>
              <a:t>stage_end</a:t>
            </a:r>
          </a:p>
        </p:txBody>
      </p:sp>
      <p:sp>
        <p:nvSpPr>
          <p:cNvPr id="34" name="Rounded Rectangle 33"/>
          <p:cNvSpPr/>
          <p:nvPr/>
        </p:nvSpPr>
        <p:spPr>
          <a:xfrm>
            <a:off x="6126239" y="5408502"/>
            <a:ext cx="1276465" cy="639944"/>
          </a:xfrm>
          <a:prstGeom prst="roundRect">
            <a:avLst>
              <a:gd name="adj" fmla="val 1143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FFFFFF"/>
                </a:solidFill>
                <a:latin typeface="Consolas"/>
              </a:rPr>
              <a:t>answer</a:t>
            </a:r>
          </a:p>
        </p:txBody>
      </p:sp>
      <p:sp>
        <p:nvSpPr>
          <p:cNvPr id="35" name="Rounded Rectangle 34"/>
          <p:cNvSpPr/>
          <p:nvPr/>
        </p:nvSpPr>
        <p:spPr>
          <a:xfrm>
            <a:off x="7463489" y="5408502"/>
            <a:ext cx="1276465" cy="639944"/>
          </a:xfrm>
          <a:prstGeom prst="roundRect">
            <a:avLst>
              <a:gd name="adj" fmla="val 1143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FFFFFF"/>
                </a:solidFill>
                <a:latin typeface="Consolas"/>
              </a:rPr>
              <a:t>confidence</a:t>
            </a:r>
          </a:p>
        </p:txBody>
      </p:sp>
      <p:sp>
        <p:nvSpPr>
          <p:cNvPr id="36" name="Rounded Rectangle 35"/>
          <p:cNvSpPr/>
          <p:nvPr/>
        </p:nvSpPr>
        <p:spPr>
          <a:xfrm>
            <a:off x="8800739" y="5408502"/>
            <a:ext cx="1276465" cy="639944"/>
          </a:xfrm>
          <a:prstGeom prst="roundRect">
            <a:avLst>
              <a:gd name="adj" fmla="val 1143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FFFFFF"/>
                </a:solidFill>
                <a:latin typeface="Consolas"/>
              </a:rPr>
              <a:t>done</a:t>
            </a:r>
          </a:p>
        </p:txBody>
      </p:sp>
      <p:sp>
        <p:nvSpPr>
          <p:cNvPr id="37" name="TextBox 36"/>
          <p:cNvSpPr txBox="1"/>
          <p:nvPr/>
        </p:nvSpPr>
        <p:spPr>
          <a:xfrm>
            <a:off x="777240" y="3931707"/>
            <a:ext cx="10637215" cy="393811"/>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THE CAPTURED RUN'S EVENTS, IN THE ORDER EMITTED; THE PAGE ANIMATES EACH ONE</a:t>
            </a:r>
          </a:p>
        </p:txBody>
      </p:sp>
      <p:cxnSp>
        <p:nvCxnSpPr>
          <p:cNvPr id="38" name="Connector 37"/>
          <p:cNvCxnSpPr/>
          <p:nvPr/>
        </p:nvCxnSpPr>
        <p:spPr>
          <a:xfrm>
            <a:off x="1993053" y="2208781"/>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45985" y="2208781"/>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992544" y="2208781"/>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439104" y="2208781"/>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436034" y="3042124"/>
            <a:ext cx="0" cy="348092"/>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5989475" y="3390216"/>
            <a:ext cx="2446559"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89475" y="3042124"/>
            <a:ext cx="0" cy="348092"/>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612807" y="3152472"/>
            <a:ext cx="1199896"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1">
                <a:solidFill>
                  <a:srgbClr val="6B7480"/>
                </a:solidFill>
                <a:latin typeface="Calibri"/>
              </a:rPr>
              <a:t>the next step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CAPTURED: THE SHORTLIST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603 tools in, 12 offered to the model</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86</a:t>
            </a:r>
          </a:p>
        </p:txBody>
      </p:sp>
      <p:sp>
        <p:nvSpPr>
          <p:cNvPr id="17" name="Rounded Rectangle 16"/>
          <p:cNvSpPr/>
          <p:nvPr/>
        </p:nvSpPr>
        <p:spPr>
          <a:xfrm>
            <a:off x="3755660" y="1916530"/>
            <a:ext cx="2872048" cy="276927"/>
          </a:xfrm>
          <a:prstGeom prst="roundRect">
            <a:avLst>
              <a:gd name="adj" fmla="val 264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1" i="0">
                <a:solidFill>
                  <a:srgbClr val="FFFFFF"/>
                </a:solidFill>
                <a:latin typeface="Calibri"/>
              </a:rPr>
              <a:t>0.803</a:t>
            </a:r>
          </a:p>
        </p:txBody>
      </p:sp>
      <p:sp>
        <p:nvSpPr>
          <p:cNvPr id="18" name="Rounded Rectangle 17"/>
          <p:cNvSpPr/>
          <p:nvPr/>
        </p:nvSpPr>
        <p:spPr>
          <a:xfrm>
            <a:off x="3755660" y="2280909"/>
            <a:ext cx="2446943"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0.684</a:t>
            </a:r>
          </a:p>
        </p:txBody>
      </p:sp>
      <p:sp>
        <p:nvSpPr>
          <p:cNvPr id="19" name="Rounded Rectangle 18"/>
          <p:cNvSpPr/>
          <p:nvPr/>
        </p:nvSpPr>
        <p:spPr>
          <a:xfrm>
            <a:off x="3755660" y="2645288"/>
            <a:ext cx="2446943"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0.684</a:t>
            </a:r>
          </a:p>
        </p:txBody>
      </p:sp>
      <p:sp>
        <p:nvSpPr>
          <p:cNvPr id="20" name="Rounded Rectangle 19"/>
          <p:cNvSpPr/>
          <p:nvPr/>
        </p:nvSpPr>
        <p:spPr>
          <a:xfrm>
            <a:off x="3755660" y="3009667"/>
            <a:ext cx="2292847"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0.641</a:t>
            </a:r>
          </a:p>
        </p:txBody>
      </p:sp>
      <p:sp>
        <p:nvSpPr>
          <p:cNvPr id="21" name="Rounded Rectangle 20"/>
          <p:cNvSpPr/>
          <p:nvPr/>
        </p:nvSpPr>
        <p:spPr>
          <a:xfrm>
            <a:off x="3755660" y="3374046"/>
            <a:ext cx="2198816"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0.615</a:t>
            </a:r>
          </a:p>
        </p:txBody>
      </p:sp>
      <p:sp>
        <p:nvSpPr>
          <p:cNvPr id="22" name="Rounded Rectangle 21"/>
          <p:cNvSpPr/>
          <p:nvPr/>
        </p:nvSpPr>
        <p:spPr>
          <a:xfrm>
            <a:off x="3755660" y="3738425"/>
            <a:ext cx="2198816"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0.615</a:t>
            </a:r>
          </a:p>
        </p:txBody>
      </p:sp>
      <p:sp>
        <p:nvSpPr>
          <p:cNvPr id="23" name="Rounded Rectangle 22"/>
          <p:cNvSpPr/>
          <p:nvPr/>
        </p:nvSpPr>
        <p:spPr>
          <a:xfrm>
            <a:off x="3755660" y="4102804"/>
            <a:ext cx="2184515"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0.611</a:t>
            </a:r>
          </a:p>
        </p:txBody>
      </p:sp>
      <p:sp>
        <p:nvSpPr>
          <p:cNvPr id="24" name="Rounded Rectangle 23"/>
          <p:cNvSpPr/>
          <p:nvPr/>
        </p:nvSpPr>
        <p:spPr>
          <a:xfrm>
            <a:off x="3755660" y="4467183"/>
            <a:ext cx="2147689"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0.601</a:t>
            </a:r>
          </a:p>
        </p:txBody>
      </p:sp>
      <p:sp>
        <p:nvSpPr>
          <p:cNvPr id="25" name="Rounded Rectangle 24"/>
          <p:cNvSpPr/>
          <p:nvPr/>
        </p:nvSpPr>
        <p:spPr>
          <a:xfrm>
            <a:off x="3755660" y="4831561"/>
            <a:ext cx="2085121"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0.583</a:t>
            </a:r>
          </a:p>
        </p:txBody>
      </p:sp>
      <p:sp>
        <p:nvSpPr>
          <p:cNvPr id="26" name="Rounded Rectangle 25"/>
          <p:cNvSpPr/>
          <p:nvPr/>
        </p:nvSpPr>
        <p:spPr>
          <a:xfrm>
            <a:off x="3755660" y="5195940"/>
            <a:ext cx="1992878"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0.557</a:t>
            </a:r>
          </a:p>
        </p:txBody>
      </p:sp>
      <p:sp>
        <p:nvSpPr>
          <p:cNvPr id="27" name="Rounded Rectangle 26"/>
          <p:cNvSpPr/>
          <p:nvPr/>
        </p:nvSpPr>
        <p:spPr>
          <a:xfrm>
            <a:off x="3755660" y="5560319"/>
            <a:ext cx="1973572"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0.552</a:t>
            </a:r>
          </a:p>
        </p:txBody>
      </p:sp>
      <p:sp>
        <p:nvSpPr>
          <p:cNvPr id="28" name="Rounded Rectangle 27"/>
          <p:cNvSpPr/>
          <p:nvPr/>
        </p:nvSpPr>
        <p:spPr>
          <a:xfrm>
            <a:off x="3755660" y="5924698"/>
            <a:ext cx="1881329" cy="276927"/>
          </a:xfrm>
          <a:prstGeom prst="roundRect">
            <a:avLst>
              <a:gd name="adj" fmla="val 264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alibri"/>
              </a:rPr>
              <a:t>0.526</a:t>
            </a:r>
          </a:p>
        </p:txBody>
      </p:sp>
      <p:sp>
        <p:nvSpPr>
          <p:cNvPr id="29" name="Rounded Rectangle 28"/>
          <p:cNvSpPr/>
          <p:nvPr/>
        </p:nvSpPr>
        <p:spPr>
          <a:xfrm>
            <a:off x="7478685" y="1484134"/>
            <a:ext cx="3829397" cy="680173"/>
          </a:xfrm>
          <a:prstGeom prst="roundRect">
            <a:avLst>
              <a:gd name="adj" fmla="val 1075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603 tools</a:t>
            </a:r>
          </a:p>
          <a:p>
            <a:pPr algn="ctr">
              <a:lnSpc>
                <a:spcPct val="105000"/>
              </a:lnSpc>
              <a:spcBef>
                <a:spcPts val="0"/>
              </a:spcBef>
              <a:spcAft>
                <a:spcPts val="0"/>
              </a:spcAft>
            </a:pPr>
            <a:r>
              <a:rPr sz="1150" b="0" i="0">
                <a:solidFill>
                  <a:srgbClr val="1A1A1A"/>
                </a:solidFill>
                <a:latin typeface="Calibri"/>
              </a:rPr>
              <a:t>every description in the catalog</a:t>
            </a:r>
          </a:p>
        </p:txBody>
      </p:sp>
      <p:sp>
        <p:nvSpPr>
          <p:cNvPr id="30" name="Rounded Rectangle 29"/>
          <p:cNvSpPr/>
          <p:nvPr/>
        </p:nvSpPr>
        <p:spPr>
          <a:xfrm>
            <a:off x="7691429" y="2455811"/>
            <a:ext cx="3403908" cy="680173"/>
          </a:xfrm>
          <a:prstGeom prst="roundRect">
            <a:avLst>
              <a:gd name="adj" fmla="val 1075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the caller's tools</a:t>
            </a:r>
          </a:p>
          <a:p>
            <a:pPr algn="ctr">
              <a:lnSpc>
                <a:spcPct val="105000"/>
              </a:lnSpc>
              <a:spcBef>
                <a:spcPts val="0"/>
              </a:spcBef>
              <a:spcAft>
                <a:spcPts val="0"/>
              </a:spcAft>
            </a:pPr>
            <a:r>
              <a:rPr sz="1150" b="0" i="0">
                <a:solidFill>
                  <a:srgbClr val="1A1A1A"/>
                </a:solidFill>
                <a:latin typeface="Calibri"/>
              </a:rPr>
              <a:t>tools it may not run are removed first</a:t>
            </a:r>
          </a:p>
        </p:txBody>
      </p:sp>
      <p:sp>
        <p:nvSpPr>
          <p:cNvPr id="31" name="Rounded Rectangle 30"/>
          <p:cNvSpPr/>
          <p:nvPr/>
        </p:nvSpPr>
        <p:spPr>
          <a:xfrm>
            <a:off x="7904174" y="3427488"/>
            <a:ext cx="2978420" cy="680173"/>
          </a:xfrm>
          <a:prstGeom prst="roundRect">
            <a:avLst>
              <a:gd name="adj" fmla="val 10754"/>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ranked by BM25</a:t>
            </a:r>
          </a:p>
          <a:p>
            <a:pPr algn="ctr">
              <a:lnSpc>
                <a:spcPct val="105000"/>
              </a:lnSpc>
              <a:spcBef>
                <a:spcPts val="0"/>
              </a:spcBef>
              <a:spcAft>
                <a:spcPts val="0"/>
              </a:spcAft>
            </a:pPr>
            <a:r>
              <a:rPr sz="1150" b="0" i="0">
                <a:solidFill>
                  <a:srgbClr val="1A1A1A"/>
                </a:solidFill>
                <a:latin typeface="Calibri"/>
              </a:rPr>
              <a:t>word overlap: no embedding model is configured</a:t>
            </a:r>
          </a:p>
        </p:txBody>
      </p:sp>
      <p:sp>
        <p:nvSpPr>
          <p:cNvPr id="32" name="Rounded Rectangle 31"/>
          <p:cNvSpPr/>
          <p:nvPr/>
        </p:nvSpPr>
        <p:spPr>
          <a:xfrm>
            <a:off x="8116918" y="4399165"/>
            <a:ext cx="2552931" cy="680173"/>
          </a:xfrm>
          <a:prstGeom prst="roundRect">
            <a:avLst>
              <a:gd name="adj" fmla="val 10754"/>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top 12 offered</a:t>
            </a:r>
          </a:p>
          <a:p>
            <a:pPr algn="ctr">
              <a:lnSpc>
                <a:spcPct val="105000"/>
              </a:lnSpc>
              <a:spcBef>
                <a:spcPts val="0"/>
              </a:spcBef>
              <a:spcAft>
                <a:spcPts val="0"/>
              </a:spcAft>
            </a:pPr>
            <a:r>
              <a:rPr sz="1150" b="0" i="0">
                <a:solidFill>
                  <a:srgbClr val="FFFFFF"/>
                </a:solidFill>
                <a:latin typeface="Calibri"/>
              </a:rPr>
              <a:t>ai.ask.shortlist</a:t>
            </a:r>
          </a:p>
        </p:txBody>
      </p:sp>
      <p:sp>
        <p:nvSpPr>
          <p:cNvPr id="33" name="Rounded Rectangle 32"/>
          <p:cNvSpPr/>
          <p:nvPr/>
        </p:nvSpPr>
        <p:spPr>
          <a:xfrm>
            <a:off x="8329662" y="5370842"/>
            <a:ext cx="2127443" cy="680173"/>
          </a:xfrm>
          <a:prstGeom prst="roundRect">
            <a:avLst>
              <a:gd name="adj" fmla="val 10754"/>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the model chooses</a:t>
            </a:r>
          </a:p>
          <a:p>
            <a:pPr algn="ctr">
              <a:lnSpc>
                <a:spcPct val="105000"/>
              </a:lnSpc>
              <a:spcBef>
                <a:spcPts val="0"/>
              </a:spcBef>
              <a:spcAft>
                <a:spcPts val="0"/>
              </a:spcAft>
            </a:pPr>
            <a:r>
              <a:rPr sz="1150" b="0" i="0">
                <a:solidFill>
                  <a:srgbClr val="FFFFFF"/>
                </a:solidFill>
                <a:latin typeface="Calibri"/>
              </a:rPr>
              <a:t>not the shortlist</a:t>
            </a:r>
          </a:p>
        </p:txBody>
      </p:sp>
      <p:sp>
        <p:nvSpPr>
          <p:cNvPr id="34" name="TextBox 33"/>
          <p:cNvSpPr txBox="1"/>
          <p:nvPr/>
        </p:nvSpPr>
        <p:spPr>
          <a:xfrm>
            <a:off x="777240" y="1386967"/>
            <a:ext cx="5956840" cy="388670"/>
          </a:xfrm>
          <a:prstGeom prst="rect">
            <a:avLst/>
          </a:prstGeom>
          <a:noFill/>
        </p:spPr>
        <p:txBody>
          <a:bodyPr wrap="square" lIns="0" rIns="0" tIns="0" bIns="0" anchor="t">
            <a:spAutoFit/>
          </a:bodyPr>
          <a:lstStyle/>
          <a:p>
            <a:pPr algn="l">
              <a:lnSpc>
                <a:spcPct val="110000"/>
              </a:lnSpc>
              <a:spcBef>
                <a:spcPts val="0"/>
              </a:spcBef>
              <a:spcAft>
                <a:spcPts val="100"/>
              </a:spcAft>
            </a:pPr>
            <a:r>
              <a:rPr sz="1150" b="0" i="1">
                <a:solidFill>
                  <a:srgbClr val="6B7480"/>
                </a:solidFill>
                <a:latin typeface="Calibri"/>
              </a:rPr>
              <a:t>“What is the percentage change from 80 to 100?”: the shortlist event, score by tool</a:t>
            </a:r>
          </a:p>
        </p:txBody>
      </p:sp>
      <p:sp>
        <p:nvSpPr>
          <p:cNvPr id="35" name="TextBox 34"/>
          <p:cNvSpPr txBox="1"/>
          <p:nvPr/>
        </p:nvSpPr>
        <p:spPr>
          <a:xfrm>
            <a:off x="777240" y="1872805"/>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calc_percentage_change</a:t>
            </a:r>
          </a:p>
        </p:txBody>
      </p:sp>
      <p:sp>
        <p:nvSpPr>
          <p:cNvPr id="36" name="TextBox 35"/>
          <p:cNvSpPr txBox="1"/>
          <p:nvPr/>
        </p:nvSpPr>
        <p:spPr>
          <a:xfrm>
            <a:off x="777240" y="2237184"/>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cg_top_gainers</a:t>
            </a:r>
          </a:p>
        </p:txBody>
      </p:sp>
      <p:sp>
        <p:nvSpPr>
          <p:cNvPr id="37" name="TextBox 36"/>
          <p:cNvSpPr txBox="1"/>
          <p:nvPr/>
        </p:nvSpPr>
        <p:spPr>
          <a:xfrm>
            <a:off x="777240" y="2601563"/>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cg_top_losers</a:t>
            </a:r>
          </a:p>
        </p:txBody>
      </p:sp>
      <p:sp>
        <p:nvSpPr>
          <p:cNvPr id="38" name="TextBox 37"/>
          <p:cNvSpPr txBox="1"/>
          <p:nvPr/>
        </p:nvSpPr>
        <p:spPr>
          <a:xfrm>
            <a:off x="777240" y="2965942"/>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cg_market_global</a:t>
            </a:r>
          </a:p>
        </p:txBody>
      </p:sp>
      <p:sp>
        <p:nvSpPr>
          <p:cNvPr id="39" name="TextBox 38"/>
          <p:cNvSpPr txBox="1"/>
          <p:nvPr/>
        </p:nvSpPr>
        <p:spPr>
          <a:xfrm>
            <a:off x="777240" y="3330321"/>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fmp_market_gainers</a:t>
            </a:r>
          </a:p>
        </p:txBody>
      </p:sp>
      <p:sp>
        <p:nvSpPr>
          <p:cNvPr id="40" name="TextBox 39"/>
          <p:cNvSpPr txBox="1"/>
          <p:nvPr/>
        </p:nvSpPr>
        <p:spPr>
          <a:xfrm>
            <a:off x="777240" y="3694699"/>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fmp_market_losers</a:t>
            </a:r>
          </a:p>
        </p:txBody>
      </p:sp>
      <p:sp>
        <p:nvSpPr>
          <p:cNvPr id="41" name="TextBox 40"/>
          <p:cNvSpPr txBox="1"/>
          <p:nvPr/>
        </p:nvSpPr>
        <p:spPr>
          <a:xfrm>
            <a:off x="777240" y="4059078"/>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yf_sector_performance</a:t>
            </a:r>
          </a:p>
        </p:txBody>
      </p:sp>
      <p:sp>
        <p:nvSpPr>
          <p:cNvPr id="42" name="TextBox 41"/>
          <p:cNvSpPr txBox="1"/>
          <p:nvPr/>
        </p:nvSpPr>
        <p:spPr>
          <a:xfrm>
            <a:off x="777240" y="4423457"/>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cg_derivatives</a:t>
            </a:r>
          </a:p>
        </p:txBody>
      </p:sp>
      <p:sp>
        <p:nvSpPr>
          <p:cNvPr id="43" name="TextBox 42"/>
          <p:cNvSpPr txBox="1"/>
          <p:nvPr/>
        </p:nvSpPr>
        <p:spPr>
          <a:xfrm>
            <a:off x="777240" y="4787836"/>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fmp_sector_performance</a:t>
            </a:r>
          </a:p>
        </p:txBody>
      </p:sp>
      <p:sp>
        <p:nvSpPr>
          <p:cNvPr id="44" name="TextBox 43"/>
          <p:cNvSpPr txBox="1"/>
          <p:nvPr/>
        </p:nvSpPr>
        <p:spPr>
          <a:xfrm>
            <a:off x="777240" y="5152215"/>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150" b="0" i="0">
                <a:solidFill>
                  <a:srgbClr val="1A1A1A"/>
                </a:solidFill>
                <a:latin typeface="Consolas"/>
              </a:rPr>
              <a:t>qlrisk_price_zero_coupon_bond</a:t>
            </a:r>
          </a:p>
        </p:txBody>
      </p:sp>
      <p:sp>
        <p:nvSpPr>
          <p:cNvPr id="45" name="TextBox 44"/>
          <p:cNvSpPr txBox="1"/>
          <p:nvPr/>
        </p:nvSpPr>
        <p:spPr>
          <a:xfrm>
            <a:off x="777240" y="5516594"/>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cg_coin_markets</a:t>
            </a:r>
          </a:p>
        </p:txBody>
      </p:sp>
      <p:sp>
        <p:nvSpPr>
          <p:cNvPr id="46" name="TextBox 45"/>
          <p:cNvSpPr txBox="1"/>
          <p:nvPr/>
        </p:nvSpPr>
        <p:spPr>
          <a:xfrm>
            <a:off x="777240" y="5880973"/>
            <a:ext cx="2872048" cy="364378"/>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1A1A1A"/>
                </a:solidFill>
                <a:latin typeface="Consolas"/>
              </a:rPr>
              <a:t>av_williams_r</a:t>
            </a:r>
          </a:p>
        </p:txBody>
      </p:sp>
      <p:cxnSp>
        <p:nvCxnSpPr>
          <p:cNvPr id="47" name="Connector 46"/>
          <p:cNvCxnSpPr/>
          <p:nvPr/>
        </p:nvCxnSpPr>
        <p:spPr>
          <a:xfrm>
            <a:off x="9393384" y="2210028"/>
            <a:ext cx="0" cy="200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9393384" y="3181705"/>
            <a:ext cx="0" cy="200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9393384" y="4153382"/>
            <a:ext cx="0" cy="200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9393384" y="5125059"/>
            <a:ext cx="0" cy="200063"/>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CAPTURED: THE CALL</a:t>
            </a:r>
          </a:p>
        </p:txBody>
      </p:sp>
      <p:sp>
        <p:nvSpPr>
          <p:cNvPr id="5" name="TextBox 4"/>
          <p:cNvSpPr txBox="1"/>
          <p:nvPr/>
        </p:nvSpPr>
        <p:spPr>
          <a:xfrm>
            <a:off x="777240" y="749808"/>
            <a:ext cx="10637215" cy="35788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The model asked for one call, and SAJHA ran it as it runs any client's</a:t>
            </a:r>
          </a:p>
        </p:txBody>
      </p:sp>
      <p:sp>
        <p:nvSpPr>
          <p:cNvPr id="6" name="Rectangle 5"/>
          <p:cNvSpPr/>
          <p:nvPr/>
        </p:nvSpPr>
        <p:spPr>
          <a:xfrm>
            <a:off x="777240" y="116255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87</a:t>
            </a:r>
          </a:p>
        </p:txBody>
      </p:sp>
      <p:sp>
        <p:nvSpPr>
          <p:cNvPr id="17" name="Rectangle 16"/>
          <p:cNvSpPr/>
          <p:nvPr/>
        </p:nvSpPr>
        <p:spPr>
          <a:xfrm>
            <a:off x="777240" y="1290574"/>
            <a:ext cx="4680374" cy="3071962"/>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1290574"/>
            <a:ext cx="41148" cy="307196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1436878"/>
            <a:ext cx="4296326" cy="2797642"/>
          </a:xfrm>
          <a:prstGeom prst="rect">
            <a:avLst/>
          </a:prstGeom>
          <a:noFill/>
        </p:spPr>
        <p:txBody>
          <a:bodyPr wrap="square" lIns="0" rIns="0" tIns="0" bIns="0" anchor="t">
            <a:spAutoFit/>
          </a:bodyPr>
          <a:lstStyle/>
          <a:p>
            <a:pPr algn="l">
              <a:lnSpc>
                <a:spcPct val="110000"/>
              </a:lnSpc>
              <a:spcBef>
                <a:spcPts val="0"/>
              </a:spcBef>
              <a:spcAft>
                <a:spcPts val="200"/>
              </a:spcAft>
            </a:pPr>
            <a:r>
              <a:rPr sz="1250" b="0" i="0">
                <a:solidFill>
                  <a:srgbClr val="6B7480"/>
                </a:solidFill>
                <a:latin typeface="Consolas"/>
              </a:rPr>
              <a:t># model mock/mock-planner, planner react</a:t>
            </a:r>
          </a:p>
          <a:p>
            <a:pPr>
              <a:lnSpc>
                <a:spcPct val="110000"/>
              </a:lnSpc>
              <a:spcBef>
                <a:spcPts val="0"/>
              </a:spcBef>
              <a:spcAft>
                <a:spcPts val="200"/>
              </a:spcAft>
            </a:pPr>
            <a:r>
              <a:rPr sz="1250" b="1" i="0">
                <a:solidFill>
                  <a:srgbClr val="6E1120"/>
                </a:solidFill>
                <a:latin typeface="Consolas"/>
              </a:rPr>
              <a:t>→ tool_call calc_percentage_change</a:t>
            </a:r>
          </a:p>
          <a:p>
            <a:pPr>
              <a:lnSpc>
                <a:spcPct val="110000"/>
              </a:lnSpc>
              <a:spcBef>
                <a:spcPts val="0"/>
              </a:spcBef>
              <a:spcAft>
                <a:spcPts val="200"/>
              </a:spcAft>
            </a:pPr>
            <a:r>
              <a:rPr sz="1250" b="0" i="0">
                <a:solidFill>
                  <a:srgbClr val="1A1A1A"/>
                </a:solidFill>
                <a:latin typeface="Consolas"/>
              </a:rPr>
              <a:t>arguments {"new_value": 100, "old_value":</a:t>
            </a:r>
          </a:p>
          <a:p>
            <a:pPr>
              <a:lnSpc>
                <a:spcPct val="110000"/>
              </a:lnSpc>
              <a:spcBef>
                <a:spcPts val="0"/>
              </a:spcBef>
              <a:spcAft>
                <a:spcPts val="200"/>
              </a:spcAft>
            </a:pPr>
            <a:r>
              <a:rPr sz="1250" b="0" i="0">
                <a:solidFill>
                  <a:srgbClr val="1A1A1A"/>
                </a:solidFill>
                <a:latin typeface="Consolas"/>
              </a:rPr>
              <a:t>  80}</a:t>
            </a:r>
          </a:p>
          <a:p>
            <a:pPr>
              <a:lnSpc>
                <a:spcPct val="110000"/>
              </a:lnSpc>
              <a:spcBef>
                <a:spcPts val="0"/>
              </a:spcBef>
              <a:spcAft>
                <a:spcPts val="200"/>
              </a:spcAft>
            </a:pPr>
            <a:r>
              <a:rPr sz="1250" b="0" i="0">
                <a:solidFill>
                  <a:srgbClr val="1A1A1A"/>
                </a:solidFill>
                <a:latin typeface="Consolas"/>
              </a:rPr>
              <a:t/>
            </a:r>
          </a:p>
          <a:p>
            <a:pPr>
              <a:lnSpc>
                <a:spcPct val="110000"/>
              </a:lnSpc>
              <a:spcBef>
                <a:spcPts val="0"/>
              </a:spcBef>
              <a:spcAft>
                <a:spcPts val="200"/>
              </a:spcAft>
            </a:pPr>
            <a:r>
              <a:rPr sz="1250" b="1" i="0">
                <a:solidFill>
                  <a:srgbClr val="6E1120"/>
                </a:solidFill>
                <a:latin typeface="Consolas"/>
              </a:rPr>
              <a:t>→ tool_result ok, 32 ms</a:t>
            </a:r>
          </a:p>
          <a:p>
            <a:pPr>
              <a:lnSpc>
                <a:spcPct val="110000"/>
              </a:lnSpc>
              <a:spcBef>
                <a:spcPts val="0"/>
              </a:spcBef>
              <a:spcAft>
                <a:spcPts val="200"/>
              </a:spcAft>
            </a:pPr>
            <a:r>
              <a:rPr sz="1250" b="0" i="0">
                <a:solidFill>
                  <a:srgbClr val="1A1A1A"/>
                </a:solidFill>
                <a:latin typeface="Consolas"/>
              </a:rPr>
              <a:t>{"old_value": 80, "new_value": 100,</a:t>
            </a:r>
          </a:p>
          <a:p>
            <a:pPr>
              <a:lnSpc>
                <a:spcPct val="110000"/>
              </a:lnSpc>
              <a:spcBef>
                <a:spcPts val="0"/>
              </a:spcBef>
              <a:spcAft>
                <a:spcPts val="200"/>
              </a:spcAft>
            </a:pPr>
            <a:r>
              <a:rPr sz="1250" b="0" i="0">
                <a:solidFill>
                  <a:srgbClr val="1A1A1A"/>
                </a:solidFill>
                <a:latin typeface="Consolas"/>
              </a:rPr>
              <a:t>  "percentage_change": 25.0}</a:t>
            </a:r>
          </a:p>
        </p:txBody>
      </p:sp>
      <p:sp>
        <p:nvSpPr>
          <p:cNvPr id="20" name="Rounded Rectangle 19"/>
          <p:cNvSpPr/>
          <p:nvPr/>
        </p:nvSpPr>
        <p:spPr>
          <a:xfrm>
            <a:off x="6095847" y="1290574"/>
            <a:ext cx="2552931" cy="693668"/>
          </a:xfrm>
          <a:prstGeom prst="roundRect">
            <a:avLst>
              <a:gd name="adj" fmla="val 10545"/>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tool_call</a:t>
            </a:r>
          </a:p>
          <a:p>
            <a:pPr algn="ctr">
              <a:lnSpc>
                <a:spcPct val="105000"/>
              </a:lnSpc>
              <a:spcBef>
                <a:spcPts val="0"/>
              </a:spcBef>
              <a:spcAft>
                <a:spcPts val="0"/>
              </a:spcAft>
            </a:pPr>
            <a:r>
              <a:rPr sz="1150" b="0" i="0">
                <a:solidFill>
                  <a:srgbClr val="1A1A1A"/>
                </a:solidFill>
                <a:latin typeface="Calibri"/>
              </a:rPr>
              <a:t>calc_percentage_change</a:t>
            </a:r>
          </a:p>
        </p:txBody>
      </p:sp>
      <p:sp>
        <p:nvSpPr>
          <p:cNvPr id="21" name="Diamond 20"/>
          <p:cNvSpPr/>
          <p:nvPr/>
        </p:nvSpPr>
        <p:spPr>
          <a:xfrm>
            <a:off x="6521336" y="2231981"/>
            <a:ext cx="1701954" cy="990955"/>
          </a:xfrm>
          <a:prstGeom prst="diamond">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Offered?</a:t>
            </a:r>
          </a:p>
        </p:txBody>
      </p:sp>
      <p:sp>
        <p:nvSpPr>
          <p:cNvPr id="22" name="Rounded Rectangle 21"/>
          <p:cNvSpPr/>
          <p:nvPr/>
        </p:nvSpPr>
        <p:spPr>
          <a:xfrm>
            <a:off x="6095847" y="3470676"/>
            <a:ext cx="2552931" cy="693668"/>
          </a:xfrm>
          <a:prstGeom prst="roundRect">
            <a:avLst>
              <a:gd name="adj" fmla="val 1054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Checked</a:t>
            </a:r>
          </a:p>
          <a:p>
            <a:pPr algn="ctr">
              <a:lnSpc>
                <a:spcPct val="105000"/>
              </a:lnSpc>
              <a:spcBef>
                <a:spcPts val="0"/>
              </a:spcBef>
              <a:spcAft>
                <a:spcPts val="0"/>
              </a:spcAft>
            </a:pPr>
            <a:r>
              <a:rPr sz="1150" b="0" i="0">
                <a:solidFill>
                  <a:srgbClr val="1A1A1A"/>
                </a:solidFill>
                <a:latin typeface="Calibri"/>
              </a:rPr>
              <a:t>schema, the caller's access, the policy rules</a:t>
            </a:r>
          </a:p>
        </p:txBody>
      </p:sp>
      <p:sp>
        <p:nvSpPr>
          <p:cNvPr id="23" name="Rounded Rectangle 22"/>
          <p:cNvSpPr/>
          <p:nvPr/>
        </p:nvSpPr>
        <p:spPr>
          <a:xfrm>
            <a:off x="6095847" y="4461631"/>
            <a:ext cx="2552931" cy="693668"/>
          </a:xfrm>
          <a:prstGeom prst="roundRect">
            <a:avLst>
              <a:gd name="adj" fmla="val 1054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Ran</a:t>
            </a:r>
          </a:p>
          <a:p>
            <a:pPr algn="ctr">
              <a:lnSpc>
                <a:spcPct val="105000"/>
              </a:lnSpc>
              <a:spcBef>
                <a:spcPts val="0"/>
              </a:spcBef>
              <a:spcAft>
                <a:spcPts val="0"/>
              </a:spcAft>
            </a:pPr>
            <a:r>
              <a:rPr sz="1150" b="0" i="0">
                <a:solidFill>
                  <a:srgbClr val="FFFFFF"/>
                </a:solidFill>
                <a:latin typeface="Calibri"/>
              </a:rPr>
              <a:t>the tool's cache, its provider's breaker, metrics</a:t>
            </a:r>
          </a:p>
        </p:txBody>
      </p:sp>
      <p:sp>
        <p:nvSpPr>
          <p:cNvPr id="24" name="Rounded Rectangle 23"/>
          <p:cNvSpPr/>
          <p:nvPr/>
        </p:nvSpPr>
        <p:spPr>
          <a:xfrm>
            <a:off x="6095847" y="5502135"/>
            <a:ext cx="2552931" cy="743216"/>
          </a:xfrm>
          <a:prstGeom prst="roundRect">
            <a:avLst>
              <a:gd name="adj" fmla="val 984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tool_result ok, 32 ms</a:t>
            </a:r>
          </a:p>
          <a:p>
            <a:pPr algn="ctr">
              <a:lnSpc>
                <a:spcPct val="105000"/>
              </a:lnSpc>
              <a:spcBef>
                <a:spcPts val="0"/>
              </a:spcBef>
              <a:spcAft>
                <a:spcPts val="0"/>
              </a:spcAft>
            </a:pPr>
            <a:r>
              <a:rPr sz="1050" b="0" i="0">
                <a:solidFill>
                  <a:srgbClr val="FFFFFF"/>
                </a:solidFill>
                <a:latin typeface="Calibri"/>
              </a:rPr>
              <a:t>treated as data, never as an instruction</a:t>
            </a:r>
          </a:p>
        </p:txBody>
      </p:sp>
      <p:sp>
        <p:nvSpPr>
          <p:cNvPr id="25" name="Rounded Rectangle 24"/>
          <p:cNvSpPr/>
          <p:nvPr/>
        </p:nvSpPr>
        <p:spPr>
          <a:xfrm>
            <a:off x="9287012" y="2331077"/>
            <a:ext cx="2127443" cy="792764"/>
          </a:xfrm>
          <a:prstGeom prst="roundRect">
            <a:avLst>
              <a:gd name="adj" fmla="val 9227"/>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refused</a:t>
            </a:r>
          </a:p>
          <a:p>
            <a:pPr algn="ctr">
              <a:lnSpc>
                <a:spcPct val="105000"/>
              </a:lnSpc>
              <a:spcBef>
                <a:spcPts val="0"/>
              </a:spcBef>
              <a:spcAft>
                <a:spcPts val="0"/>
              </a:spcAft>
            </a:pPr>
            <a:r>
              <a:rPr sz="1050" b="0" i="0">
                <a:solidFill>
                  <a:srgbClr val="FFFFFF"/>
                </a:solidFill>
                <a:latin typeface="Calibri"/>
              </a:rPr>
              <a:t>a call outside the shortlist</a:t>
            </a:r>
          </a:p>
        </p:txBody>
      </p:sp>
      <p:sp>
        <p:nvSpPr>
          <p:cNvPr id="26" name="Rounded Rectangle 25"/>
          <p:cNvSpPr/>
          <p:nvPr/>
        </p:nvSpPr>
        <p:spPr>
          <a:xfrm>
            <a:off x="9287012" y="3916606"/>
            <a:ext cx="2127443" cy="891860"/>
          </a:xfrm>
          <a:prstGeom prst="roundRect">
            <a:avLst>
              <a:gd name="adj" fmla="val 8202"/>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waits for the user</a:t>
            </a:r>
          </a:p>
          <a:p>
            <a:pPr algn="ctr">
              <a:lnSpc>
                <a:spcPct val="105000"/>
              </a:lnSpc>
              <a:spcBef>
                <a:spcPts val="0"/>
              </a:spcBef>
              <a:spcAft>
                <a:spcPts val="0"/>
              </a:spcAft>
            </a:pPr>
            <a:r>
              <a:rPr sz="1050" b="0" i="0">
                <a:solidFill>
                  <a:srgbClr val="1A1A1A"/>
                </a:solidFill>
                <a:latin typeface="Calibri"/>
              </a:rPr>
              <a:t>a destructive tool needs confirmation</a:t>
            </a:r>
          </a:p>
        </p:txBody>
      </p:sp>
      <p:cxnSp>
        <p:nvCxnSpPr>
          <p:cNvPr id="27" name="Connector 26"/>
          <p:cNvCxnSpPr/>
          <p:nvPr/>
        </p:nvCxnSpPr>
        <p:spPr>
          <a:xfrm>
            <a:off x="7372313" y="2029962"/>
            <a:ext cx="0" cy="15629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372313" y="3268657"/>
            <a:ext cx="0" cy="15629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436321" y="3255366"/>
            <a:ext cx="39624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yes</a:t>
            </a:r>
          </a:p>
        </p:txBody>
      </p:sp>
      <p:cxnSp>
        <p:nvCxnSpPr>
          <p:cNvPr id="30" name="Connector 29"/>
          <p:cNvCxnSpPr/>
          <p:nvPr/>
        </p:nvCxnSpPr>
        <p:spPr>
          <a:xfrm>
            <a:off x="8269010" y="2727459"/>
            <a:ext cx="972282" cy="0"/>
          </a:xfrm>
          <a:prstGeom prst="line">
            <a:avLst/>
          </a:prstGeom>
          <a:ln w="20320">
            <a:solidFill>
              <a:srgbClr val="8A1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592591" y="2489715"/>
            <a:ext cx="32512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no</a:t>
            </a:r>
          </a:p>
        </p:txBody>
      </p:sp>
      <p:cxnSp>
        <p:nvCxnSpPr>
          <p:cNvPr id="32" name="Connector 31"/>
          <p:cNvCxnSpPr/>
          <p:nvPr/>
        </p:nvCxnSpPr>
        <p:spPr>
          <a:xfrm>
            <a:off x="7372313" y="4210065"/>
            <a:ext cx="0" cy="20584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372313" y="5201020"/>
            <a:ext cx="0" cy="25539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693752" y="4059322"/>
            <a:ext cx="548286" cy="100332"/>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CAPTURED: THE ANSWER</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The answer cites its source, and SAJHA sets the confidence</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88</a:t>
            </a:r>
          </a:p>
        </p:txBody>
      </p:sp>
      <p:sp>
        <p:nvSpPr>
          <p:cNvPr id="17" name="Rectangle 16"/>
          <p:cNvSpPr/>
          <p:nvPr/>
        </p:nvSpPr>
        <p:spPr>
          <a:xfrm>
            <a:off x="777240" y="1354836"/>
            <a:ext cx="4680374" cy="3521171"/>
          </a:xfrm>
          <a:prstGeom prst="rect">
            <a:avLst/>
          </a:prstGeom>
          <a:solidFill>
            <a:srgbClr val="F7F5F2"/>
          </a:solidFill>
          <a:ln w="952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1354836"/>
            <a:ext cx="41148" cy="3521171"/>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1501140"/>
            <a:ext cx="4296326" cy="3246851"/>
          </a:xfrm>
          <a:prstGeom prst="rect">
            <a:avLst/>
          </a:prstGeom>
          <a:noFill/>
        </p:spPr>
        <p:txBody>
          <a:bodyPr wrap="square" lIns="0" rIns="0" tIns="0" bIns="0" anchor="t">
            <a:spAutoFit/>
          </a:bodyPr>
          <a:lstStyle/>
          <a:p>
            <a:pPr algn="l">
              <a:lnSpc>
                <a:spcPct val="110000"/>
              </a:lnSpc>
              <a:spcBef>
                <a:spcPts val="0"/>
              </a:spcBef>
              <a:spcAft>
                <a:spcPts val="200"/>
              </a:spcAft>
            </a:pPr>
            <a:r>
              <a:rPr sz="1192" b="1" i="0">
                <a:solidFill>
                  <a:srgbClr val="6E1120"/>
                </a:solidFill>
                <a:latin typeface="Consolas"/>
              </a:rPr>
              <a:t>→ answer</a:t>
            </a:r>
          </a:p>
          <a:p>
            <a:pPr>
              <a:lnSpc>
                <a:spcPct val="110000"/>
              </a:lnSpc>
              <a:spcBef>
                <a:spcPts val="0"/>
              </a:spcBef>
              <a:spcAft>
                <a:spcPts val="200"/>
              </a:spcAft>
            </a:pPr>
            <a:r>
              <a:rPr sz="1192" b="0" i="0">
                <a:solidFill>
                  <a:srgbClr val="1A1A1A"/>
                </a:solidFill>
                <a:latin typeface="Consolas"/>
              </a:rPr>
              <a:t>percentage change = 25.0 (from</a:t>
            </a:r>
          </a:p>
          <a:p>
            <a:pPr>
              <a:lnSpc>
                <a:spcPct val="110000"/>
              </a:lnSpc>
              <a:spcBef>
                <a:spcPts val="0"/>
              </a:spcBef>
              <a:spcAft>
                <a:spcPts val="200"/>
              </a:spcAft>
            </a:pPr>
            <a:r>
              <a:rPr sz="1192" b="0" i="0">
                <a:solidFill>
                  <a:srgbClr val="1A1A1A"/>
                </a:solidFill>
                <a:latin typeface="Consolas"/>
              </a:rPr>
              <a:t>  calc_percentage_change with old_value=80,</a:t>
            </a:r>
          </a:p>
          <a:p>
            <a:pPr>
              <a:lnSpc>
                <a:spcPct val="110000"/>
              </a:lnSpc>
              <a:spcBef>
                <a:spcPts val="0"/>
              </a:spcBef>
              <a:spcAft>
                <a:spcPts val="200"/>
              </a:spcAft>
            </a:pPr>
            <a:r>
              <a:rPr sz="1192" b="0" i="0">
                <a:solidFill>
                  <a:srgbClr val="1A1A1A"/>
                </a:solidFill>
                <a:latin typeface="Consolas"/>
              </a:rPr>
              <a:t>  new_value=100).</a:t>
            </a:r>
          </a:p>
          <a:p>
            <a:pPr>
              <a:lnSpc>
                <a:spcPct val="110000"/>
              </a:lnSpc>
              <a:spcBef>
                <a:spcPts val="0"/>
              </a:spcBef>
              <a:spcAft>
                <a:spcPts val="200"/>
              </a:spcAft>
            </a:pPr>
            <a:r>
              <a:rPr sz="1192" b="0" i="0">
                <a:solidFill>
                  <a:srgbClr val="1A1A1A"/>
                </a:solidFill>
                <a:latin typeface="Consolas"/>
              </a:rPr>
              <a:t/>
            </a:r>
          </a:p>
          <a:p>
            <a:pPr>
              <a:lnSpc>
                <a:spcPct val="110000"/>
              </a:lnSpc>
              <a:spcBef>
                <a:spcPts val="0"/>
              </a:spcBef>
              <a:spcAft>
                <a:spcPts val="200"/>
              </a:spcAft>
            </a:pPr>
            <a:r>
              <a:rPr sz="1192" b="1" i="0">
                <a:solidFill>
                  <a:srgbClr val="6E1120"/>
                </a:solidFill>
                <a:latin typeface="Consolas"/>
              </a:rPr>
              <a:t>→ citations call_1_cd51247c</a:t>
            </a:r>
          </a:p>
          <a:p>
            <a:pPr>
              <a:lnSpc>
                <a:spcPct val="110000"/>
              </a:lnSpc>
              <a:spcBef>
                <a:spcPts val="0"/>
              </a:spcBef>
              <a:spcAft>
                <a:spcPts val="200"/>
              </a:spcAft>
            </a:pPr>
            <a:r>
              <a:rPr sz="1192" b="1" i="0">
                <a:solidFill>
                  <a:srgbClr val="6E1120"/>
                </a:solidFill>
                <a:latin typeface="Consolas"/>
              </a:rPr>
              <a:t>→ confidence 1.00</a:t>
            </a:r>
          </a:p>
          <a:p>
            <a:pPr>
              <a:lnSpc>
                <a:spcPct val="110000"/>
              </a:lnSpc>
              <a:spcBef>
                <a:spcPts val="0"/>
              </a:spcBef>
              <a:spcAft>
                <a:spcPts val="200"/>
              </a:spcAft>
            </a:pPr>
            <a:r>
              <a:rPr sz="1192" b="0" i="0">
                <a:solidFill>
                  <a:srgbClr val="1A1A1A"/>
                </a:solidFill>
                <a:latin typeface="Consolas"/>
              </a:rPr>
              <a:t>  (basis: calc_percentage_change 1.00)</a:t>
            </a:r>
          </a:p>
          <a:p>
            <a:pPr>
              <a:lnSpc>
                <a:spcPct val="110000"/>
              </a:lnSpc>
              <a:spcBef>
                <a:spcPts val="0"/>
              </a:spcBef>
              <a:spcAft>
                <a:spcPts val="200"/>
              </a:spcAft>
            </a:pPr>
            <a:r>
              <a:rPr sz="1192" b="0" i="0">
                <a:solidFill>
                  <a:srgbClr val="1A1A1A"/>
                </a:solidFill>
                <a:latin typeface="Consolas"/>
              </a:rPr>
              <a:t/>
            </a:r>
          </a:p>
          <a:p>
            <a:pPr>
              <a:lnSpc>
                <a:spcPct val="110000"/>
              </a:lnSpc>
              <a:spcBef>
                <a:spcPts val="0"/>
              </a:spcBef>
              <a:spcAft>
                <a:spcPts val="200"/>
              </a:spcAft>
            </a:pPr>
            <a:r>
              <a:rPr sz="1192" b="0" i="0">
                <a:solidFill>
                  <a:srgbClr val="6B7480"/>
                </a:solidFill>
                <a:latin typeface="Consolas"/>
              </a:rPr>
              <a:t># 9008 tokens, 73 ms end to end</a:t>
            </a:r>
          </a:p>
        </p:txBody>
      </p:sp>
      <p:sp>
        <p:nvSpPr>
          <p:cNvPr id="20" name="Rounded Rectangle 19"/>
          <p:cNvSpPr/>
          <p:nvPr/>
        </p:nvSpPr>
        <p:spPr>
          <a:xfrm>
            <a:off x="6095847" y="1354836"/>
            <a:ext cx="1010535" cy="831387"/>
          </a:xfrm>
          <a:prstGeom prst="roundRect">
            <a:avLst>
              <a:gd name="adj" fmla="val 879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50" b="1" i="0">
                <a:solidFill>
                  <a:srgbClr val="1A1A1A"/>
                </a:solidFill>
                <a:latin typeface="Calibri"/>
              </a:rPr>
              <a:t>1.00</a:t>
            </a:r>
          </a:p>
          <a:p>
            <a:pPr algn="ctr">
              <a:lnSpc>
                <a:spcPct val="105000"/>
              </a:lnSpc>
              <a:spcBef>
                <a:spcPts val="0"/>
              </a:spcBef>
              <a:spcAft>
                <a:spcPts val="0"/>
              </a:spcAft>
            </a:pPr>
            <a:r>
              <a:rPr sz="1300" b="0" i="0">
                <a:solidFill>
                  <a:srgbClr val="1A1A1A"/>
                </a:solidFill>
                <a:latin typeface="Calibri"/>
              </a:rPr>
              <a:t>a calculator</a:t>
            </a:r>
          </a:p>
        </p:txBody>
      </p:sp>
      <p:sp>
        <p:nvSpPr>
          <p:cNvPr id="21" name="Rounded Rectangle 20"/>
          <p:cNvSpPr/>
          <p:nvPr/>
        </p:nvSpPr>
        <p:spPr>
          <a:xfrm>
            <a:off x="7212755" y="1354836"/>
            <a:ext cx="1010535" cy="831387"/>
          </a:xfrm>
          <a:prstGeom prst="roundRect">
            <a:avLst>
              <a:gd name="adj" fmla="val 879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0.95</a:t>
            </a:r>
          </a:p>
          <a:p>
            <a:pPr algn="ctr">
              <a:lnSpc>
                <a:spcPct val="105000"/>
              </a:lnSpc>
              <a:spcBef>
                <a:spcPts val="0"/>
              </a:spcBef>
              <a:spcAft>
                <a:spcPts val="0"/>
              </a:spcAft>
            </a:pPr>
            <a:r>
              <a:rPr sz="1350" b="0" i="0">
                <a:solidFill>
                  <a:srgbClr val="1A1A1A"/>
                </a:solidFill>
                <a:latin typeface="Calibri"/>
              </a:rPr>
              <a:t>FRED</a:t>
            </a:r>
          </a:p>
        </p:txBody>
      </p:sp>
      <p:sp>
        <p:nvSpPr>
          <p:cNvPr id="22" name="Rounded Rectangle 21"/>
          <p:cNvSpPr/>
          <p:nvPr/>
        </p:nvSpPr>
        <p:spPr>
          <a:xfrm>
            <a:off x="8329662" y="1354836"/>
            <a:ext cx="1010535" cy="831387"/>
          </a:xfrm>
          <a:prstGeom prst="roundRect">
            <a:avLst>
              <a:gd name="adj" fmla="val 879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0.80</a:t>
            </a:r>
          </a:p>
          <a:p>
            <a:pPr algn="ctr">
              <a:lnSpc>
                <a:spcPct val="105000"/>
              </a:lnSpc>
              <a:spcBef>
                <a:spcPts val="0"/>
              </a:spcBef>
              <a:spcAft>
                <a:spcPts val="0"/>
              </a:spcAft>
            </a:pPr>
            <a:r>
              <a:rPr sz="1350" b="0" i="0">
                <a:solidFill>
                  <a:srgbClr val="1A1A1A"/>
                </a:solidFill>
                <a:latin typeface="Calibri"/>
              </a:rPr>
              <a:t>a web fetch</a:t>
            </a:r>
          </a:p>
        </p:txBody>
      </p:sp>
      <p:sp>
        <p:nvSpPr>
          <p:cNvPr id="23" name="Hexagon 22"/>
          <p:cNvSpPr/>
          <p:nvPr/>
        </p:nvSpPr>
        <p:spPr>
          <a:xfrm>
            <a:off x="9818872" y="1354836"/>
            <a:ext cx="1595582" cy="831387"/>
          </a:xfrm>
          <a:prstGeom prst="hexagon">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chained</a:t>
            </a:r>
          </a:p>
          <a:p>
            <a:pPr algn="ctr">
              <a:lnSpc>
                <a:spcPct val="105000"/>
              </a:lnSpc>
              <a:spcBef>
                <a:spcPts val="0"/>
              </a:spcBef>
              <a:spcAft>
                <a:spcPts val="0"/>
              </a:spcAft>
            </a:pPr>
            <a:r>
              <a:rPr sz="1150" b="0" i="0">
                <a:solidFill>
                  <a:srgbClr val="1A1A1A"/>
                </a:solidFill>
                <a:latin typeface="Calibri"/>
              </a:rPr>
              <a:t>over the cited steps</a:t>
            </a:r>
          </a:p>
        </p:txBody>
      </p:sp>
      <p:sp>
        <p:nvSpPr>
          <p:cNvPr id="24" name="Rounded Rectangle 23"/>
          <p:cNvSpPr/>
          <p:nvPr/>
        </p:nvSpPr>
        <p:spPr>
          <a:xfrm>
            <a:off x="9074267" y="2821990"/>
            <a:ext cx="2340187" cy="978103"/>
          </a:xfrm>
          <a:prstGeom prst="roundRect">
            <a:avLst>
              <a:gd name="adj" fmla="val 747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confidence 1.00</a:t>
            </a:r>
          </a:p>
          <a:p>
            <a:pPr algn="ctr">
              <a:lnSpc>
                <a:spcPct val="105000"/>
              </a:lnSpc>
              <a:spcBef>
                <a:spcPts val="0"/>
              </a:spcBef>
              <a:spcAft>
                <a:spcPts val="0"/>
              </a:spcAft>
            </a:pPr>
            <a:r>
              <a:rPr sz="1350" b="0" i="0">
                <a:solidFill>
                  <a:srgbClr val="FFFFFF"/>
                </a:solidFill>
                <a:latin typeface="Calibri"/>
              </a:rPr>
              <a:t>basis: calc_percentage_change 1.00</a:t>
            </a:r>
          </a:p>
        </p:txBody>
      </p:sp>
      <p:sp>
        <p:nvSpPr>
          <p:cNvPr id="25" name="Rounded Rectangle 24"/>
          <p:cNvSpPr/>
          <p:nvPr/>
        </p:nvSpPr>
        <p:spPr>
          <a:xfrm>
            <a:off x="6095847" y="4386955"/>
            <a:ext cx="1595582" cy="831387"/>
          </a:xfrm>
          <a:prstGeom prst="roundRect">
            <a:avLst>
              <a:gd name="adj" fmla="val 8798"/>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0.9</a:t>
            </a:r>
          </a:p>
          <a:p>
            <a:pPr algn="ctr">
              <a:lnSpc>
                <a:spcPct val="105000"/>
              </a:lnSpc>
              <a:spcBef>
                <a:spcPts val="0"/>
              </a:spcBef>
              <a:spcAft>
                <a:spcPts val="0"/>
              </a:spcAft>
            </a:pPr>
            <a:r>
              <a:rPr sz="1250" b="0" i="0">
                <a:solidFill>
                  <a:srgbClr val="1A1A1A"/>
                </a:solidFill>
                <a:latin typeface="Calibri"/>
              </a:rPr>
              <a:t>a failed call</a:t>
            </a:r>
          </a:p>
        </p:txBody>
      </p:sp>
      <p:sp>
        <p:nvSpPr>
          <p:cNvPr id="26" name="Rounded Rectangle 25"/>
          <p:cNvSpPr/>
          <p:nvPr/>
        </p:nvSpPr>
        <p:spPr>
          <a:xfrm>
            <a:off x="7904174" y="4386955"/>
            <a:ext cx="1595582" cy="831387"/>
          </a:xfrm>
          <a:prstGeom prst="roundRect">
            <a:avLst>
              <a:gd name="adj" fmla="val 8798"/>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0.8</a:t>
            </a:r>
          </a:p>
          <a:p>
            <a:pPr algn="ctr">
              <a:lnSpc>
                <a:spcPct val="105000"/>
              </a:lnSpc>
              <a:spcBef>
                <a:spcPts val="0"/>
              </a:spcBef>
              <a:spcAft>
                <a:spcPts val="0"/>
              </a:spcAft>
            </a:pPr>
            <a:r>
              <a:rPr sz="1250" b="0" i="0">
                <a:solidFill>
                  <a:srgbClr val="1A1A1A"/>
                </a:solidFill>
                <a:latin typeface="Calibri"/>
              </a:rPr>
              <a:t>an incomplete loop</a:t>
            </a:r>
          </a:p>
        </p:txBody>
      </p:sp>
      <p:sp>
        <p:nvSpPr>
          <p:cNvPr id="27" name="Rounded Rectangle 26"/>
          <p:cNvSpPr/>
          <p:nvPr/>
        </p:nvSpPr>
        <p:spPr>
          <a:xfrm>
            <a:off x="9712500" y="4386955"/>
            <a:ext cx="1595582" cy="831387"/>
          </a:xfrm>
          <a:prstGeom prst="roundRect">
            <a:avLst>
              <a:gd name="adj" fmla="val 8798"/>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0.5</a:t>
            </a:r>
          </a:p>
          <a:p>
            <a:pPr algn="ctr">
              <a:lnSpc>
                <a:spcPct val="105000"/>
              </a:lnSpc>
              <a:spcBef>
                <a:spcPts val="0"/>
              </a:spcBef>
              <a:spcAft>
                <a:spcPts val="0"/>
              </a:spcAft>
            </a:pPr>
            <a:r>
              <a:rPr sz="1250" b="0" i="0">
                <a:solidFill>
                  <a:srgbClr val="1A1A1A"/>
                </a:solidFill>
                <a:latin typeface="Calibri"/>
              </a:rPr>
              <a:t>an answer on no tool</a:t>
            </a:r>
          </a:p>
        </p:txBody>
      </p:sp>
      <p:sp>
        <p:nvSpPr>
          <p:cNvPr id="28" name="TextBox 27"/>
          <p:cNvSpPr txBox="1"/>
          <p:nvPr/>
        </p:nvSpPr>
        <p:spPr>
          <a:xfrm>
            <a:off x="6095847" y="2430749"/>
            <a:ext cx="2872048" cy="489051"/>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EACH TOOL'S CONFIDENCE</a:t>
            </a:r>
          </a:p>
        </p:txBody>
      </p:sp>
      <p:sp>
        <p:nvSpPr>
          <p:cNvPr id="29" name="TextBox 28"/>
          <p:cNvSpPr txBox="1"/>
          <p:nvPr/>
        </p:nvSpPr>
        <p:spPr>
          <a:xfrm>
            <a:off x="6095847" y="3946809"/>
            <a:ext cx="5318607" cy="391241"/>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WHAT THE OTHER CASES CONTRIBUTE; THE MODEL IS NEVER ASKED</a:t>
            </a:r>
          </a:p>
        </p:txBody>
      </p:sp>
      <p:sp>
        <p:nvSpPr>
          <p:cNvPr id="30" name="TextBox 29"/>
          <p:cNvSpPr txBox="1"/>
          <p:nvPr/>
        </p:nvSpPr>
        <p:spPr>
          <a:xfrm>
            <a:off x="6095847" y="5462869"/>
            <a:ext cx="5318607" cy="782482"/>
          </a:xfrm>
          <a:prstGeom prst="rect">
            <a:avLst/>
          </a:prstGeom>
          <a:noFill/>
        </p:spPr>
        <p:txBody>
          <a:bodyPr wrap="square" lIns="0" rIns="0" tIns="0" bIns="0" anchor="t">
            <a:spAutoFit/>
          </a:bodyPr>
          <a:lstStyle/>
          <a:p>
            <a:pPr algn="l">
              <a:lnSpc>
                <a:spcPct val="110000"/>
              </a:lnSpc>
              <a:spcBef>
                <a:spcPts val="0"/>
              </a:spcBef>
              <a:spcAft>
                <a:spcPts val="100"/>
              </a:spcAft>
            </a:pPr>
            <a:r>
              <a:rPr sz="1100" b="0" i="1">
                <a:solidFill>
                  <a:srgbClr val="6B7480"/>
                </a:solidFill>
                <a:latin typeface="Calibri"/>
              </a:rPr>
              <a:t>The mock shows the mechanism, not reasoning: the shipped eval set passed 3/3 with react and 3/3 with plan_execute on it.</a:t>
            </a:r>
          </a:p>
        </p:txBody>
      </p:sp>
      <p:cxnSp>
        <p:nvCxnSpPr>
          <p:cNvPr id="31" name="Connector 30"/>
          <p:cNvCxnSpPr/>
          <p:nvPr/>
        </p:nvCxnSpPr>
        <p:spPr>
          <a:xfrm>
            <a:off x="9385918" y="1770529"/>
            <a:ext cx="387234"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616664" y="2231943"/>
            <a:ext cx="0" cy="544327"/>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PLANNERS</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The planner decides the next step; the service keeps every safeguard</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89</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Whatever the planner: the access-filtered shortlist, refusal of tools not offered, confirmation of destructive tools, limits, citations, confidence and audit. A planner never touches a tool.</a:t>
            </a:r>
          </a:p>
        </p:txBody>
      </p:sp>
      <p:sp>
        <p:nvSpPr>
          <p:cNvPr id="19" name="Oval 18"/>
          <p:cNvSpPr/>
          <p:nvPr/>
        </p:nvSpPr>
        <p:spPr>
          <a:xfrm>
            <a:off x="777240" y="2618174"/>
            <a:ext cx="1170093" cy="874356"/>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a question</a:t>
            </a:r>
          </a:p>
        </p:txBody>
      </p:sp>
      <p:sp>
        <p:nvSpPr>
          <p:cNvPr id="20" name="Hexagon 19"/>
          <p:cNvSpPr/>
          <p:nvPr/>
        </p:nvSpPr>
        <p:spPr>
          <a:xfrm>
            <a:off x="2479194" y="2399585"/>
            <a:ext cx="1595582" cy="1311535"/>
          </a:xfrm>
          <a:prstGeom prst="hexagon">
            <a:avLst/>
          </a:prstGeom>
          <a:solidFill>
            <a:srgbClr val="F4DD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router</a:t>
            </a:r>
          </a:p>
          <a:p>
            <a:pPr algn="ctr">
              <a:lnSpc>
                <a:spcPct val="105000"/>
              </a:lnSpc>
              <a:spcBef>
                <a:spcPts val="0"/>
              </a:spcBef>
              <a:spcAft>
                <a:spcPts val="0"/>
              </a:spcAft>
            </a:pPr>
            <a:r>
              <a:rPr sz="1250" b="0" i="0">
                <a:solidFill>
                  <a:srgbClr val="1A1A1A"/>
                </a:solidFill>
                <a:latin typeface="Calibri"/>
              </a:rPr>
              <a:t>chooses per question</a:t>
            </a:r>
          </a:p>
        </p:txBody>
      </p:sp>
      <p:sp>
        <p:nvSpPr>
          <p:cNvPr id="21" name="Rounded Rectangle 20"/>
          <p:cNvSpPr/>
          <p:nvPr/>
        </p:nvSpPr>
        <p:spPr>
          <a:xfrm>
            <a:off x="6095847" y="1306639"/>
            <a:ext cx="2127443" cy="524614"/>
          </a:xfrm>
          <a:prstGeom prst="roundRect">
            <a:avLst>
              <a:gd name="adj" fmla="val 13943"/>
            </a:avLst>
          </a:prstGeom>
          <a:solidFill>
            <a:srgbClr val="FFFFFF"/>
          </a:solidFill>
          <a:ln w="15875">
            <a:solidFill>
              <a:srgbClr val="A51C3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6E1120"/>
                </a:solidFill>
                <a:latin typeface="Calibri"/>
              </a:rPr>
              <a:t>a configured rule's planner</a:t>
            </a:r>
          </a:p>
        </p:txBody>
      </p:sp>
      <p:sp>
        <p:nvSpPr>
          <p:cNvPr id="22" name="Rounded Rectangle 21"/>
          <p:cNvSpPr/>
          <p:nvPr/>
        </p:nvSpPr>
        <p:spPr>
          <a:xfrm>
            <a:off x="6095847" y="2093560"/>
            <a:ext cx="1701954" cy="874356"/>
          </a:xfrm>
          <a:prstGeom prst="roundRect">
            <a:avLst>
              <a:gd name="adj" fmla="val 836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onsolas"/>
              </a:rPr>
              <a:t>recipes</a:t>
            </a:r>
          </a:p>
        </p:txBody>
      </p:sp>
      <p:sp>
        <p:nvSpPr>
          <p:cNvPr id="23" name="Rounded Rectangle 22"/>
          <p:cNvSpPr/>
          <p:nvPr/>
        </p:nvSpPr>
        <p:spPr>
          <a:xfrm>
            <a:off x="8116918" y="2006125"/>
            <a:ext cx="3297536" cy="1049228"/>
          </a:xfrm>
          <a:prstGeom prst="roundRect">
            <a:avLst>
              <a:gd name="adj" fmla="val 69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Regular-expression or keyword recipes from configuration map a question to a tool and its arguments</a:t>
            </a:r>
          </a:p>
          <a:p>
            <a:pPr algn="ctr">
              <a:lnSpc>
                <a:spcPct val="105000"/>
              </a:lnSpc>
              <a:spcBef>
                <a:spcPts val="0"/>
              </a:spcBef>
              <a:spcAft>
                <a:spcPts val="0"/>
              </a:spcAft>
            </a:pPr>
            <a:r>
              <a:rPr sz="950" b="0" i="0">
                <a:solidFill>
                  <a:srgbClr val="1A1A1A"/>
                </a:solidFill>
                <a:latin typeface="Calibri"/>
              </a:rPr>
              <a:t>model calls: None when the recipe has an answer template</a:t>
            </a:r>
          </a:p>
        </p:txBody>
      </p:sp>
      <p:sp>
        <p:nvSpPr>
          <p:cNvPr id="24" name="Rounded Rectangle 23"/>
          <p:cNvSpPr/>
          <p:nvPr/>
        </p:nvSpPr>
        <p:spPr>
          <a:xfrm>
            <a:off x="6095847" y="3273942"/>
            <a:ext cx="1701954" cy="874356"/>
          </a:xfrm>
          <a:prstGeom prst="roundRect">
            <a:avLst>
              <a:gd name="adj" fmla="val 836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onsolas"/>
              </a:rPr>
              <a:t>plan_execute</a:t>
            </a:r>
          </a:p>
        </p:txBody>
      </p:sp>
      <p:sp>
        <p:nvSpPr>
          <p:cNvPr id="25" name="Rounded Rectangle 24"/>
          <p:cNvSpPr/>
          <p:nvPr/>
        </p:nvSpPr>
        <p:spPr>
          <a:xfrm>
            <a:off x="8116918" y="3186506"/>
            <a:ext cx="3297536" cy="1049228"/>
          </a:xfrm>
          <a:prstGeom prst="roundRect">
            <a:avLst>
              <a:gd name="adj" fmla="val 69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One planning call returns steps with dependencies; independent steps run together; one re-plan after a failure</a:t>
            </a:r>
          </a:p>
          <a:p>
            <a:pPr algn="ctr">
              <a:lnSpc>
                <a:spcPct val="105000"/>
              </a:lnSpc>
              <a:spcBef>
                <a:spcPts val="0"/>
              </a:spcBef>
              <a:spcAft>
                <a:spcPts val="0"/>
              </a:spcAft>
            </a:pPr>
            <a:r>
              <a:rPr sz="950" b="0" i="0">
                <a:solidFill>
                  <a:srgbClr val="1A1A1A"/>
                </a:solidFill>
                <a:latin typeface="Calibri"/>
              </a:rPr>
              <a:t>model calls: One, plus the answer</a:t>
            </a:r>
          </a:p>
        </p:txBody>
      </p:sp>
      <p:sp>
        <p:nvSpPr>
          <p:cNvPr id="26" name="Rounded Rectangle 25"/>
          <p:cNvSpPr/>
          <p:nvPr/>
        </p:nvSpPr>
        <p:spPr>
          <a:xfrm>
            <a:off x="6095847" y="4454324"/>
            <a:ext cx="1701954" cy="874356"/>
          </a:xfrm>
          <a:prstGeom prst="roundRect">
            <a:avLst>
              <a:gd name="adj" fmla="val 836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onsolas"/>
              </a:rPr>
              <a:t>react</a:t>
            </a:r>
          </a:p>
        </p:txBody>
      </p:sp>
      <p:sp>
        <p:nvSpPr>
          <p:cNvPr id="27" name="Rounded Rectangle 26"/>
          <p:cNvSpPr/>
          <p:nvPr/>
        </p:nvSpPr>
        <p:spPr>
          <a:xfrm>
            <a:off x="8116918" y="4366888"/>
            <a:ext cx="3297536" cy="1049228"/>
          </a:xfrm>
          <a:prstGeom prst="roundRect">
            <a:avLst>
              <a:gd name="adj" fmla="val 69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The default: one model call per step, answer or call which offered tools</a:t>
            </a:r>
          </a:p>
          <a:p>
            <a:pPr algn="ctr">
              <a:lnSpc>
                <a:spcPct val="105000"/>
              </a:lnSpc>
              <a:spcBef>
                <a:spcPts val="0"/>
              </a:spcBef>
              <a:spcAft>
                <a:spcPts val="0"/>
              </a:spcAft>
            </a:pPr>
            <a:r>
              <a:rPr sz="950" b="0" i="0">
                <a:solidFill>
                  <a:srgbClr val="1A1A1A"/>
                </a:solidFill>
                <a:latin typeface="Calibri"/>
              </a:rPr>
              <a:t>model calls: One per step, plus the answer</a:t>
            </a:r>
          </a:p>
        </p:txBody>
      </p:sp>
      <p:cxnSp>
        <p:nvCxnSpPr>
          <p:cNvPr id="28" name="Connector 27"/>
          <p:cNvCxnSpPr/>
          <p:nvPr/>
        </p:nvCxnSpPr>
        <p:spPr>
          <a:xfrm>
            <a:off x="1993053" y="3055353"/>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276985" y="1568946"/>
            <a:ext cx="0" cy="784919"/>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76985" y="1568946"/>
            <a:ext cx="2773142" cy="0"/>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633332" y="1331202"/>
            <a:ext cx="2060448"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1">
                <a:solidFill>
                  <a:srgbClr val="6B7480"/>
                </a:solidFill>
                <a:latin typeface="Calibri"/>
              </a:rPr>
              <a:t>a rule's pattern matches</a:t>
            </a:r>
          </a:p>
        </p:txBody>
      </p:sp>
      <p:cxnSp>
        <p:nvCxnSpPr>
          <p:cNvPr id="32" name="Connector 31"/>
          <p:cNvCxnSpPr/>
          <p:nvPr/>
        </p:nvCxnSpPr>
        <p:spPr>
          <a:xfrm flipV="1">
            <a:off x="4117306" y="2530739"/>
            <a:ext cx="489331" cy="193065"/>
          </a:xfrm>
          <a:prstGeom prst="line">
            <a:avLst/>
          </a:prstGeom>
          <a:ln w="2032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606637" y="2530739"/>
            <a:ext cx="144349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454622" y="2292995"/>
            <a:ext cx="174752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else, a recipe matches</a:t>
            </a:r>
          </a:p>
        </p:txBody>
      </p:sp>
      <p:cxnSp>
        <p:nvCxnSpPr>
          <p:cNvPr id="35" name="Connector 34"/>
          <p:cNvCxnSpPr/>
          <p:nvPr/>
        </p:nvCxnSpPr>
        <p:spPr>
          <a:xfrm>
            <a:off x="4115781" y="3469036"/>
            <a:ext cx="490856" cy="242084"/>
          </a:xfrm>
          <a:prstGeom prst="line">
            <a:avLst/>
          </a:prstGeom>
          <a:ln w="2032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606637" y="3711120"/>
            <a:ext cx="144349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4276822" y="3473376"/>
            <a:ext cx="210312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else, a multi-part question</a:t>
            </a:r>
          </a:p>
        </p:txBody>
      </p:sp>
      <p:cxnSp>
        <p:nvCxnSpPr>
          <p:cNvPr id="38" name="Connector 37"/>
          <p:cNvCxnSpPr/>
          <p:nvPr/>
        </p:nvCxnSpPr>
        <p:spPr>
          <a:xfrm>
            <a:off x="3778676" y="3748151"/>
            <a:ext cx="827961" cy="1143351"/>
          </a:xfrm>
          <a:prstGeom prst="line">
            <a:avLst/>
          </a:prstGeom>
          <a:ln w="20320">
            <a:solidFill>
              <a:srgbClr val="6B748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606637" y="4891502"/>
            <a:ext cx="1443490"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4916902" y="4653758"/>
            <a:ext cx="822960"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otherwise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MEMORY AND RAG</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Document search cites its passages; memory is per user and deletable</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90</a:t>
            </a:r>
          </a:p>
        </p:txBody>
      </p:sp>
      <p:sp>
        <p:nvSpPr>
          <p:cNvPr id="17" name="Rectangle 16"/>
          <p:cNvSpPr/>
          <p:nvPr/>
        </p:nvSpPr>
        <p:spPr>
          <a:xfrm>
            <a:off x="777240" y="1306639"/>
            <a:ext cx="10637215" cy="2963227"/>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370647"/>
            <a:ext cx="1041775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DOCUMENT SEARCH (RAG)</a:t>
            </a:r>
          </a:p>
        </p:txBody>
      </p:sp>
      <p:sp>
        <p:nvSpPr>
          <p:cNvPr id="19" name="Rectangle 18"/>
          <p:cNvSpPr/>
          <p:nvPr/>
        </p:nvSpPr>
        <p:spPr>
          <a:xfrm>
            <a:off x="777240" y="4566189"/>
            <a:ext cx="10637215" cy="1679162"/>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86968" y="4630197"/>
            <a:ext cx="1041775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CONVERSATION MEMORY</a:t>
            </a:r>
          </a:p>
        </p:txBody>
      </p:sp>
      <p:sp>
        <p:nvSpPr>
          <p:cNvPr id="21" name="Rounded Rectangle 20"/>
          <p:cNvSpPr/>
          <p:nvPr/>
        </p:nvSpPr>
        <p:spPr>
          <a:xfrm>
            <a:off x="936798" y="1800510"/>
            <a:ext cx="1808326" cy="1284065"/>
          </a:xfrm>
          <a:prstGeom prst="roundRect">
            <a:avLst>
              <a:gd name="adj" fmla="val 569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Sources</a:t>
            </a:r>
          </a:p>
          <a:p>
            <a:pPr algn="ctr">
              <a:lnSpc>
                <a:spcPct val="105000"/>
              </a:lnSpc>
              <a:spcBef>
                <a:spcPts val="0"/>
              </a:spcBef>
              <a:spcAft>
                <a:spcPts val="0"/>
              </a:spcAft>
            </a:pPr>
            <a:r>
              <a:rPr sz="1250" b="0" i="0">
                <a:solidFill>
                  <a:srgbClr val="1A1A1A"/>
                </a:solidFill>
                <a:latin typeface="Calibri"/>
              </a:rPr>
              <a:t>guides, named folders, uploads</a:t>
            </a:r>
          </a:p>
        </p:txBody>
      </p:sp>
      <p:sp>
        <p:nvSpPr>
          <p:cNvPr id="22" name="Rounded Rectangle 21"/>
          <p:cNvSpPr/>
          <p:nvPr/>
        </p:nvSpPr>
        <p:spPr>
          <a:xfrm>
            <a:off x="936798" y="3380898"/>
            <a:ext cx="1808326" cy="691419"/>
          </a:xfrm>
          <a:prstGeom prst="roundRect">
            <a:avLst>
              <a:gd name="adj" fmla="val 10579"/>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Markdown, text, HTML, PDF, Word</a:t>
            </a:r>
          </a:p>
        </p:txBody>
      </p:sp>
      <p:sp>
        <p:nvSpPr>
          <p:cNvPr id="23" name="Rounded Rectangle 22"/>
          <p:cNvSpPr/>
          <p:nvPr/>
        </p:nvSpPr>
        <p:spPr>
          <a:xfrm>
            <a:off x="3117427" y="1800510"/>
            <a:ext cx="1595582" cy="1284065"/>
          </a:xfrm>
          <a:prstGeom prst="roundRect">
            <a:avLst>
              <a:gd name="adj" fmla="val 569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Passages</a:t>
            </a:r>
          </a:p>
          <a:p>
            <a:pPr algn="ctr">
              <a:lnSpc>
                <a:spcPct val="105000"/>
              </a:lnSpc>
              <a:spcBef>
                <a:spcPts val="0"/>
              </a:spcBef>
              <a:spcAft>
                <a:spcPts val="0"/>
              </a:spcAft>
            </a:pPr>
            <a:r>
              <a:rPr sz="1250" b="0" i="0">
                <a:solidFill>
                  <a:srgbClr val="1A1A1A"/>
                </a:solidFill>
                <a:latin typeface="Calibri"/>
              </a:rPr>
              <a:t>split at headings</a:t>
            </a:r>
          </a:p>
        </p:txBody>
      </p:sp>
      <p:sp>
        <p:nvSpPr>
          <p:cNvPr id="24" name="Rounded Rectangle 23"/>
          <p:cNvSpPr/>
          <p:nvPr/>
        </p:nvSpPr>
        <p:spPr>
          <a:xfrm>
            <a:off x="5085312" y="1800510"/>
            <a:ext cx="1595582" cy="1284065"/>
          </a:xfrm>
          <a:prstGeom prst="roundRect">
            <a:avLst>
              <a:gd name="adj" fmla="val 569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Embeddings</a:t>
            </a:r>
          </a:p>
          <a:p>
            <a:pPr algn="ctr">
              <a:lnSpc>
                <a:spcPct val="105000"/>
              </a:lnSpc>
              <a:spcBef>
                <a:spcPts val="0"/>
              </a:spcBef>
              <a:spcAft>
                <a:spcPts val="0"/>
              </a:spcAft>
            </a:pPr>
            <a:r>
              <a:rPr sz="1250" b="0" i="0">
                <a:solidFill>
                  <a:srgbClr val="1A1A1A"/>
                </a:solidFill>
                <a:latin typeface="Calibri"/>
              </a:rPr>
              <a:t>the embedding alias</a:t>
            </a:r>
          </a:p>
        </p:txBody>
      </p:sp>
      <p:sp>
        <p:nvSpPr>
          <p:cNvPr id="25" name="Can 24"/>
          <p:cNvSpPr/>
          <p:nvPr/>
        </p:nvSpPr>
        <p:spPr>
          <a:xfrm>
            <a:off x="7053196" y="1701736"/>
            <a:ext cx="1648768" cy="1481613"/>
          </a:xfrm>
          <a:prstGeom prst="can">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Store</a:t>
            </a:r>
          </a:p>
          <a:p>
            <a:pPr algn="ctr">
              <a:lnSpc>
                <a:spcPct val="105000"/>
              </a:lnSpc>
              <a:spcBef>
                <a:spcPts val="0"/>
              </a:spcBef>
              <a:spcAft>
                <a:spcPts val="0"/>
              </a:spcAft>
            </a:pPr>
            <a:r>
              <a:rPr sz="1250" b="0" i="0">
                <a:solidFill>
                  <a:srgbClr val="FFFFFF"/>
                </a:solidFill>
                <a:latin typeface="Calibri"/>
              </a:rPr>
              <a:t>memory, pgvector or sqlite_vec</a:t>
            </a:r>
          </a:p>
        </p:txBody>
      </p:sp>
      <p:sp>
        <p:nvSpPr>
          <p:cNvPr id="26" name="Rounded Rectangle 25"/>
          <p:cNvSpPr/>
          <p:nvPr/>
        </p:nvSpPr>
        <p:spPr>
          <a:xfrm>
            <a:off x="9074267" y="1800510"/>
            <a:ext cx="2180629" cy="1284065"/>
          </a:xfrm>
          <a:prstGeom prst="roundRect">
            <a:avLst>
              <a:gd name="adj" fmla="val 569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Hybrid search</a:t>
            </a:r>
          </a:p>
          <a:p>
            <a:pPr algn="ctr">
              <a:lnSpc>
                <a:spcPct val="105000"/>
              </a:lnSpc>
              <a:spcBef>
                <a:spcPts val="0"/>
              </a:spcBef>
              <a:spcAft>
                <a:spcPts val="0"/>
              </a:spcAft>
            </a:pPr>
            <a:r>
              <a:rPr sz="1250" b="0" i="0">
                <a:solidFill>
                  <a:srgbClr val="FFFFFF"/>
                </a:solidFill>
                <a:latin typeface="Calibri"/>
              </a:rPr>
              <a:t>vector and BM25, fused by rank</a:t>
            </a:r>
          </a:p>
        </p:txBody>
      </p:sp>
      <p:sp>
        <p:nvSpPr>
          <p:cNvPr id="27" name="Rounded Rectangle 26"/>
          <p:cNvSpPr/>
          <p:nvPr/>
        </p:nvSpPr>
        <p:spPr>
          <a:xfrm>
            <a:off x="9074267" y="3331511"/>
            <a:ext cx="2180629" cy="790194"/>
          </a:xfrm>
          <a:prstGeom prst="roundRect">
            <a:avLst>
              <a:gd name="adj" fmla="val 925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sajha_search_docs</a:t>
            </a:r>
          </a:p>
          <a:p>
            <a:pPr algn="ctr">
              <a:lnSpc>
                <a:spcPct val="105000"/>
              </a:lnSpc>
              <a:spcBef>
                <a:spcPts val="0"/>
              </a:spcBef>
              <a:spcAft>
                <a:spcPts val="0"/>
              </a:spcAft>
            </a:pPr>
            <a:r>
              <a:rPr sz="1150" b="0" i="0">
                <a:solidFill>
                  <a:srgbClr val="1A1A1A"/>
                </a:solidFill>
                <a:latin typeface="Calibri"/>
              </a:rPr>
              <a:t>document, section, link, citation</a:t>
            </a:r>
          </a:p>
        </p:txBody>
      </p:sp>
      <p:sp>
        <p:nvSpPr>
          <p:cNvPr id="28" name="Rounded Rectangle 27"/>
          <p:cNvSpPr/>
          <p:nvPr/>
        </p:nvSpPr>
        <p:spPr>
          <a:xfrm>
            <a:off x="936798" y="5060061"/>
            <a:ext cx="1701954" cy="888968"/>
          </a:xfrm>
          <a:prstGeom prst="roundRect">
            <a:avLst>
              <a:gd name="adj" fmla="val 82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follow-up question</a:t>
            </a:r>
          </a:p>
        </p:txBody>
      </p:sp>
      <p:sp>
        <p:nvSpPr>
          <p:cNvPr id="29" name="Rounded Rectangle 28"/>
          <p:cNvSpPr/>
          <p:nvPr/>
        </p:nvSpPr>
        <p:spPr>
          <a:xfrm>
            <a:off x="3436543" y="5060061"/>
            <a:ext cx="2552931" cy="888968"/>
          </a:xfrm>
          <a:prstGeom prst="roundRect">
            <a:avLst>
              <a:gd name="adj" fmla="val 82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recent turns + a summary of older ones</a:t>
            </a:r>
          </a:p>
        </p:txBody>
      </p:sp>
      <p:sp>
        <p:nvSpPr>
          <p:cNvPr id="30" name="Rounded Rectangle 29"/>
          <p:cNvSpPr/>
          <p:nvPr/>
        </p:nvSpPr>
        <p:spPr>
          <a:xfrm>
            <a:off x="6787266" y="5060061"/>
            <a:ext cx="1914698" cy="888968"/>
          </a:xfrm>
          <a:prstGeom prst="roundRect">
            <a:avLst>
              <a:gd name="adj" fmla="val 82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rewritten to stand alone</a:t>
            </a:r>
          </a:p>
        </p:txBody>
      </p:sp>
      <p:sp>
        <p:nvSpPr>
          <p:cNvPr id="31" name="Rounded Rectangle 30"/>
          <p:cNvSpPr/>
          <p:nvPr/>
        </p:nvSpPr>
        <p:spPr>
          <a:xfrm>
            <a:off x="9340198" y="5060061"/>
            <a:ext cx="1914698" cy="888968"/>
          </a:xfrm>
          <a:prstGeom prst="roundRect">
            <a:avLst>
              <a:gd name="adj" fmla="val 8228"/>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per user; expires; deletable</a:t>
            </a:r>
          </a:p>
        </p:txBody>
      </p:sp>
      <p:cxnSp>
        <p:nvCxnSpPr>
          <p:cNvPr id="32" name="Connector 31"/>
          <p:cNvCxnSpPr/>
          <p:nvPr/>
        </p:nvCxnSpPr>
        <p:spPr>
          <a:xfrm>
            <a:off x="2790844" y="2442543"/>
            <a:ext cx="280863"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758729" y="2442543"/>
            <a:ext cx="280863"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726614" y="2442543"/>
            <a:ext cx="28086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747685" y="2442543"/>
            <a:ext cx="280862"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164582" y="3130296"/>
            <a:ext cx="0" cy="155495"/>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840961" y="3130296"/>
            <a:ext cx="0" cy="204882"/>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684472" y="5504545"/>
            <a:ext cx="70635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35195" y="5504545"/>
            <a:ext cx="70635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747685" y="5504545"/>
            <a:ext cx="546793"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EVALS</a:t>
            </a:r>
          </a:p>
        </p:txBody>
      </p:sp>
      <p:sp>
        <p:nvSpPr>
          <p:cNvPr id="5" name="TextBox 4"/>
          <p:cNvSpPr txBox="1"/>
          <p:nvPr/>
        </p:nvSpPr>
        <p:spPr>
          <a:xfrm>
            <a:off x="777240" y="749808"/>
            <a:ext cx="10637215" cy="390016"/>
          </a:xfrm>
          <a:prstGeom prst="rect">
            <a:avLst/>
          </a:prstGeom>
          <a:noFill/>
        </p:spPr>
        <p:txBody>
          <a:bodyPr wrap="square" lIns="0" rIns="0" tIns="0" bIns="0" anchor="t">
            <a:spAutoFit/>
          </a:bodyPr>
          <a:lstStyle/>
          <a:p>
            <a:pPr algn="l">
              <a:lnSpc>
                <a:spcPct val="115000"/>
              </a:lnSpc>
              <a:spcBef>
                <a:spcPts val="0"/>
              </a:spcBef>
              <a:spcAft>
                <a:spcPts val="0"/>
              </a:spcAft>
            </a:pPr>
            <a:r>
              <a:rPr sz="2200" b="0" i="0">
                <a:solidFill>
                  <a:srgbClr val="1A1A1A"/>
                </a:solidFill>
                <a:latin typeface="Georgia"/>
              </a:rPr>
              <a:t>Evals measure a model on golden questions before anyone trusts it</a:t>
            </a:r>
          </a:p>
        </p:txBody>
      </p:sp>
      <p:sp>
        <p:nvSpPr>
          <p:cNvPr id="6" name="Rectangle 5"/>
          <p:cNvSpPr/>
          <p:nvPr/>
        </p:nvSpPr>
        <p:spPr>
          <a:xfrm>
            <a:off x="777240" y="1194689"/>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91</a:t>
            </a:r>
          </a:p>
        </p:txBody>
      </p:sp>
      <p:sp>
        <p:nvSpPr>
          <p:cNvPr id="17" name="Document 16"/>
          <p:cNvSpPr/>
          <p:nvPr/>
        </p:nvSpPr>
        <p:spPr>
          <a:xfrm>
            <a:off x="777240" y="1814969"/>
            <a:ext cx="2552931" cy="2461323"/>
          </a:xfrm>
          <a:prstGeom prst="flowChartDocument">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Eval set “calculators”</a:t>
            </a:r>
          </a:p>
          <a:p>
            <a:pPr algn="ctr">
              <a:lnSpc>
                <a:spcPct val="105000"/>
              </a:lnSpc>
              <a:spcBef>
                <a:spcPts val="0"/>
              </a:spcBef>
              <a:spcAft>
                <a:spcPts val="0"/>
              </a:spcAft>
            </a:pPr>
            <a:r>
              <a:rPr sz="1250" b="0" i="0">
                <a:solidFill>
                  <a:srgbClr val="1A1A1A"/>
                </a:solidFill>
                <a:latin typeface="Calibri"/>
              </a:rPr>
              <a:t>golden questions: tools that must and must not be called, answer checks, limits on steps, tokens, cost and latency</a:t>
            </a:r>
          </a:p>
        </p:txBody>
      </p:sp>
      <p:sp>
        <p:nvSpPr>
          <p:cNvPr id="18" name="Hexagon 17"/>
          <p:cNvSpPr/>
          <p:nvPr/>
        </p:nvSpPr>
        <p:spPr>
          <a:xfrm>
            <a:off x="4074776" y="2307234"/>
            <a:ext cx="1595582" cy="1476794"/>
          </a:xfrm>
          <a:prstGeom prst="hexagon">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run_set</a:t>
            </a:r>
          </a:p>
          <a:p>
            <a:pPr algn="ctr">
              <a:lnSpc>
                <a:spcPct val="105000"/>
              </a:lnSpc>
              <a:spcBef>
                <a:spcPts val="0"/>
              </a:spcBef>
              <a:spcAft>
                <a:spcPts val="0"/>
              </a:spcAft>
            </a:pPr>
            <a:r>
              <a:rPr sz="1250" b="0" i="0">
                <a:solidFill>
                  <a:srgbClr val="FFFFFF"/>
                </a:solidFill>
                <a:latin typeface="Calibri"/>
              </a:rPr>
              <a:t>per model and planner</a:t>
            </a:r>
          </a:p>
        </p:txBody>
      </p:sp>
      <p:sp>
        <p:nvSpPr>
          <p:cNvPr id="19" name="Rounded Rectangle 18"/>
          <p:cNvSpPr/>
          <p:nvPr/>
        </p:nvSpPr>
        <p:spPr>
          <a:xfrm>
            <a:off x="6521336" y="1421157"/>
            <a:ext cx="1701954" cy="1279888"/>
          </a:xfrm>
          <a:prstGeom prst="roundRect">
            <a:avLst>
              <a:gd name="adj" fmla="val 57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react</a:t>
            </a:r>
          </a:p>
          <a:p>
            <a:pPr algn="ctr">
              <a:lnSpc>
                <a:spcPct val="105000"/>
              </a:lnSpc>
              <a:spcBef>
                <a:spcPts val="0"/>
              </a:spcBef>
              <a:spcAft>
                <a:spcPts val="0"/>
              </a:spcAft>
            </a:pPr>
            <a:r>
              <a:rPr sz="1250" b="0" i="0">
                <a:solidFill>
                  <a:srgbClr val="FFFFFF"/>
                </a:solidFill>
                <a:latin typeface="Calibri"/>
              </a:rPr>
              <a:t>3/3 passed</a:t>
            </a:r>
          </a:p>
        </p:txBody>
      </p:sp>
      <p:sp>
        <p:nvSpPr>
          <p:cNvPr id="20" name="Rounded Rectangle 19"/>
          <p:cNvSpPr/>
          <p:nvPr/>
        </p:nvSpPr>
        <p:spPr>
          <a:xfrm>
            <a:off x="8755151" y="1421157"/>
            <a:ext cx="2659303" cy="1279888"/>
          </a:xfrm>
          <a:prstGeom prst="roundRect">
            <a:avLst>
              <a:gd name="adj" fmla="val 57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tool selection 100%</a:t>
            </a:r>
          </a:p>
          <a:p>
            <a:pPr algn="ctr">
              <a:lnSpc>
                <a:spcPct val="105000"/>
              </a:lnSpc>
              <a:spcBef>
                <a:spcPts val="0"/>
              </a:spcBef>
              <a:spcAft>
                <a:spcPts val="0"/>
              </a:spcAft>
            </a:pPr>
            <a:r>
              <a:rPr sz="1050" b="0" i="0">
                <a:solidFill>
                  <a:srgbClr val="1A1A1A"/>
                </a:solidFill>
                <a:latin typeface="Calibri"/>
              </a:rPr>
              <a:t>answers 100%; 16204 tokens; cost $0.00; p95 4.0 ms</a:t>
            </a:r>
          </a:p>
        </p:txBody>
      </p:sp>
      <p:sp>
        <p:nvSpPr>
          <p:cNvPr id="21" name="Rounded Rectangle 20"/>
          <p:cNvSpPr/>
          <p:nvPr/>
        </p:nvSpPr>
        <p:spPr>
          <a:xfrm>
            <a:off x="6521336" y="3193310"/>
            <a:ext cx="1701954" cy="1279888"/>
          </a:xfrm>
          <a:prstGeom prst="roundRect">
            <a:avLst>
              <a:gd name="adj" fmla="val 5715"/>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plan_execute</a:t>
            </a:r>
          </a:p>
          <a:p>
            <a:pPr algn="ctr">
              <a:lnSpc>
                <a:spcPct val="105000"/>
              </a:lnSpc>
              <a:spcBef>
                <a:spcPts val="0"/>
              </a:spcBef>
              <a:spcAft>
                <a:spcPts val="0"/>
              </a:spcAft>
            </a:pPr>
            <a:r>
              <a:rPr sz="1250" b="0" i="0">
                <a:solidFill>
                  <a:srgbClr val="FFFFFF"/>
                </a:solidFill>
                <a:latin typeface="Calibri"/>
              </a:rPr>
              <a:t>3/3 passed</a:t>
            </a:r>
          </a:p>
        </p:txBody>
      </p:sp>
      <p:sp>
        <p:nvSpPr>
          <p:cNvPr id="22" name="Rounded Rectangle 21"/>
          <p:cNvSpPr/>
          <p:nvPr/>
        </p:nvSpPr>
        <p:spPr>
          <a:xfrm>
            <a:off x="8755151" y="3193310"/>
            <a:ext cx="2659303" cy="1279888"/>
          </a:xfrm>
          <a:prstGeom prst="roundRect">
            <a:avLst>
              <a:gd name="adj" fmla="val 5715"/>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tool selection 100%</a:t>
            </a:r>
          </a:p>
          <a:p>
            <a:pPr algn="ctr">
              <a:lnSpc>
                <a:spcPct val="105000"/>
              </a:lnSpc>
              <a:spcBef>
                <a:spcPts val="0"/>
              </a:spcBef>
              <a:spcAft>
                <a:spcPts val="0"/>
              </a:spcAft>
            </a:pPr>
            <a:r>
              <a:rPr sz="1050" b="0" i="0">
                <a:solidFill>
                  <a:srgbClr val="1A1A1A"/>
                </a:solidFill>
                <a:latin typeface="Calibri"/>
              </a:rPr>
              <a:t>answers 100%; 9021 tokens; cost $0.00; p95 2.0 ms</a:t>
            </a:r>
          </a:p>
        </p:txBody>
      </p:sp>
      <p:sp>
        <p:nvSpPr>
          <p:cNvPr id="23" name="Rounded Rectangle 22"/>
          <p:cNvSpPr/>
          <p:nvPr/>
        </p:nvSpPr>
        <p:spPr>
          <a:xfrm>
            <a:off x="6521336" y="5260822"/>
            <a:ext cx="4893118" cy="787623"/>
          </a:xfrm>
          <a:prstGeom prst="roundRect">
            <a:avLst>
              <a:gd name="adj" fmla="val 9287"/>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two runs compared, question by question</a:t>
            </a:r>
          </a:p>
        </p:txBody>
      </p:sp>
      <p:sp>
        <p:nvSpPr>
          <p:cNvPr id="24" name="TextBox 23"/>
          <p:cNvSpPr txBox="1"/>
          <p:nvPr/>
        </p:nvSpPr>
        <p:spPr>
          <a:xfrm>
            <a:off x="777240" y="4768557"/>
            <a:ext cx="4893118" cy="1378341"/>
          </a:xfrm>
          <a:prstGeom prst="rect">
            <a:avLst/>
          </a:prstGeom>
          <a:noFill/>
        </p:spPr>
        <p:txBody>
          <a:bodyPr wrap="square" lIns="0" rIns="0" tIns="0" bIns="0" anchor="t">
            <a:spAutoFit/>
          </a:bodyPr>
          <a:lstStyle/>
          <a:p>
            <a:pPr algn="l">
              <a:lnSpc>
                <a:spcPct val="110000"/>
              </a:lnSpc>
              <a:spcBef>
                <a:spcPts val="0"/>
              </a:spcBef>
              <a:spcAft>
                <a:spcPts val="100"/>
              </a:spcAft>
            </a:pPr>
            <a:r>
              <a:rPr sz="1200" b="0" i="1">
                <a:solidFill>
                  <a:srgbClr val="6B7480"/>
                </a:solidFill>
                <a:latin typeface="Calibri"/>
              </a:rPr>
              <a:t>Run at this build on the offline mock, at zero cost. The mock shows the harness, not a model's quality; the same set measures a real model before it is trusted.</a:t>
            </a:r>
          </a:p>
        </p:txBody>
      </p:sp>
      <p:cxnSp>
        <p:nvCxnSpPr>
          <p:cNvPr id="25" name="Connector 24"/>
          <p:cNvCxnSpPr/>
          <p:nvPr/>
        </p:nvCxnSpPr>
        <p:spPr>
          <a:xfrm>
            <a:off x="3375891" y="3045631"/>
            <a:ext cx="653165"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712898" y="2413015"/>
            <a:ext cx="765898" cy="30165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269010" y="2061102"/>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5713965" y="3310740"/>
            <a:ext cx="763764" cy="24064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269010" y="3833254"/>
            <a:ext cx="440421"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TOOL QUALITY</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Tools are tested, linted, probed, versioned and released by canary</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92</a:t>
            </a:r>
          </a:p>
        </p:txBody>
      </p:sp>
      <p:sp>
        <p:nvSpPr>
          <p:cNvPr id="17" name="Rounded Rectangle 16"/>
          <p:cNvSpPr/>
          <p:nvPr/>
        </p:nvSpPr>
        <p:spPr>
          <a:xfrm>
            <a:off x="777240" y="1800510"/>
            <a:ext cx="1808326" cy="1580388"/>
          </a:xfrm>
          <a:prstGeom prst="roundRect">
            <a:avLst>
              <a:gd name="adj" fmla="val 46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Tests</a:t>
            </a:r>
          </a:p>
          <a:p>
            <a:pPr algn="ctr">
              <a:lnSpc>
                <a:spcPct val="105000"/>
              </a:lnSpc>
              <a:spcBef>
                <a:spcPts val="0"/>
              </a:spcBef>
              <a:spcAft>
                <a:spcPts val="0"/>
              </a:spcAft>
            </a:pPr>
            <a:r>
              <a:rPr sz="1350" b="0" i="0">
                <a:solidFill>
                  <a:srgbClr val="1A1A1A"/>
                </a:solidFill>
                <a:latin typeface="Calibri"/>
              </a:rPr>
              <a:t>cases with HTTP cassettes, replayed offline; JUnit for CI</a:t>
            </a:r>
          </a:p>
        </p:txBody>
      </p:sp>
      <p:sp>
        <p:nvSpPr>
          <p:cNvPr id="18" name="Rounded Rectangle 17"/>
          <p:cNvSpPr/>
          <p:nvPr/>
        </p:nvSpPr>
        <p:spPr>
          <a:xfrm>
            <a:off x="2984462" y="1800510"/>
            <a:ext cx="1808326" cy="1580388"/>
          </a:xfrm>
          <a:prstGeom prst="roundRect">
            <a:avLst>
              <a:gd name="adj" fmla="val 46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Lint</a:t>
            </a:r>
          </a:p>
          <a:p>
            <a:pPr algn="ctr">
              <a:lnSpc>
                <a:spcPct val="105000"/>
              </a:lnSpc>
              <a:spcBef>
                <a:spcPts val="0"/>
              </a:spcBef>
              <a:spcAft>
                <a:spcPts val="0"/>
              </a:spcAft>
            </a:pPr>
            <a:r>
              <a:rPr sz="1350" b="0" i="0">
                <a:solidFill>
                  <a:srgbClr val="1A1A1A"/>
                </a:solidFill>
                <a:latin typeface="Calibri"/>
              </a:rPr>
              <a:t>JSON Schema 2020-12, descriptions, examples, names, annotations</a:t>
            </a:r>
          </a:p>
        </p:txBody>
      </p:sp>
      <p:sp>
        <p:nvSpPr>
          <p:cNvPr id="19" name="Rounded Rectangle 18"/>
          <p:cNvSpPr/>
          <p:nvPr/>
        </p:nvSpPr>
        <p:spPr>
          <a:xfrm>
            <a:off x="5191684" y="1800510"/>
            <a:ext cx="1808326" cy="1580388"/>
          </a:xfrm>
          <a:prstGeom prst="roundRect">
            <a:avLst>
              <a:gd name="adj" fmla="val 46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Versions</a:t>
            </a:r>
          </a:p>
          <a:p>
            <a:pPr algn="ctr">
              <a:lnSpc>
                <a:spcPct val="105000"/>
              </a:lnSpc>
              <a:spcBef>
                <a:spcPts val="0"/>
              </a:spcBef>
              <a:spcAft>
                <a:spcPts val="0"/>
              </a:spcAft>
            </a:pPr>
            <a:r>
              <a:rPr sz="1350" b="0" i="0">
                <a:solidFill>
                  <a:srgbClr val="1A1A1A"/>
                </a:solidFill>
                <a:latin typeface="Calibri"/>
              </a:rPr>
              <a:t>several behind one name: pin, user, role</a:t>
            </a:r>
          </a:p>
        </p:txBody>
      </p:sp>
      <p:sp>
        <p:nvSpPr>
          <p:cNvPr id="20" name="Rounded Rectangle 19"/>
          <p:cNvSpPr/>
          <p:nvPr/>
        </p:nvSpPr>
        <p:spPr>
          <a:xfrm>
            <a:off x="7398906" y="1800510"/>
            <a:ext cx="1808326" cy="1580388"/>
          </a:xfrm>
          <a:prstGeom prst="roundRect">
            <a:avLst>
              <a:gd name="adj" fmla="val 462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Canary</a:t>
            </a:r>
          </a:p>
          <a:p>
            <a:pPr algn="ctr">
              <a:lnSpc>
                <a:spcPct val="105000"/>
              </a:lnSpc>
              <a:spcBef>
                <a:spcPts val="0"/>
              </a:spcBef>
              <a:spcAft>
                <a:spcPts val="0"/>
              </a:spcAft>
            </a:pPr>
            <a:r>
              <a:rPr sz="1350" b="0" i="0">
                <a:solidFill>
                  <a:srgbClr val="FFFFFF"/>
                </a:solidFill>
                <a:latin typeface="Calibri"/>
              </a:rPr>
              <a:t>a percentage of calls to the new version</a:t>
            </a:r>
          </a:p>
        </p:txBody>
      </p:sp>
      <p:sp>
        <p:nvSpPr>
          <p:cNvPr id="21" name="Rounded Rectangle 20"/>
          <p:cNvSpPr/>
          <p:nvPr/>
        </p:nvSpPr>
        <p:spPr>
          <a:xfrm>
            <a:off x="9606128" y="1800510"/>
            <a:ext cx="1808326" cy="1580388"/>
          </a:xfrm>
          <a:prstGeom prst="roundRect">
            <a:avLst>
              <a:gd name="adj" fmla="val 4628"/>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Released</a:t>
            </a:r>
          </a:p>
          <a:p>
            <a:pPr algn="ctr">
              <a:lnSpc>
                <a:spcPct val="105000"/>
              </a:lnSpc>
              <a:spcBef>
                <a:spcPts val="0"/>
              </a:spcBef>
              <a:spcAft>
                <a:spcPts val="0"/>
              </a:spcAft>
            </a:pPr>
            <a:r>
              <a:rPr sz="1350" b="0" i="0">
                <a:solidFill>
                  <a:srgbClr val="FFFFFF"/>
                </a:solidFill>
                <a:latin typeface="Calibri"/>
              </a:rPr>
              <a:t>sunset dates retire old versions</a:t>
            </a:r>
          </a:p>
        </p:txBody>
      </p:sp>
      <p:sp>
        <p:nvSpPr>
          <p:cNvPr id="22" name="Rounded Rectangle 21"/>
          <p:cNvSpPr/>
          <p:nvPr/>
        </p:nvSpPr>
        <p:spPr>
          <a:xfrm>
            <a:off x="5191684" y="4368641"/>
            <a:ext cx="4042141" cy="839581"/>
          </a:xfrm>
          <a:prstGeom prst="roundRect">
            <a:avLst>
              <a:gd name="adj" fmla="val 8712"/>
            </a:avLst>
          </a:prstGeom>
          <a:solidFill>
            <a:srgbClr val="8A16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Automatic rollback</a:t>
            </a:r>
          </a:p>
          <a:p>
            <a:pPr algn="ctr">
              <a:lnSpc>
                <a:spcPct val="105000"/>
              </a:lnSpc>
              <a:spcBef>
                <a:spcPts val="0"/>
              </a:spcBef>
              <a:spcAft>
                <a:spcPts val="0"/>
              </a:spcAft>
            </a:pPr>
            <a:r>
              <a:rPr sz="1150" b="0" i="0">
                <a:solidFill>
                  <a:srgbClr val="FFFFFF"/>
                </a:solidFill>
                <a:latin typeface="Calibri"/>
              </a:rPr>
              <a:t>a canary that errors or slows down</a:t>
            </a:r>
          </a:p>
        </p:txBody>
      </p:sp>
      <p:sp>
        <p:nvSpPr>
          <p:cNvPr id="23" name="Rounded Rectangle 22"/>
          <p:cNvSpPr/>
          <p:nvPr/>
        </p:nvSpPr>
        <p:spPr>
          <a:xfrm>
            <a:off x="9287012" y="4269867"/>
            <a:ext cx="2127443" cy="1086516"/>
          </a:xfrm>
          <a:prstGeom prst="roundRect">
            <a:avLst>
              <a:gd name="adj" fmla="val 6732"/>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Probes</a:t>
            </a:r>
          </a:p>
          <a:p>
            <a:pPr algn="ctr">
              <a:lnSpc>
                <a:spcPct val="105000"/>
              </a:lnSpc>
              <a:spcBef>
                <a:spcPts val="0"/>
              </a:spcBef>
              <a:spcAft>
                <a:spcPts val="0"/>
              </a:spcAft>
            </a:pPr>
            <a:r>
              <a:rPr sz="1150" b="0" i="0">
                <a:solidFill>
                  <a:srgbClr val="1A1A1A"/>
                </a:solidFill>
                <a:latin typeface="Calibri"/>
              </a:rPr>
              <a:t>call tools on a schedule; one worker claims each slot</a:t>
            </a:r>
          </a:p>
        </p:txBody>
      </p:sp>
      <p:sp>
        <p:nvSpPr>
          <p:cNvPr id="24" name="Rounded Rectangle 23"/>
          <p:cNvSpPr/>
          <p:nvPr/>
        </p:nvSpPr>
        <p:spPr>
          <a:xfrm>
            <a:off x="777240" y="4368641"/>
            <a:ext cx="3191164" cy="839581"/>
          </a:xfrm>
          <a:prstGeom prst="roundRect">
            <a:avLst>
              <a:gd name="adj" fmla="val 8712"/>
            </a:avLst>
          </a:prstGeom>
          <a:solidFill>
            <a:srgbClr val="FFFFFF"/>
          </a:solid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Evals</a:t>
            </a:r>
          </a:p>
          <a:p>
            <a:pPr algn="ctr">
              <a:lnSpc>
                <a:spcPct val="105000"/>
              </a:lnSpc>
              <a:spcBef>
                <a:spcPts val="0"/>
              </a:spcBef>
              <a:spcAft>
                <a:spcPts val="0"/>
              </a:spcAft>
            </a:pPr>
            <a:r>
              <a:rPr sz="1150" b="0" i="0">
                <a:solidFill>
                  <a:srgbClr val="1A1A1A"/>
                </a:solidFill>
                <a:latin typeface="Calibri"/>
              </a:rPr>
              <a:t>the same harness for models and planners</a:t>
            </a:r>
          </a:p>
        </p:txBody>
      </p:sp>
      <p:cxnSp>
        <p:nvCxnSpPr>
          <p:cNvPr id="25" name="Connector 24"/>
          <p:cNvCxnSpPr/>
          <p:nvPr/>
        </p:nvCxnSpPr>
        <p:spPr>
          <a:xfrm>
            <a:off x="2631286" y="2590704"/>
            <a:ext cx="307456"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838508" y="2590704"/>
            <a:ext cx="307456"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045730" y="2590704"/>
            <a:ext cx="307456"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252953" y="2590704"/>
            <a:ext cx="307455"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03069" y="3426618"/>
            <a:ext cx="0" cy="896303"/>
          </a:xfrm>
          <a:prstGeom prst="line">
            <a:avLst/>
          </a:prstGeom>
          <a:ln w="20320">
            <a:solidFill>
              <a:srgbClr val="8A1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367077" y="3783330"/>
            <a:ext cx="53848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fails</a:t>
            </a:r>
          </a:p>
        </p:txBody>
      </p:sp>
      <p:cxnSp>
        <p:nvCxnSpPr>
          <p:cNvPr id="31" name="Connector 30"/>
          <p:cNvCxnSpPr/>
          <p:nvPr/>
        </p:nvCxnSpPr>
        <p:spPr>
          <a:xfrm flipV="1">
            <a:off x="6095847" y="3426618"/>
            <a:ext cx="0" cy="896303"/>
          </a:xfrm>
          <a:prstGeom prst="line">
            <a:avLst/>
          </a:prstGeom>
          <a:ln w="20320">
            <a:solidFill>
              <a:srgbClr val="8A16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59855" y="3783330"/>
            <a:ext cx="467359"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back</a:t>
            </a:r>
          </a:p>
        </p:txBody>
      </p:sp>
      <p:cxnSp>
        <p:nvCxnSpPr>
          <p:cNvPr id="33" name="Connector 32"/>
          <p:cNvCxnSpPr/>
          <p:nvPr/>
        </p:nvCxnSpPr>
        <p:spPr>
          <a:xfrm flipV="1">
            <a:off x="10510291" y="3426618"/>
            <a:ext cx="0" cy="797529"/>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0574299" y="3733942"/>
            <a:ext cx="538480" cy="201168"/>
          </a:xfrm>
          <a:prstGeom prst="rect">
            <a:avLst/>
          </a:prstGeom>
          <a:noFill/>
        </p:spPr>
        <p:txBody>
          <a:bodyPr wrap="square" lIns="0" rIns="0" tIns="0" bIns="0" anchor="t">
            <a:spAutoFit/>
          </a:bodyPr>
          <a:lstStyle/>
          <a:p>
            <a:pPr algn="l">
              <a:lnSpc>
                <a:spcPct val="120000"/>
              </a:lnSpc>
              <a:spcBef>
                <a:spcPts val="0"/>
              </a:spcBef>
              <a:spcAft>
                <a:spcPts val="0"/>
              </a:spcAft>
            </a:pPr>
            <a:r>
              <a:rPr sz="1000" b="0" i="1">
                <a:solidFill>
                  <a:srgbClr val="6B7480"/>
                </a:solidFill>
                <a:latin typeface="Calibri"/>
              </a:rPr>
              <a:t>watch</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OBSERVABILITY</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Metrics, traces, cost and alerts, out of the box</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93</a:t>
            </a:r>
          </a:p>
        </p:txBody>
      </p:sp>
      <p:sp>
        <p:nvSpPr>
          <p:cNvPr id="17" name="Rounded Rectangle 16"/>
          <p:cNvSpPr/>
          <p:nvPr/>
        </p:nvSpPr>
        <p:spPr>
          <a:xfrm>
            <a:off x="777240" y="2601563"/>
            <a:ext cx="1382837" cy="2429192"/>
          </a:xfrm>
          <a:prstGeom prst="roundRect">
            <a:avLst>
              <a:gd name="adj" fmla="val 5289"/>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800" b="1" i="0">
                <a:solidFill>
                  <a:srgbClr val="FFFFFF"/>
                </a:solidFill>
                <a:latin typeface="Calibri"/>
              </a:rPr>
              <a:t>SAJHA</a:t>
            </a:r>
          </a:p>
          <a:p>
            <a:pPr algn="ctr">
              <a:lnSpc>
                <a:spcPct val="105000"/>
              </a:lnSpc>
              <a:spcBef>
                <a:spcPts val="0"/>
              </a:spcBef>
              <a:spcAft>
                <a:spcPts val="0"/>
              </a:spcAft>
            </a:pPr>
            <a:r>
              <a:rPr sz="1550" b="0" i="0">
                <a:solidFill>
                  <a:srgbClr val="FFFFFF"/>
                </a:solidFill>
                <a:latin typeface="Calibri"/>
              </a:rPr>
              <a:t>every worker</a:t>
            </a:r>
          </a:p>
        </p:txBody>
      </p:sp>
      <p:sp>
        <p:nvSpPr>
          <p:cNvPr id="18" name="Rounded Rectangle 17"/>
          <p:cNvSpPr/>
          <p:nvPr/>
        </p:nvSpPr>
        <p:spPr>
          <a:xfrm>
            <a:off x="2904683" y="1435550"/>
            <a:ext cx="1595582" cy="971677"/>
          </a:xfrm>
          <a:prstGeom prst="roundRect">
            <a:avLst>
              <a:gd name="adj" fmla="val 752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Metrics</a:t>
            </a:r>
          </a:p>
        </p:txBody>
      </p:sp>
      <p:sp>
        <p:nvSpPr>
          <p:cNvPr id="19" name="Rounded Rectangle 18"/>
          <p:cNvSpPr/>
          <p:nvPr/>
        </p:nvSpPr>
        <p:spPr>
          <a:xfrm>
            <a:off x="5138498" y="1435550"/>
            <a:ext cx="2127443"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Prometheus at /metrics, protected</a:t>
            </a:r>
          </a:p>
        </p:txBody>
      </p:sp>
      <p:sp>
        <p:nvSpPr>
          <p:cNvPr id="20" name="Rounded Rectangle 19"/>
          <p:cNvSpPr/>
          <p:nvPr/>
        </p:nvSpPr>
        <p:spPr>
          <a:xfrm>
            <a:off x="7797802" y="1435550"/>
            <a:ext cx="3616653" cy="971677"/>
          </a:xfrm>
          <a:prstGeom prst="roundRect">
            <a:avLst>
              <a:gd name="adj" fmla="val 75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HTTP, MCP and tool calls, latency, cache hits, tokens and spend, sandbox runs, policy decisions</a:t>
            </a:r>
          </a:p>
        </p:txBody>
      </p:sp>
      <p:sp>
        <p:nvSpPr>
          <p:cNvPr id="21" name="Rounded Rectangle 20"/>
          <p:cNvSpPr/>
          <p:nvPr/>
        </p:nvSpPr>
        <p:spPr>
          <a:xfrm>
            <a:off x="2904683" y="2650147"/>
            <a:ext cx="1595582" cy="971677"/>
          </a:xfrm>
          <a:prstGeom prst="roundRect">
            <a:avLst>
              <a:gd name="adj" fmla="val 752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Traces</a:t>
            </a:r>
          </a:p>
        </p:txBody>
      </p:sp>
      <p:sp>
        <p:nvSpPr>
          <p:cNvPr id="22" name="Rounded Rectangle 21"/>
          <p:cNvSpPr/>
          <p:nvPr/>
        </p:nvSpPr>
        <p:spPr>
          <a:xfrm>
            <a:off x="5138498" y="2650147"/>
            <a:ext cx="2127443"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OpenTelemetry over OTLP, opt-in</a:t>
            </a:r>
          </a:p>
        </p:txBody>
      </p:sp>
      <p:sp>
        <p:nvSpPr>
          <p:cNvPr id="23" name="Rounded Rectangle 22"/>
          <p:cNvSpPr/>
          <p:nvPr/>
        </p:nvSpPr>
        <p:spPr>
          <a:xfrm>
            <a:off x="7797802" y="2650147"/>
            <a:ext cx="3616653" cy="971677"/>
          </a:xfrm>
          <a:prstGeom prst="roundRect">
            <a:avLst>
              <a:gd name="adj" fmla="val 75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a span per request, tool call and model call, with the caller attached</a:t>
            </a:r>
          </a:p>
        </p:txBody>
      </p:sp>
      <p:sp>
        <p:nvSpPr>
          <p:cNvPr id="24" name="Rounded Rectangle 23"/>
          <p:cNvSpPr/>
          <p:nvPr/>
        </p:nvSpPr>
        <p:spPr>
          <a:xfrm>
            <a:off x="2904683" y="3864743"/>
            <a:ext cx="1595582" cy="971677"/>
          </a:xfrm>
          <a:prstGeom prst="roundRect">
            <a:avLst>
              <a:gd name="adj" fmla="val 752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Usage and cost</a:t>
            </a:r>
          </a:p>
        </p:txBody>
      </p:sp>
      <p:sp>
        <p:nvSpPr>
          <p:cNvPr id="25" name="Rounded Rectangle 24"/>
          <p:cNvSpPr/>
          <p:nvPr/>
        </p:nvSpPr>
        <p:spPr>
          <a:xfrm>
            <a:off x="5138498" y="3864743"/>
            <a:ext cx="2127443"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a dashboard in the console</a:t>
            </a:r>
          </a:p>
        </p:txBody>
      </p:sp>
      <p:sp>
        <p:nvSpPr>
          <p:cNvPr id="26" name="Rounded Rectangle 25"/>
          <p:cNvSpPr/>
          <p:nvPr/>
        </p:nvSpPr>
        <p:spPr>
          <a:xfrm>
            <a:off x="7797802" y="3864743"/>
            <a:ext cx="3616653" cy="971677"/>
          </a:xfrm>
          <a:prstGeom prst="roundRect">
            <a:avLst>
              <a:gd name="adj" fmla="val 75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calls, errors, tokens and spend by user, key, role, model, tool and day; budgets; CSV export</a:t>
            </a:r>
          </a:p>
        </p:txBody>
      </p:sp>
      <p:sp>
        <p:nvSpPr>
          <p:cNvPr id="27" name="Rounded Rectangle 26"/>
          <p:cNvSpPr/>
          <p:nvPr/>
        </p:nvSpPr>
        <p:spPr>
          <a:xfrm>
            <a:off x="2904683" y="5079339"/>
            <a:ext cx="1595582" cy="971677"/>
          </a:xfrm>
          <a:prstGeom prst="roundRect">
            <a:avLst>
              <a:gd name="adj" fmla="val 7528"/>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Alerts</a:t>
            </a:r>
          </a:p>
        </p:txBody>
      </p:sp>
      <p:sp>
        <p:nvSpPr>
          <p:cNvPr id="28" name="Rounded Rectangle 27"/>
          <p:cNvSpPr/>
          <p:nvPr/>
        </p:nvSpPr>
        <p:spPr>
          <a:xfrm>
            <a:off x="5138498" y="5079339"/>
            <a:ext cx="2127443" cy="971677"/>
          </a:xfrm>
          <a:prstGeom prst="roundRect">
            <a:avLst>
              <a:gd name="adj" fmla="val 7528"/>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rules on rates, latency and spend</a:t>
            </a:r>
          </a:p>
        </p:txBody>
      </p:sp>
      <p:sp>
        <p:nvSpPr>
          <p:cNvPr id="29" name="Rounded Rectangle 28"/>
          <p:cNvSpPr/>
          <p:nvPr/>
        </p:nvSpPr>
        <p:spPr>
          <a:xfrm>
            <a:off x="7797802" y="5079339"/>
            <a:ext cx="3616653" cy="971677"/>
          </a:xfrm>
          <a:prstGeom prst="roundRect">
            <a:avLst>
              <a:gd name="adj" fmla="val 752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alibri"/>
              </a:rPr>
              <a:t>error rates, p95 latency, LLM spend, open breakers: to a log, an email or a guarded webhook</a:t>
            </a:r>
          </a:p>
        </p:txBody>
      </p:sp>
      <p:cxnSp>
        <p:nvCxnSpPr>
          <p:cNvPr id="30" name="Connector 29"/>
          <p:cNvCxnSpPr/>
          <p:nvPr/>
        </p:nvCxnSpPr>
        <p:spPr>
          <a:xfrm flipV="1">
            <a:off x="2184684" y="1959922"/>
            <a:ext cx="695392" cy="108894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545985" y="1921389"/>
            <a:ext cx="546793"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311661" y="1921389"/>
            <a:ext cx="440421"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2199502" y="3159137"/>
            <a:ext cx="665756" cy="390951"/>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4545985" y="3135985"/>
            <a:ext cx="546793"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311661" y="3135985"/>
            <a:ext cx="440421"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2202651" y="4075745"/>
            <a:ext cx="659458" cy="258169"/>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45985" y="4350581"/>
            <a:ext cx="546793"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311661" y="4350581"/>
            <a:ext cx="440421"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2187030" y="4581847"/>
            <a:ext cx="690700" cy="94640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545985" y="5565178"/>
            <a:ext cx="546793"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311661" y="5565178"/>
            <a:ext cx="440421" cy="0"/>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SANDBOX AND CONNECTED ACCOUNTS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User code runs in a sandbox; a user's tokens stay in a vault</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94</a:t>
            </a:r>
          </a:p>
        </p:txBody>
      </p:sp>
      <p:sp>
        <p:nvSpPr>
          <p:cNvPr id="17" name="Rectangle 16"/>
          <p:cNvSpPr/>
          <p:nvPr/>
        </p:nvSpPr>
        <p:spPr>
          <a:xfrm>
            <a:off x="777240" y="1354836"/>
            <a:ext cx="5212235" cy="4890516"/>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18844"/>
            <a:ext cx="4992779"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SANDBOX</a:t>
            </a:r>
          </a:p>
        </p:txBody>
      </p:sp>
      <p:sp>
        <p:nvSpPr>
          <p:cNvPr id="19" name="Rectangle 18"/>
          <p:cNvSpPr/>
          <p:nvPr/>
        </p:nvSpPr>
        <p:spPr>
          <a:xfrm>
            <a:off x="6255405" y="1354836"/>
            <a:ext cx="5159049" cy="4890516"/>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65133" y="1418844"/>
            <a:ext cx="4939593"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CONNECTED ACCOUNTS</a:t>
            </a:r>
          </a:p>
        </p:txBody>
      </p:sp>
      <p:sp>
        <p:nvSpPr>
          <p:cNvPr id="21" name="Rectangle 20"/>
          <p:cNvSpPr/>
          <p:nvPr/>
        </p:nvSpPr>
        <p:spPr>
          <a:xfrm>
            <a:off x="6383052" y="1672719"/>
            <a:ext cx="4946305" cy="660219"/>
          </a:xfrm>
          <a:prstGeom prst="rect">
            <a:avLst/>
          </a:prstGeom>
          <a:noFill/>
          <a:ln w="15875">
            <a:solidFill>
              <a:srgbClr val="E3DED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4886" y="3262137"/>
            <a:ext cx="4956942" cy="782482"/>
          </a:xfrm>
          <a:prstGeom prst="rect">
            <a:avLst/>
          </a:prstGeom>
          <a:noFill/>
          <a:ln w="15875">
            <a:solidFill>
              <a:srgbClr val="E3DED7"/>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9984" y="1746077"/>
            <a:ext cx="2127443" cy="1173723"/>
          </a:xfrm>
          <a:prstGeom prst="roundRect">
            <a:avLst>
              <a:gd name="adj" fmla="val 6232"/>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User code</a:t>
            </a:r>
          </a:p>
          <a:p>
            <a:pPr algn="ctr">
              <a:lnSpc>
                <a:spcPct val="105000"/>
              </a:lnSpc>
              <a:spcBef>
                <a:spcPts val="0"/>
              </a:spcBef>
              <a:spcAft>
                <a:spcPts val="0"/>
              </a:spcAft>
            </a:pPr>
            <a:r>
              <a:rPr sz="1150" b="0" i="0">
                <a:solidFill>
                  <a:srgbClr val="1A1A1A"/>
                </a:solidFill>
                <a:latin typeface="Calibri"/>
              </a:rPr>
              <a:t>Studio Python and script tools, the admin shell</a:t>
            </a:r>
          </a:p>
        </p:txBody>
      </p:sp>
      <p:sp>
        <p:nvSpPr>
          <p:cNvPr id="24" name="Rounded Rectangle 23"/>
          <p:cNvSpPr/>
          <p:nvPr/>
        </p:nvSpPr>
        <p:spPr>
          <a:xfrm>
            <a:off x="3649288" y="1746077"/>
            <a:ext cx="2127443" cy="1173723"/>
          </a:xfrm>
          <a:prstGeom prst="roundRect">
            <a:avLst>
              <a:gd name="adj" fmla="val 623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A process per call</a:t>
            </a:r>
          </a:p>
          <a:p>
            <a:pPr algn="ctr">
              <a:lnSpc>
                <a:spcPct val="105000"/>
              </a:lnSpc>
              <a:spcBef>
                <a:spcPts val="0"/>
              </a:spcBef>
              <a:spcAft>
                <a:spcPts val="0"/>
              </a:spcAft>
            </a:pPr>
            <a:r>
              <a:rPr sz="1150" b="0" i="0">
                <a:solidFill>
                  <a:srgbClr val="FFFFFF"/>
                </a:solidFill>
                <a:latin typeface="Calibri"/>
              </a:rPr>
              <a:t>no server environment; no network unless allowed</a:t>
            </a:r>
          </a:p>
        </p:txBody>
      </p:sp>
      <p:sp>
        <p:nvSpPr>
          <p:cNvPr id="25" name="Rounded Rectangle 24"/>
          <p:cNvSpPr/>
          <p:nvPr/>
        </p:nvSpPr>
        <p:spPr>
          <a:xfrm>
            <a:off x="989984" y="3408852"/>
            <a:ext cx="1063721" cy="489051"/>
          </a:xfrm>
          <a:prstGeom prst="roundRect">
            <a:avLst>
              <a:gd name="adj" fmla="val 1495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100" b="0" i="0">
                <a:solidFill>
                  <a:srgbClr val="1A1A1A"/>
                </a:solidFill>
                <a:latin typeface="Consolas"/>
              </a:rPr>
              <a:t>subprocess</a:t>
            </a:r>
          </a:p>
        </p:txBody>
      </p:sp>
      <p:sp>
        <p:nvSpPr>
          <p:cNvPr id="26" name="Rounded Rectangle 25"/>
          <p:cNvSpPr/>
          <p:nvPr/>
        </p:nvSpPr>
        <p:spPr>
          <a:xfrm>
            <a:off x="2230992" y="3408852"/>
            <a:ext cx="1063721" cy="489051"/>
          </a:xfrm>
          <a:prstGeom prst="roundRect">
            <a:avLst>
              <a:gd name="adj" fmla="val 1495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onsolas"/>
              </a:rPr>
              <a:t>bwrap</a:t>
            </a:r>
          </a:p>
        </p:txBody>
      </p:sp>
      <p:sp>
        <p:nvSpPr>
          <p:cNvPr id="27" name="Rounded Rectangle 26"/>
          <p:cNvSpPr/>
          <p:nvPr/>
        </p:nvSpPr>
        <p:spPr>
          <a:xfrm>
            <a:off x="3472001" y="3408852"/>
            <a:ext cx="1063721" cy="489051"/>
          </a:xfrm>
          <a:prstGeom prst="roundRect">
            <a:avLst>
              <a:gd name="adj" fmla="val 1495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onsolas"/>
              </a:rPr>
              <a:t>nsjail</a:t>
            </a:r>
          </a:p>
        </p:txBody>
      </p:sp>
      <p:sp>
        <p:nvSpPr>
          <p:cNvPr id="28" name="Rounded Rectangle 27"/>
          <p:cNvSpPr/>
          <p:nvPr/>
        </p:nvSpPr>
        <p:spPr>
          <a:xfrm>
            <a:off x="4713009" y="3408852"/>
            <a:ext cx="1063721" cy="489051"/>
          </a:xfrm>
          <a:prstGeom prst="roundRect">
            <a:avLst>
              <a:gd name="adj" fmla="val 14957"/>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0" i="0">
                <a:solidFill>
                  <a:srgbClr val="1A1A1A"/>
                </a:solidFill>
                <a:latin typeface="Consolas"/>
              </a:rPr>
              <a:t>docker</a:t>
            </a:r>
          </a:p>
        </p:txBody>
      </p:sp>
      <p:sp>
        <p:nvSpPr>
          <p:cNvPr id="29" name="Rounded Rectangle 28"/>
          <p:cNvSpPr/>
          <p:nvPr/>
        </p:nvSpPr>
        <p:spPr>
          <a:xfrm>
            <a:off x="989984" y="4582576"/>
            <a:ext cx="4786746" cy="1075913"/>
          </a:xfrm>
          <a:prstGeom prst="roundRect">
            <a:avLst>
              <a:gd name="adj" fmla="val 6799"/>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1A1A1A"/>
                </a:solidFill>
                <a:latin typeface="Calibri"/>
              </a:rPr>
              <a:t>Built-in tools run in-process</a:t>
            </a:r>
          </a:p>
          <a:p>
            <a:pPr algn="ctr">
              <a:lnSpc>
                <a:spcPct val="105000"/>
              </a:lnSpc>
              <a:spcBef>
                <a:spcPts val="0"/>
              </a:spcBef>
              <a:spcAft>
                <a:spcPts val="0"/>
              </a:spcAft>
            </a:pPr>
            <a:r>
              <a:rPr sz="1050" b="0" i="0">
                <a:solidFill>
                  <a:srgbClr val="1A1A1A"/>
                </a:solidFill>
                <a:latin typeface="Calibri"/>
              </a:rPr>
              <a:t>not sandboxed; on macOS and Windows the default gives only a clean environment and limits</a:t>
            </a:r>
          </a:p>
        </p:txBody>
      </p:sp>
      <p:sp>
        <p:nvSpPr>
          <p:cNvPr id="30" name="Rounded Rectangle 29"/>
          <p:cNvSpPr/>
          <p:nvPr/>
        </p:nvSpPr>
        <p:spPr>
          <a:xfrm>
            <a:off x="6468150" y="1746077"/>
            <a:ext cx="744605"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github</a:t>
            </a:r>
          </a:p>
        </p:txBody>
      </p:sp>
      <p:sp>
        <p:nvSpPr>
          <p:cNvPr id="31" name="Rounded Rectangle 30"/>
          <p:cNvSpPr/>
          <p:nvPr/>
        </p:nvSpPr>
        <p:spPr>
          <a:xfrm>
            <a:off x="7276578" y="1746077"/>
            <a:ext cx="744605"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slack</a:t>
            </a:r>
          </a:p>
        </p:txBody>
      </p:sp>
      <p:sp>
        <p:nvSpPr>
          <p:cNvPr id="32" name="Rounded Rectangle 31"/>
          <p:cNvSpPr/>
          <p:nvPr/>
        </p:nvSpPr>
        <p:spPr>
          <a:xfrm>
            <a:off x="8085006" y="1746077"/>
            <a:ext cx="744605"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google</a:t>
            </a:r>
          </a:p>
        </p:txBody>
      </p:sp>
      <p:sp>
        <p:nvSpPr>
          <p:cNvPr id="33" name="Rounded Rectangle 32"/>
          <p:cNvSpPr/>
          <p:nvPr/>
        </p:nvSpPr>
        <p:spPr>
          <a:xfrm>
            <a:off x="8893435" y="1746077"/>
            <a:ext cx="744605"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microsoft</a:t>
            </a:r>
          </a:p>
        </p:txBody>
      </p:sp>
      <p:sp>
        <p:nvSpPr>
          <p:cNvPr id="34" name="Rounded Rectangle 33"/>
          <p:cNvSpPr/>
          <p:nvPr/>
        </p:nvSpPr>
        <p:spPr>
          <a:xfrm>
            <a:off x="9701863" y="1746077"/>
            <a:ext cx="744605"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atlassian</a:t>
            </a:r>
          </a:p>
        </p:txBody>
      </p:sp>
      <p:sp>
        <p:nvSpPr>
          <p:cNvPr id="35" name="Rounded Rectangle 34"/>
          <p:cNvSpPr/>
          <p:nvPr/>
        </p:nvSpPr>
        <p:spPr>
          <a:xfrm>
            <a:off x="10510291" y="1746077"/>
            <a:ext cx="744605" cy="489051"/>
          </a:xfrm>
          <a:prstGeom prst="roundRect">
            <a:avLst>
              <a:gd name="adj" fmla="val 14957"/>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000" b="0" i="0">
                <a:solidFill>
                  <a:srgbClr val="1A1A1A"/>
                </a:solidFill>
                <a:latin typeface="Calibri"/>
              </a:rPr>
              <a:t>notion</a:t>
            </a:r>
          </a:p>
        </p:txBody>
      </p:sp>
      <p:sp>
        <p:nvSpPr>
          <p:cNvPr id="36" name="Can 35"/>
          <p:cNvSpPr/>
          <p:nvPr/>
        </p:nvSpPr>
        <p:spPr>
          <a:xfrm>
            <a:off x="6468150" y="3017611"/>
            <a:ext cx="2127443" cy="1075913"/>
          </a:xfrm>
          <a:prstGeom prst="can">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The vault</a:t>
            </a:r>
          </a:p>
          <a:p>
            <a:pPr algn="ctr">
              <a:lnSpc>
                <a:spcPct val="105000"/>
              </a:lnSpc>
              <a:spcBef>
                <a:spcPts val="0"/>
              </a:spcBef>
              <a:spcAft>
                <a:spcPts val="0"/>
              </a:spcAft>
            </a:pPr>
            <a:r>
              <a:rPr sz="1150" b="0" i="0">
                <a:solidFill>
                  <a:srgbClr val="FFFFFF"/>
                </a:solidFill>
                <a:latin typeface="Calibri"/>
              </a:rPr>
              <a:t>AES-256-GCM, bound to user and provider</a:t>
            </a:r>
          </a:p>
        </p:txBody>
      </p:sp>
      <p:sp>
        <p:nvSpPr>
          <p:cNvPr id="37" name="Rounded Rectangle 36"/>
          <p:cNvSpPr/>
          <p:nvPr/>
        </p:nvSpPr>
        <p:spPr>
          <a:xfrm>
            <a:off x="9127453" y="3017611"/>
            <a:ext cx="2127443" cy="1075913"/>
          </a:xfrm>
          <a:prstGeom prst="roundRect">
            <a:avLst>
              <a:gd name="adj" fmla="val 6799"/>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A tool acts as the user</a:t>
            </a:r>
          </a:p>
          <a:p>
            <a:pPr algn="ctr">
              <a:lnSpc>
                <a:spcPct val="105000"/>
              </a:lnSpc>
              <a:spcBef>
                <a:spcPts val="0"/>
              </a:spcBef>
              <a:spcAft>
                <a:spcPts val="0"/>
              </a:spcAft>
            </a:pPr>
            <a:r>
              <a:rPr sz="1050" b="0" i="0">
                <a:solidFill>
                  <a:srgbClr val="FFFFFF"/>
                </a:solidFill>
                <a:latin typeface="Calibri"/>
              </a:rPr>
              <a:t>with that user's token, only to the provider's listed hosts</a:t>
            </a:r>
          </a:p>
        </p:txBody>
      </p:sp>
      <p:sp>
        <p:nvSpPr>
          <p:cNvPr id="38" name="Rounded Rectangle 37"/>
          <p:cNvSpPr/>
          <p:nvPr/>
        </p:nvSpPr>
        <p:spPr>
          <a:xfrm>
            <a:off x="9127453" y="4680386"/>
            <a:ext cx="2127443" cy="684672"/>
          </a:xfrm>
          <a:prstGeom prst="roundRect">
            <a:avLst>
              <a:gd name="adj" fmla="val 10684"/>
            </a:avLst>
          </a:prstGeom>
          <a:solidFill>
            <a:srgbClr val="F7F5F2"/>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per-user results never cached</a:t>
            </a:r>
          </a:p>
        </p:txBody>
      </p:sp>
      <p:sp>
        <p:nvSpPr>
          <p:cNvPr id="39" name="TextBox 38"/>
          <p:cNvSpPr txBox="1"/>
          <p:nvPr/>
        </p:nvSpPr>
        <p:spPr>
          <a:xfrm>
            <a:off x="6468150" y="4386955"/>
            <a:ext cx="2446559" cy="1467154"/>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Or any OAuth 2.0 service; tools that declare it call with the linking user's token.</a:t>
            </a:r>
          </a:p>
        </p:txBody>
      </p:sp>
      <p:cxnSp>
        <p:nvCxnSpPr>
          <p:cNvPr id="40" name="Connector 39"/>
          <p:cNvCxnSpPr/>
          <p:nvPr/>
        </p:nvCxnSpPr>
        <p:spPr>
          <a:xfrm>
            <a:off x="3163147" y="2332939"/>
            <a:ext cx="440421"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641313" y="3555568"/>
            <a:ext cx="440420"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191175" y="4139244"/>
            <a:ext cx="0" cy="495422"/>
          </a:xfrm>
          <a:prstGeom prst="line">
            <a:avLst/>
          </a:prstGeom>
          <a:ln w="20320">
            <a:solidFill>
              <a:srgbClr val="6B7480"/>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7531871" y="2378659"/>
            <a:ext cx="0" cy="59323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595879" y="2583835"/>
            <a:ext cx="929640" cy="201168"/>
          </a:xfrm>
          <a:prstGeom prst="rect">
            <a:avLst/>
          </a:prstGeom>
          <a:noFill/>
        </p:spPr>
        <p:txBody>
          <a:bodyPr wrap="square" lIns="0" rIns="0" tIns="0" bIns="0" anchor="t">
            <a:spAutoFit/>
          </a:bodyPr>
          <a:lstStyle/>
          <a:p>
            <a:pPr algn="l">
              <a:lnSpc>
                <a:spcPct val="120000"/>
              </a:lnSpc>
              <a:spcBef>
                <a:spcPts val="0"/>
              </a:spcBef>
              <a:spcAft>
                <a:spcPts val="0"/>
              </a:spcAft>
            </a:pPr>
            <a:r>
              <a:rPr sz="1050" b="0" i="1">
                <a:solidFill>
                  <a:srgbClr val="6B7480"/>
                </a:solidFill>
                <a:latin typeface="Calibri"/>
              </a:rPr>
              <a:t>links once</a:t>
            </a:r>
          </a:p>
        </p:txBody>
      </p:sp>
      <p:cxnSp>
        <p:nvCxnSpPr>
          <p:cNvPr id="45" name="Connector 44"/>
          <p:cNvCxnSpPr/>
          <p:nvPr/>
        </p:nvCxnSpPr>
        <p:spPr>
          <a:xfrm>
            <a:off x="4713009" y="2965521"/>
            <a:ext cx="0" cy="250896"/>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STORAGE AND STATE</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One process on a laptop, or several pods in a cluster</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95</a:t>
            </a:r>
          </a:p>
        </p:txBody>
      </p:sp>
      <p:sp>
        <p:nvSpPr>
          <p:cNvPr id="17" name="Rectangle 16"/>
          <p:cNvSpPr/>
          <p:nvPr/>
        </p:nvSpPr>
        <p:spPr>
          <a:xfrm>
            <a:off x="777240" y="1386967"/>
            <a:ext cx="4254886" cy="388670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1450975"/>
            <a:ext cx="4035430"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ON A LAPTOP: THE DEFAULTS</a:t>
            </a:r>
          </a:p>
        </p:txBody>
      </p:sp>
      <p:sp>
        <p:nvSpPr>
          <p:cNvPr id="19" name="Rectangle 18"/>
          <p:cNvSpPr/>
          <p:nvPr/>
        </p:nvSpPr>
        <p:spPr>
          <a:xfrm>
            <a:off x="5457614" y="1386967"/>
            <a:ext cx="5956840" cy="3886708"/>
          </a:xfrm>
          <a:prstGeom prst="rect">
            <a:avLst/>
          </a:prstGeom>
          <a:noFill/>
          <a:ln w="15875">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7342" y="1450975"/>
            <a:ext cx="5737384" cy="237744"/>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6E1120"/>
                </a:solidFill>
                <a:latin typeface="Calibri"/>
              </a:rPr>
              <a:t>IN A CLUSTER</a:t>
            </a:r>
          </a:p>
        </p:txBody>
      </p:sp>
      <p:sp>
        <p:nvSpPr>
          <p:cNvPr id="21" name="Rounded Rectangle 20"/>
          <p:cNvSpPr/>
          <p:nvPr/>
        </p:nvSpPr>
        <p:spPr>
          <a:xfrm>
            <a:off x="1840961" y="1872805"/>
            <a:ext cx="2127443" cy="825925"/>
          </a:xfrm>
          <a:prstGeom prst="roundRect">
            <a:avLst>
              <a:gd name="adj" fmla="val 885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FFFFFF"/>
                </a:solidFill>
                <a:latin typeface="Calibri"/>
              </a:rPr>
              <a:t>One SAJHA process</a:t>
            </a:r>
          </a:p>
        </p:txBody>
      </p:sp>
      <p:sp>
        <p:nvSpPr>
          <p:cNvPr id="22" name="Rounded Rectangle 21"/>
          <p:cNvSpPr/>
          <p:nvPr/>
        </p:nvSpPr>
        <p:spPr>
          <a:xfrm>
            <a:off x="989984" y="3573240"/>
            <a:ext cx="1223279" cy="1166012"/>
          </a:xfrm>
          <a:prstGeom prst="roundRect">
            <a:avLst>
              <a:gd name="adj" fmla="val 62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local disk</a:t>
            </a:r>
          </a:p>
          <a:p>
            <a:pPr algn="ctr">
              <a:lnSpc>
                <a:spcPct val="105000"/>
              </a:lnSpc>
              <a:spcBef>
                <a:spcPts val="0"/>
              </a:spcBef>
              <a:spcAft>
                <a:spcPts val="0"/>
              </a:spcAft>
            </a:pPr>
            <a:r>
              <a:rPr sz="950" b="0" i="0">
                <a:solidFill>
                  <a:srgbClr val="1A1A1A"/>
                </a:solidFill>
                <a:latin typeface="Calibri"/>
              </a:rPr>
              <a:t>config and tool files</a:t>
            </a:r>
          </a:p>
        </p:txBody>
      </p:sp>
      <p:sp>
        <p:nvSpPr>
          <p:cNvPr id="23" name="Rounded Rectangle 22"/>
          <p:cNvSpPr/>
          <p:nvPr/>
        </p:nvSpPr>
        <p:spPr>
          <a:xfrm>
            <a:off x="2298361" y="3573240"/>
            <a:ext cx="1223279" cy="1166012"/>
          </a:xfrm>
          <a:prstGeom prst="roundRect">
            <a:avLst>
              <a:gd name="adj" fmla="val 6273"/>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memory</a:t>
            </a:r>
          </a:p>
          <a:p>
            <a:pPr algn="ctr">
              <a:lnSpc>
                <a:spcPct val="105000"/>
              </a:lnSpc>
              <a:spcBef>
                <a:spcPts val="0"/>
              </a:spcBef>
              <a:spcAft>
                <a:spcPts val="0"/>
              </a:spcAft>
            </a:pPr>
            <a:r>
              <a:rPr sz="950" b="0" i="0">
                <a:solidFill>
                  <a:srgbClr val="1A1A1A"/>
                </a:solidFill>
                <a:latin typeface="Calibri"/>
              </a:rPr>
              <a:t>protocol state</a:t>
            </a:r>
          </a:p>
        </p:txBody>
      </p:sp>
      <p:sp>
        <p:nvSpPr>
          <p:cNvPr id="24" name="Can 23"/>
          <p:cNvSpPr/>
          <p:nvPr/>
        </p:nvSpPr>
        <p:spPr>
          <a:xfrm>
            <a:off x="3606739" y="3573240"/>
            <a:ext cx="1223279" cy="1166012"/>
          </a:xfrm>
          <a:prstGeom prst="can">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SQLite</a:t>
            </a:r>
          </a:p>
          <a:p>
            <a:pPr algn="ctr">
              <a:lnSpc>
                <a:spcPct val="105000"/>
              </a:lnSpc>
              <a:spcBef>
                <a:spcPts val="0"/>
              </a:spcBef>
              <a:spcAft>
                <a:spcPts val="0"/>
              </a:spcAft>
            </a:pPr>
            <a:r>
              <a:rPr sz="950" b="0" i="0">
                <a:solidFill>
                  <a:srgbClr val="1A1A1A"/>
                </a:solidFill>
                <a:latin typeface="Calibri"/>
              </a:rPr>
              <a:t>creates its own tables</a:t>
            </a:r>
          </a:p>
        </p:txBody>
      </p:sp>
      <p:sp>
        <p:nvSpPr>
          <p:cNvPr id="25" name="Rounded Rectangle 24"/>
          <p:cNvSpPr/>
          <p:nvPr/>
        </p:nvSpPr>
        <p:spPr>
          <a:xfrm>
            <a:off x="6734080" y="1872805"/>
            <a:ext cx="1382837" cy="825925"/>
          </a:xfrm>
          <a:prstGeom prst="roundRect">
            <a:avLst>
              <a:gd name="adj" fmla="val 885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SAJHA pod</a:t>
            </a:r>
          </a:p>
        </p:txBody>
      </p:sp>
      <p:sp>
        <p:nvSpPr>
          <p:cNvPr id="26" name="Rounded Rectangle 25"/>
          <p:cNvSpPr/>
          <p:nvPr/>
        </p:nvSpPr>
        <p:spPr>
          <a:xfrm>
            <a:off x="8329662" y="1872805"/>
            <a:ext cx="1382837" cy="825925"/>
          </a:xfrm>
          <a:prstGeom prst="roundRect">
            <a:avLst>
              <a:gd name="adj" fmla="val 885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SAJHA pod</a:t>
            </a:r>
          </a:p>
        </p:txBody>
      </p:sp>
      <p:sp>
        <p:nvSpPr>
          <p:cNvPr id="27" name="Rounded Rectangle 26"/>
          <p:cNvSpPr/>
          <p:nvPr/>
        </p:nvSpPr>
        <p:spPr>
          <a:xfrm>
            <a:off x="9925245" y="1872805"/>
            <a:ext cx="1382837" cy="825925"/>
          </a:xfrm>
          <a:prstGeom prst="roundRect">
            <a:avLst>
              <a:gd name="adj" fmla="val 8856"/>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300" b="1" i="0">
                <a:solidFill>
                  <a:srgbClr val="FFFFFF"/>
                </a:solidFill>
                <a:latin typeface="Calibri"/>
              </a:rPr>
              <a:t>SAJHA pod</a:t>
            </a:r>
          </a:p>
        </p:txBody>
      </p:sp>
      <p:sp>
        <p:nvSpPr>
          <p:cNvPr id="28" name="Rounded Rectangle 27"/>
          <p:cNvSpPr/>
          <p:nvPr/>
        </p:nvSpPr>
        <p:spPr>
          <a:xfrm>
            <a:off x="5670358" y="3573240"/>
            <a:ext cx="1755140" cy="1263180"/>
          </a:xfrm>
          <a:prstGeom prst="roundRect">
            <a:avLst>
              <a:gd name="adj" fmla="val 579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object store</a:t>
            </a:r>
          </a:p>
          <a:p>
            <a:pPr algn="ctr">
              <a:lnSpc>
                <a:spcPct val="105000"/>
              </a:lnSpc>
              <a:spcBef>
                <a:spcPts val="0"/>
              </a:spcBef>
              <a:spcAft>
                <a:spcPts val="0"/>
              </a:spcAft>
            </a:pPr>
            <a:r>
              <a:rPr sz="950" b="0" i="0">
                <a:solidFill>
                  <a:srgbClr val="1A1A1A"/>
                </a:solidFill>
                <a:latin typeface="Calibri"/>
              </a:rPr>
              <a:t>S3, Azure Blob or GCS, with hot reload</a:t>
            </a:r>
          </a:p>
        </p:txBody>
      </p:sp>
      <p:sp>
        <p:nvSpPr>
          <p:cNvPr id="29" name="Rounded Rectangle 28"/>
          <p:cNvSpPr/>
          <p:nvPr/>
        </p:nvSpPr>
        <p:spPr>
          <a:xfrm>
            <a:off x="7638243" y="3573240"/>
            <a:ext cx="1755140" cy="1263180"/>
          </a:xfrm>
          <a:prstGeom prst="roundRect">
            <a:avLst>
              <a:gd name="adj" fmla="val 579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state store</a:t>
            </a:r>
          </a:p>
          <a:p>
            <a:pPr algn="ctr">
              <a:lnSpc>
                <a:spcPct val="105000"/>
              </a:lnSpc>
              <a:spcBef>
                <a:spcPts val="0"/>
              </a:spcBef>
              <a:spcAft>
                <a:spcPts val="0"/>
              </a:spcAft>
            </a:pPr>
            <a:r>
              <a:rPr sz="950" b="0" i="0">
                <a:solidFill>
                  <a:srgbClr val="1A1A1A"/>
                </a:solidFill>
                <a:latin typeface="Calibri"/>
              </a:rPr>
              <a:t>redis or database: shared by every worker</a:t>
            </a:r>
          </a:p>
        </p:txBody>
      </p:sp>
      <p:sp>
        <p:nvSpPr>
          <p:cNvPr id="30" name="Can 29"/>
          <p:cNvSpPr/>
          <p:nvPr/>
        </p:nvSpPr>
        <p:spPr>
          <a:xfrm>
            <a:off x="9606128" y="3573240"/>
            <a:ext cx="1648768" cy="1263180"/>
          </a:xfrm>
          <a:prstGeom prst="can">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200" b="1" i="0">
                <a:solidFill>
                  <a:srgbClr val="1A1A1A"/>
                </a:solidFill>
                <a:latin typeface="Calibri"/>
              </a:rPr>
              <a:t>PostgreSQL</a:t>
            </a:r>
          </a:p>
          <a:p>
            <a:pPr algn="ctr">
              <a:lnSpc>
                <a:spcPct val="105000"/>
              </a:lnSpc>
              <a:spcBef>
                <a:spcPts val="0"/>
              </a:spcBef>
              <a:spcAft>
                <a:spcPts val="0"/>
              </a:spcAft>
            </a:pPr>
            <a:r>
              <a:rPr sz="950" b="0" i="0">
                <a:solidFill>
                  <a:srgbClr val="1A1A1A"/>
                </a:solidFill>
                <a:latin typeface="Calibri"/>
              </a:rPr>
              <a:t>schema file run once by an operator</a:t>
            </a:r>
          </a:p>
        </p:txBody>
      </p:sp>
      <p:sp>
        <p:nvSpPr>
          <p:cNvPr id="31" name="TextBox 30"/>
          <p:cNvSpPr txBox="1"/>
          <p:nvPr/>
        </p:nvSpPr>
        <p:spPr>
          <a:xfrm>
            <a:off x="777240" y="5468010"/>
            <a:ext cx="10637215" cy="777341"/>
          </a:xfrm>
          <a:prstGeom prst="rect">
            <a:avLst/>
          </a:prstGeom>
          <a:noFill/>
        </p:spPr>
        <p:txBody>
          <a:bodyPr wrap="square" lIns="0" rIns="0" tIns="0" bIns="0" anchor="t">
            <a:spAutoFit/>
          </a:bodyPr>
          <a:lstStyle/>
          <a:p>
            <a:pPr algn="l">
              <a:lnSpc>
                <a:spcPct val="110000"/>
              </a:lnSpc>
              <a:spcBef>
                <a:spcPts val="0"/>
              </a:spcBef>
              <a:spcAft>
                <a:spcPts val="100"/>
              </a:spcAft>
            </a:pPr>
            <a:r>
              <a:rPr sz="1200" b="0" i="0">
                <a:solidFill>
                  <a:srgbClr val="6B7480"/>
                </a:solidFill>
                <a:latin typeface="Calibri"/>
              </a:rPr>
              <a:t>Packaging: a non-root container image, a Helm chart, Kustomize; recipes: aws, baremetal, hetzner, local-lab and sajhanet-demo. Caches, circuit breakers and metrics stay per process on purpose.</a:t>
            </a:r>
          </a:p>
        </p:txBody>
      </p:sp>
      <p:cxnSp>
        <p:nvCxnSpPr>
          <p:cNvPr id="32" name="Connector 31"/>
          <p:cNvCxnSpPr/>
          <p:nvPr/>
        </p:nvCxnSpPr>
        <p:spPr>
          <a:xfrm flipH="1">
            <a:off x="2033906" y="2736245"/>
            <a:ext cx="556954" cy="79948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10001" y="2744450"/>
            <a:ext cx="0" cy="78307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220997" y="2736145"/>
            <a:ext cx="561641" cy="79968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855763" y="2740309"/>
            <a:ext cx="361878" cy="791352"/>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861523" y="2744450"/>
            <a:ext cx="0" cy="78307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0496191" y="2744237"/>
            <a:ext cx="76001" cy="783496"/>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CLIENTS</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A Python client, a command line, and agent-to-agent</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96</a:t>
            </a:r>
          </a:p>
        </p:txBody>
      </p:sp>
      <p:sp>
        <p:nvSpPr>
          <p:cNvPr id="17" name="Rounded Rectangle 16"/>
          <p:cNvSpPr/>
          <p:nvPr/>
        </p:nvSpPr>
        <p:spPr>
          <a:xfrm>
            <a:off x="777240" y="1386967"/>
            <a:ext cx="3191164" cy="1263180"/>
          </a:xfrm>
          <a:prstGeom prst="roundRect">
            <a:avLst>
              <a:gd name="adj" fmla="val 579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sajhaclient</a:t>
            </a:r>
          </a:p>
          <a:p>
            <a:pPr algn="ctr">
              <a:lnSpc>
                <a:spcPct val="105000"/>
              </a:lnSpc>
              <a:spcBef>
                <a:spcPts val="0"/>
              </a:spcBef>
              <a:spcAft>
                <a:spcPts val="0"/>
              </a:spcAft>
            </a:pPr>
            <a:r>
              <a:rPr sz="1250" b="0" i="0">
                <a:solidFill>
                  <a:srgbClr val="1A1A1A"/>
                </a:solidFill>
                <a:latin typeface="Calibri"/>
              </a:rPr>
              <a:t>the Python client SDK, on the official MCP SDK: /mcp and REST; adopts the newest era; API key, JWT or OAuth</a:t>
            </a:r>
          </a:p>
        </p:txBody>
      </p:sp>
      <p:sp>
        <p:nvSpPr>
          <p:cNvPr id="18" name="Rounded Rectangle 17"/>
          <p:cNvSpPr/>
          <p:nvPr/>
        </p:nvSpPr>
        <p:spPr>
          <a:xfrm>
            <a:off x="777240" y="3135985"/>
            <a:ext cx="3191164" cy="1457515"/>
          </a:xfrm>
          <a:prstGeom prst="roundRect">
            <a:avLst>
              <a:gd name="adj" fmla="val 5018"/>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onsolas"/>
              </a:rPr>
              <a:t>sajha</a:t>
            </a:r>
          </a:p>
          <a:p>
            <a:pPr algn="ctr">
              <a:lnSpc>
                <a:spcPct val="105000"/>
              </a:lnSpc>
              <a:spcBef>
                <a:spcPts val="0"/>
              </a:spcBef>
              <a:spcAft>
                <a:spcPts val="0"/>
              </a:spcAft>
            </a:pPr>
            <a:r>
              <a:rPr sz="1250" b="0" i="0">
                <a:solidFill>
                  <a:srgbClr val="1A1A1A"/>
                </a:solidFill>
                <a:latin typeface="Calibri"/>
              </a:rPr>
              <a:t>the command line: login, logout, profile, health, config, tools, prompts, ask, studio, federation, net, workflows, serve, db, completion and version</a:t>
            </a:r>
          </a:p>
        </p:txBody>
      </p:sp>
      <p:sp>
        <p:nvSpPr>
          <p:cNvPr id="19" name="Rounded Rectangle 18"/>
          <p:cNvSpPr/>
          <p:nvPr/>
        </p:nvSpPr>
        <p:spPr>
          <a:xfrm>
            <a:off x="777240" y="5079339"/>
            <a:ext cx="3191164" cy="1068844"/>
          </a:xfrm>
          <a:prstGeom prst="roundRect">
            <a:avLst>
              <a:gd name="adj" fmla="val 6844"/>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Desktop clients</a:t>
            </a:r>
          </a:p>
          <a:p>
            <a:pPr algn="ctr">
              <a:lnSpc>
                <a:spcPct val="105000"/>
              </a:lnSpc>
              <a:spcBef>
                <a:spcPts val="0"/>
              </a:spcBef>
              <a:spcAft>
                <a:spcPts val="0"/>
              </a:spcAft>
            </a:pPr>
            <a:r>
              <a:rPr sz="1150" b="0" i="0">
                <a:solidFill>
                  <a:srgbClr val="1A1A1A"/>
                </a:solidFill>
                <a:latin typeface="Calibri"/>
              </a:rPr>
              <a:t>sajha serve --stdio, for Claude Desktop, Claude Code and others</a:t>
            </a:r>
          </a:p>
        </p:txBody>
      </p:sp>
      <p:sp>
        <p:nvSpPr>
          <p:cNvPr id="20" name="Rounded Rectangle 19"/>
          <p:cNvSpPr/>
          <p:nvPr/>
        </p:nvSpPr>
        <p:spPr>
          <a:xfrm>
            <a:off x="5244870" y="2601563"/>
            <a:ext cx="1914698" cy="2429192"/>
          </a:xfrm>
          <a:prstGeom prst="roundRect">
            <a:avLst>
              <a:gd name="adj" fmla="val 3820"/>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2000" b="1" i="0">
                <a:solidFill>
                  <a:srgbClr val="FFFFFF"/>
                </a:solidFill>
                <a:latin typeface="Calibri"/>
              </a:rPr>
              <a:t>SAJHA</a:t>
            </a:r>
          </a:p>
          <a:p>
            <a:pPr algn="ctr">
              <a:lnSpc>
                <a:spcPct val="105000"/>
              </a:lnSpc>
              <a:spcBef>
                <a:spcPts val="0"/>
              </a:spcBef>
              <a:spcAft>
                <a:spcPts val="0"/>
              </a:spcAft>
            </a:pPr>
            <a:r>
              <a:rPr sz="1750" b="0" i="0">
                <a:solidFill>
                  <a:srgbClr val="FFFFFF"/>
                </a:solidFill>
                <a:latin typeface="Calibri"/>
              </a:rPr>
              <a:t>the same tool access on every path</a:t>
            </a:r>
          </a:p>
        </p:txBody>
      </p:sp>
      <p:sp>
        <p:nvSpPr>
          <p:cNvPr id="21" name="Oval 20"/>
          <p:cNvSpPr/>
          <p:nvPr/>
        </p:nvSpPr>
        <p:spPr>
          <a:xfrm>
            <a:off x="8542407" y="1872805"/>
            <a:ext cx="2872048" cy="1263180"/>
          </a:xfrm>
          <a:prstGeom prst="ellipse">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Other agents</a:t>
            </a:r>
          </a:p>
          <a:p>
            <a:pPr algn="ctr">
              <a:lnSpc>
                <a:spcPct val="105000"/>
              </a:lnSpc>
              <a:spcBef>
                <a:spcPts val="0"/>
              </a:spcBef>
              <a:spcAft>
                <a:spcPts val="0"/>
              </a:spcAft>
            </a:pPr>
            <a:r>
              <a:rPr sz="1150" b="0" i="0">
                <a:solidFill>
                  <a:srgbClr val="1A1A1A"/>
                </a:solidFill>
                <a:latin typeface="Calibri"/>
              </a:rPr>
              <a:t>A2A: the agent card at /.well-known/agent.json</a:t>
            </a:r>
          </a:p>
        </p:txBody>
      </p:sp>
      <p:sp>
        <p:nvSpPr>
          <p:cNvPr id="22" name="Rounded Rectangle 21"/>
          <p:cNvSpPr/>
          <p:nvPr/>
        </p:nvSpPr>
        <p:spPr>
          <a:xfrm>
            <a:off x="8542407" y="4204830"/>
            <a:ext cx="2872048" cy="1263180"/>
          </a:xfrm>
          <a:prstGeom prst="roundRect">
            <a:avLst>
              <a:gd name="adj" fmla="val 5791"/>
            </a:avLst>
          </a:prstGeom>
          <a:solidFill>
            <a:srgbClr val="FB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POST /a2a</a:t>
            </a:r>
          </a:p>
          <a:p>
            <a:pPr algn="ctr">
              <a:lnSpc>
                <a:spcPct val="105000"/>
              </a:lnSpc>
              <a:spcBef>
                <a:spcPts val="0"/>
              </a:spcBef>
              <a:spcAft>
                <a:spcPts val="0"/>
              </a:spcAft>
            </a:pPr>
            <a:r>
              <a:rPr sz="1150" b="0" i="0">
                <a:solidFill>
                  <a:srgbClr val="1A1A1A"/>
                </a:solidFill>
                <a:latin typeface="Calibri"/>
              </a:rPr>
              <a:t>JSON-RPC: tasks/send, tasks/get, tasks/cancel</a:t>
            </a:r>
          </a:p>
        </p:txBody>
      </p:sp>
      <p:cxnSp>
        <p:nvCxnSpPr>
          <p:cNvPr id="23" name="Connector 22"/>
          <p:cNvCxnSpPr/>
          <p:nvPr/>
        </p:nvCxnSpPr>
        <p:spPr>
          <a:xfrm>
            <a:off x="3759673" y="2669575"/>
            <a:ext cx="1443810" cy="677755"/>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372822" y="2695867"/>
            <a:ext cx="0" cy="394398"/>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436830" y="2801626"/>
            <a:ext cx="808735" cy="201168"/>
          </a:xfrm>
          <a:prstGeom prst="rect">
            <a:avLst/>
          </a:prstGeom>
          <a:noFill/>
        </p:spPr>
        <p:txBody>
          <a:bodyPr wrap="square" lIns="0" rIns="0" tIns="0" bIns="0" anchor="t">
            <a:spAutoFit/>
          </a:bodyPr>
          <a:lstStyle/>
          <a:p>
            <a:pPr algn="l">
              <a:lnSpc>
                <a:spcPct val="120000"/>
              </a:lnSpc>
              <a:spcBef>
                <a:spcPts val="0"/>
              </a:spcBef>
              <a:spcAft>
                <a:spcPts val="0"/>
              </a:spcAft>
            </a:pPr>
            <a:r>
              <a:rPr sz="1100" b="0" i="1">
                <a:solidFill>
                  <a:srgbClr val="6B7480"/>
                </a:solidFill>
                <a:latin typeface="Calibri"/>
              </a:rPr>
              <a:t>built on</a:t>
            </a:r>
          </a:p>
        </p:txBody>
      </p:sp>
      <p:cxnSp>
        <p:nvCxnSpPr>
          <p:cNvPr id="26" name="Connector 25"/>
          <p:cNvCxnSpPr/>
          <p:nvPr/>
        </p:nvCxnSpPr>
        <p:spPr>
          <a:xfrm>
            <a:off x="4014124" y="3864743"/>
            <a:ext cx="1185026" cy="0"/>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67573" y="3626999"/>
            <a:ext cx="1278128" cy="201168"/>
          </a:xfrm>
          <a:prstGeom prst="rect">
            <a:avLst/>
          </a:prstGeom>
          <a:noFill/>
        </p:spPr>
        <p:txBody>
          <a:bodyPr wrap="square" lIns="0" rIns="0" tIns="0" bIns="0" anchor="t">
            <a:spAutoFit/>
          </a:bodyPr>
          <a:lstStyle/>
          <a:p>
            <a:pPr algn="ctr">
              <a:lnSpc>
                <a:spcPct val="120000"/>
              </a:lnSpc>
              <a:spcBef>
                <a:spcPts val="0"/>
              </a:spcBef>
              <a:spcAft>
                <a:spcPts val="0"/>
              </a:spcAft>
            </a:pPr>
            <a:r>
              <a:rPr sz="1100" b="0" i="1">
                <a:solidFill>
                  <a:srgbClr val="6B7480"/>
                </a:solidFill>
                <a:latin typeface="Calibri"/>
              </a:rPr>
              <a:t>profiles; JSON</a:t>
            </a:r>
          </a:p>
        </p:txBody>
      </p:sp>
      <p:cxnSp>
        <p:nvCxnSpPr>
          <p:cNvPr id="28" name="Connector 27"/>
          <p:cNvCxnSpPr/>
          <p:nvPr/>
        </p:nvCxnSpPr>
        <p:spPr>
          <a:xfrm flipV="1">
            <a:off x="3552678" y="4284988"/>
            <a:ext cx="1650805" cy="774923"/>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978431" y="3181705"/>
            <a:ext cx="0" cy="977405"/>
          </a:xfrm>
          <a:prstGeom prst="line">
            <a:avLst/>
          </a:prstGeom>
          <a:ln w="20320">
            <a:solidFill>
              <a:srgbClr val="6B74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042439" y="3578967"/>
            <a:ext cx="808735" cy="201168"/>
          </a:xfrm>
          <a:prstGeom prst="rect">
            <a:avLst/>
          </a:prstGeom>
          <a:noFill/>
        </p:spPr>
        <p:txBody>
          <a:bodyPr wrap="square" lIns="0" rIns="0" tIns="0" bIns="0" anchor="t">
            <a:spAutoFit/>
          </a:bodyPr>
          <a:lstStyle/>
          <a:p>
            <a:pPr algn="l">
              <a:lnSpc>
                <a:spcPct val="120000"/>
              </a:lnSpc>
              <a:spcBef>
                <a:spcPts val="0"/>
              </a:spcBef>
              <a:spcAft>
                <a:spcPts val="0"/>
              </a:spcAft>
            </a:pPr>
            <a:r>
              <a:rPr sz="1100" b="0" i="1">
                <a:solidFill>
                  <a:srgbClr val="6B7480"/>
                </a:solidFill>
                <a:latin typeface="Calibri"/>
              </a:rPr>
              <a:t>discover</a:t>
            </a:r>
          </a:p>
        </p:txBody>
      </p:sp>
      <p:cxnSp>
        <p:nvCxnSpPr>
          <p:cNvPr id="31" name="Connector 30"/>
          <p:cNvCxnSpPr/>
          <p:nvPr/>
        </p:nvCxnSpPr>
        <p:spPr>
          <a:xfrm flipH="1" flipV="1">
            <a:off x="7203706" y="4086742"/>
            <a:ext cx="1294563" cy="349766"/>
          </a:xfrm>
          <a:prstGeom prst="line">
            <a:avLst/>
          </a:prstGeom>
          <a:ln w="20320">
            <a:solidFill>
              <a:srgbClr val="A51C3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CONFIGURATION</a:t>
            </a:r>
          </a:p>
        </p:txBody>
      </p:sp>
      <p:sp>
        <p:nvSpPr>
          <p:cNvPr id="5" name="TextBox 4"/>
          <p:cNvSpPr txBox="1"/>
          <p:nvPr/>
        </p:nvSpPr>
        <p:spPr>
          <a:xfrm>
            <a:off x="777240" y="749808"/>
            <a:ext cx="10637215" cy="373951"/>
          </a:xfrm>
          <a:prstGeom prst="rect">
            <a:avLst/>
          </a:prstGeom>
          <a:noFill/>
        </p:spPr>
        <p:txBody>
          <a:bodyPr wrap="square" lIns="0" rIns="0" tIns="0" bIns="0" anchor="t">
            <a:spAutoFit/>
          </a:bodyPr>
          <a:lstStyle/>
          <a:p>
            <a:pPr algn="l">
              <a:lnSpc>
                <a:spcPct val="115000"/>
              </a:lnSpc>
              <a:spcBef>
                <a:spcPts val="0"/>
              </a:spcBef>
              <a:spcAft>
                <a:spcPts val="0"/>
              </a:spcAft>
            </a:pPr>
            <a:r>
              <a:rPr sz="2100" b="0" i="0">
                <a:solidFill>
                  <a:srgbClr val="1A1A1A"/>
                </a:solidFill>
                <a:latin typeface="Georgia"/>
              </a:rPr>
              <a:t>One YAML file, overridden by the environment, with no secrets in it</a:t>
            </a:r>
          </a:p>
        </p:txBody>
      </p:sp>
      <p:sp>
        <p:nvSpPr>
          <p:cNvPr id="6" name="Rectangle 5"/>
          <p:cNvSpPr/>
          <p:nvPr/>
        </p:nvSpPr>
        <p:spPr>
          <a:xfrm>
            <a:off x="777240" y="1178623"/>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97</a:t>
            </a:r>
          </a:p>
        </p:txBody>
      </p:sp>
      <p:sp>
        <p:nvSpPr>
          <p:cNvPr id="17" name="Rounded Rectangle 16"/>
          <p:cNvSpPr/>
          <p:nvPr/>
        </p:nvSpPr>
        <p:spPr>
          <a:xfrm>
            <a:off x="777240" y="1800510"/>
            <a:ext cx="2872048" cy="1185291"/>
          </a:xfrm>
          <a:prstGeom prst="roundRect">
            <a:avLst>
              <a:gd name="adj" fmla="val 6171"/>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SAJHA_&lt;DOTTED_KEY&gt;</a:t>
            </a:r>
          </a:p>
          <a:p>
            <a:pPr algn="ctr">
              <a:lnSpc>
                <a:spcPct val="105000"/>
              </a:lnSpc>
              <a:spcBef>
                <a:spcPts val="0"/>
              </a:spcBef>
              <a:spcAft>
                <a:spcPts val="0"/>
              </a:spcAft>
            </a:pPr>
            <a:r>
              <a:rPr sz="1350" b="0" i="0">
                <a:solidFill>
                  <a:srgbClr val="FFFFFF"/>
                </a:solidFill>
                <a:latin typeface="Calibri"/>
              </a:rPr>
              <a:t>the environment</a:t>
            </a:r>
          </a:p>
        </p:txBody>
      </p:sp>
      <p:sp>
        <p:nvSpPr>
          <p:cNvPr id="18" name="Rounded Rectangle 17"/>
          <p:cNvSpPr/>
          <p:nvPr/>
        </p:nvSpPr>
        <p:spPr>
          <a:xfrm>
            <a:off x="4500265" y="1800510"/>
            <a:ext cx="2872048" cy="1185291"/>
          </a:xfrm>
          <a:prstGeom prst="roundRect">
            <a:avLst>
              <a:gd name="adj" fmla="val 6171"/>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FFFFFF"/>
                </a:solidFill>
                <a:latin typeface="Calibri"/>
              </a:rPr>
              <a:t>config/application.yml</a:t>
            </a:r>
          </a:p>
          <a:p>
            <a:pPr algn="ctr">
              <a:lnSpc>
                <a:spcPct val="105000"/>
              </a:lnSpc>
              <a:spcBef>
                <a:spcPts val="0"/>
              </a:spcBef>
              <a:spcAft>
                <a:spcPts val="0"/>
              </a:spcAft>
            </a:pPr>
            <a:r>
              <a:rPr sz="1350" b="0" i="0">
                <a:solidFill>
                  <a:srgbClr val="FFFFFF"/>
                </a:solidFill>
                <a:latin typeface="Calibri"/>
              </a:rPr>
              <a:t>with ${ENV:default}</a:t>
            </a:r>
          </a:p>
        </p:txBody>
      </p:sp>
      <p:sp>
        <p:nvSpPr>
          <p:cNvPr id="19" name="Rounded Rectangle 18"/>
          <p:cNvSpPr/>
          <p:nvPr/>
        </p:nvSpPr>
        <p:spPr>
          <a:xfrm>
            <a:off x="8223290" y="1800510"/>
            <a:ext cx="2340187" cy="1185291"/>
          </a:xfrm>
          <a:prstGeom prst="roundRect">
            <a:avLst>
              <a:gd name="adj" fmla="val 6171"/>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600" b="1" i="0">
                <a:solidFill>
                  <a:srgbClr val="1A1A1A"/>
                </a:solidFill>
                <a:latin typeface="Calibri"/>
              </a:rPr>
              <a:t>the code's default</a:t>
            </a:r>
          </a:p>
        </p:txBody>
      </p:sp>
      <p:sp>
        <p:nvSpPr>
          <p:cNvPr id="20" name="Rounded Rectangle 19"/>
          <p:cNvSpPr/>
          <p:nvPr/>
        </p:nvSpPr>
        <p:spPr>
          <a:xfrm>
            <a:off x="777240" y="3775995"/>
            <a:ext cx="2872048" cy="1086516"/>
          </a:xfrm>
          <a:prstGeom prst="roundRect">
            <a:avLst>
              <a:gd name="adj" fmla="val 6732"/>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SAJHA_AI_&lt;SECTION&gt;_&lt;FIELD&gt;</a:t>
            </a:r>
          </a:p>
        </p:txBody>
      </p:sp>
      <p:sp>
        <p:nvSpPr>
          <p:cNvPr id="21" name="Rounded Rectangle 20"/>
          <p:cNvSpPr/>
          <p:nvPr/>
        </p:nvSpPr>
        <p:spPr>
          <a:xfrm>
            <a:off x="4074776" y="3775995"/>
            <a:ext cx="1914698" cy="1086516"/>
          </a:xfrm>
          <a:prstGeom prst="roundRect">
            <a:avLst>
              <a:gd name="adj" fmla="val 673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the vendor's own variable</a:t>
            </a:r>
          </a:p>
        </p:txBody>
      </p:sp>
      <p:sp>
        <p:nvSpPr>
          <p:cNvPr id="22" name="Rounded Rectangle 21"/>
          <p:cNvSpPr/>
          <p:nvPr/>
        </p:nvSpPr>
        <p:spPr>
          <a:xfrm>
            <a:off x="6414964" y="3775995"/>
            <a:ext cx="1063721" cy="1086516"/>
          </a:xfrm>
          <a:prstGeom prst="roundRect">
            <a:avLst>
              <a:gd name="adj" fmla="val 6876"/>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YAML</a:t>
            </a:r>
          </a:p>
        </p:txBody>
      </p:sp>
      <p:sp>
        <p:nvSpPr>
          <p:cNvPr id="23" name="Rounded Rectangle 22"/>
          <p:cNvSpPr/>
          <p:nvPr/>
        </p:nvSpPr>
        <p:spPr>
          <a:xfrm>
            <a:off x="7904174" y="3775995"/>
            <a:ext cx="1382837" cy="1086516"/>
          </a:xfrm>
          <a:prstGeom prst="roundRect">
            <a:avLst>
              <a:gd name="adj" fmla="val 6732"/>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FFFFFF"/>
                </a:solidFill>
                <a:latin typeface="Calibri"/>
              </a:rPr>
              <a:t>the database</a:t>
            </a:r>
          </a:p>
        </p:txBody>
      </p:sp>
      <p:sp>
        <p:nvSpPr>
          <p:cNvPr id="24" name="Rounded Rectangle 23"/>
          <p:cNvSpPr/>
          <p:nvPr/>
        </p:nvSpPr>
        <p:spPr>
          <a:xfrm>
            <a:off x="9712500" y="3775995"/>
            <a:ext cx="1063721" cy="1086516"/>
          </a:xfrm>
          <a:prstGeom prst="roundRect">
            <a:avLst>
              <a:gd name="adj" fmla="val 6876"/>
            </a:avLst>
          </a:prstGeom>
          <a:solidFill>
            <a:srgbClr val="FFFFFF"/>
          </a:solidFill>
          <a:ln w="15875">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500" b="1" i="0">
                <a:solidFill>
                  <a:srgbClr val="1A1A1A"/>
                </a:solidFill>
                <a:latin typeface="Calibri"/>
              </a:rPr>
              <a:t>default</a:t>
            </a:r>
          </a:p>
        </p:txBody>
      </p:sp>
      <p:sp>
        <p:nvSpPr>
          <p:cNvPr id="25" name="Rounded Rectangle 24"/>
          <p:cNvSpPr/>
          <p:nvPr/>
        </p:nvSpPr>
        <p:spPr>
          <a:xfrm>
            <a:off x="777240" y="5257609"/>
            <a:ext cx="10637215" cy="888968"/>
          </a:xfrm>
          <a:prstGeom prst="roundRect">
            <a:avLst>
              <a:gd name="adj" fmla="val 8228"/>
            </a:avLst>
          </a:prstGeom>
          <a:solidFill>
            <a:srgbClr val="FFFFFF"/>
          </a:solidFill>
          <a:ln w="15875">
            <a:solidFill>
              <a:srgbClr val="7A52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lnSpc>
                <a:spcPct val="105000"/>
              </a:lnSpc>
              <a:spcBef>
                <a:spcPts val="0"/>
              </a:spcBef>
              <a:spcAft>
                <a:spcPts val="0"/>
              </a:spcAft>
            </a:pPr>
            <a:r>
              <a:rPr sz="1400" b="1" i="0">
                <a:solidFill>
                  <a:srgbClr val="1A1A1A"/>
                </a:solidFill>
                <a:latin typeface="Calibri"/>
              </a:rPr>
              <a:t>Secrets: never in application.yml</a:t>
            </a:r>
          </a:p>
          <a:p>
            <a:pPr algn="ctr">
              <a:lnSpc>
                <a:spcPct val="105000"/>
              </a:lnSpc>
              <a:spcBef>
                <a:spcPts val="0"/>
              </a:spcBef>
              <a:spcAft>
                <a:spcPts val="0"/>
              </a:spcAft>
            </a:pPr>
            <a:r>
              <a:rPr sz="1150" b="0" i="0">
                <a:solidFill>
                  <a:srgbClr val="1A1A1A"/>
                </a:solidFill>
                <a:latin typeface="Calibri"/>
              </a:rPr>
              <a:t>it is tracked: environment variables; the OAuth signing key in data/oauth/; a known placeholder secret stops start-up</a:t>
            </a:r>
          </a:p>
        </p:txBody>
      </p:sp>
      <p:sp>
        <p:nvSpPr>
          <p:cNvPr id="26" name="TextBox 25"/>
          <p:cNvSpPr txBox="1"/>
          <p:nvPr/>
        </p:nvSpPr>
        <p:spPr>
          <a:xfrm>
            <a:off x="777240" y="1306639"/>
            <a:ext cx="8509772" cy="395097"/>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MOST KEYS</a:t>
            </a:r>
          </a:p>
        </p:txBody>
      </p:sp>
      <p:sp>
        <p:nvSpPr>
          <p:cNvPr id="27" name="TextBox 26"/>
          <p:cNvSpPr txBox="1"/>
          <p:nvPr/>
        </p:nvSpPr>
        <p:spPr>
          <a:xfrm>
            <a:off x="777240" y="3183350"/>
            <a:ext cx="8509772" cy="395097"/>
          </a:xfrm>
          <a:prstGeom prst="rect">
            <a:avLst/>
          </a:prstGeom>
          <a:noFill/>
        </p:spPr>
        <p:txBody>
          <a:bodyPr wrap="square" lIns="0" rIns="0" tIns="0" bIns="0" anchor="t">
            <a:spAutoFit/>
          </a:bodyPr>
          <a:lstStyle/>
          <a:p>
            <a:pPr algn="l">
              <a:lnSpc>
                <a:spcPct val="110000"/>
              </a:lnSpc>
              <a:spcBef>
                <a:spcPts val="0"/>
              </a:spcBef>
              <a:spcAft>
                <a:spcPts val="100"/>
              </a:spcAft>
            </a:pPr>
            <a:r>
              <a:rPr sz="1100" b="1" i="0">
                <a:solidFill>
                  <a:srgbClr val="6E1120"/>
                </a:solidFill>
                <a:latin typeface="Calibri"/>
              </a:rPr>
              <a:t>THE INTELLIGENCE LAYER (ai.*)</a:t>
            </a:r>
          </a:p>
        </p:txBody>
      </p:sp>
      <p:cxnSp>
        <p:nvCxnSpPr>
          <p:cNvPr id="28" name="Connector 27"/>
          <p:cNvCxnSpPr/>
          <p:nvPr/>
        </p:nvCxnSpPr>
        <p:spPr>
          <a:xfrm>
            <a:off x="3695008" y="2393156"/>
            <a:ext cx="75953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3841096" y="2155412"/>
            <a:ext cx="467359"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else</a:t>
            </a:r>
          </a:p>
        </p:txBody>
      </p:sp>
      <p:cxnSp>
        <p:nvCxnSpPr>
          <p:cNvPr id="30" name="Connector 29"/>
          <p:cNvCxnSpPr/>
          <p:nvPr/>
        </p:nvCxnSpPr>
        <p:spPr>
          <a:xfrm>
            <a:off x="7418033" y="2393156"/>
            <a:ext cx="759537"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564122" y="2155412"/>
            <a:ext cx="467359" cy="201168"/>
          </a:xfrm>
          <a:prstGeom prst="rect">
            <a:avLst/>
          </a:prstGeom>
          <a:noFill/>
        </p:spPr>
        <p:txBody>
          <a:bodyPr wrap="square" lIns="0" rIns="0" tIns="0" bIns="0" anchor="t">
            <a:spAutoFit/>
          </a:bodyPr>
          <a:lstStyle/>
          <a:p>
            <a:pPr algn="ctr">
              <a:lnSpc>
                <a:spcPct val="120000"/>
              </a:lnSpc>
              <a:spcBef>
                <a:spcPts val="0"/>
              </a:spcBef>
              <a:spcAft>
                <a:spcPts val="0"/>
              </a:spcAft>
            </a:pPr>
            <a:r>
              <a:rPr sz="1000" b="0" i="1">
                <a:solidFill>
                  <a:srgbClr val="6B7480"/>
                </a:solidFill>
                <a:latin typeface="Calibri"/>
              </a:rPr>
              <a:t>else</a:t>
            </a:r>
          </a:p>
        </p:txBody>
      </p:sp>
      <p:cxnSp>
        <p:nvCxnSpPr>
          <p:cNvPr id="32" name="Connector 31"/>
          <p:cNvCxnSpPr/>
          <p:nvPr/>
        </p:nvCxnSpPr>
        <p:spPr>
          <a:xfrm>
            <a:off x="3695008" y="4319254"/>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035195" y="4319254"/>
            <a:ext cx="33404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524405" y="4319254"/>
            <a:ext cx="334049"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332732" y="4319254"/>
            <a:ext cx="334048" cy="0"/>
          </a:xfrm>
          <a:prstGeom prst="line">
            <a:avLst/>
          </a:prstGeom>
          <a:ln w="2032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DATABASE SCHEMA</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28 tables in two schema files, and no migrations</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98</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SAJHA never runs DDL on PostgreSQL: an operator runs schema.sql (safe to re-run) and seed.sql. SQLite creates its own tables. A test keeps both files in step with the models.</a:t>
            </a:r>
          </a:p>
        </p:txBody>
      </p:sp>
      <p:graphicFrame>
        <p:nvGraphicFramePr>
          <p:cNvPr id="19" name="Table 18"/>
          <p:cNvGraphicFramePr>
            <a:graphicFrameLocks noGrp="1"/>
          </p:cNvGraphicFramePr>
          <p:nvPr/>
        </p:nvGraphicFramePr>
        <p:xfrm>
          <a:off x="777240" y="1386967"/>
          <a:ext cx="10637215" cy="4034690"/>
        </p:xfrm>
        <a:graphic>
          <a:graphicData uri="http://schemas.openxmlformats.org/drawingml/2006/table">
            <a:tbl>
              <a:tblPr firstRow="1">
                <a:tableStyleId>{5C22544A-7EE6-4342-B048-85BDC9FD1C3A}</a:tableStyleId>
              </a:tblPr>
              <a:tblGrid>
                <a:gridCol w="3000240"/>
                <a:gridCol w="7636975"/>
              </a:tblGrid>
              <a:tr h="350710">
                <a:tc>
                  <a:txBody>
                    <a:bodyPr wrap="square"/>
                    <a:lstStyle/>
                    <a:p>
                      <a:r>
                        <a:rPr sz="1500" b="1">
                          <a:solidFill>
                            <a:srgbClr val="FFFFFF"/>
                          </a:solidFill>
                          <a:latin typeface="Calibri"/>
                        </a:rPr>
                        <a:t>Group</a:t>
                      </a:r>
                    </a:p>
                  </a:txBody>
                  <a:tcPr marL="82296" marR="64008" marT="32004" marB="32004" anchor="ctr">
                    <a:solidFill>
                      <a:srgbClr val="A51C30"/>
                    </a:solidFill>
                  </a:tcPr>
                </a:tc>
                <a:tc>
                  <a:txBody>
                    <a:bodyPr wrap="square"/>
                    <a:lstStyle/>
                    <a:p>
                      <a:r>
                        <a:rPr sz="1500" b="1">
                          <a:solidFill>
                            <a:srgbClr val="FFFFFF"/>
                          </a:solidFill>
                          <a:latin typeface="Calibri"/>
                        </a:rPr>
                        <a:t>Tables</a:t>
                      </a:r>
                    </a:p>
                  </a:txBody>
                  <a:tcPr marL="82296" marR="64008" marT="32004" marB="32004" anchor="ctr">
                    <a:solidFill>
                      <a:srgbClr val="A51C30"/>
                    </a:solidFill>
                  </a:tcPr>
                </a:tc>
              </a:tr>
              <a:tr h="639889">
                <a:tc>
                  <a:txBody>
                    <a:bodyPr wrap="square"/>
                    <a:lstStyle/>
                    <a:p>
                      <a:r>
                        <a:rPr sz="1650" b="1">
                          <a:solidFill>
                            <a:srgbClr val="6E1120"/>
                          </a:solidFill>
                          <a:latin typeface="Calibri"/>
                        </a:rPr>
                        <a:t>Identity and access</a:t>
                      </a:r>
                    </a:p>
                  </a:txBody>
                  <a:tcPr marL="82296" marR="64008" marT="32004" marB="32004" anchor="ctr">
                    <a:solidFill>
                      <a:srgbClr val="FFFFFF"/>
                    </a:solidFill>
                  </a:tcPr>
                </a:tc>
                <a:tc>
                  <a:txBody>
                    <a:bodyPr wrap="square"/>
                    <a:lstStyle/>
                    <a:p>
                      <a:r>
                        <a:rPr sz="1650" b="0">
                          <a:solidFill>
                            <a:srgbClr val="1A1A1A"/>
                          </a:solidFill>
                          <a:latin typeface="Calibri"/>
                        </a:rPr>
                        <a:t>users, roles, user_roles, permissions, api_keys, user_sessions, sajhanet_api_keys</a:t>
                      </a:r>
                    </a:p>
                  </a:txBody>
                  <a:tcPr marL="82296" marR="64008" marT="32004" marB="32004" anchor="ctr">
                    <a:solidFill>
                      <a:srgbClr val="FFFFFF"/>
                    </a:solidFill>
                  </a:tcPr>
                </a:tc>
              </a:tr>
              <a:tr h="639889">
                <a:tc>
                  <a:txBody>
                    <a:bodyPr wrap="square"/>
                    <a:lstStyle/>
                    <a:p>
                      <a:r>
                        <a:rPr sz="1650" b="1">
                          <a:solidFill>
                            <a:srgbClr val="6E1120"/>
                          </a:solidFill>
                          <a:latin typeface="Calibri"/>
                        </a:rPr>
                        <a:t>Audit and usage</a:t>
                      </a:r>
                    </a:p>
                  </a:txBody>
                  <a:tcPr marL="82296" marR="64008" marT="32004" marB="32004" anchor="ctr">
                    <a:solidFill>
                      <a:srgbClr val="F7F5F2"/>
                    </a:solidFill>
                  </a:tcPr>
                </a:tc>
                <a:tc>
                  <a:txBody>
                    <a:bodyPr wrap="square"/>
                    <a:lstStyle/>
                    <a:p>
                      <a:r>
                        <a:rPr sz="1650" b="0">
                          <a:solidFill>
                            <a:srgbClr val="1A1A1A"/>
                          </a:solidFill>
                          <a:latin typeface="Calibri"/>
                        </a:rPr>
                        <a:t>audit_log, audit_chain, audit_anchors, tool_usage_events, obs_usage_events</a:t>
                      </a:r>
                    </a:p>
                  </a:txBody>
                  <a:tcPr marL="82296" marR="64008" marT="32004" marB="32004" anchor="ctr">
                    <a:solidFill>
                      <a:srgbClr val="F7F5F2"/>
                    </a:solidFill>
                  </a:tcPr>
                </a:tc>
              </a:tr>
              <a:tr h="374808">
                <a:tc>
                  <a:txBody>
                    <a:bodyPr wrap="square"/>
                    <a:lstStyle/>
                    <a:p>
                      <a:r>
                        <a:rPr sz="1650" b="1">
                          <a:solidFill>
                            <a:srgbClr val="6E1120"/>
                          </a:solidFill>
                          <a:latin typeface="Calibri"/>
                        </a:rPr>
                        <a:t>Prompts</a:t>
                      </a:r>
                    </a:p>
                  </a:txBody>
                  <a:tcPr marL="82296" marR="64008" marT="32004" marB="32004" anchor="ctr">
                    <a:solidFill>
                      <a:srgbClr val="FFFFFF"/>
                    </a:solidFill>
                  </a:tcPr>
                </a:tc>
                <a:tc>
                  <a:txBody>
                    <a:bodyPr wrap="square"/>
                    <a:lstStyle/>
                    <a:p>
                      <a:r>
                        <a:rPr sz="1650" b="0">
                          <a:solidFill>
                            <a:srgbClr val="1A1A1A"/>
                          </a:solidFill>
                          <a:latin typeface="Calibri"/>
                        </a:rPr>
                        <a:t>prompts, prompt_tags</a:t>
                      </a:r>
                    </a:p>
                  </a:txBody>
                  <a:tcPr marL="82296" marR="64008" marT="32004" marB="32004" anchor="ctr">
                    <a:solidFill>
                      <a:srgbClr val="FFFFFF"/>
                    </a:solidFill>
                  </a:tcPr>
                </a:tc>
              </a:tr>
              <a:tr h="374808">
                <a:tc>
                  <a:txBody>
                    <a:bodyPr wrap="square"/>
                    <a:lstStyle/>
                    <a:p>
                      <a:r>
                        <a:rPr sz="1650" b="1">
                          <a:solidFill>
                            <a:srgbClr val="6E1120"/>
                          </a:solidFill>
                          <a:latin typeface="Calibri"/>
                        </a:rPr>
                        <a:t>Intelligence</a:t>
                      </a:r>
                    </a:p>
                  </a:txBody>
                  <a:tcPr marL="82296" marR="64008" marT="32004" marB="32004" anchor="ctr">
                    <a:solidFill>
                      <a:srgbClr val="F7F5F2"/>
                    </a:solidFill>
                  </a:tcPr>
                </a:tc>
                <a:tc>
                  <a:txBody>
                    <a:bodyPr wrap="square"/>
                    <a:lstStyle/>
                    <a:p>
                      <a:r>
                        <a:rPr sz="1650" b="0">
                          <a:solidFill>
                            <a:srgbClr val="1A1A1A"/>
                          </a:solidFill>
                          <a:latin typeface="Calibri"/>
                        </a:rPr>
                        <a:t>llm_providers, llm_models, ai_conversations, ai_conversation_turns</a:t>
                      </a:r>
                    </a:p>
                  </a:txBody>
                  <a:tcPr marL="82296" marR="64008" marT="32004" marB="32004" anchor="ctr">
                    <a:solidFill>
                      <a:srgbClr val="F7F5F2"/>
                    </a:solidFill>
                  </a:tcPr>
                </a:tc>
              </a:tr>
              <a:tr h="639889">
                <a:tc>
                  <a:txBody>
                    <a:bodyPr wrap="square"/>
                    <a:lstStyle/>
                    <a:p>
                      <a:r>
                        <a:rPr sz="1650" b="1">
                          <a:solidFill>
                            <a:srgbClr val="6E1120"/>
                          </a:solidFill>
                          <a:latin typeface="Calibri"/>
                        </a:rPr>
                        <a:t>Composition and workflows</a:t>
                      </a:r>
                    </a:p>
                  </a:txBody>
                  <a:tcPr marL="82296" marR="64008" marT="32004" marB="32004" anchor="ctr">
                    <a:solidFill>
                      <a:srgbClr val="FFFFFF"/>
                    </a:solidFill>
                  </a:tcPr>
                </a:tc>
                <a:tc>
                  <a:txBody>
                    <a:bodyPr wrap="square"/>
                    <a:lstStyle/>
                    <a:p>
                      <a:r>
                        <a:rPr sz="1650" b="0">
                          <a:solidFill>
                            <a:srgbClr val="1A1A1A"/>
                          </a:solidFill>
                          <a:latin typeface="Calibri"/>
                        </a:rPr>
                        <a:t>composite_tools, composite_tool_steps, workflows, workflow_runs, workflow_run_steps</a:t>
                      </a:r>
                    </a:p>
                  </a:txBody>
                  <a:tcPr marL="82296" marR="64008" marT="32004" marB="32004" anchor="ctr">
                    <a:solidFill>
                      <a:srgbClr val="FFFFFF"/>
                    </a:solidFill>
                  </a:tcPr>
                </a:tc>
              </a:tr>
              <a:tr h="639889">
                <a:tc>
                  <a:txBody>
                    <a:bodyPr wrap="square"/>
                    <a:lstStyle/>
                    <a:p>
                      <a:r>
                        <a:rPr sz="1650" b="1">
                          <a:solidFill>
                            <a:srgbClr val="6E1120"/>
                          </a:solidFill>
                          <a:latin typeface="Calibri"/>
                        </a:rPr>
                        <a:t>Protocol and shared state</a:t>
                      </a:r>
                    </a:p>
                  </a:txBody>
                  <a:tcPr marL="82296" marR="64008" marT="32004" marB="32004" anchor="ctr">
                    <a:solidFill>
                      <a:srgbClr val="F7F5F2"/>
                    </a:solidFill>
                  </a:tcPr>
                </a:tc>
                <a:tc>
                  <a:txBody>
                    <a:bodyPr wrap="square"/>
                    <a:lstStyle/>
                    <a:p>
                      <a:r>
                        <a:rPr sz="1650" b="0">
                          <a:solidFill>
                            <a:srgbClr val="1A1A1A"/>
                          </a:solidFill>
                          <a:latin typeface="Calibri"/>
                        </a:rPr>
                        <a:t>a2a_tasks, sajha_state, sajha_state_events</a:t>
                      </a:r>
                    </a:p>
                  </a:txBody>
                  <a:tcPr marL="82296" marR="64008" marT="32004" marB="32004" anchor="ctr">
                    <a:solidFill>
                      <a:srgbClr val="F7F5F2"/>
                    </a:solidFill>
                  </a:tcPr>
                </a:tc>
              </a:tr>
              <a:tr h="374808">
                <a:tc>
                  <a:txBody>
                    <a:bodyPr wrap="square"/>
                    <a:lstStyle/>
                    <a:p>
                      <a:r>
                        <a:rPr sz="1650" b="1">
                          <a:solidFill>
                            <a:srgbClr val="6E1120"/>
                          </a:solidFill>
                          <a:latin typeface="Calibri"/>
                        </a:rPr>
                        <a:t>Accounts and quality</a:t>
                      </a:r>
                    </a:p>
                  </a:txBody>
                  <a:tcPr marL="82296" marR="64008" marT="32004" marB="32004" anchor="ctr">
                    <a:solidFill>
                      <a:srgbClr val="FFFFFF"/>
                    </a:solidFill>
                  </a:tcPr>
                </a:tc>
                <a:tc>
                  <a:txBody>
                    <a:bodyPr wrap="square"/>
                    <a:lstStyle/>
                    <a:p>
                      <a:r>
                        <a:rPr sz="1650" b="0">
                          <a:solidFill>
                            <a:srgbClr val="1A1A1A"/>
                          </a:solidFill>
                          <a:latin typeface="Calibri"/>
                        </a:rPr>
                        <a:t>connected_accounts, quality_runs</a:t>
                      </a:r>
                    </a:p>
                  </a:txBody>
                  <a:tcPr marL="82296" marR="64008" marT="32004" marB="32004" anchor="ctr">
                    <a:solidFill>
                      <a:srgbClr val="FFFFF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857250"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969264" y="512063"/>
            <a:ext cx="112014" cy="112014"/>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905256" y="672083"/>
            <a:ext cx="128015" cy="0"/>
          </a:xfrm>
          <a:prstGeom prst="line">
            <a:avLst/>
          </a:prstGeom>
          <a:ln w="17780">
            <a:solidFill>
              <a:srgbClr val="F3C6C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921257" y="416051"/>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09244"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1" y="624077"/>
            <a:ext cx="96011" cy="96011"/>
          </a:xfrm>
          <a:prstGeom prst="ellipse">
            <a:avLst/>
          </a:prstGeom>
          <a:noFill/>
          <a:ln w="17780">
            <a:solidFill>
              <a:srgbClr val="F3C6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29768"/>
            <a:ext cx="2743200" cy="292608"/>
          </a:xfrm>
          <a:prstGeom prst="rect">
            <a:avLst/>
          </a:prstGeom>
          <a:noFill/>
        </p:spPr>
        <p:txBody>
          <a:bodyPr wrap="square" lIns="0" rIns="0" tIns="0" bIns="0" anchor="t">
            <a:spAutoFit/>
          </a:bodyPr>
          <a:lstStyle/>
          <a:p>
            <a:pPr algn="l">
              <a:lnSpc>
                <a:spcPct val="120000"/>
              </a:lnSpc>
              <a:spcBef>
                <a:spcPts val="0"/>
              </a:spcBef>
              <a:spcAft>
                <a:spcPts val="0"/>
              </a:spcAft>
            </a:pPr>
            <a:r>
              <a:rPr sz="1400" b="1" i="0">
                <a:solidFill>
                  <a:srgbClr val="F3C6CF"/>
                </a:solidFill>
                <a:latin typeface="Georgia"/>
              </a:rPr>
              <a:t>SAJHA</a:t>
            </a:r>
          </a:p>
        </p:txBody>
      </p:sp>
      <p:sp>
        <p:nvSpPr>
          <p:cNvPr id="11" name="Section numeral"/>
          <p:cNvSpPr txBox="1"/>
          <p:nvPr/>
        </p:nvSpPr>
        <p:spPr>
          <a:xfrm>
            <a:off x="7208215" y="45720"/>
            <a:ext cx="4754879" cy="2514600"/>
          </a:xfrm>
          <a:prstGeom prst="rect">
            <a:avLst/>
          </a:prstGeom>
          <a:noFill/>
        </p:spPr>
        <p:txBody>
          <a:bodyPr wrap="square" lIns="0" rIns="0" tIns="0" bIns="0" anchor="t">
            <a:spAutoFit/>
          </a:bodyPr>
          <a:lstStyle/>
          <a:p>
            <a:pPr algn="r">
              <a:lnSpc>
                <a:spcPct val="100000"/>
              </a:lnSpc>
              <a:spcBef>
                <a:spcPts val="0"/>
              </a:spcBef>
              <a:spcAft>
                <a:spcPts val="0"/>
              </a:spcAft>
            </a:pPr>
            <a:r>
              <a:rPr sz="17000" b="1" i="0">
                <a:solidFill>
                  <a:srgbClr val="B23E4F"/>
                </a:solidFill>
                <a:latin typeface="Calibri"/>
              </a:rPr>
              <a:t>08</a:t>
            </a:r>
          </a:p>
        </p:txBody>
      </p:sp>
      <p:sp>
        <p:nvSpPr>
          <p:cNvPr id="12" name="TextBox 11"/>
          <p:cNvSpPr txBox="1"/>
          <p:nvPr/>
        </p:nvSpPr>
        <p:spPr>
          <a:xfrm>
            <a:off x="1521845" y="2487168"/>
            <a:ext cx="9148005" cy="559816"/>
          </a:xfrm>
          <a:prstGeom prst="rect">
            <a:avLst/>
          </a:prstGeom>
          <a:noFill/>
        </p:spPr>
        <p:txBody>
          <a:bodyPr wrap="square" lIns="0" rIns="0" tIns="0" bIns="0" anchor="t">
            <a:spAutoFit/>
          </a:bodyPr>
          <a:lstStyle/>
          <a:p>
            <a:pPr algn="ctr">
              <a:lnSpc>
                <a:spcPct val="110000"/>
              </a:lnSpc>
              <a:spcBef>
                <a:spcPts val="0"/>
              </a:spcBef>
              <a:spcAft>
                <a:spcPts val="0"/>
              </a:spcAft>
            </a:pPr>
            <a:r>
              <a:rPr sz="3200" b="0" i="0">
                <a:solidFill>
                  <a:srgbClr val="FFFFFF"/>
                </a:solidFill>
                <a:latin typeface="Georgia"/>
              </a:rPr>
              <a:t>Where it's going, and how it compares</a:t>
            </a:r>
          </a:p>
        </p:txBody>
      </p:sp>
      <p:sp>
        <p:nvSpPr>
          <p:cNvPr id="13" name="Rectangle 12"/>
          <p:cNvSpPr/>
          <p:nvPr/>
        </p:nvSpPr>
        <p:spPr>
          <a:xfrm>
            <a:off x="5364327" y="3202432"/>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60077" y="3431032"/>
            <a:ext cx="7871539" cy="1325880"/>
          </a:xfrm>
          <a:prstGeom prst="rect">
            <a:avLst/>
          </a:prstGeom>
          <a:noFill/>
        </p:spPr>
        <p:txBody>
          <a:bodyPr wrap="square" lIns="0" rIns="0" tIns="0" bIns="0" anchor="t">
            <a:spAutoFit/>
          </a:bodyPr>
          <a:lstStyle/>
          <a:p>
            <a:pPr algn="ctr">
              <a:lnSpc>
                <a:spcPct val="125000"/>
              </a:lnSpc>
              <a:spcBef>
                <a:spcPts val="0"/>
              </a:spcBef>
              <a:spcAft>
                <a:spcPts val="0"/>
              </a:spcAft>
            </a:pPr>
            <a:r>
              <a:rPr sz="1600" b="0" i="1">
                <a:solidFill>
                  <a:srgbClr val="FBEEF0"/>
                </a:solidFill>
                <a:latin typeface="Calibri"/>
              </a:rPr>
              <a:t>What is not built yet and what is known to be limited, from SAJHA's own documents; then the comparison, with where others are stronger.</a:t>
            </a:r>
          </a:p>
        </p:txBody>
      </p:sp>
      <p:sp>
        <p:nvSpPr>
          <p:cNvPr id="15" name="TextBox 14"/>
          <p:cNvSpPr txBox="1"/>
          <p:nvPr/>
        </p:nvSpPr>
        <p:spPr>
          <a:xfrm>
            <a:off x="1143000" y="4282440"/>
            <a:ext cx="9905695" cy="1935479"/>
          </a:xfrm>
          <a:prstGeom prst="rect">
            <a:avLst/>
          </a:prstGeom>
          <a:noFill/>
        </p:spPr>
        <p:txBody>
          <a:bodyPr wrap="square" lIns="0" rIns="0" tIns="0" bIns="0" anchor="t">
            <a:spAutoFit/>
          </a:bodyPr>
          <a:lstStyle/>
          <a:p>
            <a:pPr algn="ctr">
              <a:lnSpc>
                <a:spcPct val="130000"/>
              </a:lnSpc>
              <a:spcBef>
                <a:spcPts val="0"/>
              </a:spcBef>
              <a:spcAft>
                <a:spcPts val="0"/>
              </a:spcAft>
            </a:pPr>
            <a:r>
              <a:rPr sz="1250" b="1" i="0">
                <a:solidFill>
                  <a:srgbClr val="F3C6CF"/>
                </a:solidFill>
                <a:latin typeface="Calibri"/>
              </a:rPr>
              <a:t>Not built yet   ·   Known limitations   ·   The comparison   ·   Where others are stronger   ·   Where to start</a:t>
            </a:r>
          </a:p>
        </p:txBody>
      </p:sp>
      <p:sp>
        <p:nvSpPr>
          <p:cNvPr id="16" name="Rectangle 15"/>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8" name="TextBox 17"/>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IT'S GOING</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Not built yet, and what is known to be limited</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100</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Later: 43 larger items, among them storage, finished, federation, complete and workflow engine limits. Each row of the Roadmap links to the guide that owns it.</a:t>
            </a:r>
          </a:p>
        </p:txBody>
      </p:sp>
      <p:sp>
        <p:nvSpPr>
          <p:cNvPr id="19" name="Rectangle 18"/>
          <p:cNvSpPr/>
          <p:nvPr/>
        </p:nvSpPr>
        <p:spPr>
          <a:xfrm>
            <a:off x="777240" y="1386967"/>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Next, from the Roadmap</a:t>
            </a:r>
          </a:p>
        </p:txBody>
      </p:sp>
      <p:sp>
        <p:nvSpPr>
          <p:cNvPr id="22" name="TextBox 21"/>
          <p:cNvSpPr txBox="1"/>
          <p:nvPr/>
        </p:nvSpPr>
        <p:spPr>
          <a:xfrm>
            <a:off x="777240" y="1899031"/>
            <a:ext cx="5135727" cy="3779393"/>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A1A1A"/>
                </a:solidFill>
                <a:latin typeface="Calibri"/>
              </a:rPr>
              <a:t>X7: Ask SAJHA over MCP, finished</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X8: Document connectors as RAG sources</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X9: LLM providers: the last synchronous paths</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X10: Weaviate and Chroma connectors</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X11: Push-based reload</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X12: Protocol gaps</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X13: A benchmark suite with published numbers</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X14: SLOs and failure tests</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X16: A TypeScript client SDK (deferred by decision)</a:t>
            </a:r>
          </a:p>
        </p:txBody>
      </p:sp>
      <p:sp>
        <p:nvSpPr>
          <p:cNvPr id="23" name="Rectangle 22"/>
          <p:cNvSpPr/>
          <p:nvPr/>
        </p:nvSpPr>
        <p:spPr>
          <a:xfrm>
            <a:off x="6278727" y="1386967"/>
            <a:ext cx="5135727" cy="384048"/>
          </a:xfrm>
          <a:prstGeom prst="rect">
            <a:avLst/>
          </a:prstGeom>
          <a:solidFill>
            <a:srgbClr val="F7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78727" y="1386967"/>
            <a:ext cx="41148" cy="3840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43319" y="1460119"/>
            <a:ext cx="4861407" cy="274320"/>
          </a:xfrm>
          <a:prstGeom prst="rect">
            <a:avLst/>
          </a:prstGeom>
          <a:noFill/>
        </p:spPr>
        <p:txBody>
          <a:bodyPr wrap="square" lIns="0" rIns="0" tIns="0" bIns="0" anchor="t">
            <a:spAutoFit/>
          </a:bodyPr>
          <a:lstStyle/>
          <a:p>
            <a:pPr algn="l">
              <a:lnSpc>
                <a:spcPct val="120000"/>
              </a:lnSpc>
              <a:spcBef>
                <a:spcPts val="0"/>
              </a:spcBef>
              <a:spcAft>
                <a:spcPts val="0"/>
              </a:spcAft>
            </a:pPr>
            <a:r>
              <a:rPr sz="1300" b="1" i="0">
                <a:solidFill>
                  <a:srgbClr val="6E1120"/>
                </a:solidFill>
                <a:latin typeface="Calibri"/>
              </a:rPr>
              <a:t>Known limitations (Security Model)</a:t>
            </a:r>
          </a:p>
        </p:txBody>
      </p:sp>
      <p:sp>
        <p:nvSpPr>
          <p:cNvPr id="26" name="TextBox 25"/>
          <p:cNvSpPr txBox="1"/>
          <p:nvPr/>
        </p:nvSpPr>
        <p:spPr>
          <a:xfrm>
            <a:off x="6278727" y="1899031"/>
            <a:ext cx="5135727" cy="3779393"/>
          </a:xfrm>
          <a:prstGeom prst="rect">
            <a:avLst/>
          </a:prstGeom>
          <a:noFill/>
        </p:spPr>
        <p:txBody>
          <a:bodyPr wrap="square" lIns="0" rIns="0" tIns="0" bIns="0" anchor="t">
            <a:spAutoFit/>
          </a:bodyPr>
          <a:lstStyle/>
          <a:p>
            <a:pPr algn="l">
              <a:lnSpc>
                <a:spcPct val="120000"/>
              </a:lnSpc>
              <a:spcBef>
                <a:spcPts val="0"/>
              </a:spcBef>
              <a:spcAft>
                <a:spcPts val="0"/>
              </a:spcAft>
            </a:pPr>
            <a:r>
              <a:rPr sz="1500" b="1">
                <a:solidFill>
                  <a:srgbClr val="A51C30"/>
                </a:solidFill>
                <a:latin typeface="Calibri"/>
              </a:rPr>
              <a:t>▪  </a:t>
            </a:r>
            <a:r>
              <a:rPr sz="1500" b="0">
                <a:solidFill>
                  <a:srgbClr val="1A1A1A"/>
                </a:solidFill>
                <a:latin typeface="Calibri"/>
              </a:rPr>
              <a:t>Studio template creators run with the server's credentials</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Plain storage by default</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The test admin key ships on</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Open admission trusts the first claimant of a name and has no revocation</a:t>
            </a:r>
          </a:p>
          <a:p>
            <a:pPr>
              <a:lnSpc>
                <a:spcPct val="120000"/>
              </a:lnSpc>
              <a:spcBef>
                <a:spcPts val="600"/>
              </a:spcBef>
              <a:spcAft>
                <a:spcPts val="0"/>
              </a:spcAft>
            </a:pPr>
            <a:r>
              <a:rPr sz="1500" b="1">
                <a:solidFill>
                  <a:srgbClr val="A51C30"/>
                </a:solidFill>
                <a:latin typeface="Calibri"/>
              </a:rPr>
              <a:t>▪  </a:t>
            </a:r>
            <a:r>
              <a:rPr sz="1500" b="0">
                <a:solidFill>
                  <a:srgbClr val="1A1A1A"/>
                </a:solidFill>
                <a:latin typeface="Calibri"/>
              </a:rPr>
              <a:t>Sandbox strength depends on the host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COMPETITIVE ANALYSIS</a:t>
            </a:r>
          </a:p>
        </p:txBody>
      </p:sp>
      <p:sp>
        <p:nvSpPr>
          <p:cNvPr id="5" name="TextBox 4"/>
          <p:cNvSpPr txBox="1"/>
          <p:nvPr/>
        </p:nvSpPr>
        <p:spPr>
          <a:xfrm>
            <a:off x="777240" y="749808"/>
            <a:ext cx="10637215" cy="422147"/>
          </a:xfrm>
          <a:prstGeom prst="rect">
            <a:avLst/>
          </a:prstGeom>
          <a:noFill/>
        </p:spPr>
        <p:txBody>
          <a:bodyPr wrap="square" lIns="0" rIns="0" tIns="0" bIns="0" anchor="t">
            <a:spAutoFit/>
          </a:bodyPr>
          <a:lstStyle/>
          <a:p>
            <a:pPr algn="l">
              <a:lnSpc>
                <a:spcPct val="115000"/>
              </a:lnSpc>
              <a:spcBef>
                <a:spcPts val="0"/>
              </a:spcBef>
              <a:spcAft>
                <a:spcPts val="0"/>
              </a:spcAft>
            </a:pPr>
            <a:r>
              <a:rPr sz="2400" b="0" i="0">
                <a:solidFill>
                  <a:srgbClr val="1A1A1A"/>
                </a:solidFill>
                <a:latin typeface="Georgia"/>
              </a:rPr>
              <a:t>SAJHA beside 9 alternatives, on vendors' own documentation</a:t>
            </a:r>
          </a:p>
        </p:txBody>
      </p:sp>
      <p:sp>
        <p:nvSpPr>
          <p:cNvPr id="6" name="Rectangle 5"/>
          <p:cNvSpPr/>
          <p:nvPr/>
        </p:nvSpPr>
        <p:spPr>
          <a:xfrm>
            <a:off x="777240" y="1226820"/>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101</a:t>
            </a:r>
          </a:p>
        </p:txBody>
      </p:sp>
      <p:sp>
        <p:nvSpPr>
          <p:cNvPr id="17" name="Rectangle 16"/>
          <p:cNvSpPr/>
          <p:nvPr/>
        </p:nvSpPr>
        <p:spPr>
          <a:xfrm>
            <a:off x="777240" y="5843016"/>
            <a:ext cx="41148"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843016"/>
            <a:ext cx="10362895" cy="420624"/>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Part = partial (limited, preview, a paid tier); ? = not verifiable from public documentation on 2026-10-08. The full table, with a note and a source for every cell, is at /comparison.</a:t>
            </a:r>
          </a:p>
        </p:txBody>
      </p:sp>
      <p:graphicFrame>
        <p:nvGraphicFramePr>
          <p:cNvPr id="19" name="Table 18"/>
          <p:cNvGraphicFramePr>
            <a:graphicFrameLocks noGrp="1"/>
          </p:cNvGraphicFramePr>
          <p:nvPr/>
        </p:nvGraphicFramePr>
        <p:xfrm>
          <a:off x="777240" y="1354836"/>
          <a:ext cx="10637212" cy="4219282"/>
        </p:xfrm>
        <a:graphic>
          <a:graphicData uri="http://schemas.openxmlformats.org/drawingml/2006/table">
            <a:tbl>
              <a:tblPr firstRow="1">
                <a:tableStyleId>{5C22544A-7EE6-4342-B048-85BDC9FD1C3A}</a:tableStyleId>
              </a:tblPr>
              <a:tblGrid>
                <a:gridCol w="1989072"/>
                <a:gridCol w="864814"/>
                <a:gridCol w="864814"/>
                <a:gridCol w="864814"/>
                <a:gridCol w="864814"/>
                <a:gridCol w="864814"/>
                <a:gridCol w="864814"/>
                <a:gridCol w="864814"/>
                <a:gridCol w="864814"/>
                <a:gridCol w="864814"/>
                <a:gridCol w="864814"/>
              </a:tblGrid>
              <a:tr h="712184">
                <a:tc>
                  <a:txBody>
                    <a:bodyPr wrap="square"/>
                    <a:lstStyle/>
                    <a:p>
                      <a:r>
                        <a:rPr sz="1250" b="1">
                          <a:solidFill>
                            <a:srgbClr val="FFFFFF"/>
                          </a:solidFill>
                          <a:latin typeface="Calibri"/>
                        </a:rPr>
                        <a:t>Product</a:t>
                      </a:r>
                    </a:p>
                  </a:txBody>
                  <a:tcPr marL="82296" marR="64008" marT="32004" marB="32004" anchor="ctr">
                    <a:solidFill>
                      <a:srgbClr val="A51C30"/>
                    </a:solidFill>
                  </a:tcPr>
                </a:tc>
                <a:tc>
                  <a:txBody>
                    <a:bodyPr wrap="square"/>
                    <a:lstStyle/>
                    <a:p>
                      <a:r>
                        <a:rPr sz="1250" b="1">
                          <a:solidFill>
                            <a:srgbClr val="FFFFFF"/>
                          </a:solidFill>
                          <a:latin typeface="Calibri"/>
                        </a:rPr>
                        <a:t>2026 era</a:t>
                      </a:r>
                    </a:p>
                  </a:txBody>
                  <a:tcPr marL="82296" marR="64008" marT="32004" marB="32004" anchor="ctr">
                    <a:solidFill>
                      <a:srgbClr val="A51C30"/>
                    </a:solidFill>
                  </a:tcPr>
                </a:tc>
                <a:tc>
                  <a:txBody>
                    <a:bodyPr wrap="square"/>
                    <a:lstStyle/>
                    <a:p>
                      <a:r>
                        <a:rPr sz="1250" b="1">
                          <a:solidFill>
                            <a:srgbClr val="FFFFFF"/>
                          </a:solidFill>
                          <a:latin typeface="Calibri"/>
                        </a:rPr>
                        <a:t>Suite in CI</a:t>
                      </a:r>
                    </a:p>
                  </a:txBody>
                  <a:tcPr marL="82296" marR="64008" marT="32004" marB="32004" anchor="ctr">
                    <a:solidFill>
                      <a:srgbClr val="A51C30"/>
                    </a:solidFill>
                  </a:tcPr>
                </a:tc>
                <a:tc>
                  <a:txBody>
                    <a:bodyPr wrap="square"/>
                    <a:lstStyle/>
                    <a:p>
                      <a:r>
                        <a:rPr sz="1250" b="1">
                          <a:solidFill>
                            <a:srgbClr val="FFFFFF"/>
                          </a:solidFill>
                          <a:latin typeface="Calibri"/>
                        </a:rPr>
                        <a:t>Own OAuth server</a:t>
                      </a:r>
                    </a:p>
                  </a:txBody>
                  <a:tcPr marL="82296" marR="64008" marT="32004" marB="32004" anchor="ctr">
                    <a:solidFill>
                      <a:srgbClr val="A51C30"/>
                    </a:solidFill>
                  </a:tcPr>
                </a:tc>
                <a:tc>
                  <a:txBody>
                    <a:bodyPr wrap="square"/>
                    <a:lstStyle/>
                    <a:p>
                      <a:r>
                        <a:rPr sz="1250" b="1">
                          <a:solidFill>
                            <a:srgbClr val="FFFFFF"/>
                          </a:solidFill>
                          <a:latin typeface="Calibri"/>
                        </a:rPr>
                        <a:t>Tools in the box</a:t>
                      </a:r>
                    </a:p>
                  </a:txBody>
                  <a:tcPr marL="82296" marR="64008" marT="32004" marB="32004" anchor="ctr">
                    <a:solidFill>
                      <a:srgbClr val="A51C30"/>
                    </a:solidFill>
                  </a:tcPr>
                </a:tc>
                <a:tc>
                  <a:txBody>
                    <a:bodyPr wrap="square"/>
                    <a:lstStyle/>
                    <a:p>
                      <a:r>
                        <a:rPr sz="1250" b="1">
                          <a:solidFill>
                            <a:srgbClr val="FFFFFF"/>
                          </a:solidFill>
                          <a:latin typeface="Calibri"/>
                        </a:rPr>
                        <a:t>No-code tools</a:t>
                      </a:r>
                    </a:p>
                  </a:txBody>
                  <a:tcPr marL="82296" marR="64008" marT="32004" marB="32004" anchor="ctr">
                    <a:solidFill>
                      <a:srgbClr val="A51C30"/>
                    </a:solidFill>
                  </a:tcPr>
                </a:tc>
                <a:tc>
                  <a:txBody>
                    <a:bodyPr wrap="square"/>
                    <a:lstStyle/>
                    <a:p>
                      <a:r>
                        <a:rPr sz="1250" b="1">
                          <a:solidFill>
                            <a:srgbClr val="FFFFFF"/>
                          </a:solidFill>
                          <a:latin typeface="Calibri"/>
                        </a:rPr>
                        <a:t>LLM and chat</a:t>
                      </a:r>
                    </a:p>
                  </a:txBody>
                  <a:tcPr marL="82296" marR="64008" marT="32004" marB="32004" anchor="ctr">
                    <a:solidFill>
                      <a:srgbClr val="A51C30"/>
                    </a:solidFill>
                  </a:tcPr>
                </a:tc>
                <a:tc>
                  <a:txBody>
                    <a:bodyPr wrap="square"/>
                    <a:lstStyle/>
                    <a:p>
                      <a:r>
                        <a:rPr sz="1250" b="1">
                          <a:solidFill>
                            <a:srgbClr val="FFFFFF"/>
                          </a:solidFill>
                          <a:latin typeface="Calibri"/>
                        </a:rPr>
                        <a:t>Isolation</a:t>
                      </a:r>
                    </a:p>
                  </a:txBody>
                  <a:tcPr marL="82296" marR="64008" marT="32004" marB="32004" anchor="ctr">
                    <a:solidFill>
                      <a:srgbClr val="A51C30"/>
                    </a:solidFill>
                  </a:tcPr>
                </a:tc>
                <a:tc>
                  <a:txBody>
                    <a:bodyPr wrap="square"/>
                    <a:lstStyle/>
                    <a:p>
                      <a:r>
                        <a:rPr sz="1250" b="1">
                          <a:solidFill>
                            <a:srgbClr val="FFFFFF"/>
                          </a:solidFill>
                          <a:latin typeface="Calibri"/>
                        </a:rPr>
                        <a:t>SaaS apps</a:t>
                      </a:r>
                    </a:p>
                  </a:txBody>
                  <a:tcPr marL="82296" marR="64008" marT="32004" marB="32004" anchor="ctr">
                    <a:solidFill>
                      <a:srgbClr val="A51C30"/>
                    </a:solidFill>
                  </a:tcPr>
                </a:tc>
                <a:tc>
                  <a:txBody>
                    <a:bodyPr wrap="square"/>
                    <a:lstStyle/>
                    <a:p>
                      <a:r>
                        <a:rPr sz="1250" b="1">
                          <a:solidFill>
                            <a:srgbClr val="FFFFFF"/>
                          </a:solidFill>
                          <a:latin typeface="Calibri"/>
                        </a:rPr>
                        <a:t>Open source</a:t>
                      </a:r>
                    </a:p>
                  </a:txBody>
                  <a:tcPr marL="82296" marR="64008" marT="32004" marB="32004" anchor="ctr">
                    <a:solidFill>
                      <a:srgbClr val="A51C30"/>
                    </a:solidFill>
                  </a:tcPr>
                </a:tc>
                <a:tc>
                  <a:txBody>
                    <a:bodyPr wrap="square"/>
                    <a:lstStyle/>
                    <a:p>
                      <a:r>
                        <a:rPr sz="1250" b="1">
                          <a:solidFill>
                            <a:srgbClr val="FFFFFF"/>
                          </a:solidFill>
                          <a:latin typeface="Calibri"/>
                        </a:rPr>
                        <a:t>Managed</a:t>
                      </a:r>
                    </a:p>
                  </a:txBody>
                  <a:tcPr marL="82296" marR="64008" marT="32004" marB="32004" anchor="ctr">
                    <a:solidFill>
                      <a:srgbClr val="A51C30"/>
                    </a:solidFill>
                  </a:tcPr>
                </a:tc>
              </a:tr>
              <a:tr h="310546">
                <a:tc>
                  <a:txBody>
                    <a:bodyPr wrap="square"/>
                    <a:lstStyle/>
                    <a:p>
                      <a:r>
                        <a:rPr sz="1250" b="1">
                          <a:solidFill>
                            <a:srgbClr val="6E1120"/>
                          </a:solidFill>
                          <a:latin typeface="Calibri"/>
                        </a:rPr>
                        <a:t>SAJHA</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r>
              <a:tr h="310546">
                <a:tc>
                  <a:txBody>
                    <a:bodyPr wrap="square"/>
                    <a:lstStyle/>
                    <a:p>
                      <a:r>
                        <a:rPr sz="1250" b="1">
                          <a:solidFill>
                            <a:srgbClr val="6E1120"/>
                          </a:solidFill>
                          <a:latin typeface="Calibri"/>
                        </a:rPr>
                        <a:t>FastMCP</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r>
              <a:tr h="310546">
                <a:tc>
                  <a:txBody>
                    <a:bodyPr wrap="square"/>
                    <a:lstStyle/>
                    <a:p>
                      <a:r>
                        <a:rPr sz="1250" b="1">
                          <a:solidFill>
                            <a:srgbClr val="6E1120"/>
                          </a:solidFill>
                          <a:latin typeface="Calibri"/>
                        </a:rPr>
                        <a:t>IBM ContextForge</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a:t>
                      </a:r>
                    </a:p>
                  </a:txBody>
                  <a:tcPr marL="82296" marR="64008" marT="32004" marB="32004" anchor="ctr">
                    <a:solidFill>
                      <a:srgbClr val="FFFFFF"/>
                    </a:solidFill>
                  </a:tcPr>
                </a:tc>
              </a:tr>
              <a:tr h="310546">
                <a:tc>
                  <a:txBody>
                    <a:bodyPr wrap="square"/>
                    <a:lstStyle/>
                    <a:p>
                      <a:r>
                        <a:rPr sz="1250" b="1">
                          <a:solidFill>
                            <a:srgbClr val="6E1120"/>
                          </a:solidFill>
                          <a:latin typeface="Calibri"/>
                        </a:rPr>
                        <a:t>Docker MCP Gateway</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r>
              <a:tr h="511365">
                <a:tc>
                  <a:txBody>
                    <a:bodyPr wrap="square"/>
                    <a:lstStyle/>
                    <a:p>
                      <a:r>
                        <a:rPr sz="1250" b="1">
                          <a:solidFill>
                            <a:srgbClr val="6E1120"/>
                          </a:solidFill>
                          <a:latin typeface="Calibri"/>
                        </a:rPr>
                        <a:t>Microsoft MCP Gateway</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r>
              <a:tr h="310546">
                <a:tc>
                  <a:txBody>
                    <a:bodyPr wrap="square"/>
                    <a:lstStyle/>
                    <a:p>
                      <a:r>
                        <a:rPr sz="1250" b="1">
                          <a:solidFill>
                            <a:srgbClr val="6E1120"/>
                          </a:solidFill>
                          <a:latin typeface="Calibri"/>
                        </a:rPr>
                        <a:t>Kong AI Gateway</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r>
              <a:tr h="511365">
                <a:tc>
                  <a:txBody>
                    <a:bodyPr wrap="square"/>
                    <a:lstStyle/>
                    <a:p>
                      <a:r>
                        <a:rPr sz="1250" b="1">
                          <a:solidFill>
                            <a:srgbClr val="6E1120"/>
                          </a:solidFill>
                          <a:latin typeface="Calibri"/>
                        </a:rPr>
                        <a:t>Cloudflare remote MCP</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r>
              <a:tr h="310546">
                <a:tc>
                  <a:txBody>
                    <a:bodyPr wrap="square"/>
                    <a:lstStyle/>
                    <a:p>
                      <a:r>
                        <a:rPr sz="1250" b="1">
                          <a:solidFill>
                            <a:srgbClr val="6E1120"/>
                          </a:solidFill>
                          <a:latin typeface="Calibri"/>
                        </a:rPr>
                        <a:t>Composio</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r>
              <a:tr h="310546">
                <a:tc>
                  <a:txBody>
                    <a:bodyPr wrap="square"/>
                    <a:lstStyle/>
                    <a:p>
                      <a:r>
                        <a:rPr sz="1250" b="1">
                          <a:solidFill>
                            <a:srgbClr val="6E1120"/>
                          </a:solidFill>
                          <a:latin typeface="Calibri"/>
                        </a:rPr>
                        <a:t>Zapier MCP</a:t>
                      </a:r>
                    </a:p>
                  </a:txBody>
                  <a:tcPr marL="82296" marR="64008" marT="32004" marB="32004" anchor="ctr">
                    <a:solidFill>
                      <a:srgbClr val="FFFFFF"/>
                    </a:solidFill>
                  </a:tcPr>
                </a:tc>
                <a:tc>
                  <a:txBody>
                    <a:bodyPr wrap="square"/>
                    <a:lstStyle/>
                    <a:p>
                      <a:r>
                        <a:rPr sz="1250" b="0">
                          <a:solidFill>
                            <a:srgbClr val="1A1A1A"/>
                          </a:solidFill>
                          <a:latin typeface="Calibri"/>
                        </a:rPr>
                        <a:t>?</a:t>
                      </a:r>
                    </a:p>
                  </a:txBody>
                  <a:tcPr marL="82296" marR="64008" marT="32004" marB="32004" anchor="ctr">
                    <a:solidFill>
                      <a:srgbClr val="FFFFFF"/>
                    </a:solidFill>
                  </a:tcPr>
                </a:tc>
                <a:tc>
                  <a:txBody>
                    <a:bodyPr wrap="square"/>
                    <a:lstStyle/>
                    <a:p>
                      <a:r>
                        <a:rPr sz="1250" b="0">
                          <a:solidFill>
                            <a:srgbClr val="1A1A1A"/>
                          </a:solidFill>
                          <a:latin typeface="Calibri"/>
                        </a:rPr>
                        <a:t>?</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Part</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c>
                  <a:txBody>
                    <a:bodyPr wrap="square"/>
                    <a:lstStyle/>
                    <a:p>
                      <a:r>
                        <a:rPr sz="1250" b="0">
                          <a:solidFill>
                            <a:srgbClr val="1A1A1A"/>
                          </a:solidFill>
                          <a:latin typeface="Calibri"/>
                        </a:rPr>
                        <a:t>No</a:t>
                      </a:r>
                    </a:p>
                  </a:txBody>
                  <a:tcPr marL="82296" marR="64008" marT="32004" marB="32004" anchor="ctr">
                    <a:solidFill>
                      <a:srgbClr val="FFFFFF"/>
                    </a:solidFill>
                  </a:tcPr>
                </a:tc>
                <a:tc>
                  <a:txBody>
                    <a:bodyPr wrap="square"/>
                    <a:lstStyle/>
                    <a:p>
                      <a:r>
                        <a:rPr sz="1250" b="0">
                          <a:solidFill>
                            <a:srgbClr val="1A1A1A"/>
                          </a:solidFill>
                          <a:latin typeface="Calibri"/>
                        </a:rPr>
                        <a:t>Yes</a:t>
                      </a:r>
                    </a:p>
                  </a:txBody>
                  <a:tcPr marL="82296" marR="64008" marT="32004" marB="32004" anchor="ctr">
                    <a:solidFill>
                      <a:srgbClr val="FFFFFF"/>
                    </a:solidFill>
                  </a:tcPr>
                </a:tc>
              </a:tr>
              <a:tr h="310546">
                <a:tc>
                  <a:txBody>
                    <a:bodyPr wrap="square"/>
                    <a:lstStyle/>
                    <a:p>
                      <a:r>
                        <a:rPr sz="1250" b="1">
                          <a:solidFill>
                            <a:srgbClr val="6E1120"/>
                          </a:solidFill>
                          <a:latin typeface="Calibri"/>
                        </a:rPr>
                        <a:t>Smithery</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No</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c>
                  <a:txBody>
                    <a:bodyPr wrap="square"/>
                    <a:lstStyle/>
                    <a:p>
                      <a:r>
                        <a:rPr sz="1250" b="0">
                          <a:solidFill>
                            <a:srgbClr val="1A1A1A"/>
                          </a:solidFill>
                          <a:latin typeface="Calibri"/>
                        </a:rPr>
                        <a:t>Part</a:t>
                      </a:r>
                    </a:p>
                  </a:txBody>
                  <a:tcPr marL="82296" marR="64008" marT="32004" marB="32004" anchor="ctr">
                    <a:solidFill>
                      <a:srgbClr val="F7F5F2"/>
                    </a:solidFill>
                  </a:tcPr>
                </a:tc>
                <a:tc>
                  <a:txBody>
                    <a:bodyPr wrap="square"/>
                    <a:lstStyle/>
                    <a:p>
                      <a:r>
                        <a:rPr sz="1250" b="0">
                          <a:solidFill>
                            <a:srgbClr val="1A1A1A"/>
                          </a:solidFill>
                          <a:latin typeface="Calibri"/>
                        </a:rPr>
                        <a:t>Yes</a:t>
                      </a:r>
                    </a:p>
                  </a:txBody>
                  <a:tcPr marL="82296" marR="64008" marT="32004" marB="32004" anchor="ctr">
                    <a:solidFill>
                      <a:srgbClr val="F7F5F2"/>
                    </a:solidFill>
                  </a:tcPr>
                </a:tc>
              </a:tr>
            </a:tbl>
          </a:graphicData>
        </a:graphic>
      </p:graphicFrame>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OTHERS ARE STRONGER</a:t>
            </a:r>
          </a:p>
        </p:txBody>
      </p:sp>
      <p:sp>
        <p:nvSpPr>
          <p:cNvPr id="5" name="TextBox 4"/>
          <p:cNvSpPr txBox="1"/>
          <p:nvPr/>
        </p:nvSpPr>
        <p:spPr>
          <a:xfrm>
            <a:off x="777240" y="749808"/>
            <a:ext cx="10637215" cy="679196"/>
          </a:xfrm>
          <a:prstGeom prst="rect">
            <a:avLst/>
          </a:prstGeom>
          <a:noFill/>
        </p:spPr>
        <p:txBody>
          <a:bodyPr wrap="square" lIns="0" rIns="0" tIns="0" bIns="0" anchor="t">
            <a:spAutoFit/>
          </a:bodyPr>
          <a:lstStyle/>
          <a:p>
            <a:pPr algn="l">
              <a:lnSpc>
                <a:spcPct val="115000"/>
              </a:lnSpc>
              <a:spcBef>
                <a:spcPts val="0"/>
              </a:spcBef>
              <a:spcAft>
                <a:spcPts val="0"/>
              </a:spcAft>
            </a:pPr>
            <a:r>
              <a:rPr sz="2000" b="0" i="0">
                <a:solidFill>
                  <a:srgbClr val="1A1A1A"/>
                </a:solidFill>
                <a:latin typeface="Georgia"/>
              </a:rPr>
              <a:t>Gateways, containers, SaaS breadth and a hosted service: others do these better</a:t>
            </a:r>
          </a:p>
        </p:txBody>
      </p:sp>
      <p:sp>
        <p:nvSpPr>
          <p:cNvPr id="6" name="Rectangle 5"/>
          <p:cNvSpPr/>
          <p:nvPr/>
        </p:nvSpPr>
        <p:spPr>
          <a:xfrm>
            <a:off x="777240" y="1483868"/>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102</a:t>
            </a:r>
          </a:p>
        </p:txBody>
      </p:sp>
      <p:sp>
        <p:nvSpPr>
          <p:cNvPr id="17" name="Rectangle 16"/>
          <p:cNvSpPr/>
          <p:nvPr/>
        </p:nvSpPr>
        <p:spPr>
          <a:xfrm>
            <a:off x="777240" y="161188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161188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1776476"/>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SCALE OF FEDERATION</a:t>
            </a:r>
          </a:p>
        </p:txBody>
      </p:sp>
      <p:sp>
        <p:nvSpPr>
          <p:cNvPr id="20" name="TextBox 19"/>
          <p:cNvSpPr txBox="1"/>
          <p:nvPr/>
        </p:nvSpPr>
        <p:spPr>
          <a:xfrm>
            <a:off x="960120" y="203250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A1A1A"/>
                </a:solidFill>
                <a:latin typeface="Georgia"/>
              </a:rPr>
              <a:t>Gateways: IBM ContextForge, Docker MCP Gateway, Microsoft MCP Gateway and Kong AI Gateway</a:t>
            </a:r>
          </a:p>
        </p:txBody>
      </p:sp>
      <p:sp>
        <p:nvSpPr>
          <p:cNvPr id="21" name="TextBox 20"/>
          <p:cNvSpPr txBox="1"/>
          <p:nvPr/>
        </p:nvSpPr>
        <p:spPr>
          <a:xfrm>
            <a:off x="960120" y="2557716"/>
            <a:ext cx="4870551" cy="1160589"/>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Built to put many MCP servers behind one endpoint at scale. SAJHA federates too, off by default.</a:t>
            </a:r>
          </a:p>
        </p:txBody>
      </p:sp>
      <p:sp>
        <p:nvSpPr>
          <p:cNvPr id="22" name="Rectangle 21"/>
          <p:cNvSpPr/>
          <p:nvPr/>
        </p:nvSpPr>
        <p:spPr>
          <a:xfrm>
            <a:off x="6178143" y="161188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8143" y="161188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1023" y="1776476"/>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ISOLATION</a:t>
            </a:r>
          </a:p>
        </p:txBody>
      </p:sp>
      <p:sp>
        <p:nvSpPr>
          <p:cNvPr id="25" name="TextBox 24"/>
          <p:cNvSpPr txBox="1"/>
          <p:nvPr/>
        </p:nvSpPr>
        <p:spPr>
          <a:xfrm>
            <a:off x="6361023" y="203250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A1A1A"/>
                </a:solidFill>
                <a:latin typeface="Georgia"/>
              </a:rPr>
              <a:t>Containers per server: Docker MCP Gateway, Microsoft MCP Gateway and Cloudflare remote MCP</a:t>
            </a:r>
          </a:p>
        </p:txBody>
      </p:sp>
      <p:sp>
        <p:nvSpPr>
          <p:cNvPr id="26" name="TextBox 25"/>
          <p:cNvSpPr txBox="1"/>
          <p:nvPr/>
        </p:nvSpPr>
        <p:spPr>
          <a:xfrm>
            <a:off x="6361023" y="2557716"/>
            <a:ext cx="4870551" cy="1160589"/>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They run each server in its own container; SAJHA sandboxes only user code and the shell.</a:t>
            </a:r>
          </a:p>
        </p:txBody>
      </p:sp>
      <p:sp>
        <p:nvSpPr>
          <p:cNvPr id="27" name="Rectangle 26"/>
          <p:cNvSpPr/>
          <p:nvPr/>
        </p:nvSpPr>
        <p:spPr>
          <a:xfrm>
            <a:off x="777240" y="401091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1091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175505"/>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SAAS BREADTH</a:t>
            </a:r>
          </a:p>
        </p:txBody>
      </p:sp>
      <p:sp>
        <p:nvSpPr>
          <p:cNvPr id="30" name="TextBox 29"/>
          <p:cNvSpPr txBox="1"/>
          <p:nvPr/>
        </p:nvSpPr>
        <p:spPr>
          <a:xfrm>
            <a:off x="960120" y="443153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Hosted catalogs: Composio, Zapier MCP and Smithery</a:t>
            </a:r>
          </a:p>
        </p:txBody>
      </p:sp>
      <p:sp>
        <p:nvSpPr>
          <p:cNvPr id="31" name="TextBox 30"/>
          <p:cNvSpPr txBox="1"/>
          <p:nvPr/>
        </p:nvSpPr>
        <p:spPr>
          <a:xfrm>
            <a:off x="960120" y="5133467"/>
            <a:ext cx="4870551" cy="983869"/>
          </a:xfrm>
          <a:prstGeom prst="rect">
            <a:avLst/>
          </a:prstGeom>
          <a:noFill/>
        </p:spPr>
        <p:txBody>
          <a:bodyPr wrap="square" lIns="0" rIns="0" tIns="0" bIns="0" anchor="t">
            <a:spAutoFit/>
          </a:bodyPr>
          <a:lstStyle/>
          <a:p>
            <a:pPr algn="l">
              <a:lnSpc>
                <a:spcPct val="120000"/>
              </a:lnSpc>
              <a:spcBef>
                <a:spcPts val="0"/>
              </a:spcBef>
              <a:spcAft>
                <a:spcPts val="0"/>
              </a:spcAft>
            </a:pPr>
            <a:r>
              <a:rPr sz="1700" b="0" i="0">
                <a:solidFill>
                  <a:srgbClr val="6B7480"/>
                </a:solidFill>
                <a:latin typeface="Calibri"/>
              </a:rPr>
              <a:t>Thousands of SaaS apps with per-user sign-in, run for you. SAJHA links a handful of services.</a:t>
            </a:r>
          </a:p>
        </p:txBody>
      </p:sp>
      <p:sp>
        <p:nvSpPr>
          <p:cNvPr id="32" name="Rectangle 31"/>
          <p:cNvSpPr/>
          <p:nvPr/>
        </p:nvSpPr>
        <p:spPr>
          <a:xfrm>
            <a:off x="6178143" y="4010914"/>
            <a:ext cx="5236311" cy="2234438"/>
          </a:xfrm>
          <a:prstGeom prst="rect">
            <a:avLst/>
          </a:prstGeom>
          <a:solidFill>
            <a:srgbClr val="FFFFFF"/>
          </a:solidFill>
          <a:ln w="11430">
            <a:solidFill>
              <a:srgbClr val="E3DE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78143" y="4010914"/>
            <a:ext cx="5236311"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61023" y="4175505"/>
            <a:ext cx="4870551" cy="219456"/>
          </a:xfrm>
          <a:prstGeom prst="rect">
            <a:avLst/>
          </a:prstGeom>
          <a:noFill/>
        </p:spPr>
        <p:txBody>
          <a:bodyPr wrap="square" lIns="0" rIns="0" tIns="0" bIns="0" anchor="t">
            <a:spAutoFit/>
          </a:bodyPr>
          <a:lstStyle/>
          <a:p>
            <a:pPr algn="l">
              <a:lnSpc>
                <a:spcPct val="120000"/>
              </a:lnSpc>
              <a:spcBef>
                <a:spcPts val="0"/>
              </a:spcBef>
              <a:spcAft>
                <a:spcPts val="0"/>
              </a:spcAft>
            </a:pPr>
            <a:r>
              <a:rPr sz="1000" b="1" i="0">
                <a:solidFill>
                  <a:srgbClr val="A51C30"/>
                </a:solidFill>
                <a:latin typeface="Calibri"/>
              </a:rPr>
              <a:t>LICENCE AND HOSTING</a:t>
            </a:r>
          </a:p>
        </p:txBody>
      </p:sp>
      <p:sp>
        <p:nvSpPr>
          <p:cNvPr id="35" name="TextBox 34"/>
          <p:cNvSpPr txBox="1"/>
          <p:nvPr/>
        </p:nvSpPr>
        <p:spPr>
          <a:xfrm>
            <a:off x="6361023" y="4431538"/>
            <a:ext cx="4870551" cy="658368"/>
          </a:xfrm>
          <a:prstGeom prst="rect">
            <a:avLst/>
          </a:prstGeom>
          <a:noFill/>
        </p:spPr>
        <p:txBody>
          <a:bodyPr wrap="square" lIns="0" rIns="0" tIns="0" bIns="0" anchor="t">
            <a:spAutoFit/>
          </a:bodyPr>
          <a:lstStyle/>
          <a:p>
            <a:pPr algn="l">
              <a:lnSpc>
                <a:spcPct val="112000"/>
              </a:lnSpc>
              <a:spcBef>
                <a:spcPts val="0"/>
              </a:spcBef>
              <a:spcAft>
                <a:spcPts val="0"/>
              </a:spcAft>
            </a:pPr>
            <a:r>
              <a:rPr sz="1900" b="1" i="0">
                <a:solidFill>
                  <a:srgbClr val="1A1A1A"/>
                </a:solidFill>
                <a:latin typeface="Georgia"/>
              </a:rPr>
              <a:t>Open source, or run for you</a:t>
            </a:r>
          </a:p>
        </p:txBody>
      </p:sp>
      <p:sp>
        <p:nvSpPr>
          <p:cNvPr id="36" name="TextBox 35"/>
          <p:cNvSpPr txBox="1"/>
          <p:nvPr/>
        </p:nvSpPr>
        <p:spPr>
          <a:xfrm>
            <a:off x="6361023" y="4828222"/>
            <a:ext cx="4870551" cy="1289113"/>
          </a:xfrm>
          <a:prstGeom prst="rect">
            <a:avLst/>
          </a:prstGeom>
          <a:noFill/>
        </p:spPr>
        <p:txBody>
          <a:bodyPr wrap="square" lIns="0" rIns="0" tIns="0" bIns="0" anchor="t">
            <a:spAutoFit/>
          </a:bodyPr>
          <a:lstStyle/>
          <a:p>
            <a:pPr algn="l">
              <a:lnSpc>
                <a:spcPct val="120000"/>
              </a:lnSpc>
              <a:spcBef>
                <a:spcPts val="0"/>
              </a:spcBef>
              <a:spcAft>
                <a:spcPts val="0"/>
              </a:spcAft>
            </a:pPr>
            <a:r>
              <a:rPr sz="1500" b="0" i="0">
                <a:solidFill>
                  <a:srgbClr val="6B7480"/>
                </a:solidFill>
                <a:latin typeface="Calibri"/>
              </a:rPr>
              <a:t>Open source: FastMCP, IBM ContextForge and Microsoft MCP Gateway. Managed: FastMCP, Kong AI Gateway, Cloudflare remote MCP, Composio, Zapier MCP and Smithery. SAJHA is proprietary and self-hosted, by decision.</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lnSpc>
                <a:spcPct val="120000"/>
              </a:lnSpc>
              <a:spcBef>
                <a:spcPts val="0"/>
              </a:spcBef>
              <a:spcAft>
                <a:spcPts val="0"/>
              </a:spcAft>
            </a:pPr>
            <a:r>
              <a:rPr sz="1050" b="1" i="0">
                <a:solidFill>
                  <a:srgbClr val="A51C30"/>
                </a:solidFill>
                <a:latin typeface="Calibri"/>
              </a:rPr>
              <a:t>WHERE TO START</a:t>
            </a:r>
          </a:p>
        </p:txBody>
      </p:sp>
      <p:sp>
        <p:nvSpPr>
          <p:cNvPr id="5" name="TextBox 4"/>
          <p:cNvSpPr txBox="1"/>
          <p:nvPr/>
        </p:nvSpPr>
        <p:spPr>
          <a:xfrm>
            <a:off x="777240" y="749808"/>
            <a:ext cx="10637215" cy="454279"/>
          </a:xfrm>
          <a:prstGeom prst="rect">
            <a:avLst/>
          </a:prstGeom>
          <a:noFill/>
        </p:spPr>
        <p:txBody>
          <a:bodyPr wrap="square" lIns="0" rIns="0" tIns="0" bIns="0" anchor="t">
            <a:spAutoFit/>
          </a:bodyPr>
          <a:lstStyle/>
          <a:p>
            <a:pPr algn="l">
              <a:lnSpc>
                <a:spcPct val="115000"/>
              </a:lnSpc>
              <a:spcBef>
                <a:spcPts val="0"/>
              </a:spcBef>
              <a:spcAft>
                <a:spcPts val="0"/>
              </a:spcAft>
            </a:pPr>
            <a:r>
              <a:rPr sz="2600" b="0" i="0">
                <a:solidFill>
                  <a:srgbClr val="1A1A1A"/>
                </a:solidFill>
                <a:latin typeface="Georgia"/>
              </a:rPr>
              <a:t>Where to start, by who you are</a:t>
            </a:r>
          </a:p>
        </p:txBody>
      </p:sp>
      <p:sp>
        <p:nvSpPr>
          <p:cNvPr id="6" name="Rectangle 5"/>
          <p:cNvSpPr/>
          <p:nvPr/>
        </p:nvSpPr>
        <p:spPr>
          <a:xfrm>
            <a:off x="777240" y="1258951"/>
            <a:ext cx="10637215" cy="10972"/>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flipH="1">
            <a:off x="1051148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591495" y="237744"/>
            <a:ext cx="80010" cy="8001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0545775" y="352044"/>
            <a:ext cx="91440" cy="0"/>
          </a:xfrm>
          <a:prstGeom prst="line">
            <a:avLst/>
          </a:prstGeom>
          <a:ln w="13970">
            <a:solidFill>
              <a:srgbClr val="A51C30"/>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557205" y="16916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7719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637215" y="317754"/>
            <a:ext cx="68580" cy="68580"/>
          </a:xfrm>
          <a:prstGeom prst="ellipse">
            <a:avLst/>
          </a:prstGeom>
          <a:noFill/>
          <a:ln w="13970">
            <a:solidFill>
              <a:srgbClr val="A51C3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01807" y="155448"/>
            <a:ext cx="685800" cy="256032"/>
          </a:xfrm>
          <a:prstGeom prst="rect">
            <a:avLst/>
          </a:prstGeom>
          <a:noFill/>
        </p:spPr>
        <p:txBody>
          <a:bodyPr wrap="square" lIns="0" rIns="0" tIns="0" bIns="0" anchor="t">
            <a:spAutoFit/>
          </a:bodyPr>
          <a:lstStyle/>
          <a:p>
            <a:pPr algn="l">
              <a:lnSpc>
                <a:spcPct val="120000"/>
              </a:lnSpc>
              <a:spcBef>
                <a:spcPts val="0"/>
              </a:spcBef>
              <a:spcAft>
                <a:spcPts val="0"/>
              </a:spcAft>
            </a:pPr>
            <a:r>
              <a:rPr sz="1100" b="1" i="0">
                <a:solidFill>
                  <a:srgbClr val="A51C30"/>
                </a:solidFill>
                <a:latin typeface="Georgia"/>
              </a:rPr>
              <a:t>SAJHA</a:t>
            </a:r>
          </a:p>
        </p:txBody>
      </p:sp>
      <p:sp>
        <p:nvSpPr>
          <p:cNvPr id="14" name="Rectangle 13"/>
          <p:cNvSpPr/>
          <p:nvPr/>
        </p:nvSpPr>
        <p:spPr>
          <a:xfrm>
            <a:off x="777240" y="6355080"/>
            <a:ext cx="10637215" cy="7315"/>
          </a:xfrm>
          <a:prstGeom prst="rect">
            <a:avLst/>
          </a:prstGeom>
          <a:solidFill>
            <a:srgbClr val="E3DE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6B7480"/>
                </a:solidFill>
                <a:latin typeface="Calibri"/>
              </a:rPr>
              <a:t>© 2025-2030 Ashutosh Sinha. All rights reserved. Proprietary.</a:t>
            </a:r>
          </a:p>
        </p:txBody>
      </p:sp>
      <p:sp>
        <p:nvSpPr>
          <p:cNvPr id="16" name="TextBox 15"/>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6B7480"/>
                </a:solidFill>
                <a:latin typeface="Calibri"/>
              </a:rPr>
              <a:t>103</a:t>
            </a:r>
          </a:p>
        </p:txBody>
      </p:sp>
      <p:sp>
        <p:nvSpPr>
          <p:cNvPr id="17" name="Rectangle 16"/>
          <p:cNvSpPr/>
          <p:nvPr/>
        </p:nvSpPr>
        <p:spPr>
          <a:xfrm>
            <a:off x="777240" y="6044184"/>
            <a:ext cx="41148" cy="2011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6044184"/>
            <a:ext cx="10362895" cy="219456"/>
          </a:xfrm>
          <a:prstGeom prst="rect">
            <a:avLst/>
          </a:prstGeom>
          <a:noFill/>
        </p:spPr>
        <p:txBody>
          <a:bodyPr wrap="square" lIns="0" rIns="0" tIns="0" bIns="0" anchor="t">
            <a:spAutoFit/>
          </a:bodyPr>
          <a:lstStyle/>
          <a:p>
            <a:pPr algn="l">
              <a:lnSpc>
                <a:spcPct val="120000"/>
              </a:lnSpc>
              <a:spcBef>
                <a:spcPts val="0"/>
              </a:spcBef>
              <a:spcAft>
                <a:spcPts val="0"/>
              </a:spcAft>
            </a:pPr>
            <a:r>
              <a:rPr sz="1200" b="0" i="1">
                <a:solidFill>
                  <a:srgbClr val="6B7480"/>
                </a:solidFill>
                <a:latin typeface="Calibri"/>
              </a:rPr>
              <a:t>Every guide named here is in docs/ and is also served inside the app under Help.</a:t>
            </a:r>
          </a:p>
        </p:txBody>
      </p:sp>
      <p:graphicFrame>
        <p:nvGraphicFramePr>
          <p:cNvPr id="19" name="Table 18"/>
          <p:cNvGraphicFramePr>
            <a:graphicFrameLocks noGrp="1"/>
          </p:cNvGraphicFramePr>
          <p:nvPr/>
        </p:nvGraphicFramePr>
        <p:xfrm>
          <a:off x="777240" y="1386967"/>
          <a:ext cx="10637213" cy="3924963"/>
        </p:xfrm>
        <a:graphic>
          <a:graphicData uri="http://schemas.openxmlformats.org/drawingml/2006/table">
            <a:tbl>
              <a:tblPr firstRow="1">
                <a:tableStyleId>{5C22544A-7EE6-4342-B048-85BDC9FD1C3A}</a:tableStyleId>
              </a:tblPr>
              <a:tblGrid>
                <a:gridCol w="2299938"/>
                <a:gridCol w="4599876"/>
                <a:gridCol w="3737399"/>
              </a:tblGrid>
              <a:tr h="350710">
                <a:tc>
                  <a:txBody>
                    <a:bodyPr wrap="square"/>
                    <a:lstStyle/>
                    <a:p>
                      <a:r>
                        <a:rPr sz="1500" b="1">
                          <a:solidFill>
                            <a:srgbClr val="FFFFFF"/>
                          </a:solidFill>
                          <a:latin typeface="Calibri"/>
                        </a:rPr>
                        <a:t>You are</a:t>
                      </a:r>
                    </a:p>
                  </a:txBody>
                  <a:tcPr marL="82296" marR="64008" marT="32004" marB="32004" anchor="ctr">
                    <a:solidFill>
                      <a:srgbClr val="A51C30"/>
                    </a:solidFill>
                  </a:tcPr>
                </a:tc>
                <a:tc>
                  <a:txBody>
                    <a:bodyPr wrap="square"/>
                    <a:lstStyle/>
                    <a:p>
                      <a:r>
                        <a:rPr sz="1500" b="1">
                          <a:solidFill>
                            <a:srgbClr val="FFFFFF"/>
                          </a:solidFill>
                          <a:latin typeface="Calibri"/>
                        </a:rPr>
                        <a:t>Do this first</a:t>
                      </a:r>
                    </a:p>
                  </a:txBody>
                  <a:tcPr marL="82296" marR="64008" marT="32004" marB="32004" anchor="ctr">
                    <a:solidFill>
                      <a:srgbClr val="A51C30"/>
                    </a:solidFill>
                  </a:tcPr>
                </a:tc>
                <a:tc>
                  <a:txBody>
                    <a:bodyPr wrap="square"/>
                    <a:lstStyle/>
                    <a:p>
                      <a:r>
                        <a:rPr sz="1500" b="1">
                          <a:solidFill>
                            <a:srgbClr val="FFFFFF"/>
                          </a:solidFill>
                          <a:latin typeface="Calibri"/>
                        </a:rPr>
                        <a:t>Then read</a:t>
                      </a:r>
                    </a:p>
                  </a:txBody>
                  <a:tcPr marL="82296" marR="64008" marT="32004" marB="32004" anchor="ctr">
                    <a:solidFill>
                      <a:srgbClr val="A51C30"/>
                    </a:solidFill>
                  </a:tcPr>
                </a:tc>
              </a:tr>
              <a:tr h="639889">
                <a:tc>
                  <a:txBody>
                    <a:bodyPr wrap="square"/>
                    <a:lstStyle/>
                    <a:p>
                      <a:r>
                        <a:rPr sz="1650" b="1">
                          <a:solidFill>
                            <a:srgbClr val="6E1120"/>
                          </a:solidFill>
                          <a:latin typeface="Calibri"/>
                        </a:rPr>
                        <a:t>Trying it</a:t>
                      </a:r>
                    </a:p>
                  </a:txBody>
                  <a:tcPr marL="82296" marR="64008" marT="32004" marB="32004" anchor="ctr">
                    <a:solidFill>
                      <a:srgbClr val="FFFFFF"/>
                    </a:solidFill>
                  </a:tcPr>
                </a:tc>
                <a:tc>
                  <a:txBody>
                    <a:bodyPr wrap="square"/>
                    <a:lstStyle/>
                    <a:p>
                      <a:r>
                        <a:rPr sz="1650" b="0">
                          <a:solidFill>
                            <a:srgbClr val="1A1A1A"/>
                          </a:solidFill>
                          <a:latin typeface="Calibri"/>
                        </a:rPr>
                        <a:t>pip install -r requirements.txt; python run_sajha_web.py; open localhost:3002</a:t>
                      </a:r>
                    </a:p>
                  </a:txBody>
                  <a:tcPr marL="82296" marR="64008" marT="32004" marB="32004" anchor="ctr">
                    <a:solidFill>
                      <a:srgbClr val="FFFFFF"/>
                    </a:solidFill>
                  </a:tcPr>
                </a:tc>
                <a:tc>
                  <a:txBody>
                    <a:bodyPr wrap="square"/>
                    <a:lstStyle/>
                    <a:p>
                      <a:r>
                        <a:rPr sz="1650" b="0">
                          <a:solidFill>
                            <a:srgbClr val="1A1A1A"/>
                          </a:solidFill>
                          <a:latin typeface="Calibri"/>
                        </a:rPr>
                        <a:t>Quick Start; the tutorials</a:t>
                      </a:r>
                    </a:p>
                  </a:txBody>
                  <a:tcPr marL="82296" marR="64008" marT="32004" marB="32004" anchor="ctr">
                    <a:solidFill>
                      <a:srgbClr val="FFFFFF"/>
                    </a:solidFill>
                  </a:tcPr>
                </a:tc>
              </a:tr>
              <a:tr h="639889">
                <a:tc>
                  <a:txBody>
                    <a:bodyPr wrap="square"/>
                    <a:lstStyle/>
                    <a:p>
                      <a:r>
                        <a:rPr sz="1650" b="1">
                          <a:solidFill>
                            <a:srgbClr val="6E1120"/>
                          </a:solidFill>
                          <a:latin typeface="Calibri"/>
                        </a:rPr>
                        <a:t>Connecting a client</a:t>
                      </a:r>
                    </a:p>
                  </a:txBody>
                  <a:tcPr marL="82296" marR="64008" marT="32004" marB="32004" anchor="ctr">
                    <a:solidFill>
                      <a:srgbClr val="F7F5F2"/>
                    </a:solidFill>
                  </a:tcPr>
                </a:tc>
                <a:tc>
                  <a:txBody>
                    <a:bodyPr wrap="square"/>
                    <a:lstStyle/>
                    <a:p>
                      <a:r>
                        <a:rPr sz="1650" b="0">
                          <a:solidFill>
                            <a:srgbClr val="1A1A1A"/>
                          </a:solidFill>
                          <a:latin typeface="Calibri"/>
                        </a:rPr>
                        <a:t>Point it at /mcp, or run sajha serve --stdio</a:t>
                      </a:r>
                    </a:p>
                  </a:txBody>
                  <a:tcPr marL="82296" marR="64008" marT="32004" marB="32004" anchor="ctr">
                    <a:solidFill>
                      <a:srgbClr val="F7F5F2"/>
                    </a:solidFill>
                  </a:tcPr>
                </a:tc>
                <a:tc>
                  <a:txBody>
                    <a:bodyPr wrap="square"/>
                    <a:lstStyle/>
                    <a:p>
                      <a:r>
                        <a:rPr sz="1650" b="0">
                          <a:solidFill>
                            <a:srgbClr val="1A1A1A"/>
                          </a:solidFill>
                          <a:latin typeface="Calibri"/>
                        </a:rPr>
                        <a:t>MCP Protocol Guide; Command Line</a:t>
                      </a:r>
                    </a:p>
                  </a:txBody>
                  <a:tcPr marL="82296" marR="64008" marT="32004" marB="32004" anchor="ctr">
                    <a:solidFill>
                      <a:srgbClr val="F7F5F2"/>
                    </a:solidFill>
                  </a:tcPr>
                </a:tc>
              </a:tr>
              <a:tr h="639889">
                <a:tc>
                  <a:txBody>
                    <a:bodyPr wrap="square"/>
                    <a:lstStyle/>
                    <a:p>
                      <a:r>
                        <a:rPr sz="1650" b="1">
                          <a:solidFill>
                            <a:srgbClr val="6E1120"/>
                          </a:solidFill>
                          <a:latin typeface="Calibri"/>
                        </a:rPr>
                        <a:t>Reviewing security</a:t>
                      </a:r>
                    </a:p>
                  </a:txBody>
                  <a:tcPr marL="82296" marR="64008" marT="32004" marB="32004" anchor="ctr">
                    <a:solidFill>
                      <a:srgbClr val="FFFFFF"/>
                    </a:solidFill>
                  </a:tcPr>
                </a:tc>
                <a:tc>
                  <a:txBody>
                    <a:bodyPr wrap="square"/>
                    <a:lstStyle/>
                    <a:p>
                      <a:r>
                        <a:rPr sz="1650" b="0">
                          <a:solidFill>
                            <a:srgbClr val="1A1A1A"/>
                          </a:solidFill>
                          <a:latin typeface="Calibri"/>
                        </a:rPr>
                        <a:t>Read the access policy; try a rule on the Policies test bench</a:t>
                      </a:r>
                    </a:p>
                  </a:txBody>
                  <a:tcPr marL="82296" marR="64008" marT="32004" marB="32004" anchor="ctr">
                    <a:solidFill>
                      <a:srgbClr val="FFFFFF"/>
                    </a:solidFill>
                  </a:tcPr>
                </a:tc>
                <a:tc>
                  <a:txBody>
                    <a:bodyPr wrap="square"/>
                    <a:lstStyle/>
                    <a:p>
                      <a:r>
                        <a:rPr sz="1650" b="0">
                          <a:solidFill>
                            <a:srgbClr val="1A1A1A"/>
                          </a:solidFill>
                          <a:latin typeface="Calibri"/>
                        </a:rPr>
                        <a:t>Security Model; Policy and Audit; OAuth Guide</a:t>
                      </a:r>
                    </a:p>
                  </a:txBody>
                  <a:tcPr marL="82296" marR="64008" marT="32004" marB="32004" anchor="ctr">
                    <a:solidFill>
                      <a:srgbClr val="FFFFFF"/>
                    </a:solidFill>
                  </a:tcPr>
                </a:tc>
              </a:tr>
              <a:tr h="639889">
                <a:tc>
                  <a:txBody>
                    <a:bodyPr wrap="square"/>
                    <a:lstStyle/>
                    <a:p>
                      <a:r>
                        <a:rPr sz="1650" b="1">
                          <a:solidFill>
                            <a:srgbClr val="6E1120"/>
                          </a:solidFill>
                          <a:latin typeface="Calibri"/>
                        </a:rPr>
                        <a:t>Adding tools</a:t>
                      </a:r>
                    </a:p>
                  </a:txBody>
                  <a:tcPr marL="82296" marR="64008" marT="32004" marB="32004" anchor="ctr">
                    <a:solidFill>
                      <a:srgbClr val="F7F5F2"/>
                    </a:solidFill>
                  </a:tcPr>
                </a:tc>
                <a:tc>
                  <a:txBody>
                    <a:bodyPr wrap="square"/>
                    <a:lstStyle/>
                    <a:p>
                      <a:r>
                        <a:rPr sz="1650" b="0">
                          <a:solidFill>
                            <a:srgbClr val="1A1A1A"/>
                          </a:solidFill>
                          <a:latin typeface="Calibri"/>
                        </a:rPr>
                        <a:t>Describe one, import an API, or connect a database</a:t>
                      </a:r>
                    </a:p>
                  </a:txBody>
                  <a:tcPr marL="82296" marR="64008" marT="32004" marB="32004" anchor="ctr">
                    <a:solidFill>
                      <a:srgbClr val="F7F5F2"/>
                    </a:solidFill>
                  </a:tcPr>
                </a:tc>
                <a:tc>
                  <a:txBody>
                    <a:bodyPr wrap="square"/>
                    <a:lstStyle/>
                    <a:p>
                      <a:r>
                        <a:rPr sz="1650" b="0">
                          <a:solidFill>
                            <a:srgbClr val="1A1A1A"/>
                          </a:solidFill>
                          <a:latin typeface="Calibri"/>
                        </a:rPr>
                        <a:t>MCP Studio User Guide</a:t>
                      </a:r>
                    </a:p>
                  </a:txBody>
                  <a:tcPr marL="82296" marR="64008" marT="32004" marB="32004" anchor="ctr">
                    <a:solidFill>
                      <a:srgbClr val="F7F5F2"/>
                    </a:solidFill>
                  </a:tcPr>
                </a:tc>
              </a:tr>
              <a:tr h="639889">
                <a:tc>
                  <a:txBody>
                    <a:bodyPr wrap="square"/>
                    <a:lstStyle/>
                    <a:p>
                      <a:r>
                        <a:rPr sz="1650" b="1">
                          <a:solidFill>
                            <a:srgbClr val="6E1120"/>
                          </a:solidFill>
                          <a:latin typeface="Calibri"/>
                        </a:rPr>
                        <a:t>Running it</a:t>
                      </a:r>
                    </a:p>
                  </a:txBody>
                  <a:tcPr marL="82296" marR="64008" marT="32004" marB="32004" anchor="ctr">
                    <a:solidFill>
                      <a:srgbClr val="FFFFFF"/>
                    </a:solidFill>
                  </a:tcPr>
                </a:tc>
                <a:tc>
                  <a:txBody>
                    <a:bodyPr wrap="square"/>
                    <a:lstStyle/>
                    <a:p>
                      <a:r>
                        <a:rPr sz="1650" b="0">
                          <a:solidFill>
                            <a:srgbClr val="1A1A1A"/>
                          </a:solidFill>
                          <a:latin typeface="Calibri"/>
                        </a:rPr>
                        <a:t>Install the Helm chart with a redis or database state backend</a:t>
                      </a:r>
                    </a:p>
                  </a:txBody>
                  <a:tcPr marL="82296" marR="64008" marT="32004" marB="32004" anchor="ctr">
                    <a:solidFill>
                      <a:srgbClr val="FFFFFF"/>
                    </a:solidFill>
                  </a:tcPr>
                </a:tc>
                <a:tc>
                  <a:txBody>
                    <a:bodyPr wrap="square"/>
                    <a:lstStyle/>
                    <a:p>
                      <a:r>
                        <a:rPr sz="1650" b="0">
                          <a:solidFill>
                            <a:srgbClr val="1A1A1A"/>
                          </a:solidFill>
                          <a:latin typeface="Calibri"/>
                        </a:rPr>
                        <a:t>Kubernetes Deployment; Scaling and State</a:t>
                      </a:r>
                    </a:p>
                  </a:txBody>
                  <a:tcPr marL="82296" marR="64008" marT="32004" marB="32004" anchor="ctr">
                    <a:solidFill>
                      <a:srgbClr val="FFFFFF"/>
                    </a:solidFill>
                  </a:tcPr>
                </a:tc>
              </a:tr>
              <a:tr h="374808">
                <a:tc>
                  <a:txBody>
                    <a:bodyPr wrap="square"/>
                    <a:lstStyle/>
                    <a:p>
                      <a:r>
                        <a:rPr sz="1650" b="1">
                          <a:solidFill>
                            <a:srgbClr val="6E1120"/>
                          </a:solidFill>
                          <a:latin typeface="Calibri"/>
                        </a:rPr>
                        <a:t>Choosing</a:t>
                      </a:r>
                    </a:p>
                  </a:txBody>
                  <a:tcPr marL="82296" marR="64008" marT="32004" marB="32004" anchor="ctr">
                    <a:solidFill>
                      <a:srgbClr val="F7F5F2"/>
                    </a:solidFill>
                  </a:tcPr>
                </a:tc>
                <a:tc>
                  <a:txBody>
                    <a:bodyPr wrap="square"/>
                    <a:lstStyle/>
                    <a:p>
                      <a:r>
                        <a:rPr sz="1650" b="0">
                          <a:solidFill>
                            <a:srgbClr val="1A1A1A"/>
                          </a:solidFill>
                          <a:latin typeface="Calibri"/>
                        </a:rPr>
                        <a:t>Open /comparison and read the sources</a:t>
                      </a:r>
                    </a:p>
                  </a:txBody>
                  <a:tcPr marL="82296" marR="64008" marT="32004" marB="32004" anchor="ctr">
                    <a:solidFill>
                      <a:srgbClr val="F7F5F2"/>
                    </a:solidFill>
                  </a:tcPr>
                </a:tc>
                <a:tc>
                  <a:txBody>
                    <a:bodyPr wrap="square"/>
                    <a:lstStyle/>
                    <a:p>
                      <a:r>
                        <a:rPr sz="1650" b="0">
                          <a:solidFill>
                            <a:srgbClr val="1A1A1A"/>
                          </a:solidFill>
                          <a:latin typeface="Calibri"/>
                        </a:rPr>
                        <a:t>How SAJHA Fits Together</a:t>
                      </a:r>
                    </a:p>
                  </a:txBody>
                  <a:tcPr marL="82296" marR="64008" marT="32004" marB="32004" anchor="ctr">
                    <a:solidFill>
                      <a:srgbClr val="F7F5F2"/>
                    </a:solidFill>
                  </a:tcPr>
                </a:tc>
              </a:tr>
            </a:tbl>
          </a:graphicData>
        </a:graphic>
      </p:graphicFrame>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6E11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flipH="1">
            <a:off x="5829147" y="1127760"/>
            <a:ext cx="266700" cy="266700"/>
          </a:xfrm>
          <a:prstGeom prst="line">
            <a:avLst/>
          </a:prstGeom>
          <a:ln w="3048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095847" y="1127760"/>
            <a:ext cx="266700" cy="266700"/>
          </a:xfrm>
          <a:prstGeom prst="line">
            <a:avLst/>
          </a:prstGeom>
          <a:ln w="3048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447" y="1508760"/>
            <a:ext cx="304800" cy="0"/>
          </a:xfrm>
          <a:prstGeom prst="line">
            <a:avLst/>
          </a:prstGeom>
          <a:ln w="3048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5981547" y="899160"/>
            <a:ext cx="228600" cy="228600"/>
          </a:xfrm>
          <a:prstGeom prst="ellipse">
            <a:avLst/>
          </a:prstGeom>
          <a:noFill/>
          <a:ln w="3048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714847" y="1394460"/>
            <a:ext cx="228600" cy="228600"/>
          </a:xfrm>
          <a:prstGeom prst="ellipse">
            <a:avLst/>
          </a:prstGeom>
          <a:noFill/>
          <a:ln w="3048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248247" y="1394460"/>
            <a:ext cx="228600" cy="228600"/>
          </a:xfrm>
          <a:prstGeom prst="ellipse">
            <a:avLst/>
          </a:prstGeom>
          <a:noFill/>
          <a:ln w="3048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057400"/>
            <a:ext cx="10637215" cy="914400"/>
          </a:xfrm>
          <a:prstGeom prst="rect">
            <a:avLst/>
          </a:prstGeom>
          <a:noFill/>
        </p:spPr>
        <p:txBody>
          <a:bodyPr wrap="square" lIns="0" rIns="0" tIns="0" bIns="0" anchor="t">
            <a:spAutoFit/>
          </a:bodyPr>
          <a:lstStyle/>
          <a:p>
            <a:pPr algn="ctr">
              <a:lnSpc>
                <a:spcPct val="120000"/>
              </a:lnSpc>
              <a:spcBef>
                <a:spcPts val="0"/>
              </a:spcBef>
              <a:spcAft>
                <a:spcPts val="0"/>
              </a:spcAft>
            </a:pPr>
            <a:r>
              <a:rPr sz="4800" b="0" i="0">
                <a:solidFill>
                  <a:srgbClr val="FFFFFF"/>
                </a:solidFill>
                <a:latin typeface="Georgia"/>
              </a:rPr>
              <a:t>Thank you</a:t>
            </a:r>
          </a:p>
        </p:txBody>
      </p:sp>
      <p:sp>
        <p:nvSpPr>
          <p:cNvPr id="11" name="Rectangle 10"/>
          <p:cNvSpPr/>
          <p:nvPr/>
        </p:nvSpPr>
        <p:spPr>
          <a:xfrm>
            <a:off x="5364327" y="3154680"/>
            <a:ext cx="1463040" cy="32004"/>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3383280"/>
            <a:ext cx="10637215" cy="2194560"/>
          </a:xfrm>
          <a:prstGeom prst="rect">
            <a:avLst/>
          </a:prstGeom>
          <a:noFill/>
        </p:spPr>
        <p:txBody>
          <a:bodyPr wrap="square" lIns="0" rIns="0" tIns="0" bIns="0" anchor="t">
            <a:spAutoFit/>
          </a:bodyPr>
          <a:lstStyle/>
          <a:p>
            <a:pPr algn="ctr">
              <a:lnSpc>
                <a:spcPct val="120000"/>
              </a:lnSpc>
              <a:spcBef>
                <a:spcPts val="0"/>
              </a:spcBef>
              <a:spcAft>
                <a:spcPts val="600"/>
              </a:spcAft>
            </a:pPr>
            <a:r>
              <a:rPr sz="2000" b="1" i="0">
                <a:solidFill>
                  <a:srgbClr val="FFFFFF"/>
                </a:solidFill>
                <a:latin typeface="Calibri"/>
              </a:rPr>
              <a:t>SAJHA MCP Server 8.9.0</a:t>
            </a:r>
          </a:p>
          <a:p>
            <a:pPr algn="ctr">
              <a:lnSpc>
                <a:spcPct val="120000"/>
              </a:lnSpc>
              <a:spcBef>
                <a:spcPts val="0"/>
              </a:spcBef>
              <a:spcAft>
                <a:spcPts val="600"/>
              </a:spcAft>
            </a:pPr>
            <a:r>
              <a:rPr sz="1600" b="0" i="0">
                <a:solidFill>
                  <a:srgbClr val="FBEEF0"/>
                </a:solidFill>
                <a:latin typeface="Calibri"/>
              </a:rPr>
              <a:t>Ashutosh Sinha</a:t>
            </a:r>
          </a:p>
          <a:p>
            <a:pPr algn="ctr">
              <a:lnSpc>
                <a:spcPct val="120000"/>
              </a:lnSpc>
              <a:spcBef>
                <a:spcPts val="0"/>
              </a:spcBef>
              <a:spcAft>
                <a:spcPts val="600"/>
              </a:spcAft>
            </a:pPr>
            <a:r>
              <a:rPr sz="1400" b="0" i="0">
                <a:solidFill>
                  <a:srgbClr val="F3C6CF"/>
                </a:solidFill>
                <a:latin typeface="Calibri"/>
              </a:rPr>
              <a:t>ajsinha@gmail.com</a:t>
            </a:r>
          </a:p>
          <a:p>
            <a:pPr algn="ctr">
              <a:lnSpc>
                <a:spcPct val="120000"/>
              </a:lnSpc>
              <a:spcBef>
                <a:spcPts val="0"/>
              </a:spcBef>
              <a:spcAft>
                <a:spcPts val="600"/>
              </a:spcAft>
            </a:pPr>
            <a:r>
              <a:rPr sz="1100" b="0" i="0">
                <a:solidFill>
                  <a:srgbClr val="F3C6CF"/>
                </a:solidFill>
                <a:latin typeface="Calibri"/>
              </a:rPr>
              <a:t>Proprietary. © 2025-2030 Ashutosh Sinha. All rights reserved. No licence is granted.</a:t>
            </a:r>
          </a:p>
          <a:p>
            <a:pPr algn="ctr">
              <a:lnSpc>
                <a:spcPct val="120000"/>
              </a:lnSpc>
              <a:spcBef>
                <a:spcPts val="0"/>
              </a:spcBef>
              <a:spcAft>
                <a:spcPts val="600"/>
              </a:spcAft>
            </a:pPr>
            <a:r>
              <a:rPr sz="1100" b="0" i="0">
                <a:solidFill>
                  <a:srgbClr val="F3C6CF"/>
                </a:solidFill>
                <a:latin typeface="Calibri"/>
              </a:rPr>
              <a:t>Licensing and enquiries: ajsinha@gmail.com</a:t>
            </a:r>
          </a:p>
        </p:txBody>
      </p:sp>
      <p:sp>
        <p:nvSpPr>
          <p:cNvPr id="13" name="Rectangle 12"/>
          <p:cNvSpPr/>
          <p:nvPr/>
        </p:nvSpPr>
        <p:spPr>
          <a:xfrm>
            <a:off x="777240" y="6355080"/>
            <a:ext cx="10637215" cy="7315"/>
          </a:xfrm>
          <a:prstGeom prst="rect">
            <a:avLst/>
          </a:prstGeom>
          <a:solidFill>
            <a:srgbClr val="F3C6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6437376"/>
            <a:ext cx="7446050" cy="219456"/>
          </a:xfrm>
          <a:prstGeom prst="rect">
            <a:avLst/>
          </a:prstGeom>
          <a:noFill/>
        </p:spPr>
        <p:txBody>
          <a:bodyPr wrap="square" lIns="0" rIns="0" tIns="0" bIns="0" anchor="t">
            <a:spAutoFit/>
          </a:bodyPr>
          <a:lstStyle/>
          <a:p>
            <a:pPr algn="l">
              <a:lnSpc>
                <a:spcPct val="120000"/>
              </a:lnSpc>
              <a:spcBef>
                <a:spcPts val="0"/>
              </a:spcBef>
              <a:spcAft>
                <a:spcPts val="0"/>
              </a:spcAft>
            </a:pPr>
            <a:r>
              <a:rPr sz="850" b="0" i="0">
                <a:solidFill>
                  <a:srgbClr val="F3C6CF"/>
                </a:solidFill>
                <a:latin typeface="Calibri"/>
              </a:rPr>
              <a:t>© 2025-2030 Ashutosh Sinha. All rights reserved. Proprietary.</a:t>
            </a:r>
          </a:p>
        </p:txBody>
      </p:sp>
      <p:sp>
        <p:nvSpPr>
          <p:cNvPr id="15" name="TextBox 14"/>
          <p:cNvSpPr txBox="1"/>
          <p:nvPr/>
        </p:nvSpPr>
        <p:spPr>
          <a:xfrm>
            <a:off x="8223290" y="6437376"/>
            <a:ext cx="3191164" cy="219456"/>
          </a:xfrm>
          <a:prstGeom prst="rect">
            <a:avLst/>
          </a:prstGeom>
          <a:noFill/>
        </p:spPr>
        <p:txBody>
          <a:bodyPr wrap="square" lIns="0" rIns="0" tIns="0" bIns="0" anchor="t">
            <a:spAutoFit/>
          </a:bodyPr>
          <a:lstStyle/>
          <a:p>
            <a:pPr algn="r">
              <a:lnSpc>
                <a:spcPct val="120000"/>
              </a:lnSpc>
              <a:spcBef>
                <a:spcPts val="0"/>
              </a:spcBef>
              <a:spcAft>
                <a:spcPts val="0"/>
              </a:spcAft>
            </a:pPr>
            <a:r>
              <a:rPr sz="850" b="1" i="0">
                <a:solidFill>
                  <a:srgbClr val="F3C6CF"/>
                </a:solidFill>
                <a:latin typeface="Calibri"/>
              </a:rPr>
              <a:t>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SAJHA MCP Server — One Protocol, Infinite Possibilities</dc:title>
  <dc:subject>The Model Context Protocol from first principles, and SAJHA: one governed catalog of tools for every agent</dc:subject>
  <dc:creator>Ashutosh Sinha</dc:creator>
  <cp:keywords>SAJHA; MCP; Model Context Protocol; tools; governance</cp:keywords>
  <dc:description>Copyright All rights Reserved 2025-2030, Ashutosh Sinha.</dc:description>
  <cp:lastModifiedBy>Ashutosh Sinha</cp:lastModifiedBy>
  <cp:revision>1</cp:revision>
  <dcterms:created xsi:type="dcterms:W3CDTF">2026-10-06T12:00:00Z</dcterms:created>
  <dcterms:modified xsi:type="dcterms:W3CDTF">2026-10-06T12:00:00Z</dcterms:modified>
  <cp:category/>
</cp:coreProperties>
</file>