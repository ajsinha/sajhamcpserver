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661 tools in 40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661 tools in 40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661 tools in 40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opensearch, weaviate and chroma)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(44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(661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(661 tools) on the offline mock provider (mock/mock-planner), planner react, question 'What is the percentage change from 80 to 100?'. Shortlist size: AskSettings().shortlist. Bar lengths are proportional to the scores.</a:t>
            </a:r>
          </a:p>
          <a:p/>
          <a:p>
            <a:r>
              <a:t>Speaker notes: No model chose these. The resolver ranked all 661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(661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58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(661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8.13.0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661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800" b="0" i="0">
                <a:solidFill>
                  <a:srgbClr val="1A1A1A"/>
                </a:solidFill>
                <a:latin typeface="Calibri"/>
              </a:rPr>
              <a:t>Next: Storage, finished; Sandbox depth: WASM; Provider tool gaps;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661 tools in 40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661 tools in 40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6220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661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661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261</a:t>
            </a:r>
          </a:p>
        </p:txBody>
      </p:sp>
      <p:sp>
        <p:nvSpPr>
          <p:cNvPr id="20" name="Rounded Rectangle 19"/>
          <p:cNvSpPr/>
          <p:nvPr/>
        </p:nvSpPr>
        <p:spPr>
          <a:xfrm>
            <a:off x="3330171" y="1899126"/>
            <a:ext cx="140851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520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2" name="Rounded Rectangle 21"/>
          <p:cNvSpPr/>
          <p:nvPr/>
        </p:nvSpPr>
        <p:spPr>
          <a:xfrm>
            <a:off x="3330171" y="2797651"/>
            <a:ext cx="74338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57</a:t>
            </a:r>
          </a:p>
        </p:txBody>
      </p:sp>
      <p:sp>
        <p:nvSpPr>
          <p:cNvPr id="23" name="Rounded Rectangle 22"/>
          <p:cNvSpPr/>
          <p:nvPr/>
        </p:nvSpPr>
        <p:spPr>
          <a:xfrm>
            <a:off x="3330171" y="3246913"/>
            <a:ext cx="6651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342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18</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development, Treasury, banks, legal entities, sanctions screening</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86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a:p>
            <a:pPr algn="ctr">
              <a:lnSpc>
                <a:spcPct val="105000"/>
              </a:lnSpc>
              <a:spcBef>
                <a:spcPts val="0"/>
              </a:spcBef>
              <a:spcAft>
                <a:spcPts val="0"/>
              </a:spcAft>
            </a:pPr>
            <a:r>
              <a:rPr sz="1200" b="0" i="0">
                <a:solidFill>
                  <a:srgbClr val="1A1A1A"/>
                </a:solidFill>
                <a:latin typeface="Calibri"/>
              </a:rPr>
              <a:t>Govern</a:t>
            </a:r>
          </a:p>
          <a:p>
            <a:pPr algn="ctr">
              <a:lnSpc>
                <a:spcPct val="105000"/>
              </a:lnSpc>
              <a:spcBef>
                <a:spcPts val="0"/>
              </a:spcBef>
              <a:spcAft>
                <a:spcPts val="0"/>
              </a:spcAft>
            </a:pPr>
            <a:r>
              <a:rPr sz="1200" b="0" i="0">
                <a:solidFill>
                  <a:srgbClr val="1A1A1A"/>
                </a:solidFill>
                <a:latin typeface="Calibri"/>
              </a:rPr>
              <a:t>Operate</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86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6220</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661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661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0.803</a:t>
            </a:r>
          </a:p>
        </p:txBody>
      </p:sp>
      <p:sp>
        <p:nvSpPr>
          <p:cNvPr id="18" name="Rounded Rectangle 17"/>
          <p:cNvSpPr/>
          <p:nvPr/>
        </p:nvSpPr>
        <p:spPr>
          <a:xfrm>
            <a:off x="3755660" y="2280909"/>
            <a:ext cx="245051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19" name="Rounded Rectangle 18"/>
          <p:cNvSpPr/>
          <p:nvPr/>
        </p:nvSpPr>
        <p:spPr>
          <a:xfrm>
            <a:off x="3755660" y="2645288"/>
            <a:ext cx="245051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20" name="Rounded Rectangle 19"/>
          <p:cNvSpPr/>
          <p:nvPr/>
        </p:nvSpPr>
        <p:spPr>
          <a:xfrm>
            <a:off x="3755660" y="3009667"/>
            <a:ext cx="229463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0.642</a:t>
            </a:r>
          </a:p>
        </p:txBody>
      </p:sp>
      <p:sp>
        <p:nvSpPr>
          <p:cNvPr id="21" name="Rounded Rectangle 20"/>
          <p:cNvSpPr/>
          <p:nvPr/>
        </p:nvSpPr>
        <p:spPr>
          <a:xfrm>
            <a:off x="3755660" y="3374046"/>
            <a:ext cx="21984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2" name="Rounded Rectangle 21"/>
          <p:cNvSpPr/>
          <p:nvPr/>
        </p:nvSpPr>
        <p:spPr>
          <a:xfrm>
            <a:off x="3755660" y="3738425"/>
            <a:ext cx="21984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3" name="Rounded Rectangle 22"/>
          <p:cNvSpPr/>
          <p:nvPr/>
        </p:nvSpPr>
        <p:spPr>
          <a:xfrm>
            <a:off x="3755660" y="4102804"/>
            <a:ext cx="218558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876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619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0.584</a:t>
            </a:r>
          </a:p>
        </p:txBody>
      </p:sp>
      <p:sp>
        <p:nvSpPr>
          <p:cNvPr id="26" name="Rounded Rectangle 25"/>
          <p:cNvSpPr/>
          <p:nvPr/>
        </p:nvSpPr>
        <p:spPr>
          <a:xfrm>
            <a:off x="3755660" y="5195940"/>
            <a:ext cx="199645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0.558</a:t>
            </a:r>
          </a:p>
        </p:txBody>
      </p:sp>
      <p:sp>
        <p:nvSpPr>
          <p:cNvPr id="27" name="Rounded Rectangle 26"/>
          <p:cNvSpPr/>
          <p:nvPr/>
        </p:nvSpPr>
        <p:spPr>
          <a:xfrm>
            <a:off x="3755660" y="5560319"/>
            <a:ext cx="197464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0.552</a:t>
            </a:r>
          </a:p>
        </p:txBody>
      </p:sp>
      <p:sp>
        <p:nvSpPr>
          <p:cNvPr id="28" name="Rounded Rectangle 27"/>
          <p:cNvSpPr/>
          <p:nvPr/>
        </p:nvSpPr>
        <p:spPr>
          <a:xfrm>
            <a:off x="3755660" y="5924698"/>
            <a:ext cx="18816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0.526</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661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58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58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108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4.0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16 larger items, among them storage, finished, sandbox depth: wasm and provider tool gaps.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8.13.0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