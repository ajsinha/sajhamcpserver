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723 tools in 53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723 tools in 53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723 tools in 53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sajha/ai/llm/providers/mock_toolsmith.py.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opensearch, weaviate and chroma)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(44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(723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(723 tools) on the offline mock provider (mock/mock-planner), planner react, question 'What is the percentage change from 80 to 100?'. Shortlist size: AskSettings().shortlist. Bar lengths are proportional to the scores.</a:t>
            </a:r>
          </a:p>
          <a:p/>
          <a:p>
            <a:r>
              <a:t>Speaker notes: No model chose these. The resolver ranked all 723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(723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56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(723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8.15.1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723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800" b="0" i="0">
                <a:solidFill>
                  <a:srgbClr val="1A1A1A"/>
                </a:solidFill>
                <a:latin typeface="Calibri"/>
              </a:rPr>
              <a:t>Next: Storage, finished; Sandbox depth: WASM; Provider tool gaps;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723 tools in 53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723 tools in 53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6597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723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20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723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260</a:t>
            </a:r>
          </a:p>
        </p:txBody>
      </p:sp>
      <p:sp>
        <p:nvSpPr>
          <p:cNvPr id="20" name="Rounded Rectangle 19"/>
          <p:cNvSpPr/>
          <p:nvPr/>
        </p:nvSpPr>
        <p:spPr>
          <a:xfrm>
            <a:off x="3330171" y="1899126"/>
            <a:ext cx="146629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112</a:t>
            </a:r>
          </a:p>
        </p:txBody>
      </p:sp>
      <p:sp>
        <p:nvSpPr>
          <p:cNvPr id="21" name="Rounded Rectangle 20"/>
          <p:cNvSpPr/>
          <p:nvPr/>
        </p:nvSpPr>
        <p:spPr>
          <a:xfrm>
            <a:off x="3330171" y="2348388"/>
            <a:ext cx="141393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2" name="Rounded Rectangle 21"/>
          <p:cNvSpPr/>
          <p:nvPr/>
        </p:nvSpPr>
        <p:spPr>
          <a:xfrm>
            <a:off x="3330171" y="2797651"/>
            <a:ext cx="1256827"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96</a:t>
            </a:r>
          </a:p>
        </p:txBody>
      </p:sp>
      <p:sp>
        <p:nvSpPr>
          <p:cNvPr id="23" name="Rounded Rectangle 22"/>
          <p:cNvSpPr/>
          <p:nvPr/>
        </p:nvSpPr>
        <p:spPr>
          <a:xfrm>
            <a:off x="3330171" y="3246913"/>
            <a:ext cx="66768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51</a:t>
            </a:r>
          </a:p>
        </p:txBody>
      </p:sp>
      <p:sp>
        <p:nvSpPr>
          <p:cNvPr id="24" name="Rounded Rectangle 23"/>
          <p:cNvSpPr/>
          <p:nvPr/>
        </p:nvSpPr>
        <p:spPr>
          <a:xfrm>
            <a:off x="3330171" y="3696176"/>
            <a:ext cx="445126"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25</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Outlooks, national statistics, Treasury, banks, energy, sanctions, hazards, spending</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SQL over files, pivots, calculators, business calendars, metrics</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Web and news search, news coverage, research literature, extraction, crawling</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reports, SAJHA's own guides</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86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a:p>
            <a:pPr algn="ctr">
              <a:lnSpc>
                <a:spcPct val="105000"/>
              </a:lnSpc>
              <a:spcBef>
                <a:spcPts val="0"/>
              </a:spcBef>
              <a:spcAft>
                <a:spcPts val="0"/>
              </a:spcAft>
            </a:pPr>
            <a:r>
              <a:rPr sz="1200" b="0" i="0">
                <a:solidFill>
                  <a:srgbClr val="1A1A1A"/>
                </a:solidFill>
                <a:latin typeface="Calibri"/>
              </a:rPr>
              <a:t>Govern</a:t>
            </a:r>
          </a:p>
          <a:p>
            <a:pPr algn="ctr">
              <a:lnSpc>
                <a:spcPct val="105000"/>
              </a:lnSpc>
              <a:spcBef>
                <a:spcPts val="0"/>
              </a:spcBef>
              <a:spcAft>
                <a:spcPts val="0"/>
              </a:spcAft>
            </a:pPr>
            <a:r>
              <a:rPr sz="1200" b="0" i="0">
                <a:solidFill>
                  <a:srgbClr val="1A1A1A"/>
                </a:solidFill>
                <a:latin typeface="Calibri"/>
              </a:rPr>
              <a:t>Operate</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86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30</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15</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Credentials followed a redirect to another origin</a:t>
                      </a:r>
                    </a:p>
                  </a:txBody>
                  <a:tcPr marL="82296" marR="64008" marT="32004" marB="32004" anchor="ctr">
                    <a:solidFill>
                      <a:srgbClr val="FFFFFF"/>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6597</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3804472"/>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The URLs listed in a website's XML sitemap</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Recent news search through the Tavily search API (topic news…</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Crawl a website breadth-first from a start URL, up to 3 link…</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In-depth research search through the Tavily search API…</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Readable content of one web page: title, h1-h3 headings, plain…</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General web search through the Tavily search API</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All hyperlinks (&lt;a href&gt;) on one web page, marked internal or…</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The full plain-text content of one Wikipedia article, split…</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SEO and structural metadata of one web page: title, meta…</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The lead (introduction) of one Wikipedia article as plain text…</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Web search through the Tavily search API restricted to, or…</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 (MediaWiki…</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Grouped aggregation on one DuckDB table without writing SQL</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Pivot table over a semantic-layer OLAP dataset in DuckDB: row…</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Column definitions and row count of one DuckDB table…</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Time series over a semantic-layer OLAP dataset in DuckDB…</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Column statistics for one DuckDB table</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Counts the rows of one configured data source, optionally…</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Lists the data files in the DuckDB data folder…</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Columns and row count of one configured data source</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Lists the tables in the DuckDB sandbox with row counts</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Runs a SQL SELECT over the configured data sources with DuckDB</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(SELECT, WITH, FROM, EXPLAIN…</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Column names and types of one configured data source, without a…</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Reloads the DuckDB sandbox from the data files and reports row…</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Lists the configured SQL Select data sources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with DuckDB over the…</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First rows of one configured data source, for a quick preview</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49445"/>
        </p:xfrm>
        <a:graphic>
          <a:graphicData uri="http://schemas.openxmlformats.org/drawingml/2006/table">
            <a:tbl>
              <a:tblPr firstRow="1">
                <a:tableStyleId>{5C22544A-7EE6-4342-B048-85BDC9FD1C3A}</a:tableStyleId>
              </a:tblPr>
              <a:tblGrid>
                <a:gridCol w="2087048"/>
                <a:gridCol w="3231559"/>
                <a:gridCol w="2087048"/>
                <a:gridCol w="3231559"/>
              </a:tblGrid>
              <a:tr h="278415">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r>
              <a:tr h="447103">
                <a:tc>
                  <a:txBody>
                    <a:bodyPr wrap="square"/>
                    <a:lstStyle/>
                    <a:p>
                      <a:r>
                        <a:rPr sz="1050" b="1">
                          <a:solidFill>
                            <a:srgbClr val="6E1120"/>
                          </a:solidFill>
                          <a:latin typeface="Calibri"/>
                        </a:rPr>
                        <a:t>calc_beta</a:t>
                      </a:r>
                    </a:p>
                  </a:txBody>
                  <a:tcPr marL="82296" marR="64008" marT="32004" marB="32004" anchor="ctr">
                    <a:solidFill>
                      <a:srgbClr val="FFFFFF"/>
                    </a:solidFill>
                  </a:tcPr>
                </a:tc>
                <a:tc>
                  <a:txBody>
                    <a:bodyPr wrap="square"/>
                    <a:lstStyle/>
                    <a:p>
                      <a:r>
                        <a:rPr sz="1050" b="0">
                          <a:solidFill>
                            <a:srgbClr val="1A1A1A"/>
                          </a:solidFill>
                          <a:latin typeface="Calibri"/>
                        </a:rPr>
                        <a:t>Beta of a stock against the market: covariance of the two…</a:t>
                      </a:r>
                    </a:p>
                  </a:txBody>
                  <a:tcPr marL="82296" marR="64008" marT="32004" marB="32004" anchor="ctr">
                    <a:solidFill>
                      <a:srgbClr val="FFFFFF"/>
                    </a:solidFill>
                  </a:tcPr>
                </a:tc>
                <a:tc>
                  <a:txBody>
                    <a:bodyPr wrap="square"/>
                    <a:lstStyle/>
                    <a:p>
                      <a:r>
                        <a:rPr sz="1050" b="0">
                          <a:solidFill>
                            <a:srgbClr val="1A1A1A"/>
                          </a:solidFill>
                          <a:latin typeface="Calibri"/>
                        </a:rPr>
                        <a:t>calc_loan_amortization</a:t>
                      </a:r>
                    </a:p>
                  </a:txBody>
                  <a:tcPr marL="82296" marR="64008" marT="32004" marB="32004" anchor="ctr">
                    <a:solidFill>
                      <a:srgbClr val="FFFFFF"/>
                    </a:solidFill>
                  </a:tcPr>
                </a:tc>
                <a:tc>
                  <a:txBody>
                    <a:bodyPr wrap="square"/>
                    <a:lstStyle/>
                    <a:p>
                      <a:r>
                        <a:rPr sz="1050" b="0">
                          <a:solidFill>
                            <a:srgbClr val="1A1A1A"/>
                          </a:solidFill>
                          <a:latin typeface="Calibri"/>
                        </a:rPr>
                        <a:t>Fixed-payment loan schedule: monthly payment from the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calc_black_scholes</a:t>
                      </a:r>
                    </a:p>
                  </a:txBody>
                  <a:tcPr marL="82296" marR="64008" marT="32004" marB="32004" anchor="ctr">
                    <a:solidFill>
                      <a:srgbClr val="F7F5F2"/>
                    </a:solidFill>
                  </a:tcPr>
                </a:tc>
                <a:tc>
                  <a:txBody>
                    <a:bodyPr wrap="square"/>
                    <a:lstStyle/>
                    <a:p>
                      <a:r>
                        <a:rPr sz="1050" b="0">
                          <a:solidFill>
                            <a:srgbClr val="1A1A1A"/>
                          </a:solidFill>
                          <a:latin typeface="Calibri"/>
                        </a:rPr>
                        <a:t>Black-Scholes prices of a European call and put on a…</a:t>
                      </a:r>
                    </a:p>
                  </a:txBody>
                  <a:tcPr marL="82296" marR="64008" marT="32004" marB="32004" anchor="ctr">
                    <a:solidFill>
                      <a:srgbClr val="F7F5F2"/>
                    </a:solidFill>
                  </a:tcPr>
                </a:tc>
                <a:tc>
                  <a:txBody>
                    <a:bodyPr wrap="square"/>
                    <a:lstStyle/>
                    <a:p>
                      <a:r>
                        <a:rPr sz="1050" b="0">
                          <a:solidFill>
                            <a:srgbClr val="1A1A1A"/>
                          </a:solidFill>
                          <a:latin typeface="Calibri"/>
                        </a:rPr>
                        <a:t>calc_max_drawdown</a:t>
                      </a:r>
                    </a:p>
                  </a:txBody>
                  <a:tcPr marL="82296" marR="64008" marT="32004" marB="32004" anchor="ctr">
                    <a:solidFill>
                      <a:srgbClr val="F7F5F2"/>
                    </a:solidFill>
                  </a:tcPr>
                </a:tc>
                <a:tc>
                  <a:txBody>
                    <a:bodyPr wrap="square"/>
                    <a:lstStyle/>
                    <a:p>
                      <a:r>
                        <a:rPr sz="1050" b="0">
                          <a:solidFill>
                            <a:srgbClr val="1A1A1A"/>
                          </a:solidFill>
                          <a:latin typeface="Calibri"/>
                        </a:rPr>
                        <a:t>Maximum drawdown of a value series: the largest fall from a…</a:t>
                      </a:r>
                    </a:p>
                  </a:txBody>
                  <a:tcPr marL="82296" marR="64008" marT="32004" marB="32004" anchor="ctr">
                    <a:solidFill>
                      <a:srgbClr val="F7F5F2"/>
                    </a:solidFill>
                  </a:tcPr>
                </a:tc>
              </a:tr>
              <a:tr h="447103">
                <a:tc>
                  <a:txBody>
                    <a:bodyPr wrap="square"/>
                    <a:lstStyle/>
                    <a:p>
                      <a:r>
                        <a:rPr sz="1050" b="1">
                          <a:solidFill>
                            <a:srgbClr val="6E1120"/>
                          </a:solidFill>
                          <a:latin typeface="Calibri"/>
                        </a:rPr>
                        <a:t>calc_bond_price</a:t>
                      </a:r>
                    </a:p>
                  </a:txBody>
                  <a:tcPr marL="82296" marR="64008" marT="32004" marB="32004" anchor="ctr">
                    <a:solidFill>
                      <a:srgbClr val="FFFFFF"/>
                    </a:solidFill>
                  </a:tcPr>
                </a:tc>
                <a:tc>
                  <a:txBody>
                    <a:bodyPr wrap="square"/>
                    <a:lstStyle/>
                    <a:p>
                      <a:r>
                        <a:rPr sz="1050" b="0">
                          <a:solidFill>
                            <a:srgbClr val="1A1A1A"/>
                          </a:solidFill>
                          <a:latin typeface="Calibri"/>
                        </a:rPr>
                        <a:t>Price of a fixed-coupon bond with semi-annual coupons…</a:t>
                      </a:r>
                    </a:p>
                  </a:txBody>
                  <a:tcPr marL="82296" marR="64008" marT="32004" marB="32004" anchor="ctr">
                    <a:solidFill>
                      <a:srgbClr val="FFFFFF"/>
                    </a:solidFill>
                  </a:tcPr>
                </a:tc>
                <a:tc>
                  <a:txBody>
                    <a:bodyPr wrap="square"/>
                    <a:lstStyle/>
                    <a:p>
                      <a:r>
                        <a:rPr sz="1050" b="0">
                          <a:solidFill>
                            <a:srgbClr val="1A1A1A"/>
                          </a:solidFill>
                          <a:latin typeface="Calibri"/>
                        </a:rPr>
                        <a:t>calc_npv</a:t>
                      </a:r>
                    </a:p>
                  </a:txBody>
                  <a:tcPr marL="82296" marR="64008" marT="32004" marB="32004" anchor="ctr">
                    <a:solidFill>
                      <a:srgbClr val="FFFFFF"/>
                    </a:solidFill>
                  </a:tcPr>
                </a:tc>
                <a:tc>
                  <a:txBody>
                    <a:bodyPr wrap="square"/>
                    <a:lstStyle/>
                    <a:p>
                      <a:r>
                        <a:rPr sz="1050" b="0">
                          <a:solidFill>
                            <a:srgbClr val="1A1A1A"/>
                          </a:solidFill>
                          <a:latin typeface="Calibri"/>
                        </a:rPr>
                        <a:t>Net present value of a cash flow series: NPV = sum of CF_i / (1…</a:t>
                      </a:r>
                    </a:p>
                  </a:txBody>
                  <a:tcPr marL="82296" marR="64008" marT="32004" marB="32004" anchor="ctr">
                    <a:solidFill>
                      <a:srgbClr val="FFFFFF"/>
                    </a:solidFill>
                  </a:tcPr>
                </a:tc>
              </a:tr>
              <a:tr h="447103">
                <a:tc>
                  <a:txBody>
                    <a:bodyPr wrap="square"/>
                    <a:lstStyle/>
                    <a:p>
                      <a:r>
                        <a:rPr sz="1050" b="1">
                          <a:solidFill>
                            <a:srgbClr val="6E1120"/>
                          </a:solidFill>
                          <a:latin typeface="Calibri"/>
                        </a:rPr>
                        <a:t>calc_capm</a:t>
                      </a:r>
                    </a:p>
                  </a:txBody>
                  <a:tcPr marL="82296" marR="64008" marT="32004" marB="32004" anchor="ctr">
                    <a:solidFill>
                      <a:srgbClr val="F7F5F2"/>
                    </a:solidFill>
                  </a:tcPr>
                </a:tc>
                <a:tc>
                  <a:txBody>
                    <a:bodyPr wrap="square"/>
                    <a:lstStyle/>
                    <a:p>
                      <a:r>
                        <a:rPr sz="1050" b="0">
                          <a:solidFill>
                            <a:srgbClr val="1A1A1A"/>
                          </a:solidFill>
                          <a:latin typeface="Calibri"/>
                        </a:rPr>
                        <a:t>Expected return under the Capital Asset Pricing Model: rf +…</a:t>
                      </a:r>
                    </a:p>
                  </a:txBody>
                  <a:tcPr marL="82296" marR="64008" marT="32004" marB="32004" anchor="ctr">
                    <a:solidFill>
                      <a:srgbClr val="F7F5F2"/>
                    </a:solidFill>
                  </a:tcPr>
                </a:tc>
                <a:tc>
                  <a:txBody>
                    <a:bodyPr wrap="square"/>
                    <a:lstStyle/>
                    <a:p>
                      <a:r>
                        <a:rPr sz="1050" b="0">
                          <a:solidFill>
                            <a:srgbClr val="1A1A1A"/>
                          </a:solidFill>
                          <a:latin typeface="Calibri"/>
                        </a:rPr>
                        <a:t>calc_percentage_change</a:t>
                      </a:r>
                    </a:p>
                  </a:txBody>
                  <a:tcPr marL="82296" marR="64008" marT="32004" marB="32004" anchor="ctr">
                    <a:solidFill>
                      <a:srgbClr val="F7F5F2"/>
                    </a:solidFill>
                  </a:tcPr>
                </a:tc>
                <a:tc>
                  <a:txBody>
                    <a:bodyPr wrap="square"/>
                    <a:lstStyle/>
                    <a:p>
                      <a:r>
                        <a:rPr sz="1050" b="0">
                          <a:solidFill>
                            <a:srgbClr val="1A1A1A"/>
                          </a:solidFill>
                          <a:latin typeface="Calibri"/>
                        </a:rPr>
                        <a:t>Percentage change from an old value to a new value: (new - old)…</a:t>
                      </a:r>
                    </a:p>
                  </a:txBody>
                  <a:tcPr marL="82296" marR="64008" marT="32004" marB="32004" anchor="ctr">
                    <a:solidFill>
                      <a:srgbClr val="F7F5F2"/>
                    </a:solidFill>
                  </a:tcPr>
                </a:tc>
              </a:tr>
              <a:tr h="447103">
                <a:tc>
                  <a:txBody>
                    <a:bodyPr wrap="square"/>
                    <a:lstStyle/>
                    <a:p>
                      <a:r>
                        <a:rPr sz="1050" b="1">
                          <a:solidFill>
                            <a:srgbClr val="6E1120"/>
                          </a:solidFill>
                          <a:latin typeface="Calibri"/>
                        </a:rPr>
                        <a:t>calc_compound_interest</a:t>
                      </a:r>
                    </a:p>
                  </a:txBody>
                  <a:tcPr marL="82296" marR="64008" marT="32004" marB="32004" anchor="ctr">
                    <a:solidFill>
                      <a:srgbClr val="FFFFFF"/>
                    </a:solidFill>
                  </a:tcPr>
                </a:tc>
                <a:tc>
                  <a:txBody>
                    <a:bodyPr wrap="square"/>
                    <a:lstStyle/>
                    <a:p>
                      <a:r>
                        <a:rPr sz="1050" b="0">
                          <a:solidFill>
                            <a:srgbClr val="1A1A1A"/>
                          </a:solidFill>
                          <a:latin typeface="Calibri"/>
                        </a:rPr>
                        <a:t>Future value of a lump sum with periodic compounding: FV = P(1…</a:t>
                      </a:r>
                    </a:p>
                  </a:txBody>
                  <a:tcPr marL="82296" marR="64008" marT="32004" marB="32004" anchor="ctr">
                    <a:solidFill>
                      <a:srgbClr val="FFFFFF"/>
                    </a:solidFill>
                  </a:tcPr>
                </a:tc>
                <a:tc>
                  <a:txBody>
                    <a:bodyPr wrap="square"/>
                    <a:lstStyle/>
                    <a:p>
                      <a:r>
                        <a:rPr sz="1050" b="0">
                          <a:solidFill>
                            <a:srgbClr val="1A1A1A"/>
                          </a:solidFill>
                          <a:latin typeface="Calibri"/>
                        </a:rPr>
                        <a:t>calc_present_value</a:t>
                      </a:r>
                    </a:p>
                  </a:txBody>
                  <a:tcPr marL="82296" marR="64008" marT="32004" marB="32004" anchor="ctr">
                    <a:solidFill>
                      <a:srgbClr val="FFFFFF"/>
                    </a:solidFill>
                  </a:tcPr>
                </a:tc>
                <a:tc>
                  <a:txBody>
                    <a:bodyPr wrap="square"/>
                    <a:lstStyle/>
                    <a:p>
                      <a:r>
                        <a:rPr sz="1050" b="0">
                          <a:solidFill>
                            <a:srgbClr val="1A1A1A"/>
                          </a:solidFill>
                          <a:latin typeface="Calibri"/>
                        </a:rPr>
                        <a:t>Present value of a single future amount with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calc_correlation</a:t>
                      </a:r>
                    </a:p>
                  </a:txBody>
                  <a:tcPr marL="82296" marR="64008" marT="32004" marB="32004" anchor="ctr">
                    <a:solidFill>
                      <a:srgbClr val="F7F5F2"/>
                    </a:solidFill>
                  </a:tcPr>
                </a:tc>
                <a:tc>
                  <a:txBody>
                    <a:bodyPr wrap="square"/>
                    <a:lstStyle/>
                    <a:p>
                      <a:r>
                        <a:rPr sz="1050" b="0">
                          <a:solidFill>
                            <a:srgbClr val="1A1A1A"/>
                          </a:solidFill>
                          <a:latin typeface="Calibri"/>
                        </a:rPr>
                        <a:t>Pearson correlation of two numeric series (population…</a:t>
                      </a:r>
                    </a:p>
                  </a:txBody>
                  <a:tcPr marL="82296" marR="64008" marT="32004" marB="32004" anchor="ctr">
                    <a:solidFill>
                      <a:srgbClr val="F7F5F2"/>
                    </a:solidFill>
                  </a:tcPr>
                </a:tc>
                <a:tc>
                  <a:txBody>
                    <a:bodyPr wrap="square"/>
                    <a:lstStyle/>
                    <a:p>
                      <a:r>
                        <a:rPr sz="1050" b="0">
                          <a:solidFill>
                            <a:srgbClr val="1A1A1A"/>
                          </a:solidFill>
                          <a:latin typeface="Calibri"/>
                        </a:rPr>
                        <a:t>calc_retirement</a:t>
                      </a:r>
                    </a:p>
                  </a:txBody>
                  <a:tcPr marL="82296" marR="64008" marT="32004" marB="32004" anchor="ctr">
                    <a:solidFill>
                      <a:srgbClr val="F7F5F2"/>
                    </a:solidFill>
                  </a:tcPr>
                </a:tc>
                <a:tc>
                  <a:txBody>
                    <a:bodyPr wrap="square"/>
                    <a:lstStyle/>
                    <a:p>
                      <a:r>
                        <a:rPr sz="1050" b="0">
                          <a:solidFill>
                            <a:srgbClr val="1A1A1A"/>
                          </a:solidFill>
                          <a:latin typeface="Calibri"/>
                        </a:rPr>
                        <a:t>Retirement savings projection: compounds the balance annually…</a:t>
                      </a:r>
                    </a:p>
                  </a:txBody>
                  <a:tcPr marL="82296" marR="64008" marT="32004" marB="32004" anchor="ctr">
                    <a:solidFill>
                      <a:srgbClr val="F7F5F2"/>
                    </a:solidFill>
                  </a:tcPr>
                </a:tc>
              </a:tr>
              <a:tr h="447103">
                <a:tc>
                  <a:txBody>
                    <a:bodyPr wrap="square"/>
                    <a:lstStyle/>
                    <a:p>
                      <a:r>
                        <a:rPr sz="1050" b="1">
                          <a:solidFill>
                            <a:srgbClr val="6E1120"/>
                          </a:solidFill>
                          <a:latin typeface="Calibri"/>
                        </a:rPr>
                        <a:t>calc_currency_converter</a:t>
                      </a:r>
                    </a:p>
                  </a:txBody>
                  <a:tcPr marL="82296" marR="64008" marT="32004" marB="32004" anchor="ctr">
                    <a:solidFill>
                      <a:srgbClr val="FFFFFF"/>
                    </a:solidFill>
                  </a:tcPr>
                </a:tc>
                <a:tc>
                  <a:txBody>
                    <a:bodyPr wrap="square"/>
                    <a:lstStyle/>
                    <a:p>
                      <a:r>
                        <a:rPr sz="1050" b="0">
                          <a:solidFill>
                            <a:srgbClr val="1A1A1A"/>
                          </a:solidFill>
                          <a:latin typeface="Calibri"/>
                        </a:rPr>
                        <a:t>Converts an amount between currencies at the latest rate from…</a:t>
                      </a:r>
                    </a:p>
                  </a:txBody>
                  <a:tcPr marL="82296" marR="64008" marT="32004" marB="32004" anchor="ctr">
                    <a:solidFill>
                      <a:srgbClr val="FFFFFF"/>
                    </a:solidFill>
                  </a:tcPr>
                </a:tc>
                <a:tc>
                  <a:txBody>
                    <a:bodyPr wrap="square"/>
                    <a:lstStyle/>
                    <a:p>
                      <a:r>
                        <a:rPr sz="1050" b="0">
                          <a:solidFill>
                            <a:srgbClr val="1A1A1A"/>
                          </a:solidFill>
                          <a:latin typeface="Calibri"/>
                        </a:rPr>
                        <a:t>calc_sharpe_ratio</a:t>
                      </a:r>
                    </a:p>
                  </a:txBody>
                  <a:tcPr marL="82296" marR="64008" marT="32004" marB="32004" anchor="ctr">
                    <a:solidFill>
                      <a:srgbClr val="FFFFFF"/>
                    </a:solidFill>
                  </a:tcPr>
                </a:tc>
                <a:tc>
                  <a:txBody>
                    <a:bodyPr wrap="square"/>
                    <a:lstStyle/>
                    <a:p>
                      <a:r>
                        <a:rPr sz="1050" b="0">
                          <a:solidFill>
                            <a:srgbClr val="1A1A1A"/>
                          </a:solidFill>
                          <a:latin typeface="Calibri"/>
                        </a:rPr>
                        <a:t>Sharpe ratio: (portfolio return - risk-free rate) / volatility</a:t>
                      </a:r>
                    </a:p>
                  </a:txBody>
                  <a:tcPr marL="82296" marR="64008" marT="32004" marB="32004" anchor="ctr">
                    <a:solidFill>
                      <a:srgbClr val="FFFFFF"/>
                    </a:solidFill>
                  </a:tcPr>
                </a:tc>
              </a:tr>
              <a:tr h="447103">
                <a:tc>
                  <a:txBody>
                    <a:bodyPr wrap="square"/>
                    <a:lstStyle/>
                    <a:p>
                      <a:r>
                        <a:rPr sz="1050" b="1">
                          <a:solidFill>
                            <a:srgbClr val="6E1120"/>
                          </a:solidFill>
                          <a:latin typeface="Calibri"/>
                        </a:rPr>
                        <a:t>calc_dcf_model</a:t>
                      </a:r>
                    </a:p>
                  </a:txBody>
                  <a:tcPr marL="82296" marR="64008" marT="32004" marB="32004" anchor="ctr">
                    <a:solidFill>
                      <a:srgbClr val="F7F5F2"/>
                    </a:solidFill>
                  </a:tcPr>
                </a:tc>
                <a:tc>
                  <a:txBody>
                    <a:bodyPr wrap="square"/>
                    <a:lstStyle/>
                    <a:p>
                      <a:r>
                        <a:rPr sz="1050" b="0">
                          <a:solidFill>
                            <a:srgbClr val="1A1A1A"/>
                          </a:solidFill>
                          <a:latin typeface="Calibri"/>
                        </a:rPr>
                        <a:t>Enterprise value by discounted cash flow: grows free cash flow…</a:t>
                      </a:r>
                    </a:p>
                  </a:txBody>
                  <a:tcPr marL="82296" marR="64008" marT="32004" marB="32004" anchor="ctr">
                    <a:solidFill>
                      <a:srgbClr val="F7F5F2"/>
                    </a:solidFill>
                  </a:tcPr>
                </a:tc>
                <a:tc>
                  <a:txBody>
                    <a:bodyPr wrap="square"/>
                    <a:lstStyle/>
                    <a:p>
                      <a:r>
                        <a:rPr sz="1050" b="0">
                          <a:solidFill>
                            <a:srgbClr val="1A1A1A"/>
                          </a:solidFill>
                          <a:latin typeface="Calibri"/>
                        </a:rPr>
                        <a:t>calc_sortino_ratio</a:t>
                      </a:r>
                    </a:p>
                  </a:txBody>
                  <a:tcPr marL="82296" marR="64008" marT="32004" marB="32004" anchor="ctr">
                    <a:solidFill>
                      <a:srgbClr val="F7F5F2"/>
                    </a:solidFill>
                  </a:tcPr>
                </a:tc>
                <a:tc>
                  <a:txBody>
                    <a:bodyPr wrap="square"/>
                    <a:lstStyle/>
                    <a:p>
                      <a:r>
                        <a:rPr sz="1050" b="0">
                          <a:solidFill>
                            <a:srgbClr val="1A1A1A"/>
                          </a:solidFill>
                          <a:latin typeface="Calibri"/>
                        </a:rPr>
                        <a:t>Sortino ratio: (portfolio return - risk-free rate) / downside…</a:t>
                      </a:r>
                    </a:p>
                  </a:txBody>
                  <a:tcPr marL="82296" marR="64008" marT="32004" marB="32004" anchor="ctr">
                    <a:solidFill>
                      <a:srgbClr val="F7F5F2"/>
                    </a:solidFill>
                  </a:tcPr>
                </a:tc>
              </a:tr>
              <a:tr h="447103">
                <a:tc>
                  <a:txBody>
                    <a:bodyPr wrap="square"/>
                    <a:lstStyle/>
                    <a:p>
                      <a:r>
                        <a:rPr sz="1050" b="1">
                          <a:solidFill>
                            <a:srgbClr val="6E1120"/>
                          </a:solidFill>
                          <a:latin typeface="Calibri"/>
                        </a:rPr>
                        <a:t>calc_future_value</a:t>
                      </a:r>
                    </a:p>
                  </a:txBody>
                  <a:tcPr marL="82296" marR="64008" marT="32004" marB="32004" anchor="ctr">
                    <a:solidFill>
                      <a:srgbClr val="FFFFFF"/>
                    </a:solidFill>
                  </a:tcPr>
                </a:tc>
                <a:tc>
                  <a:txBody>
                    <a:bodyPr wrap="square"/>
                    <a:lstStyle/>
                    <a:p>
                      <a:r>
                        <a:rPr sz="1050" b="0">
                          <a:solidFill>
                            <a:srgbClr val="1A1A1A"/>
                          </a:solidFill>
                          <a:latin typeface="Calibri"/>
                        </a:rPr>
                        <a:t>Future value of a single present amount with annual…</a:t>
                      </a:r>
                    </a:p>
                  </a:txBody>
                  <a:tcPr marL="82296" marR="64008" marT="32004" marB="32004" anchor="ctr">
                    <a:solidFill>
                      <a:srgbClr val="FFFFFF"/>
                    </a:solidFill>
                  </a:tcPr>
                </a:tc>
                <a:tc>
                  <a:txBody>
                    <a:bodyPr wrap="square"/>
                    <a:lstStyle/>
                    <a:p>
                      <a:r>
                        <a:rPr sz="1050" b="0">
                          <a:solidFill>
                            <a:srgbClr val="1A1A1A"/>
                          </a:solidFill>
                          <a:latin typeface="Calibri"/>
                        </a:rPr>
                        <a:t>calc_wacc</a:t>
                      </a:r>
                    </a:p>
                  </a:txBody>
                  <a:tcPr marL="82296" marR="64008" marT="32004" marB="32004" anchor="ctr">
                    <a:solidFill>
                      <a:srgbClr val="FFFFFF"/>
                    </a:solidFill>
                  </a:tcPr>
                </a:tc>
                <a:tc>
                  <a:txBody>
                    <a:bodyPr wrap="square"/>
                    <a:lstStyle/>
                    <a:p>
                      <a:r>
                        <a:rPr sz="1050" b="0">
                          <a:solidFill>
                            <a:srgbClr val="1A1A1A"/>
                          </a:solidFill>
                          <a:latin typeface="Calibri"/>
                        </a:rPr>
                        <a:t>Weighted average cost of capital: E/V * cost of equity + D/V *…</a:t>
                      </a:r>
                    </a:p>
                  </a:txBody>
                  <a:tcPr marL="82296" marR="64008" marT="32004" marB="32004" anchor="ctr">
                    <a:solidFill>
                      <a:srgbClr val="FFFFFF"/>
                    </a:solidFill>
                  </a:tcPr>
                </a:tc>
              </a:tr>
              <a:tr h="447103">
                <a:tc>
                  <a:txBody>
                    <a:bodyPr wrap="square"/>
                    <a:lstStyle/>
                    <a:p>
                      <a:r>
                        <a:rPr sz="1050" b="1">
                          <a:solidFill>
                            <a:srgbClr val="6E1120"/>
                          </a:solidFill>
                          <a:latin typeface="Calibri"/>
                        </a:rPr>
                        <a:t>calc_irr</a:t>
                      </a:r>
                    </a:p>
                  </a:txBody>
                  <a:tcPr marL="82296" marR="64008" marT="32004" marB="32004" anchor="ctr">
                    <a:solidFill>
                      <a:srgbClr val="F7F5F2"/>
                    </a:solidFill>
                  </a:tcPr>
                </a:tc>
                <a:tc>
                  <a:txBody>
                    <a:bodyPr wrap="square"/>
                    <a:lstStyle/>
                    <a:p>
                      <a:r>
                        <a:rPr sz="1050" b="0">
                          <a:solidFill>
                            <a:srgbClr val="1A1A1A"/>
                          </a:solidFill>
                          <a:latin typeface="Calibri"/>
                        </a:rPr>
                        <a:t>Internal rate of return of a cash flow series (the rate where…</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19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huggingface</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7" name="Rounded Rectangle 36"/>
          <p:cNvSpPr/>
          <p:nvPr/>
        </p:nvSpPr>
        <p:spPr>
          <a:xfrm>
            <a:off x="543102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8" name="Rounded Rectangle 37"/>
          <p:cNvSpPr/>
          <p:nvPr/>
        </p:nvSpPr>
        <p:spPr>
          <a:xfrm>
            <a:off x="6982282"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6" name="Rounded Rectangle 45"/>
          <p:cNvSpPr/>
          <p:nvPr/>
        </p:nvSpPr>
        <p:spPr>
          <a:xfrm>
            <a:off x="853354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7" name="Connector 46"/>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723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723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0.805</a:t>
            </a:r>
          </a:p>
        </p:txBody>
      </p:sp>
      <p:sp>
        <p:nvSpPr>
          <p:cNvPr id="18" name="Rounded Rectangle 17"/>
          <p:cNvSpPr/>
          <p:nvPr/>
        </p:nvSpPr>
        <p:spPr>
          <a:xfrm>
            <a:off x="3755660" y="2280909"/>
            <a:ext cx="24473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0.686</a:t>
            </a:r>
          </a:p>
        </p:txBody>
      </p:sp>
      <p:sp>
        <p:nvSpPr>
          <p:cNvPr id="19" name="Rounded Rectangle 18"/>
          <p:cNvSpPr/>
          <p:nvPr/>
        </p:nvSpPr>
        <p:spPr>
          <a:xfrm>
            <a:off x="3755660" y="2645288"/>
            <a:ext cx="24473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0.686</a:t>
            </a:r>
          </a:p>
        </p:txBody>
      </p:sp>
      <p:sp>
        <p:nvSpPr>
          <p:cNvPr id="20" name="Rounded Rectangle 19"/>
          <p:cNvSpPr/>
          <p:nvPr/>
        </p:nvSpPr>
        <p:spPr>
          <a:xfrm>
            <a:off x="3755660" y="3009667"/>
            <a:ext cx="229456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0.643</a:t>
            </a:r>
          </a:p>
        </p:txBody>
      </p:sp>
      <p:sp>
        <p:nvSpPr>
          <p:cNvPr id="21" name="Rounded Rectangle 20"/>
          <p:cNvSpPr/>
          <p:nvPr/>
        </p:nvSpPr>
        <p:spPr>
          <a:xfrm>
            <a:off x="3755660" y="3374046"/>
            <a:ext cx="219035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0.614</a:t>
            </a:r>
          </a:p>
        </p:txBody>
      </p:sp>
      <p:sp>
        <p:nvSpPr>
          <p:cNvPr id="22" name="Rounded Rectangle 21"/>
          <p:cNvSpPr/>
          <p:nvPr/>
        </p:nvSpPr>
        <p:spPr>
          <a:xfrm>
            <a:off x="3755660" y="3738425"/>
            <a:ext cx="219035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0.614</a:t>
            </a:r>
          </a:p>
        </p:txBody>
      </p:sp>
      <p:sp>
        <p:nvSpPr>
          <p:cNvPr id="23" name="Rounded Rectangle 22"/>
          <p:cNvSpPr/>
          <p:nvPr/>
        </p:nvSpPr>
        <p:spPr>
          <a:xfrm>
            <a:off x="3755660" y="4102804"/>
            <a:ext cx="2181785"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0.611</a:t>
            </a:r>
          </a:p>
        </p:txBody>
      </p:sp>
      <p:sp>
        <p:nvSpPr>
          <p:cNvPr id="24" name="Rounded Rectangle 23"/>
          <p:cNvSpPr/>
          <p:nvPr/>
        </p:nvSpPr>
        <p:spPr>
          <a:xfrm>
            <a:off x="3755660" y="4467183"/>
            <a:ext cx="214538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0.601</a:t>
            </a:r>
          </a:p>
        </p:txBody>
      </p:sp>
      <p:sp>
        <p:nvSpPr>
          <p:cNvPr id="25" name="Rounded Rectangle 24"/>
          <p:cNvSpPr/>
          <p:nvPr/>
        </p:nvSpPr>
        <p:spPr>
          <a:xfrm>
            <a:off x="3755660" y="4831561"/>
            <a:ext cx="2083278"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0.584</a:t>
            </a:r>
          </a:p>
        </p:txBody>
      </p:sp>
      <p:sp>
        <p:nvSpPr>
          <p:cNvPr id="26" name="Rounded Rectangle 25"/>
          <p:cNvSpPr/>
          <p:nvPr/>
        </p:nvSpPr>
        <p:spPr>
          <a:xfrm>
            <a:off x="3755660" y="5195940"/>
            <a:ext cx="201653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0.565</a:t>
            </a:r>
          </a:p>
        </p:txBody>
      </p:sp>
      <p:sp>
        <p:nvSpPr>
          <p:cNvPr id="27" name="Rounded Rectangle 26"/>
          <p:cNvSpPr/>
          <p:nvPr/>
        </p:nvSpPr>
        <p:spPr>
          <a:xfrm>
            <a:off x="3755660" y="5560319"/>
            <a:ext cx="197727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0.554</a:t>
            </a:r>
          </a:p>
        </p:txBody>
      </p:sp>
      <p:sp>
        <p:nvSpPr>
          <p:cNvPr id="28" name="Rounded Rectangle 27"/>
          <p:cNvSpPr/>
          <p:nvPr/>
        </p:nvSpPr>
        <p:spPr>
          <a:xfrm>
            <a:off x="3755660" y="5924698"/>
            <a:ext cx="197299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0.553</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723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cg_top_gainers</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cg_top_losers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cg_market_global</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yf_sector_performance</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cg_derivatives</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bls_employment_cost_index</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56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56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9188 tokens, 112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16204 tokens; cost $0.00; p95 3.0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9021 tokens; cost $0.00; p95 2.0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8 larger items, among them storage, finished, sandbox depth: wasm and provider tool gaps.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8.15.1</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