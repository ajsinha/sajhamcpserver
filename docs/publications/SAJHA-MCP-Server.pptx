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512 tools in 41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512 tools in 41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512 tools in 41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and opensearch)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(38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(512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(512 tools) on the offline mock provider (mock/mock-planner), planner react, question 'What is the percentage change from 80 to 100?'. Shortlist size: AskSettings().shortlist. Bar lengths are proportional to the scores.</a:t>
            </a:r>
          </a:p>
          <a:p/>
          <a:p>
            <a:r>
              <a:t>Speaker notes: No model chose these. The resolver ranked all 512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(512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29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(512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8.0.0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512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11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Next: Per-user access to prompts and data resources; Ask SAJHA over MCP, finished; Document connectors as RAG sources;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512 tools in 41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11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512 tools in 41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4002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512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11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19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512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268</a:t>
            </a:r>
          </a:p>
        </p:txBody>
      </p:sp>
      <p:sp>
        <p:nvSpPr>
          <p:cNvPr id="20" name="Rounded Rectangle 19"/>
          <p:cNvSpPr/>
          <p:nvPr/>
        </p:nvSpPr>
        <p:spPr>
          <a:xfrm>
            <a:off x="3330171" y="1899126"/>
            <a:ext cx="124471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98</a:t>
            </a:r>
          </a:p>
        </p:txBody>
      </p:sp>
      <p:sp>
        <p:nvSpPr>
          <p:cNvPr id="21" name="Rounded Rectangle 20"/>
          <p:cNvSpPr/>
          <p:nvPr/>
        </p:nvSpPr>
        <p:spPr>
          <a:xfrm>
            <a:off x="3330171" y="234838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27</a:t>
            </a:r>
          </a:p>
        </p:txBody>
      </p:sp>
      <p:sp>
        <p:nvSpPr>
          <p:cNvPr id="22" name="Rounded Rectangle 21"/>
          <p:cNvSpPr/>
          <p:nvPr/>
        </p:nvSpPr>
        <p:spPr>
          <a:xfrm>
            <a:off x="3330171" y="2797651"/>
            <a:ext cx="431839"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3" name="Rounded Rectangle 22"/>
          <p:cNvSpPr/>
          <p:nvPr/>
        </p:nvSpPr>
        <p:spPr>
          <a:xfrm>
            <a:off x="3330171" y="3246913"/>
            <a:ext cx="45724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36</a:t>
            </a:r>
          </a:p>
        </p:txBody>
      </p:sp>
      <p:sp>
        <p:nvSpPr>
          <p:cNvPr id="24" name="Rounded Rectangle 23"/>
          <p:cNvSpPr/>
          <p:nvPr/>
        </p:nvSpPr>
        <p:spPr>
          <a:xfrm>
            <a:off x="3330171" y="369617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15</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Quotes, statements, crypto, indices  ·  fmp, openbb, av, yf, yahoo, cg</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Policy rates, yields, money supply  ·  fred, fed, ecb, boc, boj, pboc, rbi, bdf</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International bodies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Outlooks, development and trade data  ·  imf, wb, un</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Filings, facts, insider trades, reports  ·  edgar, sec, ir</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SQL over files, pivots, financial calculators  ·  duckdb, olap, sqlselect, customer, calc</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Web and news search, extraction, crawling  ·  tavily, wiki, crawl, extract, check, get</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Word and Excel, SharePoint, SAJHA's own guides  ·  msdoc, sharepoint, sajha</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Act as the user in SaaS apps  ·  github, google, ms365, slack, connected</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statistics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Crime statistics  ·  fbi</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  ·  llm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11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1" name="Rounded Rectangle 30"/>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2" name="Rounded Rectangle 31"/>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3" name="Rounded Rectangle 32"/>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4" name="Rounded Rectangle 33"/>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5" name="Rounded Rectangle 34"/>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6" name="Rounded Rectangle 35"/>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7" name="Rounded Rectangle 36"/>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8" name="Rounded Rectangle 37"/>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39" name="Rounded Rectangle 38"/>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0" name="Rounded Rectangle 39"/>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1" name="Hexagon 40"/>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2" name="Oval 41"/>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3" name="Connector 42"/>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460312" y="2719521"/>
            <a:ext cx="3079601" cy="49320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66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66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16</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FFFFF"/>
                    </a:solidFill>
                  </a:tcPr>
                </a:tc>
              </a:tr>
              <a:tr h="318579">
                <a:tc>
                  <a:txBody>
                    <a:bodyPr wrap="square"/>
                    <a:lstStyle/>
                    <a:p>
                      <a:r>
                        <a:rPr sz="1300" b="0">
                          <a:solidFill>
                            <a:srgbClr val="1A1A1A"/>
                          </a:solidFill>
                          <a:latin typeface="Calibri"/>
                        </a:rPr>
                        <a:t>Async execution wrote to any path and posted to any URL</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4002</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4238240"/>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Crawl and extract all URLs from a website's sitemap.xml file…</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Search for recent news articles using Tavily with…</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Recursively crawl a website starting from a URL, following…</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Perform comprehensive research search with advanced depth…</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Extract structured content including text, images, and headings…</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Perform general web search using Tavily AI-powered search…</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Extract all hyperlinks from a web page with options to…</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Retrieve the complete content of a Wikipedia article by title…</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Extract SEO and structural metadata including title, meta tags…</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Retrieve a concise summary of a Wikipedia article</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Search within specific domains or exclude domains using Tavily…</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Perform aggregation operations on tables with grouping (SUM…</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Create interactive pivot tables for multi-dimensional analysis…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specific table or view…</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Analyze time series data with flexible granularity, gap…</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Get statistical summary for numeric columns in a table (count…</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 rows in a data source with optional WHERE clause…</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 available data files (CSV, Parquet, JSON) in the data…</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Get detailed information about a specific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 all available tables and views in the DuckDB database</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Execute SQL SELECT queries on configured data sources with…</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Execute SQL queries on CSV, Parquet, and JSON files using…</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Refresh materialized views or reload external data files into…</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 all available data sources with their metadata and file…</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Execute SQL queries directly on CSV data files</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Retrieve sample rows from a data source for quick preview and…</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17315"/>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calc_beta</a:t>
                      </a:r>
                    </a:p>
                  </a:txBody>
                  <a:tcPr marL="82296" marR="64008" marT="32004" marB="32004" anchor="ctr">
                    <a:solidFill>
                      <a:srgbClr val="FFFFFF"/>
                    </a:solidFill>
                  </a:tcPr>
                </a:tc>
                <a:tc>
                  <a:txBody>
                    <a:bodyPr wrap="square"/>
                    <a:lstStyle/>
                    <a:p>
                      <a:r>
                        <a:rPr sz="1150" b="0">
                          <a:solidFill>
                            <a:srgbClr val="1A1A1A"/>
                          </a:solidFill>
                          <a:latin typeface="Calibri"/>
                        </a:rPr>
                        <a:t>Calculate stock beta from stock and market return series</a:t>
                      </a:r>
                    </a:p>
                  </a:txBody>
                  <a:tcPr marL="82296" marR="64008" marT="32004" marB="32004" anchor="ctr">
                    <a:solidFill>
                      <a:srgbClr val="FFFFFF"/>
                    </a:solidFill>
                  </a:tcPr>
                </a:tc>
                <a:tc>
                  <a:txBody>
                    <a:bodyPr wrap="square"/>
                    <a:lstStyle/>
                    <a:p>
                      <a:r>
                        <a:rPr sz="1150" b="0">
                          <a:solidFill>
                            <a:srgbClr val="1A1A1A"/>
                          </a:solidFill>
                          <a:latin typeface="Calibri"/>
                        </a:rPr>
                        <a:t>calc_loan_amortization</a:t>
                      </a:r>
                    </a:p>
                  </a:txBody>
                  <a:tcPr marL="82296" marR="64008" marT="32004" marB="32004" anchor="ctr">
                    <a:solidFill>
                      <a:srgbClr val="FFFFFF"/>
                    </a:solidFill>
                  </a:tcPr>
                </a:tc>
                <a:tc>
                  <a:txBody>
                    <a:bodyPr wrap="square"/>
                    <a:lstStyle/>
                    <a:p>
                      <a:r>
                        <a:rPr sz="1150" b="0">
                          <a:solidFill>
                            <a:srgbClr val="1A1A1A"/>
                          </a:solidFill>
                          <a:latin typeface="Calibri"/>
                        </a:rPr>
                        <a:t>Calculate loan amortization</a:t>
                      </a:r>
                    </a:p>
                  </a:txBody>
                  <a:tcPr marL="82296" marR="64008" marT="32004" marB="32004" anchor="ctr">
                    <a:solidFill>
                      <a:srgbClr val="FFFFFF"/>
                    </a:solidFill>
                  </a:tcPr>
                </a:tc>
              </a:tr>
              <a:tr h="479234">
                <a:tc>
                  <a:txBody>
                    <a:bodyPr wrap="square"/>
                    <a:lstStyle/>
                    <a:p>
                      <a:r>
                        <a:rPr sz="1150" b="1">
                          <a:solidFill>
                            <a:srgbClr val="6E1120"/>
                          </a:solidFill>
                          <a:latin typeface="Calibri"/>
                        </a:rPr>
                        <a:t>calc_black_scholes</a:t>
                      </a:r>
                    </a:p>
                  </a:txBody>
                  <a:tcPr marL="82296" marR="64008" marT="32004" marB="32004" anchor="ctr">
                    <a:solidFill>
                      <a:srgbClr val="F7F5F2"/>
                    </a:solidFill>
                  </a:tcPr>
                </a:tc>
                <a:tc>
                  <a:txBody>
                    <a:bodyPr wrap="square"/>
                    <a:lstStyle/>
                    <a:p>
                      <a:r>
                        <a:rPr sz="1150" b="0">
                          <a:solidFill>
                            <a:srgbClr val="1A1A1A"/>
                          </a:solidFill>
                          <a:latin typeface="Calibri"/>
                        </a:rPr>
                        <a:t>Calculate option prices using Black-Scholes model</a:t>
                      </a:r>
                    </a:p>
                  </a:txBody>
                  <a:tcPr marL="82296" marR="64008" marT="32004" marB="32004" anchor="ctr">
                    <a:solidFill>
                      <a:srgbClr val="F7F5F2"/>
                    </a:solidFill>
                  </a:tcPr>
                </a:tc>
                <a:tc>
                  <a:txBody>
                    <a:bodyPr wrap="square"/>
                    <a:lstStyle/>
                    <a:p>
                      <a:r>
                        <a:rPr sz="1150" b="0">
                          <a:solidFill>
                            <a:srgbClr val="1A1A1A"/>
                          </a:solidFill>
                          <a:latin typeface="Calibri"/>
                        </a:rPr>
                        <a:t>calc_max_drawdown</a:t>
                      </a:r>
                    </a:p>
                  </a:txBody>
                  <a:tcPr marL="82296" marR="64008" marT="32004" marB="32004" anchor="ctr">
                    <a:solidFill>
                      <a:srgbClr val="F7F5F2"/>
                    </a:solidFill>
                  </a:tcPr>
                </a:tc>
                <a:tc>
                  <a:txBody>
                    <a:bodyPr wrap="square"/>
                    <a:lstStyle/>
                    <a:p>
                      <a:r>
                        <a:rPr sz="1150" b="0">
                          <a:solidFill>
                            <a:srgbClr val="1A1A1A"/>
                          </a:solidFill>
                          <a:latin typeface="Calibri"/>
                        </a:rPr>
                        <a:t>Calculate maximum drawdown from a series of portfolio values</a:t>
                      </a:r>
                    </a:p>
                  </a:txBody>
                  <a:tcPr marL="82296" marR="64008" marT="32004" marB="32004" anchor="ctr">
                    <a:solidFill>
                      <a:srgbClr val="F7F5F2"/>
                    </a:solidFill>
                  </a:tcPr>
                </a:tc>
              </a:tr>
              <a:tr h="479234">
                <a:tc>
                  <a:txBody>
                    <a:bodyPr wrap="square"/>
                    <a:lstStyle/>
                    <a:p>
                      <a:r>
                        <a:rPr sz="1150" b="1">
                          <a:solidFill>
                            <a:srgbClr val="6E1120"/>
                          </a:solidFill>
                          <a:latin typeface="Calibri"/>
                        </a:rPr>
                        <a:t>calc_bond_price</a:t>
                      </a:r>
                    </a:p>
                  </a:txBody>
                  <a:tcPr marL="82296" marR="64008" marT="32004" marB="32004" anchor="ctr">
                    <a:solidFill>
                      <a:srgbClr val="FFFFFF"/>
                    </a:solidFill>
                  </a:tcPr>
                </a:tc>
                <a:tc>
                  <a:txBody>
                    <a:bodyPr wrap="square"/>
                    <a:lstStyle/>
                    <a:p>
                      <a:r>
                        <a:rPr sz="1150" b="0">
                          <a:solidFill>
                            <a:srgbClr val="1A1A1A"/>
                          </a:solidFill>
                          <a:latin typeface="Calibri"/>
                        </a:rPr>
                        <a:t>Calculate bond price given face value, coupon rate, yield, and…</a:t>
                      </a:r>
                    </a:p>
                  </a:txBody>
                  <a:tcPr marL="82296" marR="64008" marT="32004" marB="32004" anchor="ctr">
                    <a:solidFill>
                      <a:srgbClr val="FFFFFF"/>
                    </a:solidFill>
                  </a:tcPr>
                </a:tc>
                <a:tc>
                  <a:txBody>
                    <a:bodyPr wrap="square"/>
                    <a:lstStyle/>
                    <a:p>
                      <a:r>
                        <a:rPr sz="1150" b="0">
                          <a:solidFill>
                            <a:srgbClr val="1A1A1A"/>
                          </a:solidFill>
                          <a:latin typeface="Calibri"/>
                        </a:rPr>
                        <a:t>calc_npv</a:t>
                      </a:r>
                    </a:p>
                  </a:txBody>
                  <a:tcPr marL="82296" marR="64008" marT="32004" marB="32004" anchor="ctr">
                    <a:solidFill>
                      <a:srgbClr val="FFFFFF"/>
                    </a:solidFill>
                  </a:tcPr>
                </a:tc>
                <a:tc>
                  <a:txBody>
                    <a:bodyPr wrap="square"/>
                    <a:lstStyle/>
                    <a:p>
                      <a:r>
                        <a:rPr sz="1150" b="0">
                          <a:solidFill>
                            <a:srgbClr val="1A1A1A"/>
                          </a:solidFill>
                          <a:latin typeface="Calibri"/>
                        </a:rPr>
                        <a:t>Calculate Net Present Value (NPV) of cash flows at a discount…</a:t>
                      </a:r>
                    </a:p>
                  </a:txBody>
                  <a:tcPr marL="82296" marR="64008" marT="32004" marB="32004" anchor="ctr">
                    <a:solidFill>
                      <a:srgbClr val="FFFFFF"/>
                    </a:solidFill>
                  </a:tcPr>
                </a:tc>
              </a:tr>
              <a:tr h="479234">
                <a:tc>
                  <a:txBody>
                    <a:bodyPr wrap="square"/>
                    <a:lstStyle/>
                    <a:p>
                      <a:r>
                        <a:rPr sz="1150" b="1">
                          <a:solidFill>
                            <a:srgbClr val="6E1120"/>
                          </a:solidFill>
                          <a:latin typeface="Calibri"/>
                        </a:rPr>
                        <a:t>calc_capm</a:t>
                      </a:r>
                    </a:p>
                  </a:txBody>
                  <a:tcPr marL="82296" marR="64008" marT="32004" marB="32004" anchor="ctr">
                    <a:solidFill>
                      <a:srgbClr val="F7F5F2"/>
                    </a:solidFill>
                  </a:tcPr>
                </a:tc>
                <a:tc>
                  <a:txBody>
                    <a:bodyPr wrap="square"/>
                    <a:lstStyle/>
                    <a:p>
                      <a:r>
                        <a:rPr sz="1150" b="0">
                          <a:solidFill>
                            <a:srgbClr val="1A1A1A"/>
                          </a:solidFill>
                          <a:latin typeface="Calibri"/>
                        </a:rPr>
                        <a:t>Calculate expected return using CAPM</a:t>
                      </a:r>
                    </a:p>
                  </a:txBody>
                  <a:tcPr marL="82296" marR="64008" marT="32004" marB="32004" anchor="ctr">
                    <a:solidFill>
                      <a:srgbClr val="F7F5F2"/>
                    </a:solidFill>
                  </a:tcPr>
                </a:tc>
                <a:tc>
                  <a:txBody>
                    <a:bodyPr wrap="square"/>
                    <a:lstStyle/>
                    <a:p>
                      <a:r>
                        <a:rPr sz="1150" b="0">
                          <a:solidFill>
                            <a:srgbClr val="1A1A1A"/>
                          </a:solidFill>
                          <a:latin typeface="Calibri"/>
                        </a:rPr>
                        <a:t>calc_percentage_change</a:t>
                      </a:r>
                    </a:p>
                  </a:txBody>
                  <a:tcPr marL="82296" marR="64008" marT="32004" marB="32004" anchor="ctr">
                    <a:solidFill>
                      <a:srgbClr val="F7F5F2"/>
                    </a:solidFill>
                  </a:tcPr>
                </a:tc>
                <a:tc>
                  <a:txBody>
                    <a:bodyPr wrap="square"/>
                    <a:lstStyle/>
                    <a:p>
                      <a:r>
                        <a:rPr sz="1150" b="0">
                          <a:solidFill>
                            <a:srgbClr val="1A1A1A"/>
                          </a:solidFill>
                          <a:latin typeface="Calibri"/>
                        </a:rPr>
                        <a:t>Calculate percentage change between two values</a:t>
                      </a:r>
                    </a:p>
                  </a:txBody>
                  <a:tcPr marL="82296" marR="64008" marT="32004" marB="32004" anchor="ctr">
                    <a:solidFill>
                      <a:srgbClr val="F7F5F2"/>
                    </a:solidFill>
                  </a:tcPr>
                </a:tc>
              </a:tr>
              <a:tr h="294481">
                <a:tc>
                  <a:txBody>
                    <a:bodyPr wrap="square"/>
                    <a:lstStyle/>
                    <a:p>
                      <a:r>
                        <a:rPr sz="1150" b="1">
                          <a:solidFill>
                            <a:srgbClr val="6E1120"/>
                          </a:solidFill>
                          <a:latin typeface="Calibri"/>
                        </a:rPr>
                        <a:t>calc_compound_interest</a:t>
                      </a:r>
                    </a:p>
                  </a:txBody>
                  <a:tcPr marL="82296" marR="64008" marT="32004" marB="32004" anchor="ctr">
                    <a:solidFill>
                      <a:srgbClr val="FFFFFF"/>
                    </a:solidFill>
                  </a:tcPr>
                </a:tc>
                <a:tc>
                  <a:txBody>
                    <a:bodyPr wrap="square"/>
                    <a:lstStyle/>
                    <a:p>
                      <a:r>
                        <a:rPr sz="1150" b="0">
                          <a:solidFill>
                            <a:srgbClr val="1A1A1A"/>
                          </a:solidFill>
                          <a:latin typeface="Calibri"/>
                        </a:rPr>
                        <a:t>Calculate compound interest</a:t>
                      </a:r>
                    </a:p>
                  </a:txBody>
                  <a:tcPr marL="82296" marR="64008" marT="32004" marB="32004" anchor="ctr">
                    <a:solidFill>
                      <a:srgbClr val="FFFFFF"/>
                    </a:solidFill>
                  </a:tcPr>
                </a:tc>
                <a:tc>
                  <a:txBody>
                    <a:bodyPr wrap="square"/>
                    <a:lstStyle/>
                    <a:p>
                      <a:r>
                        <a:rPr sz="1150" b="0">
                          <a:solidFill>
                            <a:srgbClr val="1A1A1A"/>
                          </a:solidFill>
                          <a:latin typeface="Calibri"/>
                        </a:rPr>
                        <a:t>calc_present_value</a:t>
                      </a:r>
                    </a:p>
                  </a:txBody>
                  <a:tcPr marL="82296" marR="64008" marT="32004" marB="32004" anchor="ctr">
                    <a:solidFill>
                      <a:srgbClr val="FFFFFF"/>
                    </a:solidFill>
                  </a:tcPr>
                </a:tc>
                <a:tc>
                  <a:txBody>
                    <a:bodyPr wrap="square"/>
                    <a:lstStyle/>
                    <a:p>
                      <a:r>
                        <a:rPr sz="1150" b="0">
                          <a:solidFill>
                            <a:srgbClr val="1A1A1A"/>
                          </a:solidFill>
                          <a:latin typeface="Calibri"/>
                        </a:rPr>
                        <a:t>Calculate present value</a:t>
                      </a:r>
                    </a:p>
                  </a:txBody>
                  <a:tcPr marL="82296" marR="64008" marT="32004" marB="32004" anchor="ctr">
                    <a:solidFill>
                      <a:srgbClr val="FFFFFF"/>
                    </a:solidFill>
                  </a:tcPr>
                </a:tc>
              </a:tr>
              <a:tr h="479234">
                <a:tc>
                  <a:txBody>
                    <a:bodyPr wrap="square"/>
                    <a:lstStyle/>
                    <a:p>
                      <a:r>
                        <a:rPr sz="1150" b="1">
                          <a:solidFill>
                            <a:srgbClr val="6E1120"/>
                          </a:solidFill>
                          <a:latin typeface="Calibri"/>
                        </a:rPr>
                        <a:t>calc_correlation</a:t>
                      </a:r>
                    </a:p>
                  </a:txBody>
                  <a:tcPr marL="82296" marR="64008" marT="32004" marB="32004" anchor="ctr">
                    <a:solidFill>
                      <a:srgbClr val="F7F5F2"/>
                    </a:solidFill>
                  </a:tcPr>
                </a:tc>
                <a:tc>
                  <a:txBody>
                    <a:bodyPr wrap="square"/>
                    <a:lstStyle/>
                    <a:p>
                      <a:r>
                        <a:rPr sz="1150" b="0">
                          <a:solidFill>
                            <a:srgbClr val="1A1A1A"/>
                          </a:solidFill>
                          <a:latin typeface="Calibri"/>
                        </a:rPr>
                        <a:t>Calculate Pearson correlation between two data series</a:t>
                      </a:r>
                    </a:p>
                  </a:txBody>
                  <a:tcPr marL="82296" marR="64008" marT="32004" marB="32004" anchor="ctr">
                    <a:solidFill>
                      <a:srgbClr val="F7F5F2"/>
                    </a:solidFill>
                  </a:tcPr>
                </a:tc>
                <a:tc>
                  <a:txBody>
                    <a:bodyPr wrap="square"/>
                    <a:lstStyle/>
                    <a:p>
                      <a:r>
                        <a:rPr sz="1150" b="0">
                          <a:solidFill>
                            <a:srgbClr val="1A1A1A"/>
                          </a:solidFill>
                          <a:latin typeface="Calibri"/>
                        </a:rPr>
                        <a:t>calc_retirement</a:t>
                      </a:r>
                    </a:p>
                  </a:txBody>
                  <a:tcPr marL="82296" marR="64008" marT="32004" marB="32004" anchor="ctr">
                    <a:solidFill>
                      <a:srgbClr val="F7F5F2"/>
                    </a:solidFill>
                  </a:tcPr>
                </a:tc>
                <a:tc>
                  <a:txBody>
                    <a:bodyPr wrap="square"/>
                    <a:lstStyle/>
                    <a:p>
                      <a:r>
                        <a:rPr sz="1150" b="0">
                          <a:solidFill>
                            <a:srgbClr val="1A1A1A"/>
                          </a:solidFill>
                          <a:latin typeface="Calibri"/>
                        </a:rPr>
                        <a:t>Calculate retirement savings projection</a:t>
                      </a:r>
                    </a:p>
                  </a:txBody>
                  <a:tcPr marL="82296" marR="64008" marT="32004" marB="32004" anchor="ctr">
                    <a:solidFill>
                      <a:srgbClr val="F7F5F2"/>
                    </a:solidFill>
                  </a:tcPr>
                </a:tc>
              </a:tr>
              <a:tr h="479234">
                <a:tc>
                  <a:txBody>
                    <a:bodyPr wrap="square"/>
                    <a:lstStyle/>
                    <a:p>
                      <a:r>
                        <a:rPr sz="1150" b="1">
                          <a:solidFill>
                            <a:srgbClr val="6E1120"/>
                          </a:solidFill>
                          <a:latin typeface="Calibri"/>
                        </a:rPr>
                        <a:t>calc_currency_converter</a:t>
                      </a:r>
                    </a:p>
                  </a:txBody>
                  <a:tcPr marL="82296" marR="64008" marT="32004" marB="32004" anchor="ctr">
                    <a:solidFill>
                      <a:srgbClr val="FFFFFF"/>
                    </a:solidFill>
                  </a:tcPr>
                </a:tc>
                <a:tc>
                  <a:txBody>
                    <a:bodyPr wrap="square"/>
                    <a:lstStyle/>
                    <a:p>
                      <a:r>
                        <a:rPr sz="1150" b="0">
                          <a:solidFill>
                            <a:srgbClr val="1A1A1A"/>
                          </a:solidFill>
                          <a:latin typeface="Calibri"/>
                        </a:rPr>
                        <a:t>Convert between currencies using live exchange rates (free API)</a:t>
                      </a:r>
                    </a:p>
                  </a:txBody>
                  <a:tcPr marL="82296" marR="64008" marT="32004" marB="32004" anchor="ctr">
                    <a:solidFill>
                      <a:srgbClr val="FFFFFF"/>
                    </a:solidFill>
                  </a:tcPr>
                </a:tc>
                <a:tc>
                  <a:txBody>
                    <a:bodyPr wrap="square"/>
                    <a:lstStyle/>
                    <a:p>
                      <a:r>
                        <a:rPr sz="1150" b="0">
                          <a:solidFill>
                            <a:srgbClr val="1A1A1A"/>
                          </a:solidFill>
                          <a:latin typeface="Calibri"/>
                        </a:rPr>
                        <a:t>calc_sharpe_ratio</a:t>
                      </a:r>
                    </a:p>
                  </a:txBody>
                  <a:tcPr marL="82296" marR="64008" marT="32004" marB="32004" anchor="ctr">
                    <a:solidFill>
                      <a:srgbClr val="FFFFFF"/>
                    </a:solidFill>
                  </a:tcPr>
                </a:tc>
                <a:tc>
                  <a:txBody>
                    <a:bodyPr wrap="square"/>
                    <a:lstStyle/>
                    <a:p>
                      <a:r>
                        <a:rPr sz="1150" b="0">
                          <a:solidFill>
                            <a:srgbClr val="1A1A1A"/>
                          </a:solidFill>
                          <a:latin typeface="Calibri"/>
                        </a:rPr>
                        <a:t>Calculate Sharpe Ratio</a:t>
                      </a:r>
                    </a:p>
                  </a:txBody>
                  <a:tcPr marL="82296" marR="64008" marT="32004" marB="32004" anchor="ctr">
                    <a:solidFill>
                      <a:srgbClr val="FFFFFF"/>
                    </a:solidFill>
                  </a:tcPr>
                </a:tc>
              </a:tr>
              <a:tr h="294481">
                <a:tc>
                  <a:txBody>
                    <a:bodyPr wrap="square"/>
                    <a:lstStyle/>
                    <a:p>
                      <a:r>
                        <a:rPr sz="1150" b="1">
                          <a:solidFill>
                            <a:srgbClr val="6E1120"/>
                          </a:solidFill>
                          <a:latin typeface="Calibri"/>
                        </a:rPr>
                        <a:t>calc_dcf_model</a:t>
                      </a:r>
                    </a:p>
                  </a:txBody>
                  <a:tcPr marL="82296" marR="64008" marT="32004" marB="32004" anchor="ctr">
                    <a:solidFill>
                      <a:srgbClr val="F7F5F2"/>
                    </a:solidFill>
                  </a:tcPr>
                </a:tc>
                <a:tc>
                  <a:txBody>
                    <a:bodyPr wrap="square"/>
                    <a:lstStyle/>
                    <a:p>
                      <a:r>
                        <a:rPr sz="1150" b="0">
                          <a:solidFill>
                            <a:srgbClr val="1A1A1A"/>
                          </a:solidFill>
                          <a:latin typeface="Calibri"/>
                        </a:rPr>
                        <a:t>Build a DCF valuation model</a:t>
                      </a:r>
                    </a:p>
                  </a:txBody>
                  <a:tcPr marL="82296" marR="64008" marT="32004" marB="32004" anchor="ctr">
                    <a:solidFill>
                      <a:srgbClr val="F7F5F2"/>
                    </a:solidFill>
                  </a:tcPr>
                </a:tc>
                <a:tc>
                  <a:txBody>
                    <a:bodyPr wrap="square"/>
                    <a:lstStyle/>
                    <a:p>
                      <a:r>
                        <a:rPr sz="1150" b="0">
                          <a:solidFill>
                            <a:srgbClr val="1A1A1A"/>
                          </a:solidFill>
                          <a:latin typeface="Calibri"/>
                        </a:rPr>
                        <a:t>calc_sortino_ratio</a:t>
                      </a:r>
                    </a:p>
                  </a:txBody>
                  <a:tcPr marL="82296" marR="64008" marT="32004" marB="32004" anchor="ctr">
                    <a:solidFill>
                      <a:srgbClr val="F7F5F2"/>
                    </a:solidFill>
                  </a:tcPr>
                </a:tc>
                <a:tc>
                  <a:txBody>
                    <a:bodyPr wrap="square"/>
                    <a:lstStyle/>
                    <a:p>
                      <a:r>
                        <a:rPr sz="1150" b="0">
                          <a:solidFill>
                            <a:srgbClr val="1A1A1A"/>
                          </a:solidFill>
                          <a:latin typeface="Calibri"/>
                        </a:rPr>
                        <a:t>Calculate Sortino Ratio</a:t>
                      </a:r>
                    </a:p>
                  </a:txBody>
                  <a:tcPr marL="82296" marR="64008" marT="32004" marB="32004" anchor="ctr">
                    <a:solidFill>
                      <a:srgbClr val="F7F5F2"/>
                    </a:solidFill>
                  </a:tcPr>
                </a:tc>
              </a:tr>
              <a:tr h="479234">
                <a:tc>
                  <a:txBody>
                    <a:bodyPr wrap="square"/>
                    <a:lstStyle/>
                    <a:p>
                      <a:r>
                        <a:rPr sz="1150" b="1">
                          <a:solidFill>
                            <a:srgbClr val="6E1120"/>
                          </a:solidFill>
                          <a:latin typeface="Calibri"/>
                        </a:rPr>
                        <a:t>calc_future_value</a:t>
                      </a:r>
                    </a:p>
                  </a:txBody>
                  <a:tcPr marL="82296" marR="64008" marT="32004" marB="32004" anchor="ctr">
                    <a:solidFill>
                      <a:srgbClr val="FFFFFF"/>
                    </a:solidFill>
                  </a:tcPr>
                </a:tc>
                <a:tc>
                  <a:txBody>
                    <a:bodyPr wrap="square"/>
                    <a:lstStyle/>
                    <a:p>
                      <a:r>
                        <a:rPr sz="1150" b="0">
                          <a:solidFill>
                            <a:srgbClr val="1A1A1A"/>
                          </a:solidFill>
                          <a:latin typeface="Calibri"/>
                        </a:rPr>
                        <a:t>Calculate future value</a:t>
                      </a:r>
                    </a:p>
                  </a:txBody>
                  <a:tcPr marL="82296" marR="64008" marT="32004" marB="32004" anchor="ctr">
                    <a:solidFill>
                      <a:srgbClr val="FFFFFF"/>
                    </a:solidFill>
                  </a:tcPr>
                </a:tc>
                <a:tc>
                  <a:txBody>
                    <a:bodyPr wrap="square"/>
                    <a:lstStyle/>
                    <a:p>
                      <a:r>
                        <a:rPr sz="1150" b="0">
                          <a:solidFill>
                            <a:srgbClr val="1A1A1A"/>
                          </a:solidFill>
                          <a:latin typeface="Calibri"/>
                        </a:rPr>
                        <a:t>calc_wacc</a:t>
                      </a:r>
                    </a:p>
                  </a:txBody>
                  <a:tcPr marL="82296" marR="64008" marT="32004" marB="32004" anchor="ctr">
                    <a:solidFill>
                      <a:srgbClr val="FFFFFF"/>
                    </a:solidFill>
                  </a:tcPr>
                </a:tc>
                <a:tc>
                  <a:txBody>
                    <a:bodyPr wrap="square"/>
                    <a:lstStyle/>
                    <a:p>
                      <a:r>
                        <a:rPr sz="1150" b="0">
                          <a:solidFill>
                            <a:srgbClr val="1A1A1A"/>
                          </a:solidFill>
                          <a:latin typeface="Calibri"/>
                        </a:rPr>
                        <a:t>Calculate Weighted Average Cost of Capital (WACC)</a:t>
                      </a:r>
                    </a:p>
                  </a:txBody>
                  <a:tcPr marL="82296" marR="64008" marT="32004" marB="32004" anchor="ctr">
                    <a:solidFill>
                      <a:srgbClr val="FFFFFF"/>
                    </a:solidFill>
                  </a:tcPr>
                </a:tc>
              </a:tr>
              <a:tr h="479234">
                <a:tc>
                  <a:txBody>
                    <a:bodyPr wrap="square"/>
                    <a:lstStyle/>
                    <a:p>
                      <a:r>
                        <a:rPr sz="1150" b="1">
                          <a:solidFill>
                            <a:srgbClr val="6E1120"/>
                          </a:solidFill>
                          <a:latin typeface="Calibri"/>
                        </a:rPr>
                        <a:t>calc_irr</a:t>
                      </a:r>
                    </a:p>
                  </a:txBody>
                  <a:tcPr marL="82296" marR="64008" marT="32004" marB="32004" anchor="ctr">
                    <a:solidFill>
                      <a:srgbClr val="F7F5F2"/>
                    </a:solidFill>
                  </a:tcPr>
                </a:tc>
                <a:tc>
                  <a:txBody>
                    <a:bodyPr wrap="square"/>
                    <a:lstStyle/>
                    <a:p>
                      <a:r>
                        <a:rPr sz="1150" b="0">
                          <a:solidFill>
                            <a:srgbClr val="1A1A1A"/>
                          </a:solidFill>
                          <a:latin typeface="Calibri"/>
                        </a:rPr>
                        <a:t>Calculate Internal Rate of Return (IRR) for a series of cash…</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18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7" name="Rounded Rectangle 36"/>
          <p:cNvSpPr/>
          <p:nvPr/>
        </p:nvSpPr>
        <p:spPr>
          <a:xfrm>
            <a:off x="5431021"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8" name="Rounded Rectangle 37"/>
          <p:cNvSpPr/>
          <p:nvPr/>
        </p:nvSpPr>
        <p:spPr>
          <a:xfrm>
            <a:off x="698228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6" name="Connector 45"/>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512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512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0.739</a:t>
            </a:r>
          </a:p>
        </p:txBody>
      </p:sp>
      <p:sp>
        <p:nvSpPr>
          <p:cNvPr id="18" name="Rounded Rectangle 17"/>
          <p:cNvSpPr/>
          <p:nvPr/>
        </p:nvSpPr>
        <p:spPr>
          <a:xfrm>
            <a:off x="3755660" y="2280909"/>
            <a:ext cx="251994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0.648</a:t>
            </a:r>
          </a:p>
        </p:txBody>
      </p:sp>
      <p:sp>
        <p:nvSpPr>
          <p:cNvPr id="19" name="Rounded Rectangle 18"/>
          <p:cNvSpPr/>
          <p:nvPr/>
        </p:nvSpPr>
        <p:spPr>
          <a:xfrm>
            <a:off x="3755660" y="2645288"/>
            <a:ext cx="248068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0.638</a:t>
            </a:r>
          </a:p>
        </p:txBody>
      </p:sp>
      <p:sp>
        <p:nvSpPr>
          <p:cNvPr id="20" name="Rounded Rectangle 19"/>
          <p:cNvSpPr/>
          <p:nvPr/>
        </p:nvSpPr>
        <p:spPr>
          <a:xfrm>
            <a:off x="3755660" y="3009667"/>
            <a:ext cx="248068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0.638</a:t>
            </a:r>
          </a:p>
        </p:txBody>
      </p:sp>
      <p:sp>
        <p:nvSpPr>
          <p:cNvPr id="21" name="Rounded Rectangle 20"/>
          <p:cNvSpPr/>
          <p:nvPr/>
        </p:nvSpPr>
        <p:spPr>
          <a:xfrm>
            <a:off x="3755660" y="3374046"/>
            <a:ext cx="2090493"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0.538</a:t>
            </a:r>
          </a:p>
        </p:txBody>
      </p:sp>
      <p:sp>
        <p:nvSpPr>
          <p:cNvPr id="22" name="Rounded Rectangle 21"/>
          <p:cNvSpPr/>
          <p:nvPr/>
        </p:nvSpPr>
        <p:spPr>
          <a:xfrm>
            <a:off x="3755660" y="3738425"/>
            <a:ext cx="1918714"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0.494</a:t>
            </a:r>
          </a:p>
        </p:txBody>
      </p:sp>
      <p:sp>
        <p:nvSpPr>
          <p:cNvPr id="23" name="Rounded Rectangle 22"/>
          <p:cNvSpPr/>
          <p:nvPr/>
        </p:nvSpPr>
        <p:spPr>
          <a:xfrm>
            <a:off x="3755660" y="4102804"/>
            <a:ext cx="1781913"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0.459</a:t>
            </a:r>
          </a:p>
        </p:txBody>
      </p:sp>
      <p:sp>
        <p:nvSpPr>
          <p:cNvPr id="24" name="Rounded Rectangle 23"/>
          <p:cNvSpPr/>
          <p:nvPr/>
        </p:nvSpPr>
        <p:spPr>
          <a:xfrm>
            <a:off x="3755660" y="4467183"/>
            <a:ext cx="1773752"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0.456</a:t>
            </a:r>
          </a:p>
        </p:txBody>
      </p:sp>
      <p:sp>
        <p:nvSpPr>
          <p:cNvPr id="25" name="Rounded Rectangle 24"/>
          <p:cNvSpPr/>
          <p:nvPr/>
        </p:nvSpPr>
        <p:spPr>
          <a:xfrm>
            <a:off x="3755660" y="4831561"/>
            <a:ext cx="1730613"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0.445</a:t>
            </a:r>
          </a:p>
        </p:txBody>
      </p:sp>
      <p:sp>
        <p:nvSpPr>
          <p:cNvPr id="26" name="Rounded Rectangle 25"/>
          <p:cNvSpPr/>
          <p:nvPr/>
        </p:nvSpPr>
        <p:spPr>
          <a:xfrm>
            <a:off x="3755660" y="5195940"/>
            <a:ext cx="170962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0.440</a:t>
            </a:r>
          </a:p>
        </p:txBody>
      </p:sp>
      <p:sp>
        <p:nvSpPr>
          <p:cNvPr id="27" name="Rounded Rectangle 26"/>
          <p:cNvSpPr/>
          <p:nvPr/>
        </p:nvSpPr>
        <p:spPr>
          <a:xfrm>
            <a:off x="3755660" y="5560319"/>
            <a:ext cx="170962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0.440</a:t>
            </a:r>
          </a:p>
        </p:txBody>
      </p:sp>
      <p:sp>
        <p:nvSpPr>
          <p:cNvPr id="28" name="Rounded Rectangle 27"/>
          <p:cNvSpPr/>
          <p:nvPr/>
        </p:nvSpPr>
        <p:spPr>
          <a:xfrm>
            <a:off x="3755660" y="5924698"/>
            <a:ext cx="170962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0.440</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512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fmp_nasdaq_constituents</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duckdb_sql</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openbb_index_constituents</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av_stock_quote</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cg_coin_categories_market</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fbi_get_agency_statistics</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cg_coin_price</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29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29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2734 tokens, 49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6434 tokens; cost $0.00; p95 2.0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4136 tokens; cost $0.00; p95 1.0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17 larger items, among them storage, finished, federation, complete and workflow engine limits.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X3: Per-user access to prompts and data resources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X7: Ask SAJHA over MCP, finished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X8: Document connectors as RAG 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X9: LLM providers: the last synchronous paths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X10: Weaviate and Chroma connectors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X11: Push-based reload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X12: Protocol gaps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X13: A benchmark suite with published numbers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X14: SLOs and failure tests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X16: A TypeScript client SDK (deferred by decision)</a:t>
            </a:r>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Prompts have no per-user permissions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8.0.0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